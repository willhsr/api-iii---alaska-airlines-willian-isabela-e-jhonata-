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5"/>
  </p:notesMasterIdLst>
  <p:sldIdLst>
    <p:sldId id="257" r:id="rId5"/>
    <p:sldId id="2147471158" r:id="rId6"/>
    <p:sldId id="2147471156" r:id="rId7"/>
    <p:sldId id="2147471157" r:id="rId8"/>
    <p:sldId id="2147471201" r:id="rId9"/>
    <p:sldId id="2147471203" r:id="rId10"/>
    <p:sldId id="2147471205" r:id="rId11"/>
    <p:sldId id="2147471204" r:id="rId12"/>
    <p:sldId id="2147471159" r:id="rId13"/>
    <p:sldId id="2147471211" r:id="rId14"/>
    <p:sldId id="256" r:id="rId15"/>
    <p:sldId id="2147471212" r:id="rId16"/>
    <p:sldId id="258" r:id="rId17"/>
    <p:sldId id="259" r:id="rId18"/>
    <p:sldId id="260" r:id="rId19"/>
    <p:sldId id="261" r:id="rId20"/>
    <p:sldId id="262" r:id="rId21"/>
    <p:sldId id="2147471213" r:id="rId22"/>
    <p:sldId id="2147471214" r:id="rId23"/>
    <p:sldId id="2147471215" r:id="rId24"/>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13E146-474C-5F7A-1C77-C6F7E6278583}" v="574" dt="2025-11-15T22:40:01.776"/>
    <p1510:client id="{CC1FB276-670B-91BC-60BE-428BBF08FD48}" v="14" dt="2025-11-15T23:46:33.1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815" autoAdjust="0"/>
    <p:restoredTop sz="94660"/>
  </p:normalViewPr>
  <p:slideViewPr>
    <p:cSldViewPr snapToGrid="0">
      <p:cViewPr varScale="1">
        <p:scale>
          <a:sx n="79" d="100"/>
          <a:sy n="79" d="100"/>
        </p:scale>
        <p:origin x="965"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969A4F-01FB-40ED-B024-CE81905D6D15}" type="datetimeFigureOut">
              <a:t>16/11/2025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A6047F-CC2B-4C82-8C10-E09CC64BB10F}" type="slidenum">
              <a:t>‹nº›</a:t>
            </a:fld>
            <a:endParaRPr lang="en-US"/>
          </a:p>
        </p:txBody>
      </p:sp>
    </p:spTree>
    <p:extLst>
      <p:ext uri="{BB962C8B-B14F-4D97-AF65-F5344CB8AC3E}">
        <p14:creationId xmlns:p14="http://schemas.microsoft.com/office/powerpoint/2010/main" val="20167695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Espaço Reservado para Imagem de Slide 1">
            <a:extLst>
              <a:ext uri="{FF2B5EF4-FFF2-40B4-BE49-F238E27FC236}">
                <a16:creationId xmlns:a16="http://schemas.microsoft.com/office/drawing/2014/main" id="{39F64EB7-3853-BB05-44AE-250FC021731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9" name="Espaço Reservado para Anotações 2">
            <a:extLst>
              <a:ext uri="{FF2B5EF4-FFF2-40B4-BE49-F238E27FC236}">
                <a16:creationId xmlns:a16="http://schemas.microsoft.com/office/drawing/2014/main" id="{932F9492-A0BF-CD35-D75C-436674FD373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
        <p:nvSpPr>
          <p:cNvPr id="4100" name="Espaço Reservado para Número de Slide 3">
            <a:extLst>
              <a:ext uri="{FF2B5EF4-FFF2-40B4-BE49-F238E27FC236}">
                <a16:creationId xmlns:a16="http://schemas.microsoft.com/office/drawing/2014/main" id="{9C00CCA5-8CAD-9486-4978-017A430DE3A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fontAlgn="base">
              <a:spcBef>
                <a:spcPct val="0"/>
              </a:spcBef>
              <a:spcAft>
                <a:spcPct val="0"/>
              </a:spcAft>
              <a:defRPr>
                <a:solidFill>
                  <a:schemeClr val="tx1"/>
                </a:solidFill>
                <a:latin typeface="Aptos" panose="020B0004020202020204" pitchFamily="34" charset="0"/>
              </a:defRPr>
            </a:lvl6pPr>
            <a:lvl7pPr marL="2971800" indent="-228600" fontAlgn="base">
              <a:spcBef>
                <a:spcPct val="0"/>
              </a:spcBef>
              <a:spcAft>
                <a:spcPct val="0"/>
              </a:spcAft>
              <a:defRPr>
                <a:solidFill>
                  <a:schemeClr val="tx1"/>
                </a:solidFill>
                <a:latin typeface="Aptos" panose="020B0004020202020204" pitchFamily="34" charset="0"/>
              </a:defRPr>
            </a:lvl7pPr>
            <a:lvl8pPr marL="3429000" indent="-228600" fontAlgn="base">
              <a:spcBef>
                <a:spcPct val="0"/>
              </a:spcBef>
              <a:spcAft>
                <a:spcPct val="0"/>
              </a:spcAft>
              <a:defRPr>
                <a:solidFill>
                  <a:schemeClr val="tx1"/>
                </a:solidFill>
                <a:latin typeface="Aptos" panose="020B0004020202020204" pitchFamily="34" charset="0"/>
              </a:defRPr>
            </a:lvl8pPr>
            <a:lvl9pPr marL="3886200" indent="-228600" fontAlgn="base">
              <a:spcBef>
                <a:spcPct val="0"/>
              </a:spcBef>
              <a:spcAft>
                <a:spcPct val="0"/>
              </a:spcAft>
              <a:defRPr>
                <a:solidFill>
                  <a:schemeClr val="tx1"/>
                </a:solidFill>
                <a:latin typeface="Aptos" panose="020B0004020202020204" pitchFamily="34" charset="0"/>
              </a:defRPr>
            </a:lvl9pPr>
          </a:lstStyle>
          <a:p>
            <a:pPr fontAlgn="base">
              <a:spcBef>
                <a:spcPct val="0"/>
              </a:spcBef>
              <a:spcAft>
                <a:spcPct val="0"/>
              </a:spcAft>
            </a:pPr>
            <a:fld id="{674F9C81-55A5-4326-8502-47DA60A7C1BC}" type="slidenum">
              <a:rPr lang="pt-BR" altLang="en-US"/>
              <a:pPr fontAlgn="base">
                <a:spcBef>
                  <a:spcPct val="0"/>
                </a:spcBef>
                <a:spcAft>
                  <a:spcPct val="0"/>
                </a:spcAft>
              </a:pPr>
              <a:t>1</a:t>
            </a:fld>
            <a:endParaRPr lang="pt-BR"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Caixa de texto"/>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Droid Sans" charset="0"/>
              </a:rPr>
              <a:t>11</a:t>
            </a:fld>
            <a:endParaRPr lang="zh-CN" altLang="en-US" sz="1200">
              <a:latin typeface="Calibri" charset="0"/>
              <a:ea typeface="等线" charset="0"/>
              <a:cs typeface="Droid Sans" charset="0"/>
            </a:endParaRPr>
          </a:p>
        </p:txBody>
      </p:sp>
      <p:sp>
        <p:nvSpPr>
          <p:cNvPr id="32" name="Objeto"/>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33" name="Caixa de texto"/>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34" name="Retângulo"/>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Droid Sans" charset="0"/>
              </a:rPr>
              <a:t>11</a:t>
            </a:fld>
            <a:endParaRPr lang="zh-CN" altLang="en-US" sz="1200">
              <a:latin typeface="Calibri" charset="0"/>
              <a:ea typeface="等线" charset="0"/>
              <a:cs typeface="Droid Sans" charset="0"/>
            </a:endParaRPr>
          </a:p>
        </p:txBody>
      </p:sp>
    </p:spTree>
    <p:extLst>
      <p:ext uri="{BB962C8B-B14F-4D97-AF65-F5344CB8AC3E}">
        <p14:creationId xmlns:p14="http://schemas.microsoft.com/office/powerpoint/2010/main" val="918508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Caixa de texto"/>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Droid Sans" charset="0"/>
              </a:rPr>
              <a:t>12</a:t>
            </a:fld>
            <a:endParaRPr lang="zh-CN" altLang="en-US" sz="1200">
              <a:latin typeface="Calibri" charset="0"/>
              <a:ea typeface="等线" charset="0"/>
              <a:cs typeface="Droid Sans" charset="0"/>
            </a:endParaRPr>
          </a:p>
        </p:txBody>
      </p:sp>
      <p:sp>
        <p:nvSpPr>
          <p:cNvPr id="45" name="Objeto"/>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46" name="Caixa de texto"/>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47" name="Retângulo"/>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Droid Sans" charset="0"/>
              </a:rPr>
              <a:t>12</a:t>
            </a:fld>
            <a:endParaRPr lang="zh-CN" altLang="en-US" sz="1200">
              <a:latin typeface="Calibri" charset="0"/>
              <a:ea typeface="等线" charset="0"/>
              <a:cs typeface="Droid Sans" charset="0"/>
            </a:endParaRPr>
          </a:p>
        </p:txBody>
      </p:sp>
    </p:spTree>
    <p:extLst>
      <p:ext uri="{BB962C8B-B14F-4D97-AF65-F5344CB8AC3E}">
        <p14:creationId xmlns:p14="http://schemas.microsoft.com/office/powerpoint/2010/main" val="19889926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Caixa de texto"/>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Droid Sans" charset="0"/>
              </a:rPr>
              <a:t>13</a:t>
            </a:fld>
            <a:endParaRPr lang="zh-CN" altLang="en-US" sz="1200">
              <a:latin typeface="Calibri" charset="0"/>
              <a:ea typeface="等线" charset="0"/>
              <a:cs typeface="Droid Sans" charset="0"/>
            </a:endParaRPr>
          </a:p>
        </p:txBody>
      </p:sp>
      <p:sp>
        <p:nvSpPr>
          <p:cNvPr id="58" name="Objeto"/>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59" name="Caixa de texto"/>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60" name="Retângulo"/>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Droid Sans" charset="0"/>
              </a:rPr>
              <a:t>13</a:t>
            </a:fld>
            <a:endParaRPr lang="zh-CN" altLang="en-US" sz="1200">
              <a:latin typeface="Calibri" charset="0"/>
              <a:ea typeface="等线" charset="0"/>
              <a:cs typeface="Droid Sans" charset="0"/>
            </a:endParaRPr>
          </a:p>
        </p:txBody>
      </p:sp>
    </p:spTree>
    <p:extLst>
      <p:ext uri="{BB962C8B-B14F-4D97-AF65-F5344CB8AC3E}">
        <p14:creationId xmlns:p14="http://schemas.microsoft.com/office/powerpoint/2010/main" val="13938210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Caixa de texto"/>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Droid Sans" charset="0"/>
              </a:rPr>
              <a:t>14</a:t>
            </a:fld>
            <a:endParaRPr lang="zh-CN" altLang="en-US" sz="1200">
              <a:latin typeface="Calibri" charset="0"/>
              <a:ea typeface="等线" charset="0"/>
              <a:cs typeface="Droid Sans" charset="0"/>
            </a:endParaRPr>
          </a:p>
        </p:txBody>
      </p:sp>
      <p:sp>
        <p:nvSpPr>
          <p:cNvPr id="72" name="Objeto"/>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73" name="Caixa de texto"/>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74" name="Retângulo"/>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Droid Sans" charset="0"/>
              </a:rPr>
              <a:t>14</a:t>
            </a:fld>
            <a:endParaRPr lang="zh-CN" altLang="en-US" sz="1200">
              <a:latin typeface="Calibri" charset="0"/>
              <a:ea typeface="等线" charset="0"/>
              <a:cs typeface="Droid Sans" charset="0"/>
            </a:endParaRPr>
          </a:p>
        </p:txBody>
      </p:sp>
    </p:spTree>
    <p:extLst>
      <p:ext uri="{BB962C8B-B14F-4D97-AF65-F5344CB8AC3E}">
        <p14:creationId xmlns:p14="http://schemas.microsoft.com/office/powerpoint/2010/main" val="2674135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Caixa de texto"/>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Droid Sans" charset="0"/>
              </a:rPr>
              <a:t>15</a:t>
            </a:fld>
            <a:endParaRPr lang="zh-CN" altLang="en-US" sz="1200">
              <a:latin typeface="Calibri" charset="0"/>
              <a:ea typeface="等线" charset="0"/>
              <a:cs typeface="Droid Sans" charset="0"/>
            </a:endParaRPr>
          </a:p>
        </p:txBody>
      </p:sp>
      <p:sp>
        <p:nvSpPr>
          <p:cNvPr id="85" name="Objeto"/>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86" name="Caixa de texto"/>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87" name="Retângulo"/>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Droid Sans" charset="0"/>
              </a:rPr>
              <a:t>15</a:t>
            </a:fld>
            <a:endParaRPr lang="zh-CN" altLang="en-US" sz="1200">
              <a:latin typeface="Calibri" charset="0"/>
              <a:ea typeface="等线" charset="0"/>
              <a:cs typeface="Droid Sans" charset="0"/>
            </a:endParaRPr>
          </a:p>
        </p:txBody>
      </p:sp>
    </p:spTree>
    <p:extLst>
      <p:ext uri="{BB962C8B-B14F-4D97-AF65-F5344CB8AC3E}">
        <p14:creationId xmlns:p14="http://schemas.microsoft.com/office/powerpoint/2010/main" val="15503429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Caixa de texto"/>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Droid Sans" charset="0"/>
              </a:rPr>
              <a:t>16</a:t>
            </a:fld>
            <a:endParaRPr lang="zh-CN" altLang="en-US" sz="1200">
              <a:latin typeface="Calibri" charset="0"/>
              <a:ea typeface="等线" charset="0"/>
              <a:cs typeface="Droid Sans" charset="0"/>
            </a:endParaRPr>
          </a:p>
        </p:txBody>
      </p:sp>
      <p:sp>
        <p:nvSpPr>
          <p:cNvPr id="99" name="Retângulo"/>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Droid Sans" charset="0"/>
              </a:rPr>
              <a:t>16</a:t>
            </a:fld>
            <a:endParaRPr lang="zh-CN" altLang="en-US" sz="1200">
              <a:latin typeface="Calibri" charset="0"/>
              <a:ea typeface="等线" charset="0"/>
              <a:cs typeface="Droid Sans" charset="0"/>
            </a:endParaRPr>
          </a:p>
        </p:txBody>
      </p:sp>
      <p:sp>
        <p:nvSpPr>
          <p:cNvPr id="100" name="Objeto"/>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101" name="Caixa de texto"/>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102" name="Retângulo"/>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宋体" charset="0"/>
                <a:cs typeface="Lucida Sans" charset="0"/>
              </a:rPr>
              <a:t>16</a:t>
            </a:fld>
            <a:endParaRPr lang="zh-CN" altLang="en-US"/>
          </a:p>
        </p:txBody>
      </p:sp>
    </p:spTree>
    <p:extLst>
      <p:ext uri="{BB962C8B-B14F-4D97-AF65-F5344CB8AC3E}">
        <p14:creationId xmlns:p14="http://schemas.microsoft.com/office/powerpoint/2010/main" val="8752756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Caixa de texto"/>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Droid Sans" charset="0"/>
              </a:rPr>
              <a:t>17</a:t>
            </a:fld>
            <a:endParaRPr lang="zh-CN" altLang="en-US" sz="1200">
              <a:latin typeface="Calibri" charset="0"/>
              <a:ea typeface="等线" charset="0"/>
              <a:cs typeface="Droid Sans" charset="0"/>
            </a:endParaRPr>
          </a:p>
        </p:txBody>
      </p:sp>
      <p:sp>
        <p:nvSpPr>
          <p:cNvPr id="116" name="Retângulo"/>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Droid Sans" charset="0"/>
              </a:rPr>
              <a:t>17</a:t>
            </a:fld>
            <a:endParaRPr lang="zh-CN" altLang="en-US" sz="1200">
              <a:latin typeface="Calibri" charset="0"/>
              <a:ea typeface="等线" charset="0"/>
              <a:cs typeface="Droid Sans" charset="0"/>
            </a:endParaRPr>
          </a:p>
        </p:txBody>
      </p:sp>
      <p:sp>
        <p:nvSpPr>
          <p:cNvPr id="117" name="Objeto"/>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118" name="Caixa de texto"/>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119" name="Retângulo"/>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宋体" charset="0"/>
                <a:cs typeface="Lucida Sans" charset="0"/>
              </a:rPr>
              <a:t>17</a:t>
            </a:fld>
            <a:endParaRPr lang="zh-CN" altLang="en-US"/>
          </a:p>
        </p:txBody>
      </p:sp>
    </p:spTree>
    <p:extLst>
      <p:ext uri="{BB962C8B-B14F-4D97-AF65-F5344CB8AC3E}">
        <p14:creationId xmlns:p14="http://schemas.microsoft.com/office/powerpoint/2010/main" val="9044972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E804C-C841-F63F-EF9C-2D9822D29A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pt-BR"/>
          </a:p>
        </p:txBody>
      </p:sp>
      <p:sp>
        <p:nvSpPr>
          <p:cNvPr id="3" name="Subtitle 2">
            <a:extLst>
              <a:ext uri="{FF2B5EF4-FFF2-40B4-BE49-F238E27FC236}">
                <a16:creationId xmlns:a16="http://schemas.microsoft.com/office/drawing/2014/main" id="{077F6D4D-675E-A7E7-BDC6-1B9AA0DB3F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pt-BR"/>
          </a:p>
        </p:txBody>
      </p:sp>
      <p:sp>
        <p:nvSpPr>
          <p:cNvPr id="4" name="Date Placeholder 3">
            <a:extLst>
              <a:ext uri="{FF2B5EF4-FFF2-40B4-BE49-F238E27FC236}">
                <a16:creationId xmlns:a16="http://schemas.microsoft.com/office/drawing/2014/main" id="{A141E944-8A01-E41F-6F75-54A60A0FB34B}"/>
              </a:ext>
            </a:extLst>
          </p:cNvPr>
          <p:cNvSpPr>
            <a:spLocks noGrp="1"/>
          </p:cNvSpPr>
          <p:nvPr>
            <p:ph type="dt" sz="half" idx="10"/>
          </p:nvPr>
        </p:nvSpPr>
        <p:spPr/>
        <p:txBody>
          <a:bodyPr/>
          <a:lstStyle/>
          <a:p>
            <a:fld id="{C1AF92EF-C2C2-4FE7-B0CC-B56D04CC503C}" type="datetimeFigureOut">
              <a:rPr lang="pt-BR" smtClean="0"/>
              <a:t>16/11/2025</a:t>
            </a:fld>
            <a:endParaRPr lang="pt-BR"/>
          </a:p>
        </p:txBody>
      </p:sp>
      <p:sp>
        <p:nvSpPr>
          <p:cNvPr id="5" name="Footer Placeholder 4">
            <a:extLst>
              <a:ext uri="{FF2B5EF4-FFF2-40B4-BE49-F238E27FC236}">
                <a16:creationId xmlns:a16="http://schemas.microsoft.com/office/drawing/2014/main" id="{16600EDC-2BAE-C954-5B49-59470487BA87}"/>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F5354623-4735-822A-8F18-7AB13F2495F9}"/>
              </a:ext>
            </a:extLst>
          </p:cNvPr>
          <p:cNvSpPr>
            <a:spLocks noGrp="1"/>
          </p:cNvSpPr>
          <p:nvPr>
            <p:ph type="sldNum" sz="quarter" idx="12"/>
          </p:nvPr>
        </p:nvSpPr>
        <p:spPr/>
        <p:txBody>
          <a:bodyPr/>
          <a:lstStyle/>
          <a:p>
            <a:fld id="{15EC5CAC-0D2B-42EC-9BE4-D43DD57308E8}" type="slidenum">
              <a:rPr lang="pt-BR" smtClean="0"/>
              <a:t>‹nº›</a:t>
            </a:fld>
            <a:endParaRPr lang="pt-BR"/>
          </a:p>
        </p:txBody>
      </p:sp>
    </p:spTree>
    <p:extLst>
      <p:ext uri="{BB962C8B-B14F-4D97-AF65-F5344CB8AC3E}">
        <p14:creationId xmlns:p14="http://schemas.microsoft.com/office/powerpoint/2010/main" val="735038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767F0-97B6-4898-1464-EA6D06DA0DD9}"/>
              </a:ext>
            </a:extLst>
          </p:cNvPr>
          <p:cNvSpPr>
            <a:spLocks noGrp="1"/>
          </p:cNvSpPr>
          <p:nvPr>
            <p:ph type="title"/>
          </p:nvPr>
        </p:nvSpPr>
        <p:spPr/>
        <p:txBody>
          <a:bodyPr/>
          <a:lstStyle/>
          <a:p>
            <a:r>
              <a:rPr lang="en-US"/>
              <a:t>Click to edit Master title style</a:t>
            </a:r>
            <a:endParaRPr lang="pt-BR"/>
          </a:p>
        </p:txBody>
      </p:sp>
      <p:sp>
        <p:nvSpPr>
          <p:cNvPr id="3" name="Content Placeholder 2">
            <a:extLst>
              <a:ext uri="{FF2B5EF4-FFF2-40B4-BE49-F238E27FC236}">
                <a16:creationId xmlns:a16="http://schemas.microsoft.com/office/drawing/2014/main" id="{696A71A3-FBAA-0C71-30EF-C4C3E17395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id="{43E8FBE3-8886-056A-CEA2-3B982DFBE433}"/>
              </a:ext>
            </a:extLst>
          </p:cNvPr>
          <p:cNvSpPr>
            <a:spLocks noGrp="1"/>
          </p:cNvSpPr>
          <p:nvPr>
            <p:ph type="dt" sz="half" idx="10"/>
          </p:nvPr>
        </p:nvSpPr>
        <p:spPr/>
        <p:txBody>
          <a:bodyPr/>
          <a:lstStyle/>
          <a:p>
            <a:fld id="{C1AF92EF-C2C2-4FE7-B0CC-B56D04CC503C}" type="datetimeFigureOut">
              <a:rPr lang="pt-BR" smtClean="0"/>
              <a:t>16/11/2025</a:t>
            </a:fld>
            <a:endParaRPr lang="pt-BR"/>
          </a:p>
        </p:txBody>
      </p:sp>
      <p:sp>
        <p:nvSpPr>
          <p:cNvPr id="5" name="Footer Placeholder 4">
            <a:extLst>
              <a:ext uri="{FF2B5EF4-FFF2-40B4-BE49-F238E27FC236}">
                <a16:creationId xmlns:a16="http://schemas.microsoft.com/office/drawing/2014/main" id="{CEFB3C0C-F52E-BE24-4A52-DECAEFDA9BEC}"/>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289F6E4C-CD78-12A3-4EBE-974AD95EDFE1}"/>
              </a:ext>
            </a:extLst>
          </p:cNvPr>
          <p:cNvSpPr>
            <a:spLocks noGrp="1"/>
          </p:cNvSpPr>
          <p:nvPr>
            <p:ph type="sldNum" sz="quarter" idx="12"/>
          </p:nvPr>
        </p:nvSpPr>
        <p:spPr/>
        <p:txBody>
          <a:bodyPr/>
          <a:lstStyle/>
          <a:p>
            <a:fld id="{15EC5CAC-0D2B-42EC-9BE4-D43DD57308E8}" type="slidenum">
              <a:rPr lang="pt-BR" smtClean="0"/>
              <a:t>‹nº›</a:t>
            </a:fld>
            <a:endParaRPr lang="pt-BR"/>
          </a:p>
        </p:txBody>
      </p:sp>
    </p:spTree>
    <p:extLst>
      <p:ext uri="{BB962C8B-B14F-4D97-AF65-F5344CB8AC3E}">
        <p14:creationId xmlns:p14="http://schemas.microsoft.com/office/powerpoint/2010/main" val="2315282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00098-F150-419A-A9BC-1EE2D261B1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pt-BR"/>
          </a:p>
        </p:txBody>
      </p:sp>
      <p:sp>
        <p:nvSpPr>
          <p:cNvPr id="3" name="Text Placeholder 2">
            <a:extLst>
              <a:ext uri="{FF2B5EF4-FFF2-40B4-BE49-F238E27FC236}">
                <a16:creationId xmlns:a16="http://schemas.microsoft.com/office/drawing/2014/main" id="{A5CC16AB-E376-897E-2C52-BE550EF00B9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81FC71-64BC-F172-8AD4-BD9877270441}"/>
              </a:ext>
            </a:extLst>
          </p:cNvPr>
          <p:cNvSpPr>
            <a:spLocks noGrp="1"/>
          </p:cNvSpPr>
          <p:nvPr>
            <p:ph type="dt" sz="half" idx="10"/>
          </p:nvPr>
        </p:nvSpPr>
        <p:spPr/>
        <p:txBody>
          <a:bodyPr/>
          <a:lstStyle/>
          <a:p>
            <a:fld id="{C1AF92EF-C2C2-4FE7-B0CC-B56D04CC503C}" type="datetimeFigureOut">
              <a:rPr lang="pt-BR" smtClean="0"/>
              <a:t>16/11/2025</a:t>
            </a:fld>
            <a:endParaRPr lang="pt-BR"/>
          </a:p>
        </p:txBody>
      </p:sp>
      <p:sp>
        <p:nvSpPr>
          <p:cNvPr id="5" name="Footer Placeholder 4">
            <a:extLst>
              <a:ext uri="{FF2B5EF4-FFF2-40B4-BE49-F238E27FC236}">
                <a16:creationId xmlns:a16="http://schemas.microsoft.com/office/drawing/2014/main" id="{610CC6BA-5773-1B7F-16CE-FF6508864DDD}"/>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28C9EE54-D726-42B6-D5E5-2C3CE7115035}"/>
              </a:ext>
            </a:extLst>
          </p:cNvPr>
          <p:cNvSpPr>
            <a:spLocks noGrp="1"/>
          </p:cNvSpPr>
          <p:nvPr>
            <p:ph type="sldNum" sz="quarter" idx="12"/>
          </p:nvPr>
        </p:nvSpPr>
        <p:spPr/>
        <p:txBody>
          <a:bodyPr/>
          <a:lstStyle/>
          <a:p>
            <a:fld id="{15EC5CAC-0D2B-42EC-9BE4-D43DD57308E8}" type="slidenum">
              <a:rPr lang="pt-BR" smtClean="0"/>
              <a:t>‹nº›</a:t>
            </a:fld>
            <a:endParaRPr lang="pt-BR"/>
          </a:p>
        </p:txBody>
      </p:sp>
    </p:spTree>
    <p:extLst>
      <p:ext uri="{BB962C8B-B14F-4D97-AF65-F5344CB8AC3E}">
        <p14:creationId xmlns:p14="http://schemas.microsoft.com/office/powerpoint/2010/main" val="3011941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846-2F6A-744F-C918-4917FC4C37FE}"/>
              </a:ext>
            </a:extLst>
          </p:cNvPr>
          <p:cNvSpPr>
            <a:spLocks noGrp="1"/>
          </p:cNvSpPr>
          <p:nvPr>
            <p:ph type="title"/>
          </p:nvPr>
        </p:nvSpPr>
        <p:spPr/>
        <p:txBody>
          <a:bodyPr/>
          <a:lstStyle/>
          <a:p>
            <a:r>
              <a:rPr lang="en-US"/>
              <a:t>Click to edit Master title style</a:t>
            </a:r>
            <a:endParaRPr lang="pt-BR"/>
          </a:p>
        </p:txBody>
      </p:sp>
      <p:sp>
        <p:nvSpPr>
          <p:cNvPr id="3" name="Content Placeholder 2">
            <a:extLst>
              <a:ext uri="{FF2B5EF4-FFF2-40B4-BE49-F238E27FC236}">
                <a16:creationId xmlns:a16="http://schemas.microsoft.com/office/drawing/2014/main" id="{B67DDA83-FA02-B316-386E-56F8333941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Content Placeholder 3">
            <a:extLst>
              <a:ext uri="{FF2B5EF4-FFF2-40B4-BE49-F238E27FC236}">
                <a16:creationId xmlns:a16="http://schemas.microsoft.com/office/drawing/2014/main" id="{72155A66-8D0B-630E-20D2-1B5AE8E1E01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5" name="Date Placeholder 4">
            <a:extLst>
              <a:ext uri="{FF2B5EF4-FFF2-40B4-BE49-F238E27FC236}">
                <a16:creationId xmlns:a16="http://schemas.microsoft.com/office/drawing/2014/main" id="{E31483B9-A8BF-A4A6-AADD-40633E1B0768}"/>
              </a:ext>
            </a:extLst>
          </p:cNvPr>
          <p:cNvSpPr>
            <a:spLocks noGrp="1"/>
          </p:cNvSpPr>
          <p:nvPr>
            <p:ph type="dt" sz="half" idx="10"/>
          </p:nvPr>
        </p:nvSpPr>
        <p:spPr/>
        <p:txBody>
          <a:bodyPr/>
          <a:lstStyle/>
          <a:p>
            <a:fld id="{C1AF92EF-C2C2-4FE7-B0CC-B56D04CC503C}" type="datetimeFigureOut">
              <a:rPr lang="pt-BR" smtClean="0"/>
              <a:t>16/11/2025</a:t>
            </a:fld>
            <a:endParaRPr lang="pt-BR"/>
          </a:p>
        </p:txBody>
      </p:sp>
      <p:sp>
        <p:nvSpPr>
          <p:cNvPr id="6" name="Footer Placeholder 5">
            <a:extLst>
              <a:ext uri="{FF2B5EF4-FFF2-40B4-BE49-F238E27FC236}">
                <a16:creationId xmlns:a16="http://schemas.microsoft.com/office/drawing/2014/main" id="{35CB37AD-9875-6D91-41B1-8D727043B8E1}"/>
              </a:ext>
            </a:extLst>
          </p:cNvPr>
          <p:cNvSpPr>
            <a:spLocks noGrp="1"/>
          </p:cNvSpPr>
          <p:nvPr>
            <p:ph type="ftr" sz="quarter" idx="11"/>
          </p:nvPr>
        </p:nvSpPr>
        <p:spPr/>
        <p:txBody>
          <a:bodyPr/>
          <a:lstStyle/>
          <a:p>
            <a:endParaRPr lang="pt-BR"/>
          </a:p>
        </p:txBody>
      </p:sp>
      <p:sp>
        <p:nvSpPr>
          <p:cNvPr id="7" name="Slide Number Placeholder 6">
            <a:extLst>
              <a:ext uri="{FF2B5EF4-FFF2-40B4-BE49-F238E27FC236}">
                <a16:creationId xmlns:a16="http://schemas.microsoft.com/office/drawing/2014/main" id="{E8DF534F-6DDA-54E0-0E08-DF759D2AC2E1}"/>
              </a:ext>
            </a:extLst>
          </p:cNvPr>
          <p:cNvSpPr>
            <a:spLocks noGrp="1"/>
          </p:cNvSpPr>
          <p:nvPr>
            <p:ph type="sldNum" sz="quarter" idx="12"/>
          </p:nvPr>
        </p:nvSpPr>
        <p:spPr/>
        <p:txBody>
          <a:bodyPr/>
          <a:lstStyle/>
          <a:p>
            <a:fld id="{15EC5CAC-0D2B-42EC-9BE4-D43DD57308E8}" type="slidenum">
              <a:rPr lang="pt-BR" smtClean="0"/>
              <a:t>‹nº›</a:t>
            </a:fld>
            <a:endParaRPr lang="pt-BR"/>
          </a:p>
        </p:txBody>
      </p:sp>
    </p:spTree>
    <p:extLst>
      <p:ext uri="{BB962C8B-B14F-4D97-AF65-F5344CB8AC3E}">
        <p14:creationId xmlns:p14="http://schemas.microsoft.com/office/powerpoint/2010/main" val="1763987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8E74E-2150-50EE-B6ED-D1299E656C8D}"/>
              </a:ext>
            </a:extLst>
          </p:cNvPr>
          <p:cNvSpPr>
            <a:spLocks noGrp="1"/>
          </p:cNvSpPr>
          <p:nvPr>
            <p:ph type="title"/>
          </p:nvPr>
        </p:nvSpPr>
        <p:spPr>
          <a:xfrm>
            <a:off x="839788" y="365125"/>
            <a:ext cx="10515600" cy="1325563"/>
          </a:xfrm>
        </p:spPr>
        <p:txBody>
          <a:bodyPr/>
          <a:lstStyle/>
          <a:p>
            <a:r>
              <a:rPr lang="en-US"/>
              <a:t>Click to edit Master title style</a:t>
            </a:r>
            <a:endParaRPr lang="pt-BR"/>
          </a:p>
        </p:txBody>
      </p:sp>
      <p:sp>
        <p:nvSpPr>
          <p:cNvPr id="3" name="Text Placeholder 2">
            <a:extLst>
              <a:ext uri="{FF2B5EF4-FFF2-40B4-BE49-F238E27FC236}">
                <a16:creationId xmlns:a16="http://schemas.microsoft.com/office/drawing/2014/main" id="{CAE459A8-52A3-B7D3-1198-F2643D6ACE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B8441E-0D60-0601-83D3-87FE70A615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5" name="Text Placeholder 4">
            <a:extLst>
              <a:ext uri="{FF2B5EF4-FFF2-40B4-BE49-F238E27FC236}">
                <a16:creationId xmlns:a16="http://schemas.microsoft.com/office/drawing/2014/main" id="{E1958987-0357-7CFE-B623-A47635D7DC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94B78B-D078-5238-80D0-B789567B16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7" name="Date Placeholder 6">
            <a:extLst>
              <a:ext uri="{FF2B5EF4-FFF2-40B4-BE49-F238E27FC236}">
                <a16:creationId xmlns:a16="http://schemas.microsoft.com/office/drawing/2014/main" id="{16BB6AC4-1B5E-E3A1-C60C-AA5BC952BBDC}"/>
              </a:ext>
            </a:extLst>
          </p:cNvPr>
          <p:cNvSpPr>
            <a:spLocks noGrp="1"/>
          </p:cNvSpPr>
          <p:nvPr>
            <p:ph type="dt" sz="half" idx="10"/>
          </p:nvPr>
        </p:nvSpPr>
        <p:spPr/>
        <p:txBody>
          <a:bodyPr/>
          <a:lstStyle/>
          <a:p>
            <a:fld id="{C1AF92EF-C2C2-4FE7-B0CC-B56D04CC503C}" type="datetimeFigureOut">
              <a:rPr lang="pt-BR" smtClean="0"/>
              <a:t>16/11/2025</a:t>
            </a:fld>
            <a:endParaRPr lang="pt-BR"/>
          </a:p>
        </p:txBody>
      </p:sp>
      <p:sp>
        <p:nvSpPr>
          <p:cNvPr id="8" name="Footer Placeholder 7">
            <a:extLst>
              <a:ext uri="{FF2B5EF4-FFF2-40B4-BE49-F238E27FC236}">
                <a16:creationId xmlns:a16="http://schemas.microsoft.com/office/drawing/2014/main" id="{B031C5C5-6977-4577-D5C5-9EE92B183CF3}"/>
              </a:ext>
            </a:extLst>
          </p:cNvPr>
          <p:cNvSpPr>
            <a:spLocks noGrp="1"/>
          </p:cNvSpPr>
          <p:nvPr>
            <p:ph type="ftr" sz="quarter" idx="11"/>
          </p:nvPr>
        </p:nvSpPr>
        <p:spPr/>
        <p:txBody>
          <a:bodyPr/>
          <a:lstStyle/>
          <a:p>
            <a:endParaRPr lang="pt-BR"/>
          </a:p>
        </p:txBody>
      </p:sp>
      <p:sp>
        <p:nvSpPr>
          <p:cNvPr id="9" name="Slide Number Placeholder 8">
            <a:extLst>
              <a:ext uri="{FF2B5EF4-FFF2-40B4-BE49-F238E27FC236}">
                <a16:creationId xmlns:a16="http://schemas.microsoft.com/office/drawing/2014/main" id="{31643670-CA73-9D7B-9113-E81AE0338DD6}"/>
              </a:ext>
            </a:extLst>
          </p:cNvPr>
          <p:cNvSpPr>
            <a:spLocks noGrp="1"/>
          </p:cNvSpPr>
          <p:nvPr>
            <p:ph type="sldNum" sz="quarter" idx="12"/>
          </p:nvPr>
        </p:nvSpPr>
        <p:spPr/>
        <p:txBody>
          <a:bodyPr/>
          <a:lstStyle/>
          <a:p>
            <a:fld id="{15EC5CAC-0D2B-42EC-9BE4-D43DD57308E8}" type="slidenum">
              <a:rPr lang="pt-BR" smtClean="0"/>
              <a:t>‹nº›</a:t>
            </a:fld>
            <a:endParaRPr lang="pt-BR"/>
          </a:p>
        </p:txBody>
      </p:sp>
    </p:spTree>
    <p:extLst>
      <p:ext uri="{BB962C8B-B14F-4D97-AF65-F5344CB8AC3E}">
        <p14:creationId xmlns:p14="http://schemas.microsoft.com/office/powerpoint/2010/main" val="36283754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1252B-98E1-7087-B344-6A38D86D7730}"/>
              </a:ext>
            </a:extLst>
          </p:cNvPr>
          <p:cNvSpPr>
            <a:spLocks noGrp="1"/>
          </p:cNvSpPr>
          <p:nvPr>
            <p:ph type="title"/>
          </p:nvPr>
        </p:nvSpPr>
        <p:spPr/>
        <p:txBody>
          <a:bodyPr/>
          <a:lstStyle/>
          <a:p>
            <a:r>
              <a:rPr lang="en-US"/>
              <a:t>Click to edit Master title style</a:t>
            </a:r>
            <a:endParaRPr lang="pt-BR"/>
          </a:p>
        </p:txBody>
      </p:sp>
      <p:sp>
        <p:nvSpPr>
          <p:cNvPr id="3" name="Date Placeholder 2">
            <a:extLst>
              <a:ext uri="{FF2B5EF4-FFF2-40B4-BE49-F238E27FC236}">
                <a16:creationId xmlns:a16="http://schemas.microsoft.com/office/drawing/2014/main" id="{BEF864BB-DC36-E4AC-B1FC-D0C8F6A2E235}"/>
              </a:ext>
            </a:extLst>
          </p:cNvPr>
          <p:cNvSpPr>
            <a:spLocks noGrp="1"/>
          </p:cNvSpPr>
          <p:nvPr>
            <p:ph type="dt" sz="half" idx="10"/>
          </p:nvPr>
        </p:nvSpPr>
        <p:spPr/>
        <p:txBody>
          <a:bodyPr/>
          <a:lstStyle/>
          <a:p>
            <a:fld id="{C1AF92EF-C2C2-4FE7-B0CC-B56D04CC503C}" type="datetimeFigureOut">
              <a:rPr lang="pt-BR" smtClean="0"/>
              <a:t>16/11/2025</a:t>
            </a:fld>
            <a:endParaRPr lang="pt-BR"/>
          </a:p>
        </p:txBody>
      </p:sp>
      <p:sp>
        <p:nvSpPr>
          <p:cNvPr id="4" name="Footer Placeholder 3">
            <a:extLst>
              <a:ext uri="{FF2B5EF4-FFF2-40B4-BE49-F238E27FC236}">
                <a16:creationId xmlns:a16="http://schemas.microsoft.com/office/drawing/2014/main" id="{6F666BBF-0928-4374-620E-8BFEFFABB1EF}"/>
              </a:ext>
            </a:extLst>
          </p:cNvPr>
          <p:cNvSpPr>
            <a:spLocks noGrp="1"/>
          </p:cNvSpPr>
          <p:nvPr>
            <p:ph type="ftr" sz="quarter" idx="11"/>
          </p:nvPr>
        </p:nvSpPr>
        <p:spPr/>
        <p:txBody>
          <a:bodyPr/>
          <a:lstStyle/>
          <a:p>
            <a:endParaRPr lang="pt-BR"/>
          </a:p>
        </p:txBody>
      </p:sp>
      <p:sp>
        <p:nvSpPr>
          <p:cNvPr id="5" name="Slide Number Placeholder 4">
            <a:extLst>
              <a:ext uri="{FF2B5EF4-FFF2-40B4-BE49-F238E27FC236}">
                <a16:creationId xmlns:a16="http://schemas.microsoft.com/office/drawing/2014/main" id="{52ED3C37-7172-77E1-F696-20197EE60339}"/>
              </a:ext>
            </a:extLst>
          </p:cNvPr>
          <p:cNvSpPr>
            <a:spLocks noGrp="1"/>
          </p:cNvSpPr>
          <p:nvPr>
            <p:ph type="sldNum" sz="quarter" idx="12"/>
          </p:nvPr>
        </p:nvSpPr>
        <p:spPr/>
        <p:txBody>
          <a:bodyPr/>
          <a:lstStyle/>
          <a:p>
            <a:fld id="{15EC5CAC-0D2B-42EC-9BE4-D43DD57308E8}" type="slidenum">
              <a:rPr lang="pt-BR" smtClean="0"/>
              <a:t>‹nº›</a:t>
            </a:fld>
            <a:endParaRPr lang="pt-BR"/>
          </a:p>
        </p:txBody>
      </p:sp>
    </p:spTree>
    <p:extLst>
      <p:ext uri="{BB962C8B-B14F-4D97-AF65-F5344CB8AC3E}">
        <p14:creationId xmlns:p14="http://schemas.microsoft.com/office/powerpoint/2010/main" val="940080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A75BA1-AFED-96B0-7CA0-898C67A6203C}"/>
              </a:ext>
            </a:extLst>
          </p:cNvPr>
          <p:cNvSpPr>
            <a:spLocks noGrp="1"/>
          </p:cNvSpPr>
          <p:nvPr>
            <p:ph type="dt" sz="half" idx="10"/>
          </p:nvPr>
        </p:nvSpPr>
        <p:spPr/>
        <p:txBody>
          <a:bodyPr/>
          <a:lstStyle/>
          <a:p>
            <a:fld id="{C1AF92EF-C2C2-4FE7-B0CC-B56D04CC503C}" type="datetimeFigureOut">
              <a:rPr lang="pt-BR" smtClean="0"/>
              <a:t>16/11/2025</a:t>
            </a:fld>
            <a:endParaRPr lang="pt-BR"/>
          </a:p>
        </p:txBody>
      </p:sp>
      <p:sp>
        <p:nvSpPr>
          <p:cNvPr id="3" name="Footer Placeholder 2">
            <a:extLst>
              <a:ext uri="{FF2B5EF4-FFF2-40B4-BE49-F238E27FC236}">
                <a16:creationId xmlns:a16="http://schemas.microsoft.com/office/drawing/2014/main" id="{DBF0919E-04B3-10BD-5A4C-A73AD9D17218}"/>
              </a:ext>
            </a:extLst>
          </p:cNvPr>
          <p:cNvSpPr>
            <a:spLocks noGrp="1"/>
          </p:cNvSpPr>
          <p:nvPr>
            <p:ph type="ftr" sz="quarter" idx="11"/>
          </p:nvPr>
        </p:nvSpPr>
        <p:spPr/>
        <p:txBody>
          <a:bodyPr/>
          <a:lstStyle/>
          <a:p>
            <a:endParaRPr lang="pt-BR"/>
          </a:p>
        </p:txBody>
      </p:sp>
      <p:sp>
        <p:nvSpPr>
          <p:cNvPr id="4" name="Slide Number Placeholder 3">
            <a:extLst>
              <a:ext uri="{FF2B5EF4-FFF2-40B4-BE49-F238E27FC236}">
                <a16:creationId xmlns:a16="http://schemas.microsoft.com/office/drawing/2014/main" id="{390E1FBF-BFF7-212B-DA76-2B2A25493884}"/>
              </a:ext>
            </a:extLst>
          </p:cNvPr>
          <p:cNvSpPr>
            <a:spLocks noGrp="1"/>
          </p:cNvSpPr>
          <p:nvPr>
            <p:ph type="sldNum" sz="quarter" idx="12"/>
          </p:nvPr>
        </p:nvSpPr>
        <p:spPr/>
        <p:txBody>
          <a:bodyPr/>
          <a:lstStyle/>
          <a:p>
            <a:fld id="{15EC5CAC-0D2B-42EC-9BE4-D43DD57308E8}" type="slidenum">
              <a:rPr lang="pt-BR" smtClean="0"/>
              <a:t>‹nº›</a:t>
            </a:fld>
            <a:endParaRPr lang="pt-BR"/>
          </a:p>
        </p:txBody>
      </p:sp>
    </p:spTree>
    <p:extLst>
      <p:ext uri="{BB962C8B-B14F-4D97-AF65-F5344CB8AC3E}">
        <p14:creationId xmlns:p14="http://schemas.microsoft.com/office/powerpoint/2010/main" val="39666039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61075-D163-3EE4-B161-258DEBFB70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pt-BR"/>
          </a:p>
        </p:txBody>
      </p:sp>
      <p:sp>
        <p:nvSpPr>
          <p:cNvPr id="3" name="Content Placeholder 2">
            <a:extLst>
              <a:ext uri="{FF2B5EF4-FFF2-40B4-BE49-F238E27FC236}">
                <a16:creationId xmlns:a16="http://schemas.microsoft.com/office/drawing/2014/main" id="{585D32FB-A51D-DF66-7C51-DDCCFA9E34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Text Placeholder 3">
            <a:extLst>
              <a:ext uri="{FF2B5EF4-FFF2-40B4-BE49-F238E27FC236}">
                <a16:creationId xmlns:a16="http://schemas.microsoft.com/office/drawing/2014/main" id="{1109AB59-B641-D3EC-29D5-B7871F5E1A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851CC6-5465-6E80-1CE8-862753C84142}"/>
              </a:ext>
            </a:extLst>
          </p:cNvPr>
          <p:cNvSpPr>
            <a:spLocks noGrp="1"/>
          </p:cNvSpPr>
          <p:nvPr>
            <p:ph type="dt" sz="half" idx="10"/>
          </p:nvPr>
        </p:nvSpPr>
        <p:spPr/>
        <p:txBody>
          <a:bodyPr/>
          <a:lstStyle/>
          <a:p>
            <a:fld id="{C1AF92EF-C2C2-4FE7-B0CC-B56D04CC503C}" type="datetimeFigureOut">
              <a:rPr lang="pt-BR" smtClean="0"/>
              <a:t>16/11/2025</a:t>
            </a:fld>
            <a:endParaRPr lang="pt-BR"/>
          </a:p>
        </p:txBody>
      </p:sp>
      <p:sp>
        <p:nvSpPr>
          <p:cNvPr id="6" name="Footer Placeholder 5">
            <a:extLst>
              <a:ext uri="{FF2B5EF4-FFF2-40B4-BE49-F238E27FC236}">
                <a16:creationId xmlns:a16="http://schemas.microsoft.com/office/drawing/2014/main" id="{AA89E4E7-2E7F-1D99-0C56-7CED5E446EB3}"/>
              </a:ext>
            </a:extLst>
          </p:cNvPr>
          <p:cNvSpPr>
            <a:spLocks noGrp="1"/>
          </p:cNvSpPr>
          <p:nvPr>
            <p:ph type="ftr" sz="quarter" idx="11"/>
          </p:nvPr>
        </p:nvSpPr>
        <p:spPr/>
        <p:txBody>
          <a:bodyPr/>
          <a:lstStyle/>
          <a:p>
            <a:endParaRPr lang="pt-BR"/>
          </a:p>
        </p:txBody>
      </p:sp>
      <p:sp>
        <p:nvSpPr>
          <p:cNvPr id="7" name="Slide Number Placeholder 6">
            <a:extLst>
              <a:ext uri="{FF2B5EF4-FFF2-40B4-BE49-F238E27FC236}">
                <a16:creationId xmlns:a16="http://schemas.microsoft.com/office/drawing/2014/main" id="{10A5DDF2-15B4-3C53-645F-201F3DAAACB4}"/>
              </a:ext>
            </a:extLst>
          </p:cNvPr>
          <p:cNvSpPr>
            <a:spLocks noGrp="1"/>
          </p:cNvSpPr>
          <p:nvPr>
            <p:ph type="sldNum" sz="quarter" idx="12"/>
          </p:nvPr>
        </p:nvSpPr>
        <p:spPr/>
        <p:txBody>
          <a:bodyPr/>
          <a:lstStyle/>
          <a:p>
            <a:fld id="{15EC5CAC-0D2B-42EC-9BE4-D43DD57308E8}" type="slidenum">
              <a:rPr lang="pt-BR" smtClean="0"/>
              <a:t>‹nº›</a:t>
            </a:fld>
            <a:endParaRPr lang="pt-BR"/>
          </a:p>
        </p:txBody>
      </p:sp>
    </p:spTree>
    <p:extLst>
      <p:ext uri="{BB962C8B-B14F-4D97-AF65-F5344CB8AC3E}">
        <p14:creationId xmlns:p14="http://schemas.microsoft.com/office/powerpoint/2010/main" val="14705607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41610-D8BE-4877-12C9-B496F4C827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pt-BR"/>
          </a:p>
        </p:txBody>
      </p:sp>
      <p:sp>
        <p:nvSpPr>
          <p:cNvPr id="3" name="Picture Placeholder 2">
            <a:extLst>
              <a:ext uri="{FF2B5EF4-FFF2-40B4-BE49-F238E27FC236}">
                <a16:creationId xmlns:a16="http://schemas.microsoft.com/office/drawing/2014/main" id="{DCF19008-EC03-AD15-F71B-5241856BC9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Text Placeholder 3">
            <a:extLst>
              <a:ext uri="{FF2B5EF4-FFF2-40B4-BE49-F238E27FC236}">
                <a16:creationId xmlns:a16="http://schemas.microsoft.com/office/drawing/2014/main" id="{86347B67-E286-0A94-D5ED-CBEC3A4E0D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EA531A-7D3A-CD92-40A8-5162542F8D3C}"/>
              </a:ext>
            </a:extLst>
          </p:cNvPr>
          <p:cNvSpPr>
            <a:spLocks noGrp="1"/>
          </p:cNvSpPr>
          <p:nvPr>
            <p:ph type="dt" sz="half" idx="10"/>
          </p:nvPr>
        </p:nvSpPr>
        <p:spPr/>
        <p:txBody>
          <a:bodyPr/>
          <a:lstStyle/>
          <a:p>
            <a:fld id="{C1AF92EF-C2C2-4FE7-B0CC-B56D04CC503C}" type="datetimeFigureOut">
              <a:rPr lang="pt-BR" smtClean="0"/>
              <a:t>16/11/2025</a:t>
            </a:fld>
            <a:endParaRPr lang="pt-BR"/>
          </a:p>
        </p:txBody>
      </p:sp>
      <p:sp>
        <p:nvSpPr>
          <p:cNvPr id="6" name="Footer Placeholder 5">
            <a:extLst>
              <a:ext uri="{FF2B5EF4-FFF2-40B4-BE49-F238E27FC236}">
                <a16:creationId xmlns:a16="http://schemas.microsoft.com/office/drawing/2014/main" id="{272ED5FE-359C-0EAE-36C6-58177F83AA08}"/>
              </a:ext>
            </a:extLst>
          </p:cNvPr>
          <p:cNvSpPr>
            <a:spLocks noGrp="1"/>
          </p:cNvSpPr>
          <p:nvPr>
            <p:ph type="ftr" sz="quarter" idx="11"/>
          </p:nvPr>
        </p:nvSpPr>
        <p:spPr/>
        <p:txBody>
          <a:bodyPr/>
          <a:lstStyle/>
          <a:p>
            <a:endParaRPr lang="pt-BR"/>
          </a:p>
        </p:txBody>
      </p:sp>
      <p:sp>
        <p:nvSpPr>
          <p:cNvPr id="7" name="Slide Number Placeholder 6">
            <a:extLst>
              <a:ext uri="{FF2B5EF4-FFF2-40B4-BE49-F238E27FC236}">
                <a16:creationId xmlns:a16="http://schemas.microsoft.com/office/drawing/2014/main" id="{B2E6E3CF-3717-AD65-E174-187608C1CA0B}"/>
              </a:ext>
            </a:extLst>
          </p:cNvPr>
          <p:cNvSpPr>
            <a:spLocks noGrp="1"/>
          </p:cNvSpPr>
          <p:nvPr>
            <p:ph type="sldNum" sz="quarter" idx="12"/>
          </p:nvPr>
        </p:nvSpPr>
        <p:spPr/>
        <p:txBody>
          <a:bodyPr/>
          <a:lstStyle/>
          <a:p>
            <a:fld id="{15EC5CAC-0D2B-42EC-9BE4-D43DD57308E8}" type="slidenum">
              <a:rPr lang="pt-BR" smtClean="0"/>
              <a:t>‹nº›</a:t>
            </a:fld>
            <a:endParaRPr lang="pt-BR"/>
          </a:p>
        </p:txBody>
      </p:sp>
    </p:spTree>
    <p:extLst>
      <p:ext uri="{BB962C8B-B14F-4D97-AF65-F5344CB8AC3E}">
        <p14:creationId xmlns:p14="http://schemas.microsoft.com/office/powerpoint/2010/main" val="6479123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15EDF-2119-F798-A03C-50B2AEF2642F}"/>
              </a:ext>
            </a:extLst>
          </p:cNvPr>
          <p:cNvSpPr>
            <a:spLocks noGrp="1"/>
          </p:cNvSpPr>
          <p:nvPr>
            <p:ph type="title"/>
          </p:nvPr>
        </p:nvSpPr>
        <p:spPr/>
        <p:txBody>
          <a:bodyPr/>
          <a:lstStyle/>
          <a:p>
            <a:r>
              <a:rPr lang="en-US"/>
              <a:t>Click to edit Master title style</a:t>
            </a:r>
            <a:endParaRPr lang="pt-BR"/>
          </a:p>
        </p:txBody>
      </p:sp>
      <p:sp>
        <p:nvSpPr>
          <p:cNvPr id="3" name="Vertical Text Placeholder 2">
            <a:extLst>
              <a:ext uri="{FF2B5EF4-FFF2-40B4-BE49-F238E27FC236}">
                <a16:creationId xmlns:a16="http://schemas.microsoft.com/office/drawing/2014/main" id="{67B31E18-E903-75D7-AA58-E5A8D8062C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id="{3A81C66C-06C2-E604-27F9-DACD7967ECB6}"/>
              </a:ext>
            </a:extLst>
          </p:cNvPr>
          <p:cNvSpPr>
            <a:spLocks noGrp="1"/>
          </p:cNvSpPr>
          <p:nvPr>
            <p:ph type="dt" sz="half" idx="10"/>
          </p:nvPr>
        </p:nvSpPr>
        <p:spPr/>
        <p:txBody>
          <a:bodyPr/>
          <a:lstStyle/>
          <a:p>
            <a:fld id="{C1AF92EF-C2C2-4FE7-B0CC-B56D04CC503C}" type="datetimeFigureOut">
              <a:rPr lang="pt-BR" smtClean="0"/>
              <a:t>16/11/2025</a:t>
            </a:fld>
            <a:endParaRPr lang="pt-BR"/>
          </a:p>
        </p:txBody>
      </p:sp>
      <p:sp>
        <p:nvSpPr>
          <p:cNvPr id="5" name="Footer Placeholder 4">
            <a:extLst>
              <a:ext uri="{FF2B5EF4-FFF2-40B4-BE49-F238E27FC236}">
                <a16:creationId xmlns:a16="http://schemas.microsoft.com/office/drawing/2014/main" id="{B179167B-CC90-563D-1BFC-6F80D99D886E}"/>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DDFFC286-F1DB-308D-CAD9-B6BA8A182CD4}"/>
              </a:ext>
            </a:extLst>
          </p:cNvPr>
          <p:cNvSpPr>
            <a:spLocks noGrp="1"/>
          </p:cNvSpPr>
          <p:nvPr>
            <p:ph type="sldNum" sz="quarter" idx="12"/>
          </p:nvPr>
        </p:nvSpPr>
        <p:spPr/>
        <p:txBody>
          <a:bodyPr/>
          <a:lstStyle/>
          <a:p>
            <a:fld id="{15EC5CAC-0D2B-42EC-9BE4-D43DD57308E8}" type="slidenum">
              <a:rPr lang="pt-BR" smtClean="0"/>
              <a:t>‹nº›</a:t>
            </a:fld>
            <a:endParaRPr lang="pt-BR"/>
          </a:p>
        </p:txBody>
      </p:sp>
    </p:spTree>
    <p:extLst>
      <p:ext uri="{BB962C8B-B14F-4D97-AF65-F5344CB8AC3E}">
        <p14:creationId xmlns:p14="http://schemas.microsoft.com/office/powerpoint/2010/main" val="987194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333EC9-43AC-C49C-F581-D836E79C752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pt-BR"/>
          </a:p>
        </p:txBody>
      </p:sp>
      <p:sp>
        <p:nvSpPr>
          <p:cNvPr id="3" name="Vertical Text Placeholder 2">
            <a:extLst>
              <a:ext uri="{FF2B5EF4-FFF2-40B4-BE49-F238E27FC236}">
                <a16:creationId xmlns:a16="http://schemas.microsoft.com/office/drawing/2014/main" id="{C04A66BB-384C-B1FC-2D54-C90FB98785F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id="{882723A2-21F1-B3BF-EBCA-3CD3D310F91A}"/>
              </a:ext>
            </a:extLst>
          </p:cNvPr>
          <p:cNvSpPr>
            <a:spLocks noGrp="1"/>
          </p:cNvSpPr>
          <p:nvPr>
            <p:ph type="dt" sz="half" idx="10"/>
          </p:nvPr>
        </p:nvSpPr>
        <p:spPr/>
        <p:txBody>
          <a:bodyPr/>
          <a:lstStyle/>
          <a:p>
            <a:fld id="{C1AF92EF-C2C2-4FE7-B0CC-B56D04CC503C}" type="datetimeFigureOut">
              <a:rPr lang="pt-BR" smtClean="0"/>
              <a:t>16/11/2025</a:t>
            </a:fld>
            <a:endParaRPr lang="pt-BR"/>
          </a:p>
        </p:txBody>
      </p:sp>
      <p:sp>
        <p:nvSpPr>
          <p:cNvPr id="5" name="Footer Placeholder 4">
            <a:extLst>
              <a:ext uri="{FF2B5EF4-FFF2-40B4-BE49-F238E27FC236}">
                <a16:creationId xmlns:a16="http://schemas.microsoft.com/office/drawing/2014/main" id="{B0603832-EF08-7839-B54F-73B1DDA03CBA}"/>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AB85CCF3-348B-A0FB-1897-53BA7299E30D}"/>
              </a:ext>
            </a:extLst>
          </p:cNvPr>
          <p:cNvSpPr>
            <a:spLocks noGrp="1"/>
          </p:cNvSpPr>
          <p:nvPr>
            <p:ph type="sldNum" sz="quarter" idx="12"/>
          </p:nvPr>
        </p:nvSpPr>
        <p:spPr/>
        <p:txBody>
          <a:bodyPr/>
          <a:lstStyle/>
          <a:p>
            <a:fld id="{15EC5CAC-0D2B-42EC-9BE4-D43DD57308E8}" type="slidenum">
              <a:rPr lang="pt-BR" smtClean="0"/>
              <a:t>‹nº›</a:t>
            </a:fld>
            <a:endParaRPr lang="pt-BR"/>
          </a:p>
        </p:txBody>
      </p:sp>
    </p:spTree>
    <p:extLst>
      <p:ext uri="{BB962C8B-B14F-4D97-AF65-F5344CB8AC3E}">
        <p14:creationId xmlns:p14="http://schemas.microsoft.com/office/powerpoint/2010/main" val="10959982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Limpo">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2960861"/>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7421283"/>
      </p:ext>
    </p:extLst>
  </p:cSld>
  <p:clrMapOvr>
    <a:masterClrMapping/>
  </p:clrMapOvr>
  <p:hf sldNum="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DFFB70-60B5-3946-7116-14D84326C1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pt-BR"/>
          </a:p>
        </p:txBody>
      </p:sp>
      <p:sp>
        <p:nvSpPr>
          <p:cNvPr id="3" name="Text Placeholder 2">
            <a:extLst>
              <a:ext uri="{FF2B5EF4-FFF2-40B4-BE49-F238E27FC236}">
                <a16:creationId xmlns:a16="http://schemas.microsoft.com/office/drawing/2014/main" id="{A9B9E5CC-74BF-9813-F0F7-130A0F6B0D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id="{C2661B58-A81C-14C0-BBEE-454AD11CBF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1AF92EF-C2C2-4FE7-B0CC-B56D04CC503C}" type="datetimeFigureOut">
              <a:rPr lang="pt-BR" smtClean="0"/>
              <a:t>16/11/2025</a:t>
            </a:fld>
            <a:endParaRPr lang="pt-BR"/>
          </a:p>
        </p:txBody>
      </p:sp>
      <p:sp>
        <p:nvSpPr>
          <p:cNvPr id="5" name="Footer Placeholder 4">
            <a:extLst>
              <a:ext uri="{FF2B5EF4-FFF2-40B4-BE49-F238E27FC236}">
                <a16:creationId xmlns:a16="http://schemas.microsoft.com/office/drawing/2014/main" id="{A8B501C3-5120-A0B1-3A39-21E843BCB5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BR"/>
          </a:p>
        </p:txBody>
      </p:sp>
      <p:sp>
        <p:nvSpPr>
          <p:cNvPr id="6" name="Slide Number Placeholder 5">
            <a:extLst>
              <a:ext uri="{FF2B5EF4-FFF2-40B4-BE49-F238E27FC236}">
                <a16:creationId xmlns:a16="http://schemas.microsoft.com/office/drawing/2014/main" id="{DC8DCA61-C6CE-4C8F-CC70-60D1DCD5E0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5EC5CAC-0D2B-42EC-9BE4-D43DD57308E8}" type="slidenum">
              <a:rPr lang="pt-BR" smtClean="0"/>
              <a:t>‹nº›</a:t>
            </a:fld>
            <a:endParaRPr lang="pt-BR"/>
          </a:p>
        </p:txBody>
      </p:sp>
    </p:spTree>
    <p:extLst>
      <p:ext uri="{BB962C8B-B14F-4D97-AF65-F5344CB8AC3E}">
        <p14:creationId xmlns:p14="http://schemas.microsoft.com/office/powerpoint/2010/main" val="14922729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8.jpe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9.jpe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hyperlink" Target="https://fatecspgov.sharepoint.com/:b:/r/sites/Section_TAM003.A841.N.068.146.20251/Shared%20Documents/General/Ni%CC%81vel%20de%20Alerta%20para%20a%20Falha%20do%20Conjunto%20de%20Eixo.pdf?csf=1&amp;web=1&amp;e=Zcs9Fo" TargetMode="Externa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aixaDeTexto 10">
            <a:extLst>
              <a:ext uri="{FF2B5EF4-FFF2-40B4-BE49-F238E27FC236}">
                <a16:creationId xmlns:a16="http://schemas.microsoft.com/office/drawing/2014/main" id="{757D0703-03A4-E2AC-89F6-1896980DD04F}"/>
              </a:ext>
            </a:extLst>
          </p:cNvPr>
          <p:cNvSpPr txBox="1">
            <a:spLocks noChangeArrowheads="1"/>
          </p:cNvSpPr>
          <p:nvPr/>
        </p:nvSpPr>
        <p:spPr bwMode="auto">
          <a:xfrm>
            <a:off x="180372" y="1564478"/>
            <a:ext cx="5916613"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fontAlgn="base">
              <a:spcBef>
                <a:spcPct val="0"/>
              </a:spcBef>
              <a:spcAft>
                <a:spcPct val="0"/>
              </a:spcAft>
              <a:defRPr>
                <a:solidFill>
                  <a:schemeClr val="tx1"/>
                </a:solidFill>
                <a:latin typeface="Aptos" panose="020B0004020202020204" pitchFamily="34" charset="0"/>
              </a:defRPr>
            </a:lvl6pPr>
            <a:lvl7pPr marL="2971800" indent="-228600" fontAlgn="base">
              <a:spcBef>
                <a:spcPct val="0"/>
              </a:spcBef>
              <a:spcAft>
                <a:spcPct val="0"/>
              </a:spcAft>
              <a:defRPr>
                <a:solidFill>
                  <a:schemeClr val="tx1"/>
                </a:solidFill>
                <a:latin typeface="Aptos" panose="020B0004020202020204" pitchFamily="34" charset="0"/>
              </a:defRPr>
            </a:lvl7pPr>
            <a:lvl8pPr marL="3429000" indent="-228600" fontAlgn="base">
              <a:spcBef>
                <a:spcPct val="0"/>
              </a:spcBef>
              <a:spcAft>
                <a:spcPct val="0"/>
              </a:spcAft>
              <a:defRPr>
                <a:solidFill>
                  <a:schemeClr val="tx1"/>
                </a:solidFill>
                <a:latin typeface="Aptos" panose="020B0004020202020204" pitchFamily="34" charset="0"/>
              </a:defRPr>
            </a:lvl8pPr>
            <a:lvl9pPr marL="3886200" indent="-228600" fontAlgn="base">
              <a:spcBef>
                <a:spcPct val="0"/>
              </a:spcBef>
              <a:spcAft>
                <a:spcPct val="0"/>
              </a:spcAft>
              <a:defRPr>
                <a:solidFill>
                  <a:schemeClr val="tx1"/>
                </a:solidFill>
                <a:latin typeface="Aptos" panose="020B0004020202020204" pitchFamily="34" charset="0"/>
              </a:defRPr>
            </a:lvl9pPr>
          </a:lstStyle>
          <a:p>
            <a:pPr algn="ctr"/>
            <a:r>
              <a:rPr lang="pt-BR" altLang="en-US" sz="4400" b="1" dirty="0">
                <a:latin typeface="Arial"/>
                <a:cs typeface="Arial"/>
              </a:rPr>
              <a:t>API – Análise acidente </a:t>
            </a:r>
            <a:r>
              <a:rPr lang="pt-BR" sz="4400" b="1" dirty="0">
                <a:latin typeface="Aptos"/>
                <a:cs typeface="Arial"/>
              </a:rPr>
              <a:t>Alaska Airlines Voo 261</a:t>
            </a:r>
            <a:endParaRPr lang="pt-BR" altLang="en-US" sz="4400" b="1" dirty="0">
              <a:latin typeface="Arial"/>
              <a:cs typeface="Arial"/>
            </a:endParaRPr>
          </a:p>
          <a:p>
            <a:pPr algn="ctr" eaLnBrk="1" hangingPunct="1"/>
            <a:r>
              <a:rPr lang="pt-BR" altLang="en-US" sz="4400" b="1" dirty="0">
                <a:latin typeface="Arial"/>
                <a:cs typeface="Arial"/>
              </a:rPr>
              <a:t>(3ª Sprint)</a:t>
            </a:r>
          </a:p>
        </p:txBody>
      </p:sp>
      <p:pic>
        <p:nvPicPr>
          <p:cNvPr id="3077" name="Imagem 33" descr="Placa vermelha com letras brancas&#10;&#10;Descrição gerada automaticamente com confiança baixa">
            <a:extLst>
              <a:ext uri="{FF2B5EF4-FFF2-40B4-BE49-F238E27FC236}">
                <a16:creationId xmlns:a16="http://schemas.microsoft.com/office/drawing/2014/main" id="{26139919-3579-45A7-9435-05383A4AD3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72650" y="6038850"/>
            <a:ext cx="1422400"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aixaDeTexto 2">
            <a:extLst>
              <a:ext uri="{FF2B5EF4-FFF2-40B4-BE49-F238E27FC236}">
                <a16:creationId xmlns:a16="http://schemas.microsoft.com/office/drawing/2014/main" id="{65FFF2B1-C76B-27E6-88F6-32E0306A9BEB}"/>
              </a:ext>
            </a:extLst>
          </p:cNvPr>
          <p:cNvSpPr txBox="1"/>
          <p:nvPr/>
        </p:nvSpPr>
        <p:spPr>
          <a:xfrm>
            <a:off x="5873327" y="5022401"/>
            <a:ext cx="532477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dirty="0"/>
              <a:t>Nomes: Isabela Soares</a:t>
            </a:r>
          </a:p>
          <a:p>
            <a:r>
              <a:rPr lang="pt-BR" dirty="0"/>
              <a:t>                 </a:t>
            </a:r>
            <a:r>
              <a:rPr lang="pt-BR" dirty="0" err="1"/>
              <a:t>Jhonata</a:t>
            </a:r>
            <a:r>
              <a:rPr lang="pt-BR" dirty="0"/>
              <a:t> Cauã</a:t>
            </a:r>
          </a:p>
          <a:p>
            <a:r>
              <a:rPr lang="pt-BR" dirty="0"/>
              <a:t>                 William Henrique</a:t>
            </a:r>
          </a:p>
        </p:txBody>
      </p:sp>
      <p:pic>
        <p:nvPicPr>
          <p:cNvPr id="4" name="Imagem 3" descr="File:McDonnell Douglas MD-83 (DC-9-83), Alaska Airlines AN0485239.jpg -  Wikimedia Commons">
            <a:extLst>
              <a:ext uri="{FF2B5EF4-FFF2-40B4-BE49-F238E27FC236}">
                <a16:creationId xmlns:a16="http://schemas.microsoft.com/office/drawing/2014/main" id="{52A692C0-FE23-45DF-A942-3A17F4DDA51C}"/>
              </a:ext>
            </a:extLst>
          </p:cNvPr>
          <p:cNvPicPr>
            <a:picLocks noChangeAspect="1"/>
          </p:cNvPicPr>
          <p:nvPr/>
        </p:nvPicPr>
        <p:blipFill>
          <a:blip r:embed="rId4"/>
          <a:stretch>
            <a:fillRect/>
          </a:stretch>
        </p:blipFill>
        <p:spPr>
          <a:xfrm>
            <a:off x="6224000" y="1200410"/>
            <a:ext cx="5474657" cy="3528164"/>
          </a:xfrm>
          <a:prstGeom prst="rect">
            <a:avLst/>
          </a:prstGeom>
        </p:spPr>
      </p:pic>
    </p:spTree>
  </p:cSld>
  <p:clrMapOvr>
    <a:masterClrMapping/>
  </p:clrMapOvr>
  <p:transition spd="slow" advTm="484">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02FFC-2479-F21B-2D83-2602D95C3FB2}"/>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16E2F487-4234-6A35-64F2-D9151DDDB144}"/>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454DABF5-1984-C328-8207-7A632D2B0EA1}"/>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srgbClr val="0070C0"/>
                </a:solidFill>
                <a:effectLst/>
                <a:uLnTx/>
                <a:uFillTx/>
                <a:latin typeface="Arial"/>
                <a:cs typeface="Arial"/>
                <a:sym typeface="Helvetica Neue"/>
              </a:rPr>
              <a:t>Capítulo</a:t>
            </a:r>
            <a:r>
              <a:rPr kumimoji="0" lang="en-US" sz="2000" b="1" i="0" u="none" strike="noStrike" kern="1200" cap="none" spc="0" normalizeH="0" baseline="0" noProof="0" dirty="0">
                <a:ln>
                  <a:noFill/>
                </a:ln>
                <a:solidFill>
                  <a:srgbClr val="0070C0"/>
                </a:solidFill>
                <a:effectLst/>
                <a:uLnTx/>
                <a:uFillTx/>
                <a:latin typeface="Arial"/>
                <a:cs typeface="Arial"/>
                <a:sym typeface="Helvetica Neue"/>
              </a:rPr>
              <a:t> </a:t>
            </a:r>
            <a:r>
              <a:rPr lang="en-US" sz="2000" b="1" dirty="0">
                <a:solidFill>
                  <a:srgbClr val="0070C0"/>
                </a:solidFill>
                <a:latin typeface="Arial"/>
                <a:cs typeface="Arial"/>
                <a:sym typeface="Helvetica Neue"/>
              </a:rPr>
              <a:t>9</a:t>
            </a:r>
            <a:endParaRPr kumimoji="0" lang="pt-BR" sz="2000" b="1"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6" name="CaixaDeTexto 5">
            <a:extLst>
              <a:ext uri="{FF2B5EF4-FFF2-40B4-BE49-F238E27FC236}">
                <a16:creationId xmlns:a16="http://schemas.microsoft.com/office/drawing/2014/main" id="{C2FA2E0E-E594-4751-8CDD-53FB4F85BF06}"/>
              </a:ext>
            </a:extLst>
          </p:cNvPr>
          <p:cNvSpPr txBox="1"/>
          <p:nvPr/>
        </p:nvSpPr>
        <p:spPr>
          <a:xfrm>
            <a:off x="252919" y="677222"/>
            <a:ext cx="11971547" cy="523220"/>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pt-BR" sz="1400" b="0" i="0" u="sng"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rPr>
              <a:t>Slide 9.4 – Discorra sobre o conceito de aprovisionamento de peças de reposição (Inicial e Recorrente) e as alternativas existentes para a reposição</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pt-BR" sz="1400" b="0" i="0" u="sng"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rPr>
              <a:t> do conjunto do eixo do sistema de compensação do estabilizador horizontal</a:t>
            </a:r>
          </a:p>
        </p:txBody>
      </p:sp>
      <p:sp>
        <p:nvSpPr>
          <p:cNvPr id="4" name="CaixaDeTexto 3">
            <a:extLst>
              <a:ext uri="{FF2B5EF4-FFF2-40B4-BE49-F238E27FC236}">
                <a16:creationId xmlns:a16="http://schemas.microsoft.com/office/drawing/2014/main" id="{A5F46BC9-F388-4635-B38B-0F3BFEB47F72}"/>
              </a:ext>
            </a:extLst>
          </p:cNvPr>
          <p:cNvSpPr txBox="1"/>
          <p:nvPr/>
        </p:nvSpPr>
        <p:spPr>
          <a:xfrm>
            <a:off x="10364949" y="0"/>
            <a:ext cx="1766236" cy="646331"/>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800" b="0" i="0" u="sng" strike="noStrike" kern="1200" cap="none" spc="0" normalizeH="0" baseline="0" noProof="0" dirty="0">
                <a:ln>
                  <a:noFill/>
                </a:ln>
                <a:solidFill>
                  <a:srgbClr val="0070C0"/>
                </a:solidFill>
                <a:effectLst/>
                <a:uLnTx/>
                <a:uFillTx/>
                <a:latin typeface="Aptos" panose="02110004020202020204"/>
                <a:ea typeface="+mn-ea"/>
                <a:cs typeface="+mn-cs"/>
              </a:rPr>
              <a:t>Resp.: </a:t>
            </a:r>
          </a:p>
          <a:p>
            <a:pPr algn="ctr">
              <a:defRPr/>
            </a:pPr>
            <a:r>
              <a:rPr lang="pt-BR" u="sng" dirty="0">
                <a:solidFill>
                  <a:srgbClr val="0070C0"/>
                </a:solidFill>
              </a:rPr>
              <a:t>Isabela Soares</a:t>
            </a:r>
          </a:p>
        </p:txBody>
      </p:sp>
      <p:pic>
        <p:nvPicPr>
          <p:cNvPr id="9" name="Imagem 8" descr="Placa vermelha com letras brancas&#10;&#10;Descrição gerada automaticamente com confiança baixa">
            <a:extLst>
              <a:ext uri="{FF2B5EF4-FFF2-40B4-BE49-F238E27FC236}">
                <a16:creationId xmlns:a16="http://schemas.microsoft.com/office/drawing/2014/main" id="{C60871FE-1476-9926-2B5C-1131F1D4A310}"/>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2" name="CaixaDeTexto 1">
            <a:extLst>
              <a:ext uri="{FF2B5EF4-FFF2-40B4-BE49-F238E27FC236}">
                <a16:creationId xmlns:a16="http://schemas.microsoft.com/office/drawing/2014/main" id="{E25ED02A-D851-2380-9213-2D047D89AA2C}"/>
              </a:ext>
            </a:extLst>
          </p:cNvPr>
          <p:cNvSpPr txBox="1"/>
          <p:nvPr/>
        </p:nvSpPr>
        <p:spPr>
          <a:xfrm>
            <a:off x="1472190" y="-3768"/>
            <a:ext cx="9524244" cy="646331"/>
          </a:xfrm>
          <a:prstGeom prst="rect">
            <a:avLst/>
          </a:prstGeom>
          <a:noFill/>
        </p:spPr>
        <p:txBody>
          <a:bodyPr wrap="square" lIns="91440" tIns="45720" rIns="91440" bIns="45720" rtlCol="0" anchor="t">
            <a:spAutoFit/>
          </a:bodyPr>
          <a:lstStyle/>
          <a:p>
            <a:pPr>
              <a:defRPr/>
            </a:pPr>
            <a:r>
              <a:rPr lang="pt-BR" sz="1200" dirty="0">
                <a:solidFill>
                  <a:srgbClr val="0070C0"/>
                </a:solidFill>
                <a:latin typeface="Arial"/>
                <a:cs typeface="Arial"/>
              </a:rPr>
              <a:t>Peças de Reposição: </a:t>
            </a:r>
            <a:r>
              <a:rPr kumimoji="0" lang="pt-BR" sz="1200" b="0" i="0" u="none" strike="noStrike" kern="1200" cap="none" spc="0" normalizeH="0" baseline="0" noProof="0" dirty="0">
                <a:ln>
                  <a:noFill/>
                </a:ln>
                <a:solidFill>
                  <a:srgbClr val="0070C0"/>
                </a:solidFill>
                <a:effectLst/>
                <a:uLnTx/>
                <a:uFillTx/>
                <a:latin typeface="Arial"/>
                <a:cs typeface="Arial"/>
              </a:rPr>
              <a:t>A Alaska Airlines não possuía conjuntos de eixos estocados. Com base nos dados de falhas reportadas indicadas no relatório do NTSB, e no limite de vida de 30.000 horas do conjunto do eixo, estime e desenvolva os seguintes dados:</a:t>
            </a:r>
            <a:endParaRPr lang="pt-BR" sz="1200" dirty="0">
              <a:solidFill>
                <a:srgbClr val="0070C0"/>
              </a:solidFill>
              <a:latin typeface="Arial"/>
              <a:cs typeface="Arial"/>
            </a:endParaRPr>
          </a:p>
          <a:p>
            <a:pPr marL="0" marR="0" lvl="0" indent="0" algn="l" defTabSz="914400">
              <a:lnSpc>
                <a:spcPct val="100000"/>
              </a:lnSpc>
              <a:spcBef>
                <a:spcPts val="0"/>
              </a:spcBef>
              <a:spcAft>
                <a:spcPts val="0"/>
              </a:spcAft>
              <a:buClrTx/>
              <a:buSzTx/>
              <a:buFontTx/>
              <a:buNone/>
              <a:tabLst/>
              <a:defRPr/>
            </a:pPr>
            <a:endParaRPr lang="pt-BR" sz="1200" b="0" i="0" u="none" strike="noStrike" kern="1200" cap="none" spc="0" normalizeH="0" baseline="0" noProof="0" dirty="0">
              <a:ln>
                <a:noFill/>
              </a:ln>
              <a:solidFill>
                <a:schemeClr val="accent4">
                  <a:lumMod val="76000"/>
                </a:schemeClr>
              </a:solidFill>
              <a:effectLst/>
              <a:uLnTx/>
              <a:uFillTx/>
              <a:latin typeface="Arial" panose="020B0604020202020204" pitchFamily="34" charset="0"/>
              <a:cs typeface="Arial" panose="020B0604020202020204" pitchFamily="34" charset="0"/>
            </a:endParaRPr>
          </a:p>
        </p:txBody>
      </p:sp>
      <p:sp>
        <p:nvSpPr>
          <p:cNvPr id="3" name="CaixaDeTexto 2">
            <a:extLst>
              <a:ext uri="{FF2B5EF4-FFF2-40B4-BE49-F238E27FC236}">
                <a16:creationId xmlns:a16="http://schemas.microsoft.com/office/drawing/2014/main" id="{574F6AE9-5625-0CDE-19DA-79F75E1367DA}"/>
              </a:ext>
            </a:extLst>
          </p:cNvPr>
          <p:cNvSpPr txBox="1"/>
          <p:nvPr/>
        </p:nvSpPr>
        <p:spPr>
          <a:xfrm>
            <a:off x="905677" y="1321644"/>
            <a:ext cx="4698744"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dirty="0">
                <a:ea typeface="+mn-lt"/>
                <a:cs typeface="+mn-lt"/>
              </a:rPr>
              <a:t>Conceito de Aprovisionamento:</a:t>
            </a:r>
            <a:endParaRPr lang="pt-BR" dirty="0"/>
          </a:p>
          <a:p>
            <a:r>
              <a:rPr lang="pt-BR" dirty="0">
                <a:ea typeface="+mn-lt"/>
                <a:cs typeface="+mn-lt"/>
              </a:rPr>
              <a:t>Refere-se ao planejamento, organização e controle do estoque de peças de reposição, principalmente para componentes críticos da aeronave.</a:t>
            </a:r>
            <a:endParaRPr lang="pt-BR" dirty="0"/>
          </a:p>
          <a:p>
            <a:endParaRPr lang="pt-BR"/>
          </a:p>
          <a:p>
            <a:r>
              <a:rPr lang="pt-BR" dirty="0">
                <a:ea typeface="+mn-lt"/>
                <a:cs typeface="+mn-lt"/>
              </a:rPr>
              <a:t>Tipos de aprovisionamento:</a:t>
            </a:r>
            <a:endParaRPr lang="pt-BR" dirty="0"/>
          </a:p>
          <a:p>
            <a:endParaRPr lang="pt-BR"/>
          </a:p>
          <a:p>
            <a:r>
              <a:rPr lang="pt-BR" dirty="0">
                <a:ea typeface="+mn-lt"/>
                <a:cs typeface="+mn-lt"/>
              </a:rPr>
              <a:t>Inicial: corresponde ao estoque que deve ser mantido antes do início das operações, garantindo disponibilidade imediata para possíveis substituições.</a:t>
            </a:r>
            <a:endParaRPr lang="pt-BR" dirty="0"/>
          </a:p>
          <a:p>
            <a:endParaRPr lang="pt-BR"/>
          </a:p>
          <a:p>
            <a:r>
              <a:rPr lang="pt-BR" dirty="0">
                <a:ea typeface="+mn-lt"/>
                <a:cs typeface="+mn-lt"/>
              </a:rPr>
              <a:t>Recorrente: envolve repor continuamente os itens utilizados, mantendo o nível de estoque adequado ao longo do tempo.</a:t>
            </a:r>
            <a:endParaRPr lang="pt-BR" dirty="0"/>
          </a:p>
          <a:p>
            <a:endParaRPr lang="pt-BR"/>
          </a:p>
        </p:txBody>
      </p:sp>
      <p:sp>
        <p:nvSpPr>
          <p:cNvPr id="14" name="CaixaDeTexto 13">
            <a:extLst>
              <a:ext uri="{FF2B5EF4-FFF2-40B4-BE49-F238E27FC236}">
                <a16:creationId xmlns:a16="http://schemas.microsoft.com/office/drawing/2014/main" id="{0AB26B36-F551-6FE2-75B9-5754DBB114B8}"/>
              </a:ext>
            </a:extLst>
          </p:cNvPr>
          <p:cNvSpPr txBox="1"/>
          <p:nvPr/>
        </p:nvSpPr>
        <p:spPr>
          <a:xfrm>
            <a:off x="6547691" y="1324707"/>
            <a:ext cx="4699603"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dirty="0"/>
              <a:t>Possíveis estratégias para reposição do conjunto do eixo:</a:t>
            </a:r>
          </a:p>
          <a:p>
            <a:endParaRPr lang="pt-BR" dirty="0"/>
          </a:p>
          <a:p>
            <a:r>
              <a:rPr lang="pt-BR" dirty="0"/>
              <a:t>Power </a:t>
            </a:r>
            <a:r>
              <a:rPr lang="pt-BR" dirty="0" err="1"/>
              <a:t>By</a:t>
            </a:r>
            <a:r>
              <a:rPr lang="pt-BR" dirty="0"/>
              <a:t> The Hour (PBH): A empresa contrata o fornecimento, manutenção e logística da peça mediante pagamento por hora de voo. É ideal para operadores que desejam reduzir custos de estoque e infraestrutura própria. </a:t>
            </a:r>
            <a:endParaRPr lang="pt-BR"/>
          </a:p>
          <a:p>
            <a:endParaRPr lang="pt-BR"/>
          </a:p>
          <a:p>
            <a:endParaRPr lang="pt-BR" dirty="0"/>
          </a:p>
          <a:p>
            <a:r>
              <a:rPr lang="pt-BR" dirty="0"/>
              <a:t>Estoque próprio (modelo tradicional): A companhia mantém peças sobressalentes disponíveis internamente e realiza as trocas utilizando sua própria equipe de manutenção. Essa opção exige mais investimento, mas oferece maior autonomia operacional.</a:t>
            </a:r>
          </a:p>
        </p:txBody>
      </p:sp>
      <p:pic>
        <p:nvPicPr>
          <p:cNvPr id="8" name="Imagem 7">
            <a:extLst>
              <a:ext uri="{FF2B5EF4-FFF2-40B4-BE49-F238E27FC236}">
                <a16:creationId xmlns:a16="http://schemas.microsoft.com/office/drawing/2014/main" id="{47FB30B7-B712-6666-EFDA-0E3529660B83}"/>
              </a:ext>
            </a:extLst>
          </p:cNvPr>
          <p:cNvPicPr>
            <a:picLocks noChangeAspect="1"/>
          </p:cNvPicPr>
          <p:nvPr/>
        </p:nvPicPr>
        <p:blipFill>
          <a:blip r:embed="rId3"/>
          <a:stretch>
            <a:fillRect/>
          </a:stretch>
        </p:blipFill>
        <p:spPr>
          <a:xfrm>
            <a:off x="0" y="14096"/>
            <a:ext cx="12192000" cy="6829807"/>
          </a:xfrm>
          <a:prstGeom prst="rect">
            <a:avLst/>
          </a:prstGeom>
        </p:spPr>
      </p:pic>
    </p:spTree>
    <p:extLst>
      <p:ext uri="{BB962C8B-B14F-4D97-AF65-F5344CB8AC3E}">
        <p14:creationId xmlns:p14="http://schemas.microsoft.com/office/powerpoint/2010/main" val="1117561397"/>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02FFC-2479-F21B-2D83-2602D95C3FB2}"/>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16E2F487-4234-6A35-64F2-D9151DDDB144}"/>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454DABF5-1984-C328-8207-7A632D2B0EA1}"/>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srgbClr val="0070C0"/>
                </a:solidFill>
                <a:effectLst/>
                <a:uLnTx/>
                <a:uFillTx/>
                <a:latin typeface="Arial"/>
                <a:cs typeface="Arial"/>
                <a:sym typeface="Helvetica Neue"/>
              </a:rPr>
              <a:t>Capítulo</a:t>
            </a:r>
            <a:r>
              <a:rPr kumimoji="0" lang="en-US" sz="2000" b="1" i="0" u="none" strike="noStrike" kern="1200" cap="none" spc="0" normalizeH="0" baseline="0" noProof="0" dirty="0">
                <a:ln>
                  <a:noFill/>
                </a:ln>
                <a:solidFill>
                  <a:srgbClr val="0070C0"/>
                </a:solidFill>
                <a:effectLst/>
                <a:uLnTx/>
                <a:uFillTx/>
                <a:latin typeface="Arial"/>
                <a:cs typeface="Arial"/>
                <a:sym typeface="Helvetica Neue"/>
              </a:rPr>
              <a:t> </a:t>
            </a:r>
            <a:r>
              <a:rPr lang="en-US" sz="2000" b="1" dirty="0">
                <a:solidFill>
                  <a:srgbClr val="0070C0"/>
                </a:solidFill>
                <a:latin typeface="Arial"/>
                <a:cs typeface="Arial"/>
                <a:sym typeface="Helvetica Neue"/>
              </a:rPr>
              <a:t>9</a:t>
            </a:r>
            <a:endParaRPr kumimoji="0" lang="en-US" sz="2000" b="1"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6" name="CaixaDeTexto 5">
            <a:extLst>
              <a:ext uri="{FF2B5EF4-FFF2-40B4-BE49-F238E27FC236}">
                <a16:creationId xmlns:a16="http://schemas.microsoft.com/office/drawing/2014/main" id="{C2FA2E0E-E594-4751-8CDD-53FB4F85BF06}"/>
              </a:ext>
            </a:extLst>
          </p:cNvPr>
          <p:cNvSpPr txBox="1"/>
          <p:nvPr/>
        </p:nvSpPr>
        <p:spPr>
          <a:xfrm>
            <a:off x="204278" y="564779"/>
            <a:ext cx="8561446" cy="307777"/>
          </a:xfrm>
          <a:prstGeom prst="rect">
            <a:avLst/>
          </a:prstGeom>
          <a:noFill/>
        </p:spPr>
        <p:txBody>
          <a:bodyPr wrap="none" rtlCol="0">
            <a:spAutoFit/>
          </a:bodyPr>
          <a:lstStyle/>
          <a:p>
            <a:r>
              <a:rPr lang="pt-BR" sz="1400" u="sng" dirty="0">
                <a:solidFill>
                  <a:srgbClr val="0070C0"/>
                </a:solidFill>
                <a:latin typeface="Arial" panose="020B0604020202020204" pitchFamily="34" charset="0"/>
                <a:cs typeface="Arial" panose="020B0604020202020204" pitchFamily="34" charset="0"/>
              </a:rPr>
              <a:t>Slide 9.1 – Estoque recomendado para a Alaska Airlines que possuía 48 aeronaves na época do acidente</a:t>
            </a:r>
          </a:p>
        </p:txBody>
      </p:sp>
      <p:sp>
        <p:nvSpPr>
          <p:cNvPr id="8" name="CaixaDeTexto 7">
            <a:extLst>
              <a:ext uri="{FF2B5EF4-FFF2-40B4-BE49-F238E27FC236}">
                <a16:creationId xmlns:a16="http://schemas.microsoft.com/office/drawing/2014/main" id="{2E0BEC99-5C62-4578-B83D-CED6B1C4FCEB}"/>
              </a:ext>
            </a:extLst>
          </p:cNvPr>
          <p:cNvSpPr txBox="1"/>
          <p:nvPr/>
        </p:nvSpPr>
        <p:spPr>
          <a:xfrm>
            <a:off x="10364949" y="0"/>
            <a:ext cx="1766236" cy="646331"/>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800" b="0" i="0" u="sng" strike="noStrike" kern="1200" cap="none" spc="0" normalizeH="0" baseline="0" noProof="0" dirty="0">
                <a:ln>
                  <a:noFill/>
                </a:ln>
                <a:solidFill>
                  <a:srgbClr val="0070C0"/>
                </a:solidFill>
                <a:effectLst/>
                <a:uLnTx/>
                <a:uFillTx/>
                <a:latin typeface="Aptos" panose="02110004020202020204"/>
                <a:ea typeface="+mn-ea"/>
                <a:cs typeface="+mn-cs"/>
              </a:rPr>
              <a:t>Resp.: </a:t>
            </a:r>
          </a:p>
          <a:p>
            <a:pPr algn="ctr">
              <a:defRPr/>
            </a:pPr>
            <a:r>
              <a:rPr lang="pt-BR" u="sng" dirty="0">
                <a:solidFill>
                  <a:srgbClr val="0070C0"/>
                </a:solidFill>
              </a:rPr>
              <a:t>Isabela Soares</a:t>
            </a:r>
          </a:p>
        </p:txBody>
      </p:sp>
      <p:sp>
        <p:nvSpPr>
          <p:cNvPr id="9" name="CaixaDeTexto 8">
            <a:extLst>
              <a:ext uri="{FF2B5EF4-FFF2-40B4-BE49-F238E27FC236}">
                <a16:creationId xmlns:a16="http://schemas.microsoft.com/office/drawing/2014/main" id="{B7381407-2E89-446F-9A6D-AA9CC3B54AEB}"/>
              </a:ext>
            </a:extLst>
          </p:cNvPr>
          <p:cNvSpPr txBox="1"/>
          <p:nvPr/>
        </p:nvSpPr>
        <p:spPr>
          <a:xfrm>
            <a:off x="1472190" y="-3768"/>
            <a:ext cx="9524244" cy="646331"/>
          </a:xfrm>
          <a:prstGeom prst="rect">
            <a:avLst/>
          </a:prstGeom>
          <a:noFill/>
        </p:spPr>
        <p:txBody>
          <a:bodyPr wrap="square" lIns="91440" tIns="45720" rIns="91440" bIns="45720" rtlCol="0" anchor="t">
            <a:spAutoFit/>
          </a:bodyPr>
          <a:lstStyle/>
          <a:p>
            <a:pPr>
              <a:defRPr/>
            </a:pPr>
            <a:r>
              <a:rPr lang="pt-BR" sz="1200" dirty="0">
                <a:solidFill>
                  <a:srgbClr val="0070C0"/>
                </a:solidFill>
                <a:latin typeface="Arial"/>
                <a:cs typeface="Arial"/>
              </a:rPr>
              <a:t>Peças de Reposição: </a:t>
            </a:r>
            <a:r>
              <a:rPr kumimoji="0" lang="pt-BR" sz="1200" b="0" i="0" u="none" strike="noStrike" kern="1200" cap="none" spc="0" normalizeH="0" baseline="0" noProof="0" dirty="0">
                <a:ln>
                  <a:noFill/>
                </a:ln>
                <a:solidFill>
                  <a:srgbClr val="0070C0"/>
                </a:solidFill>
                <a:effectLst/>
                <a:uLnTx/>
                <a:uFillTx/>
                <a:latin typeface="Arial"/>
                <a:cs typeface="Arial"/>
              </a:rPr>
              <a:t>A Alaska Airlines não possuía conjuntos de eixos estocados. Com base nos dados de falhas reportadas indicadas no relatório do NTSB, e no limite de vida de 30.000 horas do conjunto do eixo, estime e desenvolva os seguintes dados:</a:t>
            </a:r>
            <a:endParaRPr lang="pt-BR" sz="1200" dirty="0">
              <a:solidFill>
                <a:srgbClr val="0070C0"/>
              </a:solidFill>
              <a:latin typeface="Arial"/>
              <a:cs typeface="Arial"/>
            </a:endParaRPr>
          </a:p>
          <a:p>
            <a:pPr marL="0" marR="0" lvl="0" indent="0" algn="l" defTabSz="914400">
              <a:lnSpc>
                <a:spcPct val="100000"/>
              </a:lnSpc>
              <a:spcBef>
                <a:spcPts val="0"/>
              </a:spcBef>
              <a:spcAft>
                <a:spcPts val="0"/>
              </a:spcAft>
              <a:buClrTx/>
              <a:buSzTx/>
              <a:buFontTx/>
              <a:buNone/>
              <a:tabLst/>
              <a:defRPr/>
            </a:pPr>
            <a:endParaRPr lang="pt-BR" sz="1200" b="0" i="0" u="none" strike="noStrike" kern="1200" cap="none" spc="0" normalizeH="0" baseline="0" noProof="0" dirty="0">
              <a:ln>
                <a:noFill/>
              </a:ln>
              <a:solidFill>
                <a:schemeClr val="accent4">
                  <a:lumMod val="76000"/>
                </a:schemeClr>
              </a:solidFill>
              <a:effectLst/>
              <a:uLnTx/>
              <a:uFillTx/>
              <a:latin typeface="Arial" panose="020B0604020202020204" pitchFamily="34" charset="0"/>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6B026C9F-FF45-B4FE-FCC2-557D63B6E9F7}"/>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4" name="CaixaDeTexto 3">
            <a:extLst>
              <a:ext uri="{FF2B5EF4-FFF2-40B4-BE49-F238E27FC236}">
                <a16:creationId xmlns:a16="http://schemas.microsoft.com/office/drawing/2014/main" id="{8E6AD93C-2F87-47BD-8129-272C27F2C031}"/>
              </a:ext>
            </a:extLst>
          </p:cNvPr>
          <p:cNvSpPr txBox="1"/>
          <p:nvPr/>
        </p:nvSpPr>
        <p:spPr>
          <a:xfrm>
            <a:off x="1059089" y="1219759"/>
            <a:ext cx="10073822" cy="4801314"/>
          </a:xfrm>
          <a:prstGeom prst="rect">
            <a:avLst/>
          </a:prstGeom>
          <a:noFill/>
        </p:spPr>
        <p:txBody>
          <a:bodyPr wrap="square" lIns="91440" tIns="45720" rIns="91440" bIns="45720" rtlCol="0" anchor="t">
            <a:spAutoFit/>
          </a:bodyPr>
          <a:lstStyle/>
          <a:p>
            <a:pPr algn="just"/>
            <a:r>
              <a:rPr lang="pt-BR" dirty="0">
                <a:ea typeface="+mn-lt"/>
                <a:cs typeface="+mn-lt"/>
              </a:rPr>
              <a:t>Na época do acidente, a Alaska Airlines não mantinha conjuntos de eixo em estoque. Considerando o limite de vida útil do componente (30.000 horas de voo) e o valor de MTBF informado (9.000 horas de voo), é possível estimar a necessidade de reposição.</a:t>
            </a:r>
            <a:endParaRPr lang="pt-BR"/>
          </a:p>
          <a:p>
            <a:pPr algn="just"/>
            <a:endParaRPr lang="pt-BR" dirty="0">
              <a:ea typeface="+mn-lt"/>
              <a:cs typeface="+mn-lt"/>
            </a:endParaRPr>
          </a:p>
          <a:p>
            <a:pPr algn="just"/>
            <a:r>
              <a:rPr lang="pt-BR" dirty="0">
                <a:ea typeface="+mn-lt"/>
                <a:cs typeface="+mn-lt"/>
              </a:rPr>
              <a:t>Primeiro, divide-se o tempo de vida útil pelo MTBF. Ou seja, pega-se o total de horas que o eixo pode operar e compara-se com o intervalo médio entre falhas. Isso resulta em aproximadamente três ciclos e um terço de uso (30.000 dividido por 9.000).</a:t>
            </a:r>
          </a:p>
          <a:p>
            <a:pPr algn="just"/>
            <a:endParaRPr lang="pt-BR" dirty="0">
              <a:ea typeface="+mn-lt"/>
              <a:cs typeface="+mn-lt"/>
            </a:endParaRPr>
          </a:p>
          <a:p>
            <a:pPr algn="just"/>
            <a:r>
              <a:rPr lang="pt-BR" dirty="0">
                <a:ea typeface="+mn-lt"/>
                <a:cs typeface="+mn-lt"/>
              </a:rPr>
              <a:t>Depois, multiplica-se esse valor pelo tamanho da frota, que no caso é 48 aeronaves. Assim, estima-se quantas substituições seriam necessárias ao longo do período considerado.</a:t>
            </a:r>
          </a:p>
          <a:p>
            <a:pPr algn="just"/>
            <a:endParaRPr lang="pt-BR" dirty="0">
              <a:ea typeface="+mn-lt"/>
              <a:cs typeface="+mn-lt"/>
            </a:endParaRPr>
          </a:p>
          <a:p>
            <a:pPr algn="just"/>
            <a:r>
              <a:rPr lang="pt-BR" dirty="0">
                <a:ea typeface="+mn-lt"/>
                <a:cs typeface="+mn-lt"/>
              </a:rPr>
              <a:t>Por fim, para sugerir um estoque inicial, calcula-se cerca de 15% desse total, que é uma taxa comum para provisão inicial de peças críticas.</a:t>
            </a:r>
          </a:p>
          <a:p>
            <a:pPr algn="just"/>
            <a:endParaRPr lang="pt-BR" dirty="0">
              <a:ea typeface="+mn-lt"/>
              <a:cs typeface="+mn-lt"/>
            </a:endParaRPr>
          </a:p>
          <a:p>
            <a:pPr algn="just"/>
            <a:r>
              <a:rPr lang="pt-BR" dirty="0">
                <a:ea typeface="+mn-lt"/>
                <a:cs typeface="+mn-lt"/>
              </a:rPr>
              <a:t>Com isso, chega-se à recomendação de manter aproximadamente 24 conjuntos de eixo disponíveis como estoque inicial.</a:t>
            </a:r>
          </a:p>
          <a:p>
            <a:pPr marL="285750" indent="-285750" algn="just">
              <a:buFont typeface="Arial" panose="020B0604020202020204" pitchFamily="34" charset="0"/>
              <a:buChar char="•"/>
            </a:pPr>
            <a:endParaRPr lang="pt-BR" dirty="0"/>
          </a:p>
        </p:txBody>
      </p:sp>
    </p:spTree>
    <p:extLst>
      <p:ext uri="{BB962C8B-B14F-4D97-AF65-F5344CB8AC3E}">
        <p14:creationId xmlns:p14="http://schemas.microsoft.com/office/powerpoint/2010/main" val="186962768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02FFC-2479-F21B-2D83-2602D95C3FB2}"/>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16E2F487-4234-6A35-64F2-D9151DDDB144}"/>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454DABF5-1984-C328-8207-7A632D2B0EA1}"/>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srgbClr val="0070C0"/>
                </a:solidFill>
                <a:effectLst/>
                <a:uLnTx/>
                <a:uFillTx/>
                <a:latin typeface="Arial"/>
                <a:cs typeface="Arial"/>
                <a:sym typeface="Helvetica Neue"/>
              </a:rPr>
              <a:t>Capítulo</a:t>
            </a:r>
            <a:r>
              <a:rPr kumimoji="0" lang="en-US" sz="2000" b="1" i="0" u="none" strike="noStrike" kern="1200" cap="none" spc="0" normalizeH="0" baseline="0" noProof="0" dirty="0">
                <a:ln>
                  <a:noFill/>
                </a:ln>
                <a:solidFill>
                  <a:srgbClr val="0070C0"/>
                </a:solidFill>
                <a:effectLst/>
                <a:uLnTx/>
                <a:uFillTx/>
                <a:latin typeface="Arial"/>
                <a:cs typeface="Arial"/>
                <a:sym typeface="Helvetica Neue"/>
              </a:rPr>
              <a:t> </a:t>
            </a:r>
            <a:r>
              <a:rPr lang="en-US" sz="2000" b="1" dirty="0">
                <a:solidFill>
                  <a:srgbClr val="0070C0"/>
                </a:solidFill>
                <a:latin typeface="Arial"/>
                <a:cs typeface="Arial"/>
                <a:sym typeface="Helvetica Neue"/>
              </a:rPr>
              <a:t>9</a:t>
            </a:r>
            <a:endParaRPr kumimoji="0" lang="pt-BR" sz="2000" b="1"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6" name="CaixaDeTexto 5">
            <a:extLst>
              <a:ext uri="{FF2B5EF4-FFF2-40B4-BE49-F238E27FC236}">
                <a16:creationId xmlns:a16="http://schemas.microsoft.com/office/drawing/2014/main" id="{C2FA2E0E-E594-4751-8CDD-53FB4F85BF06}"/>
              </a:ext>
            </a:extLst>
          </p:cNvPr>
          <p:cNvSpPr txBox="1"/>
          <p:nvPr/>
        </p:nvSpPr>
        <p:spPr>
          <a:xfrm>
            <a:off x="204278" y="564779"/>
            <a:ext cx="698781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0" i="0" u="sng"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rPr>
              <a:t>Slide </a:t>
            </a:r>
            <a:r>
              <a:rPr lang="pt-BR" sz="1400" u="sng" dirty="0">
                <a:solidFill>
                  <a:srgbClr val="0070C0"/>
                </a:solidFill>
                <a:latin typeface="Arial" panose="020B0604020202020204" pitchFamily="34" charset="0"/>
                <a:cs typeface="Arial" panose="020B0604020202020204" pitchFamily="34" charset="0"/>
              </a:rPr>
              <a:t>9.2</a:t>
            </a:r>
            <a:r>
              <a:rPr kumimoji="0" lang="pt-BR" sz="1400" b="0" i="0" u="sng"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rPr>
              <a:t> – Estoque da Boeing para suprir a necessidade da frota de 1.194 aeronaves</a:t>
            </a:r>
          </a:p>
        </p:txBody>
      </p:sp>
      <p:sp>
        <p:nvSpPr>
          <p:cNvPr id="4" name="CaixaDeTexto 3">
            <a:extLst>
              <a:ext uri="{FF2B5EF4-FFF2-40B4-BE49-F238E27FC236}">
                <a16:creationId xmlns:a16="http://schemas.microsoft.com/office/drawing/2014/main" id="{A5F46BC9-F388-4635-B38B-0F3BFEB47F72}"/>
              </a:ext>
            </a:extLst>
          </p:cNvPr>
          <p:cNvSpPr txBox="1"/>
          <p:nvPr/>
        </p:nvSpPr>
        <p:spPr>
          <a:xfrm>
            <a:off x="10364949" y="0"/>
            <a:ext cx="1766236" cy="646331"/>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800" b="0" i="0" u="sng" strike="noStrike" kern="1200" cap="none" spc="0" normalizeH="0" baseline="0" noProof="0" dirty="0">
                <a:ln>
                  <a:noFill/>
                </a:ln>
                <a:solidFill>
                  <a:srgbClr val="0070C0"/>
                </a:solidFill>
                <a:effectLst/>
                <a:uLnTx/>
                <a:uFillTx/>
                <a:latin typeface="Aptos" panose="02110004020202020204"/>
                <a:ea typeface="+mn-ea"/>
                <a:cs typeface="+mn-cs"/>
              </a:rPr>
              <a:t>Resp.: </a:t>
            </a:r>
          </a:p>
          <a:p>
            <a:pPr algn="ctr">
              <a:defRPr/>
            </a:pPr>
            <a:r>
              <a:rPr lang="pt-BR" u="sng" dirty="0">
                <a:solidFill>
                  <a:srgbClr val="0070C0"/>
                </a:solidFill>
              </a:rPr>
              <a:t>Isabela Soares</a:t>
            </a:r>
          </a:p>
        </p:txBody>
      </p:sp>
      <p:pic>
        <p:nvPicPr>
          <p:cNvPr id="9" name="Imagem 8" descr="Placa vermelha com letras brancas&#10;&#10;Descrição gerada automaticamente com confiança baixa">
            <a:extLst>
              <a:ext uri="{FF2B5EF4-FFF2-40B4-BE49-F238E27FC236}">
                <a16:creationId xmlns:a16="http://schemas.microsoft.com/office/drawing/2014/main" id="{C60871FE-1476-9926-2B5C-1131F1D4A310}"/>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2" name="CaixaDeTexto 1">
            <a:extLst>
              <a:ext uri="{FF2B5EF4-FFF2-40B4-BE49-F238E27FC236}">
                <a16:creationId xmlns:a16="http://schemas.microsoft.com/office/drawing/2014/main" id="{A71A2B9F-3D10-1630-253C-45B9A688E576}"/>
              </a:ext>
            </a:extLst>
          </p:cNvPr>
          <p:cNvSpPr txBox="1"/>
          <p:nvPr/>
        </p:nvSpPr>
        <p:spPr>
          <a:xfrm>
            <a:off x="1472190" y="-3768"/>
            <a:ext cx="9524244" cy="646331"/>
          </a:xfrm>
          <a:prstGeom prst="rect">
            <a:avLst/>
          </a:prstGeom>
          <a:noFill/>
        </p:spPr>
        <p:txBody>
          <a:bodyPr wrap="square" lIns="91440" tIns="45720" rIns="91440" bIns="45720" rtlCol="0" anchor="t">
            <a:spAutoFit/>
          </a:bodyPr>
          <a:lstStyle/>
          <a:p>
            <a:pPr>
              <a:defRPr/>
            </a:pPr>
            <a:r>
              <a:rPr lang="pt-BR" sz="1200" dirty="0">
                <a:solidFill>
                  <a:srgbClr val="0070C0"/>
                </a:solidFill>
                <a:latin typeface="Arial"/>
                <a:cs typeface="Arial"/>
              </a:rPr>
              <a:t>Peças de Reposição: </a:t>
            </a:r>
            <a:r>
              <a:rPr kumimoji="0" lang="pt-BR" sz="1200" b="0" i="0" u="none" strike="noStrike" kern="1200" cap="none" spc="0" normalizeH="0" baseline="0" noProof="0" dirty="0">
                <a:ln>
                  <a:noFill/>
                </a:ln>
                <a:solidFill>
                  <a:srgbClr val="0070C0"/>
                </a:solidFill>
                <a:effectLst/>
                <a:uLnTx/>
                <a:uFillTx/>
                <a:latin typeface="Arial"/>
                <a:cs typeface="Arial"/>
              </a:rPr>
              <a:t>A Alaska Airlines não possuía conjuntos de eixos estocados. Com base nos dados de falhas reportadas indicadas no relatório do NTSB, e no limite de vida de 30.000 horas do conjunto do eixo, estime e desenvolva os seguintes dados:</a:t>
            </a:r>
            <a:endParaRPr lang="pt-BR" sz="1200" dirty="0">
              <a:solidFill>
                <a:srgbClr val="0070C0"/>
              </a:solidFill>
              <a:latin typeface="Arial"/>
              <a:cs typeface="Arial"/>
            </a:endParaRPr>
          </a:p>
          <a:p>
            <a:pPr marL="0" marR="0" lvl="0" indent="0" algn="l" defTabSz="914400">
              <a:lnSpc>
                <a:spcPct val="100000"/>
              </a:lnSpc>
              <a:spcBef>
                <a:spcPts val="0"/>
              </a:spcBef>
              <a:spcAft>
                <a:spcPts val="0"/>
              </a:spcAft>
              <a:buClrTx/>
              <a:buSzTx/>
              <a:buFontTx/>
              <a:buNone/>
              <a:tabLst/>
              <a:defRPr/>
            </a:pPr>
            <a:endParaRPr lang="pt-BR" sz="1200" b="0" i="0" u="none" strike="noStrike" kern="1200" cap="none" spc="0" normalizeH="0" baseline="0" noProof="0" dirty="0">
              <a:ln>
                <a:noFill/>
              </a:ln>
              <a:solidFill>
                <a:schemeClr val="accent4">
                  <a:lumMod val="76000"/>
                </a:schemeClr>
              </a:solidFill>
              <a:effectLst/>
              <a:uLnTx/>
              <a:uFillTx/>
              <a:latin typeface="Arial" panose="020B0604020202020204" pitchFamily="34" charset="0"/>
              <a:cs typeface="Arial" panose="020B0604020202020204" pitchFamily="34" charset="0"/>
            </a:endParaRPr>
          </a:p>
        </p:txBody>
      </p:sp>
      <p:sp>
        <p:nvSpPr>
          <p:cNvPr id="10" name="CaixaDeTexto 9">
            <a:extLst>
              <a:ext uri="{FF2B5EF4-FFF2-40B4-BE49-F238E27FC236}">
                <a16:creationId xmlns:a16="http://schemas.microsoft.com/office/drawing/2014/main" id="{A04007D8-4A89-3E84-26D8-E1A2D0CB3E94}"/>
              </a:ext>
            </a:extLst>
          </p:cNvPr>
          <p:cNvSpPr txBox="1"/>
          <p:nvPr/>
        </p:nvSpPr>
        <p:spPr>
          <a:xfrm>
            <a:off x="916910" y="1310964"/>
            <a:ext cx="10360489" cy="4247317"/>
          </a:xfrm>
          <a:prstGeom prst="rect">
            <a:avLst/>
          </a:prstGeom>
          <a:noFill/>
        </p:spPr>
        <p:txBody>
          <a:bodyPr wrap="square" lIns="91440" tIns="45720" rIns="91440" bIns="45720" rtlCol="0" anchor="t">
            <a:spAutoFit/>
          </a:bodyPr>
          <a:lstStyle/>
          <a:p>
            <a:r>
              <a:rPr lang="pt-BR" dirty="0">
                <a:ea typeface="+mn-lt"/>
                <a:cs typeface="+mn-lt"/>
              </a:rPr>
              <a:t>A lógica de cálculo é exatamente a mesma aplicada ao caso da Alaska Airlines, apenas ampliada </a:t>
            </a:r>
            <a:endParaRPr lang="pt-BR"/>
          </a:p>
          <a:p>
            <a:r>
              <a:rPr lang="pt-BR" dirty="0">
                <a:ea typeface="+mn-lt"/>
                <a:cs typeface="+mn-lt"/>
              </a:rPr>
              <a:t>para o tamanho da frota atendida pela Boeing.</a:t>
            </a:r>
            <a:endParaRPr lang="pt-BR" dirty="0"/>
          </a:p>
          <a:p>
            <a:pPr>
              <a:buFont typeface="Arial" panose="020B0604020202020204" pitchFamily="34" charset="0"/>
              <a:buChar char="•"/>
            </a:pPr>
            <a:endParaRPr lang="pt-BR" dirty="0">
              <a:ea typeface="+mn-lt"/>
              <a:cs typeface="+mn-lt"/>
            </a:endParaRPr>
          </a:p>
          <a:p>
            <a:r>
              <a:rPr lang="pt-BR" dirty="0">
                <a:ea typeface="+mn-lt"/>
                <a:cs typeface="+mn-lt"/>
              </a:rPr>
              <a:t>Utiliza-se novamente a relação entre vida útil (30.000 horas) e MTBF (9.000 horas). Isso indica que </a:t>
            </a:r>
            <a:endParaRPr lang="pt-BR">
              <a:ea typeface="+mn-lt"/>
              <a:cs typeface="+mn-lt"/>
            </a:endParaRPr>
          </a:p>
          <a:p>
            <a:r>
              <a:rPr lang="pt-BR" dirty="0">
                <a:ea typeface="+mn-lt"/>
                <a:cs typeface="+mn-lt"/>
              </a:rPr>
              <a:t>cada aeronave tende a demandar pouco mais de três substituições ao longo desse período.</a:t>
            </a:r>
            <a:endParaRPr lang="pt-BR"/>
          </a:p>
          <a:p>
            <a:pPr>
              <a:buFont typeface="Arial" panose="020B0604020202020204" pitchFamily="34" charset="0"/>
              <a:buChar char="•"/>
            </a:pPr>
            <a:endParaRPr lang="pt-BR" dirty="0">
              <a:ea typeface="+mn-lt"/>
              <a:cs typeface="+mn-lt"/>
            </a:endParaRPr>
          </a:p>
          <a:p>
            <a:r>
              <a:rPr lang="pt-BR" dirty="0">
                <a:ea typeface="+mn-lt"/>
                <a:cs typeface="+mn-lt"/>
              </a:rPr>
              <a:t>Multiplicando esse valor pelas 1.194 aeronaves, obtém-se o volume total de eixos que deverão</a:t>
            </a:r>
          </a:p>
          <a:p>
            <a:r>
              <a:rPr lang="pt-BR" dirty="0">
                <a:ea typeface="+mn-lt"/>
                <a:cs typeface="+mn-lt"/>
              </a:rPr>
              <a:t>ser trocados para atender toda a frota.</a:t>
            </a:r>
            <a:endParaRPr lang="pt-BR" dirty="0"/>
          </a:p>
          <a:p>
            <a:endParaRPr lang="pt-BR" dirty="0">
              <a:ea typeface="+mn-lt"/>
              <a:cs typeface="+mn-lt"/>
            </a:endParaRPr>
          </a:p>
          <a:p>
            <a:r>
              <a:rPr lang="pt-BR" dirty="0">
                <a:ea typeface="+mn-lt"/>
                <a:cs typeface="+mn-lt"/>
              </a:rPr>
              <a:t>Aplicando novamente o percentual de reserva inicial (15%), projeta-se o estoque recomendado</a:t>
            </a:r>
          </a:p>
          <a:p>
            <a:r>
              <a:rPr lang="pt-BR" dirty="0">
                <a:ea typeface="+mn-lt"/>
                <a:cs typeface="+mn-lt"/>
              </a:rPr>
              <a:t>para iniciar o suporte.</a:t>
            </a:r>
            <a:endParaRPr lang="pt-BR" dirty="0"/>
          </a:p>
          <a:p>
            <a:endParaRPr lang="pt-BR" dirty="0">
              <a:ea typeface="+mn-lt"/>
              <a:cs typeface="+mn-lt"/>
            </a:endParaRPr>
          </a:p>
          <a:p>
            <a:pPr>
              <a:buFont typeface="Arial" panose="020B0604020202020204" pitchFamily="34" charset="0"/>
            </a:pPr>
            <a:r>
              <a:rPr lang="pt-BR" dirty="0">
                <a:ea typeface="+mn-lt"/>
                <a:cs typeface="+mn-lt"/>
              </a:rPr>
              <a:t>A partir desses cálculos, o estoque inicial sugerido para atender a demanda global fica em torno</a:t>
            </a:r>
          </a:p>
          <a:p>
            <a:pPr>
              <a:buFont typeface="Arial" panose="020B0604020202020204" pitchFamily="34" charset="0"/>
            </a:pPr>
            <a:r>
              <a:rPr lang="pt-BR" dirty="0">
                <a:ea typeface="+mn-lt"/>
                <a:cs typeface="+mn-lt"/>
              </a:rPr>
              <a:t>de quase 600 conjuntos de eixo.</a:t>
            </a:r>
            <a:endParaRPr lang="pt-BR">
              <a:ea typeface="+mn-lt"/>
              <a:cs typeface="+mn-lt"/>
            </a:endParaRPr>
          </a:p>
          <a:p>
            <a:pPr marL="285750" indent="-285750">
              <a:buFont typeface="Arial" panose="020B0604020202020204" pitchFamily="34" charset="0"/>
              <a:buChar char="•"/>
            </a:pPr>
            <a:endParaRPr lang="pt-BR" dirty="0">
              <a:ea typeface="+mn-lt"/>
              <a:cs typeface="+mn-lt"/>
            </a:endParaRPr>
          </a:p>
        </p:txBody>
      </p:sp>
    </p:spTree>
    <p:extLst>
      <p:ext uri="{BB962C8B-B14F-4D97-AF65-F5344CB8AC3E}">
        <p14:creationId xmlns:p14="http://schemas.microsoft.com/office/powerpoint/2010/main" val="2269017827"/>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17B50-A68D-7BF4-1C76-EBADBD9A0664}"/>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7137CA88-2DD5-3624-C548-E9EADD944A14}"/>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AA0314EB-84FD-EB49-FCAB-DA0853510260}"/>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srgbClr val="0070C0"/>
                </a:solidFill>
                <a:effectLst/>
                <a:uLnTx/>
                <a:uFillTx/>
                <a:latin typeface="Arial"/>
                <a:cs typeface="Arial"/>
                <a:sym typeface="Helvetica Neue"/>
              </a:rPr>
              <a:t>Capítulo</a:t>
            </a:r>
            <a:r>
              <a:rPr kumimoji="0" lang="en-US" sz="2000" b="1" i="0" u="none" strike="noStrike" kern="1200" cap="none" spc="0" normalizeH="0" baseline="0" noProof="0" dirty="0">
                <a:ln>
                  <a:noFill/>
                </a:ln>
                <a:solidFill>
                  <a:srgbClr val="0070C0"/>
                </a:solidFill>
                <a:effectLst/>
                <a:uLnTx/>
                <a:uFillTx/>
                <a:latin typeface="Arial"/>
                <a:cs typeface="Arial"/>
                <a:sym typeface="Helvetica Neue"/>
              </a:rPr>
              <a:t> </a:t>
            </a:r>
            <a:r>
              <a:rPr lang="en-US" sz="2000" b="1" dirty="0">
                <a:solidFill>
                  <a:srgbClr val="0070C0"/>
                </a:solidFill>
                <a:latin typeface="Arial"/>
                <a:cs typeface="Arial"/>
                <a:sym typeface="Helvetica Neue"/>
              </a:rPr>
              <a:t>9</a:t>
            </a:r>
            <a:endParaRPr kumimoji="0" lang="pt-BR" sz="2000" b="1" i="0" u="none" strike="noStrike" kern="1200" cap="none" spc="0" normalizeH="0" baseline="0" noProof="0" dirty="0">
              <a:ln>
                <a:noFill/>
              </a:ln>
              <a:solidFill>
                <a:srgbClr val="0070C0"/>
              </a:solidFill>
              <a:effectLst/>
              <a:uLnTx/>
              <a:uFillTx/>
              <a:latin typeface="Arial"/>
              <a:cs typeface="Arial"/>
              <a:sym typeface="Helvetica Neue"/>
            </a:endParaRPr>
          </a:p>
        </p:txBody>
      </p:sp>
      <p:sp>
        <p:nvSpPr>
          <p:cNvPr id="6" name="CaixaDeTexto 5">
            <a:extLst>
              <a:ext uri="{FF2B5EF4-FFF2-40B4-BE49-F238E27FC236}">
                <a16:creationId xmlns:a16="http://schemas.microsoft.com/office/drawing/2014/main" id="{25C60E72-2CAB-5A16-9B08-04F069208E5A}"/>
              </a:ext>
            </a:extLst>
          </p:cNvPr>
          <p:cNvSpPr txBox="1"/>
          <p:nvPr/>
        </p:nvSpPr>
        <p:spPr>
          <a:xfrm>
            <a:off x="204278" y="564779"/>
            <a:ext cx="10362132" cy="307777"/>
          </a:xfrm>
          <a:prstGeom prst="rect">
            <a:avLst/>
          </a:prstGeom>
          <a:noFill/>
        </p:spPr>
        <p:txBody>
          <a:bodyPr wrap="none" lIns="91440" tIns="45720" rIns="91440" bIns="45720" rtlCol="0" anchor="t">
            <a:spAutoFit/>
          </a:bodyPr>
          <a:lstStyle/>
          <a:p>
            <a:r>
              <a:rPr lang="pt-BR" sz="1400" u="sng" dirty="0">
                <a:solidFill>
                  <a:srgbClr val="0070C0"/>
                </a:solidFill>
                <a:latin typeface="Arial"/>
                <a:cs typeface="Arial"/>
              </a:rPr>
              <a:t>Slide 9.3 - Com base no preço de lista de um conjunto do eixo de US$ 80.000, estime um preço de PBH para o conjunto do eixo</a:t>
            </a:r>
            <a:endParaRPr lang="pt-BR" sz="1400" u="sng" dirty="0">
              <a:solidFill>
                <a:srgbClr val="0070C0"/>
              </a:solidFill>
              <a:latin typeface="Arial"/>
              <a:cs typeface="Arial" panose="020B0604020202020204" pitchFamily="34" charset="0"/>
            </a:endParaRPr>
          </a:p>
        </p:txBody>
      </p:sp>
      <p:sp>
        <p:nvSpPr>
          <p:cNvPr id="8" name="CaixaDeTexto 7">
            <a:extLst>
              <a:ext uri="{FF2B5EF4-FFF2-40B4-BE49-F238E27FC236}">
                <a16:creationId xmlns:a16="http://schemas.microsoft.com/office/drawing/2014/main" id="{302E2692-198A-570C-A052-7F8323FD6A72}"/>
              </a:ext>
            </a:extLst>
          </p:cNvPr>
          <p:cNvSpPr txBox="1"/>
          <p:nvPr/>
        </p:nvSpPr>
        <p:spPr>
          <a:xfrm>
            <a:off x="10315467" y="0"/>
            <a:ext cx="1875093" cy="646331"/>
          </a:xfrm>
          <a:prstGeom prst="rect">
            <a:avLst/>
          </a:prstGeom>
          <a:noFill/>
        </p:spPr>
        <p:txBody>
          <a:bodyPr wrap="square" lIns="91440" tIns="45720" rIns="91440" bIns="45720" rtlCol="0" anchor="t">
            <a:spAutoFit/>
          </a:bodyPr>
          <a:lstStyle/>
          <a:p>
            <a:pPr algn="ctr">
              <a:defRPr/>
            </a:pPr>
            <a:r>
              <a:rPr lang="pt-BR" u="sng" dirty="0">
                <a:solidFill>
                  <a:srgbClr val="0070C0"/>
                </a:solidFill>
                <a:latin typeface="Aptos" panose="02110004020202020204"/>
              </a:rPr>
              <a:t>Resp.: </a:t>
            </a:r>
          </a:p>
          <a:p>
            <a:pPr algn="ctr">
              <a:defRPr/>
            </a:pPr>
            <a:r>
              <a:rPr lang="pt-BR" u="sng" dirty="0">
                <a:solidFill>
                  <a:srgbClr val="0070C0"/>
                </a:solidFill>
              </a:rPr>
              <a:t>Isabela Soares</a:t>
            </a:r>
          </a:p>
        </p:txBody>
      </p:sp>
      <p:sp>
        <p:nvSpPr>
          <p:cNvPr id="9" name="CaixaDeTexto 8">
            <a:extLst>
              <a:ext uri="{FF2B5EF4-FFF2-40B4-BE49-F238E27FC236}">
                <a16:creationId xmlns:a16="http://schemas.microsoft.com/office/drawing/2014/main" id="{8C6A9657-B1FB-26E1-5358-D9C628F2B033}"/>
              </a:ext>
            </a:extLst>
          </p:cNvPr>
          <p:cNvSpPr txBox="1"/>
          <p:nvPr/>
        </p:nvSpPr>
        <p:spPr>
          <a:xfrm>
            <a:off x="1559186" y="31082"/>
            <a:ext cx="9075172" cy="677108"/>
          </a:xfrm>
          <a:prstGeom prst="rect">
            <a:avLst/>
          </a:prstGeom>
          <a:noFill/>
        </p:spPr>
        <p:txBody>
          <a:bodyPr wrap="square" lIns="91440" tIns="45720" rIns="91440" bIns="45720" rtlCol="0" anchor="t">
            <a:spAutoFit/>
          </a:bodyPr>
          <a:lstStyle/>
          <a:p>
            <a:pPr>
              <a:defRPr/>
            </a:pPr>
            <a:r>
              <a:rPr lang="pt-BR" sz="1200" dirty="0">
                <a:solidFill>
                  <a:srgbClr val="0070C0"/>
                </a:solidFill>
                <a:latin typeface="Arial"/>
                <a:cs typeface="Arial"/>
              </a:rPr>
              <a:t>Peças de Reposição: A Alaska Airlines não possuía conjuntos de eixos estocados. Com base nos dados de falhas reportadas indicadas no relatório do NTSB, e no limite de vida de 30.000 horas do conjunto do eixo, estime e desenvolva os seguintes dados:</a:t>
            </a:r>
            <a:endParaRPr lang="pt-PT" sz="1200" dirty="0">
              <a:solidFill>
                <a:srgbClr val="000000"/>
              </a:solidFill>
              <a:latin typeface="Aptos" panose="02110004020202020204"/>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561AA0D3-FA8E-5738-3BEC-F39255414F5A}"/>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7" name="TextBox 6">
            <a:extLst>
              <a:ext uri="{FF2B5EF4-FFF2-40B4-BE49-F238E27FC236}">
                <a16:creationId xmlns:a16="http://schemas.microsoft.com/office/drawing/2014/main" id="{FE8CEAF1-1164-B9FE-2576-9A1B4D419D47}"/>
              </a:ext>
            </a:extLst>
          </p:cNvPr>
          <p:cNvSpPr txBox="1"/>
          <p:nvPr/>
        </p:nvSpPr>
        <p:spPr>
          <a:xfrm>
            <a:off x="3818156" y="1694709"/>
            <a:ext cx="392214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a:ea typeface="+mn-lt"/>
                <a:cs typeface="+mn-lt"/>
              </a:rPr>
              <a:t>         </a:t>
            </a:r>
            <a:r>
              <a:rPr lang="en-US">
                <a:latin typeface="Aptos"/>
                <a:ea typeface="+mn-lt"/>
                <a:cs typeface="+mn-lt"/>
              </a:rPr>
              <a:t>   </a:t>
            </a:r>
            <a:endParaRPr lang="en-US"/>
          </a:p>
        </p:txBody>
      </p:sp>
      <p:sp>
        <p:nvSpPr>
          <p:cNvPr id="11" name="CaixaDeTexto 10">
            <a:extLst>
              <a:ext uri="{FF2B5EF4-FFF2-40B4-BE49-F238E27FC236}">
                <a16:creationId xmlns:a16="http://schemas.microsoft.com/office/drawing/2014/main" id="{C59F52AE-465A-6AC7-B1C5-3A0DDF0BF115}"/>
              </a:ext>
            </a:extLst>
          </p:cNvPr>
          <p:cNvSpPr txBox="1"/>
          <p:nvPr/>
        </p:nvSpPr>
        <p:spPr>
          <a:xfrm>
            <a:off x="357887" y="873567"/>
            <a:ext cx="11273640" cy="53553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pt-PT" dirty="0">
                <a:ea typeface="+mn-lt"/>
                <a:cs typeface="+mn-lt"/>
              </a:rPr>
              <a:t>PBH (</a:t>
            </a:r>
            <a:r>
              <a:rPr lang="pt-PT" dirty="0" err="1">
                <a:ea typeface="+mn-lt"/>
                <a:cs typeface="+mn-lt"/>
              </a:rPr>
              <a:t>PowerBy</a:t>
            </a:r>
            <a:r>
              <a:rPr lang="pt-PT" dirty="0">
                <a:ea typeface="+mn-lt"/>
                <a:cs typeface="+mn-lt"/>
              </a:rPr>
              <a:t> </a:t>
            </a:r>
            <a:r>
              <a:rPr lang="pt-PT" dirty="0" err="1">
                <a:ea typeface="+mn-lt"/>
                <a:cs typeface="+mn-lt"/>
              </a:rPr>
              <a:t>The</a:t>
            </a:r>
            <a:r>
              <a:rPr lang="pt-PT" dirty="0">
                <a:ea typeface="+mn-lt"/>
                <a:cs typeface="+mn-lt"/>
              </a:rPr>
              <a:t> </a:t>
            </a:r>
            <a:r>
              <a:rPr lang="pt-PT" dirty="0" err="1">
                <a:ea typeface="+mn-lt"/>
                <a:cs typeface="+mn-lt"/>
              </a:rPr>
              <a:t>Hour</a:t>
            </a:r>
            <a:r>
              <a:rPr lang="pt-PT" dirty="0">
                <a:ea typeface="+mn-lt"/>
                <a:cs typeface="+mn-lt"/>
              </a:rPr>
              <a:t>): </a:t>
            </a:r>
            <a:endParaRPr lang="pt-PT" dirty="0"/>
          </a:p>
          <a:p>
            <a:pPr algn="just"/>
            <a:endParaRPr lang="pt-PT" dirty="0">
              <a:ea typeface="+mn-lt"/>
              <a:cs typeface="+mn-lt"/>
            </a:endParaRPr>
          </a:p>
          <a:p>
            <a:pPr algn="just"/>
            <a:r>
              <a:rPr lang="pt-PT" dirty="0">
                <a:ea typeface="+mn-lt"/>
                <a:cs typeface="+mn-lt"/>
              </a:rPr>
              <a:t>É um modelo de contrato no qual o operador paga um valor fixo por hora de voo para cobrir despesas futuras de manutenção. Esse sistema dilui o custo total do componente ao longo de toda sua vida útil, evitando desembolsos elevados repentinos. </a:t>
            </a:r>
            <a:endParaRPr lang="pt-PT" dirty="0"/>
          </a:p>
          <a:p>
            <a:pPr algn="just"/>
            <a:endParaRPr lang="pt-PT"/>
          </a:p>
          <a:p>
            <a:pPr algn="just"/>
            <a:r>
              <a:rPr lang="pt-PT" dirty="0">
                <a:ea typeface="+mn-lt"/>
                <a:cs typeface="+mn-lt"/>
              </a:rPr>
              <a:t>Para calcular o PBH do eixo: </a:t>
            </a:r>
            <a:endParaRPr lang="pt-PT" dirty="0"/>
          </a:p>
          <a:p>
            <a:pPr algn="just"/>
            <a:endParaRPr lang="pt-PT"/>
          </a:p>
          <a:p>
            <a:pPr algn="just"/>
            <a:r>
              <a:rPr lang="pt-PT" dirty="0">
                <a:ea typeface="+mn-lt"/>
                <a:cs typeface="+mn-lt"/>
              </a:rPr>
              <a:t>Considera-se o valor total da peça (US$ 80.000). </a:t>
            </a:r>
            <a:endParaRPr lang="pt-PT" dirty="0"/>
          </a:p>
          <a:p>
            <a:pPr algn="just"/>
            <a:endParaRPr lang="pt-PT"/>
          </a:p>
          <a:p>
            <a:pPr algn="just"/>
            <a:r>
              <a:rPr lang="pt-PT" dirty="0">
                <a:ea typeface="+mn-lt"/>
                <a:cs typeface="+mn-lt"/>
              </a:rPr>
              <a:t>Divide-se esse custo pelo número de horas que o componente é capaz de operar até o fim de sua vida útil (30.000 horas). </a:t>
            </a:r>
            <a:endParaRPr lang="pt-PT" dirty="0"/>
          </a:p>
          <a:p>
            <a:pPr algn="just"/>
            <a:endParaRPr lang="pt-PT"/>
          </a:p>
          <a:p>
            <a:pPr algn="just"/>
            <a:r>
              <a:rPr lang="pt-PT" dirty="0">
                <a:ea typeface="+mn-lt"/>
                <a:cs typeface="+mn-lt"/>
              </a:rPr>
              <a:t>O resultado é o valor a ser pago por hora para garantir a cobertura de substituição do conjunto do eixo. </a:t>
            </a:r>
            <a:endParaRPr lang="pt-PT" dirty="0"/>
          </a:p>
          <a:p>
            <a:pPr algn="just"/>
            <a:endParaRPr lang="pt-PT"/>
          </a:p>
          <a:p>
            <a:pPr algn="just"/>
            <a:r>
              <a:rPr lang="pt-PT" dirty="0">
                <a:ea typeface="+mn-lt"/>
                <a:cs typeface="+mn-lt"/>
              </a:rPr>
              <a:t>Assim, o PBH resulta em um valor por hora que representa a fração do custo total distribuída ao longo do tempo de operação previsto.</a:t>
            </a:r>
            <a:endParaRPr lang="pt-PT" dirty="0"/>
          </a:p>
          <a:p>
            <a:pPr algn="just"/>
            <a:endParaRPr lang="pt-PT" dirty="0"/>
          </a:p>
          <a:p>
            <a:pPr algn="just"/>
            <a:endParaRPr lang="pt-PT" dirty="0"/>
          </a:p>
        </p:txBody>
      </p:sp>
      <p:sp>
        <p:nvSpPr>
          <p:cNvPr id="12" name="CaixaDeTexto 11">
            <a:extLst>
              <a:ext uri="{FF2B5EF4-FFF2-40B4-BE49-F238E27FC236}">
                <a16:creationId xmlns:a16="http://schemas.microsoft.com/office/drawing/2014/main" id="{17B4F75D-AA8C-AEFF-729F-1945F5A38460}"/>
              </a:ext>
            </a:extLst>
          </p:cNvPr>
          <p:cNvSpPr txBox="1"/>
          <p:nvPr/>
        </p:nvSpPr>
        <p:spPr>
          <a:xfrm>
            <a:off x="610169" y="3839146"/>
            <a:ext cx="27432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PT" sz="5400" b="1" dirty="0">
                <a:latin typeface="MS Gothic"/>
                <a:ea typeface="MS Gothic"/>
              </a:rPr>
              <a:t> </a:t>
            </a:r>
          </a:p>
        </p:txBody>
      </p:sp>
      <p:sp>
        <p:nvSpPr>
          <p:cNvPr id="13" name="CaixaDeTexto 12">
            <a:extLst>
              <a:ext uri="{FF2B5EF4-FFF2-40B4-BE49-F238E27FC236}">
                <a16:creationId xmlns:a16="http://schemas.microsoft.com/office/drawing/2014/main" id="{48D9E536-423B-64C6-E337-AFF85BD96B87}"/>
              </a:ext>
            </a:extLst>
          </p:cNvPr>
          <p:cNvSpPr txBox="1"/>
          <p:nvPr/>
        </p:nvSpPr>
        <p:spPr>
          <a:xfrm>
            <a:off x="3935260" y="435279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PT" dirty="0">
                <a:ea typeface="+mn-lt"/>
                <a:cs typeface="+mn-lt"/>
              </a:rPr>
              <a:t> </a:t>
            </a:r>
            <a:endParaRPr lang="pt-PT" dirty="0"/>
          </a:p>
        </p:txBody>
      </p:sp>
    </p:spTree>
    <p:extLst>
      <p:ext uri="{BB962C8B-B14F-4D97-AF65-F5344CB8AC3E}">
        <p14:creationId xmlns:p14="http://schemas.microsoft.com/office/powerpoint/2010/main" val="230938072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8A00F-4B0B-AE80-068E-6C126EA5EE0A}"/>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B2724694-7BA4-9390-55EF-98892B485592}"/>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BCCDA4D7-CFD2-35A1-29A2-2EEA249FB217}"/>
              </a:ext>
            </a:extLst>
          </p:cNvPr>
          <p:cNvSpPr txBox="1"/>
          <p:nvPr/>
        </p:nvSpPr>
        <p:spPr>
          <a:xfrm>
            <a:off x="204278" y="110005"/>
            <a:ext cx="1483558"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srgbClr val="0070C0"/>
                </a:solidFill>
                <a:effectLst/>
                <a:uLnTx/>
                <a:uFillTx/>
                <a:latin typeface="Arial"/>
                <a:cs typeface="Arial"/>
                <a:sym typeface="Helvetica Neue"/>
              </a:rPr>
              <a:t>Capítulo</a:t>
            </a:r>
            <a:r>
              <a:rPr kumimoji="0" lang="en-US" sz="2000" b="1" i="0" u="none" strike="noStrike" kern="1200" cap="none" spc="0" normalizeH="0" baseline="0" noProof="0" dirty="0">
                <a:ln>
                  <a:noFill/>
                </a:ln>
                <a:solidFill>
                  <a:srgbClr val="0070C0"/>
                </a:solidFill>
                <a:effectLst/>
                <a:uLnTx/>
                <a:uFillTx/>
                <a:latin typeface="Arial"/>
                <a:cs typeface="Arial"/>
                <a:sym typeface="Helvetica Neue"/>
              </a:rPr>
              <a:t> </a:t>
            </a:r>
            <a:r>
              <a:rPr lang="en-US" sz="2000" b="1" dirty="0">
                <a:solidFill>
                  <a:srgbClr val="0070C0"/>
                </a:solidFill>
                <a:latin typeface="Arial"/>
                <a:cs typeface="Arial"/>
                <a:sym typeface="Helvetica Neue"/>
              </a:rPr>
              <a:t>10</a:t>
            </a:r>
            <a:endParaRPr kumimoji="0" lang="pt-BR" sz="2000" b="1" i="0" u="none" strike="noStrike" kern="1200" cap="none" spc="0" normalizeH="0" baseline="0" noProof="0" dirty="0">
              <a:ln>
                <a:noFill/>
              </a:ln>
              <a:solidFill>
                <a:srgbClr val="0070C0"/>
              </a:solidFill>
              <a:effectLst/>
              <a:uLnTx/>
              <a:uFillTx/>
              <a:latin typeface="Arial"/>
              <a:cs typeface="Arial"/>
              <a:sym typeface="Helvetica Neue"/>
            </a:endParaRPr>
          </a:p>
        </p:txBody>
      </p:sp>
      <p:sp>
        <p:nvSpPr>
          <p:cNvPr id="6" name="CaixaDeTexto 5">
            <a:extLst>
              <a:ext uri="{FF2B5EF4-FFF2-40B4-BE49-F238E27FC236}">
                <a16:creationId xmlns:a16="http://schemas.microsoft.com/office/drawing/2014/main" id="{B8120B38-304D-FD9F-DD57-042985B05C0E}"/>
              </a:ext>
            </a:extLst>
          </p:cNvPr>
          <p:cNvSpPr txBox="1"/>
          <p:nvPr/>
        </p:nvSpPr>
        <p:spPr>
          <a:xfrm>
            <a:off x="204278" y="564779"/>
            <a:ext cx="2345514" cy="307777"/>
          </a:xfrm>
          <a:prstGeom prst="rect">
            <a:avLst/>
          </a:prstGeom>
          <a:noFill/>
        </p:spPr>
        <p:txBody>
          <a:bodyPr wrap="none" lIns="91440" tIns="45720" rIns="91440" bIns="45720" rtlCol="0" anchor="t">
            <a:spAutoFit/>
          </a:bodyPr>
          <a:lstStyle/>
          <a:p>
            <a:r>
              <a:rPr lang="pt-BR" sz="1400" u="sng" dirty="0">
                <a:solidFill>
                  <a:srgbClr val="0070C0"/>
                </a:solidFill>
                <a:latin typeface="Arial"/>
                <a:cs typeface="Arial"/>
              </a:rPr>
              <a:t>Slide 10.1 - Custo </a:t>
            </a:r>
            <a:r>
              <a:rPr lang="pt-BR" sz="1400" u="sng" dirty="0" err="1">
                <a:solidFill>
                  <a:srgbClr val="0070C0"/>
                </a:solidFill>
                <a:latin typeface="Arial"/>
                <a:cs typeface="Arial"/>
              </a:rPr>
              <a:t>Check</a:t>
            </a:r>
            <a:r>
              <a:rPr lang="pt-BR" sz="1400" u="sng" dirty="0">
                <a:solidFill>
                  <a:srgbClr val="0070C0"/>
                </a:solidFill>
                <a:latin typeface="Arial"/>
                <a:cs typeface="Arial"/>
              </a:rPr>
              <a:t> C</a:t>
            </a:r>
            <a:endParaRPr lang="pt-BR" sz="1400" u="sng" dirty="0">
              <a:solidFill>
                <a:srgbClr val="0070C0"/>
              </a:solidFill>
              <a:latin typeface="Arial"/>
              <a:cs typeface="Arial" panose="020B0604020202020204" pitchFamily="34" charset="0"/>
            </a:endParaRPr>
          </a:p>
        </p:txBody>
      </p:sp>
      <p:sp>
        <p:nvSpPr>
          <p:cNvPr id="8" name="CaixaDeTexto 7">
            <a:extLst>
              <a:ext uri="{FF2B5EF4-FFF2-40B4-BE49-F238E27FC236}">
                <a16:creationId xmlns:a16="http://schemas.microsoft.com/office/drawing/2014/main" id="{3C2BD57F-EE73-10C3-BD05-348B30C8229D}"/>
              </a:ext>
            </a:extLst>
          </p:cNvPr>
          <p:cNvSpPr txBox="1"/>
          <p:nvPr/>
        </p:nvSpPr>
        <p:spPr>
          <a:xfrm>
            <a:off x="10315467" y="0"/>
            <a:ext cx="1875093" cy="646331"/>
          </a:xfrm>
          <a:prstGeom prst="rect">
            <a:avLst/>
          </a:prstGeom>
          <a:noFill/>
        </p:spPr>
        <p:txBody>
          <a:bodyPr wrap="square" lIns="91440" tIns="45720" rIns="91440" bIns="45720" rtlCol="0" anchor="t">
            <a:spAutoFit/>
          </a:bodyPr>
          <a:lstStyle/>
          <a:p>
            <a:pPr algn="ctr">
              <a:defRPr/>
            </a:pPr>
            <a:r>
              <a:rPr lang="pt-BR" u="sng" dirty="0">
                <a:solidFill>
                  <a:srgbClr val="0070C0"/>
                </a:solidFill>
                <a:latin typeface="Aptos" panose="02110004020202020204"/>
              </a:rPr>
              <a:t>Resp.: Willian Henrique</a:t>
            </a:r>
            <a:endParaRPr lang="pt-BR" u="sng" dirty="0">
              <a:solidFill>
                <a:srgbClr val="0070C0"/>
              </a:solidFill>
            </a:endParaRPr>
          </a:p>
        </p:txBody>
      </p:sp>
      <p:sp>
        <p:nvSpPr>
          <p:cNvPr id="9" name="CaixaDeTexto 8">
            <a:extLst>
              <a:ext uri="{FF2B5EF4-FFF2-40B4-BE49-F238E27FC236}">
                <a16:creationId xmlns:a16="http://schemas.microsoft.com/office/drawing/2014/main" id="{40DF948E-94C7-32F2-4D49-D943881D34D4}"/>
              </a:ext>
            </a:extLst>
          </p:cNvPr>
          <p:cNvSpPr txBox="1"/>
          <p:nvPr/>
        </p:nvSpPr>
        <p:spPr>
          <a:xfrm>
            <a:off x="1608667" y="31082"/>
            <a:ext cx="9075172" cy="677108"/>
          </a:xfrm>
          <a:prstGeom prst="rect">
            <a:avLst/>
          </a:prstGeom>
          <a:noFill/>
        </p:spPr>
        <p:txBody>
          <a:bodyPr wrap="square" lIns="91440" tIns="45720" rIns="91440" bIns="45720" rtlCol="0" anchor="t">
            <a:spAutoFit/>
          </a:bodyPr>
          <a:lstStyle/>
          <a:p>
            <a:pPr>
              <a:defRPr/>
            </a:pPr>
            <a:r>
              <a:rPr lang="pt-BR" sz="1200" dirty="0">
                <a:solidFill>
                  <a:srgbClr val="0070C0"/>
                </a:solidFill>
                <a:latin typeface="Arial"/>
                <a:cs typeface="Arial"/>
              </a:rPr>
              <a:t>Custos de Manutenção: Discorra sobre os custos associados as tarefas de manutenção do sistema de compensação do estabilizador horizontal:</a:t>
            </a:r>
            <a:endParaRPr lang="pt-PT" dirty="0">
              <a:solidFill>
                <a:srgbClr val="000000"/>
              </a:solidFill>
              <a:latin typeface="Aptos" panose="02110004020202020204"/>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28E7B872-5826-E39A-B039-7AFB3248F16A}"/>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7" name="TextBox 6">
            <a:extLst>
              <a:ext uri="{FF2B5EF4-FFF2-40B4-BE49-F238E27FC236}">
                <a16:creationId xmlns:a16="http://schemas.microsoft.com/office/drawing/2014/main" id="{3340F877-1E7C-3C0A-EBF6-2DCD00B8C770}"/>
              </a:ext>
            </a:extLst>
          </p:cNvPr>
          <p:cNvSpPr txBox="1"/>
          <p:nvPr/>
        </p:nvSpPr>
        <p:spPr>
          <a:xfrm>
            <a:off x="3818156" y="1694709"/>
            <a:ext cx="392214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a:ea typeface="+mn-lt"/>
                <a:cs typeface="+mn-lt"/>
              </a:rPr>
              <a:t>         </a:t>
            </a:r>
            <a:r>
              <a:rPr lang="en-US">
                <a:latin typeface="Aptos"/>
                <a:ea typeface="+mn-lt"/>
                <a:cs typeface="+mn-lt"/>
              </a:rPr>
              <a:t>   </a:t>
            </a:r>
            <a:endParaRPr lang="en-US"/>
          </a:p>
        </p:txBody>
      </p:sp>
      <p:sp>
        <p:nvSpPr>
          <p:cNvPr id="12" name="CaixaDeTexto 11">
            <a:extLst>
              <a:ext uri="{FF2B5EF4-FFF2-40B4-BE49-F238E27FC236}">
                <a16:creationId xmlns:a16="http://schemas.microsoft.com/office/drawing/2014/main" id="{DE2D2BBA-414E-65C4-859B-79CF296C9ACA}"/>
              </a:ext>
            </a:extLst>
          </p:cNvPr>
          <p:cNvSpPr txBox="1"/>
          <p:nvPr/>
        </p:nvSpPr>
        <p:spPr>
          <a:xfrm>
            <a:off x="610169" y="3839146"/>
            <a:ext cx="27432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PT" sz="5400" b="1" dirty="0">
                <a:latin typeface="MS Gothic"/>
                <a:ea typeface="MS Gothic"/>
              </a:rPr>
              <a:t> </a:t>
            </a:r>
          </a:p>
        </p:txBody>
      </p:sp>
      <p:sp>
        <p:nvSpPr>
          <p:cNvPr id="13" name="CaixaDeTexto 12">
            <a:extLst>
              <a:ext uri="{FF2B5EF4-FFF2-40B4-BE49-F238E27FC236}">
                <a16:creationId xmlns:a16="http://schemas.microsoft.com/office/drawing/2014/main" id="{CB223500-31D4-3F2F-955C-CDF538AB749A}"/>
              </a:ext>
            </a:extLst>
          </p:cNvPr>
          <p:cNvSpPr txBox="1"/>
          <p:nvPr/>
        </p:nvSpPr>
        <p:spPr>
          <a:xfrm>
            <a:off x="3935260" y="435279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PT" dirty="0">
                <a:ea typeface="+mn-lt"/>
                <a:cs typeface="+mn-lt"/>
              </a:rPr>
              <a:t> </a:t>
            </a:r>
            <a:endParaRPr lang="pt-PT" dirty="0"/>
          </a:p>
        </p:txBody>
      </p:sp>
      <p:sp>
        <p:nvSpPr>
          <p:cNvPr id="16" name="CaixaDeTexto 15">
            <a:extLst>
              <a:ext uri="{FF2B5EF4-FFF2-40B4-BE49-F238E27FC236}">
                <a16:creationId xmlns:a16="http://schemas.microsoft.com/office/drawing/2014/main" id="{F93D2981-7BB0-BF7D-C008-78D37A4EF18B}"/>
              </a:ext>
            </a:extLst>
          </p:cNvPr>
          <p:cNvSpPr txBox="1"/>
          <p:nvPr/>
        </p:nvSpPr>
        <p:spPr>
          <a:xfrm>
            <a:off x="292981" y="636157"/>
            <a:ext cx="10972492"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l">
              <a:buFont typeface="Arial"/>
              <a:buChar char="•"/>
            </a:pPr>
            <a:endParaRPr lang="pt-PT" sz="2000" dirty="0">
              <a:latin typeface="Arial" panose="020B0604020202020204" pitchFamily="34" charset="0"/>
              <a:cs typeface="Arial" panose="020B0604020202020204" pitchFamily="34" charset="0"/>
            </a:endParaRPr>
          </a:p>
          <a:p>
            <a:r>
              <a:rPr lang="pt-PT" sz="2000" b="1" dirty="0">
                <a:latin typeface="Arial" panose="020B0604020202020204" pitchFamily="34" charset="0"/>
                <a:ea typeface="+mn-lt"/>
                <a:cs typeface="Arial" panose="020B0604020202020204" pitchFamily="34" charset="0"/>
              </a:rPr>
              <a:t>Intervalo do Check C</a:t>
            </a:r>
            <a:endParaRPr lang="pt-PT" sz="2000" dirty="0">
              <a:latin typeface="Arial" panose="020B0604020202020204" pitchFamily="34" charset="0"/>
              <a:cs typeface="Arial" panose="020B0604020202020204" pitchFamily="34" charset="0"/>
            </a:endParaRPr>
          </a:p>
          <a:p>
            <a:pPr algn="just"/>
            <a:r>
              <a:rPr lang="pt-PT" sz="2000" dirty="0">
                <a:latin typeface="Arial" panose="020B0604020202020204" pitchFamily="34" charset="0"/>
                <a:ea typeface="+mn-lt"/>
                <a:cs typeface="Arial" panose="020B0604020202020204" pitchFamily="34" charset="0"/>
              </a:rPr>
              <a:t>O Check C ocorre, em média, a cada 15 meses ou a cada 3.500 horas de voo (MSG-2 MRB e OAMP) e 3.600 horas de voo (MSG-3 MRB).</a:t>
            </a:r>
          </a:p>
          <a:p>
            <a:pPr algn="just"/>
            <a:endParaRPr lang="pt-PT" sz="2000" dirty="0">
              <a:latin typeface="Arial" panose="020B0604020202020204" pitchFamily="34" charset="0"/>
              <a:ea typeface="+mn-lt"/>
              <a:cs typeface="Arial" panose="020B0604020202020204" pitchFamily="34" charset="0"/>
            </a:endParaRPr>
          </a:p>
          <a:p>
            <a:pPr algn="just"/>
            <a:r>
              <a:rPr lang="pt-PT" sz="2000" b="1" dirty="0">
                <a:latin typeface="Arial" panose="020B0604020202020204" pitchFamily="34" charset="0"/>
                <a:ea typeface="+mn-lt"/>
                <a:cs typeface="Arial" panose="020B0604020202020204" pitchFamily="34" charset="0"/>
              </a:rPr>
              <a:t>Execução do Check C </a:t>
            </a:r>
            <a:endParaRPr lang="pt-PT" sz="2000" b="1" dirty="0">
              <a:latin typeface="Arial" panose="020B0604020202020204" pitchFamily="34" charset="0"/>
              <a:cs typeface="Arial" panose="020B0604020202020204" pitchFamily="34" charset="0"/>
            </a:endParaRPr>
          </a:p>
          <a:p>
            <a:pPr algn="just"/>
            <a:r>
              <a:rPr lang="pt-PT" sz="2000" dirty="0">
                <a:latin typeface="Arial" panose="020B0604020202020204" pitchFamily="34" charset="0"/>
                <a:ea typeface="+mn-lt"/>
                <a:cs typeface="Arial" panose="020B0604020202020204" pitchFamily="34" charset="0"/>
              </a:rPr>
              <a:t>A execução do Check C demanda cerca de 1.500 homem-hora (MH). </a:t>
            </a:r>
            <a:r>
              <a:rPr kumimoji="0" lang="pt-BR" altLang="pt-BR" sz="2000" i="0" u="none" strike="noStrike" cap="none" normalizeH="0" baseline="0" dirty="0">
                <a:ln>
                  <a:noFill/>
                </a:ln>
                <a:solidFill>
                  <a:schemeClr val="tx1"/>
                </a:solidFill>
                <a:effectLst/>
                <a:latin typeface="Arial" panose="020B0604020202020204" pitchFamily="34" charset="0"/>
                <a:cs typeface="Arial" panose="020B0604020202020204" pitchFamily="34" charset="0"/>
              </a:rPr>
              <a:t>Esse valor corresponde à soma das tarefas rotineiras, não rotineiras e atividades adicionadas pelo operador, como:</a:t>
            </a:r>
          </a:p>
          <a:p>
            <a:pPr marL="742950" lvl="1" indent="-285750" algn="just">
              <a:buFont typeface="Arial" panose="020B0604020202020204" pitchFamily="34" charset="0"/>
              <a:buChar char="•"/>
            </a:pPr>
            <a:r>
              <a:rPr lang="pt-BR" sz="2000" dirty="0">
                <a:latin typeface="Arial" panose="020B0604020202020204" pitchFamily="34" charset="0"/>
                <a:cs typeface="Arial" panose="020B0604020202020204" pitchFamily="34" charset="0"/>
              </a:rPr>
              <a:t>Limpeza e serviços de cabine;</a:t>
            </a:r>
          </a:p>
          <a:p>
            <a:pPr marL="742950" lvl="1" indent="-285750" algn="just">
              <a:buFont typeface="Arial" panose="020B0604020202020204" pitchFamily="34" charset="0"/>
              <a:buChar char="•"/>
            </a:pPr>
            <a:r>
              <a:rPr lang="pt-BR" sz="2000" dirty="0">
                <a:latin typeface="Arial" panose="020B0604020202020204" pitchFamily="34" charset="0"/>
                <a:cs typeface="Arial" panose="020B0604020202020204" pitchFamily="34" charset="0"/>
              </a:rPr>
              <a:t>Pequenas reformas internas;</a:t>
            </a:r>
          </a:p>
          <a:p>
            <a:pPr marL="742950" lvl="1" indent="-285750" algn="just">
              <a:buFont typeface="Arial" panose="020B0604020202020204" pitchFamily="34" charset="0"/>
              <a:buChar char="•"/>
            </a:pPr>
            <a:r>
              <a:rPr lang="pt-BR" sz="2000" dirty="0">
                <a:latin typeface="Arial" panose="020B0604020202020204" pitchFamily="34" charset="0"/>
                <a:cs typeface="Arial" panose="020B0604020202020204" pitchFamily="34" charset="0"/>
              </a:rPr>
              <a:t>Ajustes específicos definidos pelo operador.	</a:t>
            </a:r>
            <a:endParaRPr lang="pt-PT" sz="2000" dirty="0">
              <a:latin typeface="Arial" panose="020B0604020202020204" pitchFamily="34" charset="0"/>
              <a:cs typeface="Arial" panose="020B0604020202020204" pitchFamily="34" charset="0"/>
            </a:endParaRPr>
          </a:p>
        </p:txBody>
      </p:sp>
      <p:pic>
        <p:nvPicPr>
          <p:cNvPr id="11" name="Imagem 10">
            <a:extLst>
              <a:ext uri="{FF2B5EF4-FFF2-40B4-BE49-F238E27FC236}">
                <a16:creationId xmlns:a16="http://schemas.microsoft.com/office/drawing/2014/main" id="{FD9DBF05-87FD-451D-8238-A7C8641B4649}"/>
              </a:ext>
            </a:extLst>
          </p:cNvPr>
          <p:cNvPicPr>
            <a:picLocks noChangeAspect="1"/>
          </p:cNvPicPr>
          <p:nvPr/>
        </p:nvPicPr>
        <p:blipFill>
          <a:blip r:embed="rId3"/>
          <a:stretch>
            <a:fillRect/>
          </a:stretch>
        </p:blipFill>
        <p:spPr>
          <a:xfrm>
            <a:off x="367291" y="4250163"/>
            <a:ext cx="11415882" cy="1642192"/>
          </a:xfrm>
          <a:prstGeom prst="rect">
            <a:avLst/>
          </a:prstGeom>
        </p:spPr>
      </p:pic>
    </p:spTree>
    <p:extLst>
      <p:ext uri="{BB962C8B-B14F-4D97-AF65-F5344CB8AC3E}">
        <p14:creationId xmlns:p14="http://schemas.microsoft.com/office/powerpoint/2010/main" val="2336274921"/>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97682-854F-71EF-F8BA-74B92B191ABD}"/>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38E22D80-21A6-D332-7BAC-C66BBA5E7B2D}"/>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B0F23CFC-B70A-D90F-EFAF-B6279A34911C}"/>
              </a:ext>
            </a:extLst>
          </p:cNvPr>
          <p:cNvSpPr txBox="1"/>
          <p:nvPr/>
        </p:nvSpPr>
        <p:spPr>
          <a:xfrm>
            <a:off x="204278" y="110005"/>
            <a:ext cx="1483558"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srgbClr val="0070C0"/>
                </a:solidFill>
                <a:effectLst/>
                <a:uLnTx/>
                <a:uFillTx/>
                <a:latin typeface="Arial"/>
                <a:cs typeface="Arial"/>
                <a:sym typeface="Helvetica Neue"/>
              </a:rPr>
              <a:t>Capítulo</a:t>
            </a:r>
            <a:r>
              <a:rPr kumimoji="0" lang="en-US" sz="2000" b="1" i="0" u="none" strike="noStrike" kern="1200" cap="none" spc="0" normalizeH="0" baseline="0" noProof="0" dirty="0">
                <a:ln>
                  <a:noFill/>
                </a:ln>
                <a:solidFill>
                  <a:srgbClr val="0070C0"/>
                </a:solidFill>
                <a:effectLst/>
                <a:uLnTx/>
                <a:uFillTx/>
                <a:latin typeface="Arial"/>
                <a:cs typeface="Arial"/>
                <a:sym typeface="Helvetica Neue"/>
              </a:rPr>
              <a:t> </a:t>
            </a:r>
            <a:r>
              <a:rPr lang="en-US" sz="2000" b="1" dirty="0">
                <a:solidFill>
                  <a:srgbClr val="0070C0"/>
                </a:solidFill>
                <a:latin typeface="Arial"/>
                <a:cs typeface="Arial"/>
                <a:sym typeface="Helvetica Neue"/>
              </a:rPr>
              <a:t>10</a:t>
            </a:r>
            <a:endParaRPr kumimoji="0" lang="pt-BR" sz="2000" b="1" i="0" u="none" strike="noStrike" kern="1200" cap="none" spc="0" normalizeH="0" baseline="0" noProof="0" dirty="0">
              <a:ln>
                <a:noFill/>
              </a:ln>
              <a:solidFill>
                <a:srgbClr val="0070C0"/>
              </a:solidFill>
              <a:effectLst/>
              <a:uLnTx/>
              <a:uFillTx/>
              <a:latin typeface="Arial"/>
              <a:cs typeface="Arial"/>
              <a:sym typeface="Helvetica Neue"/>
            </a:endParaRPr>
          </a:p>
        </p:txBody>
      </p:sp>
      <p:sp>
        <p:nvSpPr>
          <p:cNvPr id="6" name="CaixaDeTexto 5">
            <a:extLst>
              <a:ext uri="{FF2B5EF4-FFF2-40B4-BE49-F238E27FC236}">
                <a16:creationId xmlns:a16="http://schemas.microsoft.com/office/drawing/2014/main" id="{5D248D84-D351-310C-A046-48D90ADA61DF}"/>
              </a:ext>
            </a:extLst>
          </p:cNvPr>
          <p:cNvSpPr txBox="1"/>
          <p:nvPr/>
        </p:nvSpPr>
        <p:spPr>
          <a:xfrm>
            <a:off x="204278" y="564779"/>
            <a:ext cx="2494594" cy="307777"/>
          </a:xfrm>
          <a:prstGeom prst="rect">
            <a:avLst/>
          </a:prstGeom>
          <a:noFill/>
        </p:spPr>
        <p:txBody>
          <a:bodyPr wrap="none" lIns="91440" tIns="45720" rIns="91440" bIns="45720" rtlCol="0" anchor="t">
            <a:spAutoFit/>
          </a:bodyPr>
          <a:lstStyle/>
          <a:p>
            <a:r>
              <a:rPr lang="pt-BR" sz="1400" u="sng" dirty="0">
                <a:solidFill>
                  <a:srgbClr val="0070C0"/>
                </a:solidFill>
                <a:latin typeface="Arial"/>
                <a:cs typeface="Arial"/>
              </a:rPr>
              <a:t>Slide 10.1.1 - Custo </a:t>
            </a:r>
            <a:r>
              <a:rPr lang="pt-BR" sz="1400" u="sng" dirty="0" err="1">
                <a:solidFill>
                  <a:srgbClr val="0070C0"/>
                </a:solidFill>
                <a:latin typeface="Arial"/>
                <a:cs typeface="Arial"/>
              </a:rPr>
              <a:t>Check</a:t>
            </a:r>
            <a:r>
              <a:rPr lang="pt-BR" sz="1400" u="sng" dirty="0">
                <a:solidFill>
                  <a:srgbClr val="0070C0"/>
                </a:solidFill>
                <a:latin typeface="Arial"/>
                <a:cs typeface="Arial"/>
              </a:rPr>
              <a:t> C</a:t>
            </a:r>
            <a:endParaRPr lang="pt-BR" sz="1400" u="sng" dirty="0">
              <a:solidFill>
                <a:srgbClr val="0070C0"/>
              </a:solidFill>
              <a:latin typeface="Arial"/>
              <a:cs typeface="Arial" panose="020B0604020202020204" pitchFamily="34" charset="0"/>
            </a:endParaRPr>
          </a:p>
        </p:txBody>
      </p:sp>
      <p:sp>
        <p:nvSpPr>
          <p:cNvPr id="8" name="CaixaDeTexto 7">
            <a:extLst>
              <a:ext uri="{FF2B5EF4-FFF2-40B4-BE49-F238E27FC236}">
                <a16:creationId xmlns:a16="http://schemas.microsoft.com/office/drawing/2014/main" id="{73AB2DBB-431D-15B8-D590-21D5032C92DE}"/>
              </a:ext>
            </a:extLst>
          </p:cNvPr>
          <p:cNvSpPr txBox="1"/>
          <p:nvPr/>
        </p:nvSpPr>
        <p:spPr>
          <a:xfrm>
            <a:off x="10315467" y="0"/>
            <a:ext cx="1875093" cy="646331"/>
          </a:xfrm>
          <a:prstGeom prst="rect">
            <a:avLst/>
          </a:prstGeom>
          <a:noFill/>
        </p:spPr>
        <p:txBody>
          <a:bodyPr wrap="square" lIns="91440" tIns="45720" rIns="91440" bIns="45720" rtlCol="0" anchor="t">
            <a:spAutoFit/>
          </a:bodyPr>
          <a:lstStyle/>
          <a:p>
            <a:pPr algn="ctr">
              <a:defRPr/>
            </a:pPr>
            <a:r>
              <a:rPr lang="pt-BR" u="sng" dirty="0">
                <a:solidFill>
                  <a:srgbClr val="0070C0"/>
                </a:solidFill>
                <a:latin typeface="Aptos" panose="02110004020202020204"/>
              </a:rPr>
              <a:t>Resp.: Willian Henrique</a:t>
            </a:r>
            <a:endParaRPr lang="pt-BR" u="sng" dirty="0">
              <a:solidFill>
                <a:srgbClr val="0070C0"/>
              </a:solidFill>
            </a:endParaRPr>
          </a:p>
        </p:txBody>
      </p:sp>
      <p:sp>
        <p:nvSpPr>
          <p:cNvPr id="9" name="CaixaDeTexto 8">
            <a:extLst>
              <a:ext uri="{FF2B5EF4-FFF2-40B4-BE49-F238E27FC236}">
                <a16:creationId xmlns:a16="http://schemas.microsoft.com/office/drawing/2014/main" id="{32FDC601-0E48-F2CA-CBE4-23AB43372469}"/>
              </a:ext>
            </a:extLst>
          </p:cNvPr>
          <p:cNvSpPr txBox="1"/>
          <p:nvPr/>
        </p:nvSpPr>
        <p:spPr>
          <a:xfrm>
            <a:off x="1608667" y="31082"/>
            <a:ext cx="9075172" cy="677108"/>
          </a:xfrm>
          <a:prstGeom prst="rect">
            <a:avLst/>
          </a:prstGeom>
          <a:noFill/>
        </p:spPr>
        <p:txBody>
          <a:bodyPr wrap="square" lIns="91440" tIns="45720" rIns="91440" bIns="45720" rtlCol="0" anchor="t">
            <a:spAutoFit/>
          </a:bodyPr>
          <a:lstStyle/>
          <a:p>
            <a:pPr>
              <a:defRPr/>
            </a:pPr>
            <a:r>
              <a:rPr lang="pt-BR" sz="1200" dirty="0">
                <a:solidFill>
                  <a:srgbClr val="0070C0"/>
                </a:solidFill>
                <a:latin typeface="Arial"/>
                <a:cs typeface="Arial"/>
              </a:rPr>
              <a:t>Custos de Manutenção: Discorra sobre os custos associados as tarefas de manutenção do sistema de compensação do estabilizador horizontal:</a:t>
            </a:r>
            <a:endParaRPr lang="pt-PT" dirty="0">
              <a:solidFill>
                <a:srgbClr val="000000"/>
              </a:solidFill>
              <a:latin typeface="Aptos" panose="02110004020202020204"/>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F0EAEFC9-4794-339E-43EE-B05A6DBE3918}"/>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7" name="TextBox 6">
            <a:extLst>
              <a:ext uri="{FF2B5EF4-FFF2-40B4-BE49-F238E27FC236}">
                <a16:creationId xmlns:a16="http://schemas.microsoft.com/office/drawing/2014/main" id="{047885B7-F4CB-80BB-3235-E5A45124EA8B}"/>
              </a:ext>
            </a:extLst>
          </p:cNvPr>
          <p:cNvSpPr txBox="1"/>
          <p:nvPr/>
        </p:nvSpPr>
        <p:spPr>
          <a:xfrm>
            <a:off x="3818156" y="1694709"/>
            <a:ext cx="392214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a:ea typeface="+mn-lt"/>
                <a:cs typeface="+mn-lt"/>
              </a:rPr>
              <a:t>         </a:t>
            </a:r>
            <a:r>
              <a:rPr lang="en-US">
                <a:latin typeface="Aptos"/>
                <a:ea typeface="+mn-lt"/>
                <a:cs typeface="+mn-lt"/>
              </a:rPr>
              <a:t>   </a:t>
            </a:r>
            <a:endParaRPr lang="en-US"/>
          </a:p>
        </p:txBody>
      </p:sp>
      <p:sp>
        <p:nvSpPr>
          <p:cNvPr id="13" name="CaixaDeTexto 12">
            <a:extLst>
              <a:ext uri="{FF2B5EF4-FFF2-40B4-BE49-F238E27FC236}">
                <a16:creationId xmlns:a16="http://schemas.microsoft.com/office/drawing/2014/main" id="{91ACB619-1A98-097E-D36B-13D6FCFFDD01}"/>
              </a:ext>
            </a:extLst>
          </p:cNvPr>
          <p:cNvSpPr txBox="1"/>
          <p:nvPr/>
        </p:nvSpPr>
        <p:spPr>
          <a:xfrm>
            <a:off x="3935260" y="435279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PT" dirty="0">
                <a:ea typeface="+mn-lt"/>
                <a:cs typeface="+mn-lt"/>
              </a:rPr>
              <a:t> </a:t>
            </a:r>
            <a:endParaRPr lang="pt-PT" dirty="0"/>
          </a:p>
        </p:txBody>
      </p:sp>
      <p:sp>
        <p:nvSpPr>
          <p:cNvPr id="16" name="CaixaDeTexto 15">
            <a:extLst>
              <a:ext uri="{FF2B5EF4-FFF2-40B4-BE49-F238E27FC236}">
                <a16:creationId xmlns:a16="http://schemas.microsoft.com/office/drawing/2014/main" id="{D73AA053-8C04-6495-C572-A2ECA6F763E5}"/>
              </a:ext>
            </a:extLst>
          </p:cNvPr>
          <p:cNvSpPr txBox="1"/>
          <p:nvPr/>
        </p:nvSpPr>
        <p:spPr>
          <a:xfrm>
            <a:off x="106551" y="719026"/>
            <a:ext cx="559327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l">
              <a:buFont typeface="Arial"/>
              <a:buChar char="•"/>
            </a:pPr>
            <a:endParaRPr lang="pt-PT"/>
          </a:p>
          <a:p>
            <a:endParaRPr lang="pt-PT" dirty="0">
              <a:ea typeface="+mn-lt"/>
              <a:cs typeface="+mn-lt"/>
            </a:endParaRPr>
          </a:p>
          <a:p>
            <a:endParaRPr lang="pt-PT" dirty="0"/>
          </a:p>
        </p:txBody>
      </p:sp>
      <p:pic>
        <p:nvPicPr>
          <p:cNvPr id="17" name="Imagem 16">
            <a:extLst>
              <a:ext uri="{FF2B5EF4-FFF2-40B4-BE49-F238E27FC236}">
                <a16:creationId xmlns:a16="http://schemas.microsoft.com/office/drawing/2014/main" id="{67FBF216-673F-2B17-FA10-48C45B0F07FE}"/>
              </a:ext>
            </a:extLst>
          </p:cNvPr>
          <p:cNvPicPr>
            <a:picLocks noChangeAspect="1"/>
          </p:cNvPicPr>
          <p:nvPr/>
        </p:nvPicPr>
        <p:blipFill>
          <a:blip r:embed="rId3"/>
          <a:stretch>
            <a:fillRect/>
          </a:stretch>
        </p:blipFill>
        <p:spPr>
          <a:xfrm>
            <a:off x="5321471" y="1539152"/>
            <a:ext cx="6789773" cy="3413016"/>
          </a:xfrm>
          <a:prstGeom prst="rect">
            <a:avLst/>
          </a:prstGeom>
        </p:spPr>
      </p:pic>
      <p:sp>
        <p:nvSpPr>
          <p:cNvPr id="21" name="CaixaDeTexto 20">
            <a:extLst>
              <a:ext uri="{FF2B5EF4-FFF2-40B4-BE49-F238E27FC236}">
                <a16:creationId xmlns:a16="http://schemas.microsoft.com/office/drawing/2014/main" id="{3B34FE9F-F2FA-61BA-3BD5-D7C1A5EB2923}"/>
              </a:ext>
            </a:extLst>
          </p:cNvPr>
          <p:cNvSpPr txBox="1"/>
          <p:nvPr/>
        </p:nvSpPr>
        <p:spPr>
          <a:xfrm>
            <a:off x="106551" y="1868647"/>
            <a:ext cx="5046944" cy="3170099"/>
          </a:xfrm>
          <a:prstGeom prst="rect">
            <a:avLst/>
          </a:prstGeom>
          <a:noFill/>
        </p:spPr>
        <p:txBody>
          <a:bodyPr wrap="square">
            <a:spAutoFit/>
          </a:bodyPr>
          <a:lstStyle/>
          <a:p>
            <a:r>
              <a:rPr lang="pt-PT" sz="2000" b="1" dirty="0">
                <a:latin typeface="Arial" panose="020B0604020202020204" pitchFamily="34" charset="0"/>
                <a:ea typeface="+mn-lt"/>
                <a:cs typeface="Arial" panose="020B0604020202020204" pitchFamily="34" charset="0"/>
              </a:rPr>
              <a:t>Custo Check C</a:t>
            </a:r>
          </a:p>
          <a:p>
            <a:endParaRPr lang="pt-PT" sz="2000" b="1" dirty="0">
              <a:latin typeface="Arial" panose="020B0604020202020204" pitchFamily="34" charset="0"/>
              <a:ea typeface="+mn-lt"/>
              <a:cs typeface="Arial" panose="020B0604020202020204" pitchFamily="34" charset="0"/>
            </a:endParaRPr>
          </a:p>
          <a:p>
            <a:pPr marL="285750" indent="-285750">
              <a:buFont typeface="Arial" panose="020B0604020202020204" pitchFamily="34" charset="0"/>
              <a:buChar char="•"/>
            </a:pPr>
            <a:r>
              <a:rPr lang="pt-PT" sz="2000" dirty="0">
                <a:latin typeface="Arial" panose="020B0604020202020204" pitchFamily="34" charset="0"/>
                <a:ea typeface="+mn-lt"/>
                <a:cs typeface="Arial" panose="020B0604020202020204" pitchFamily="34" charset="0"/>
              </a:rPr>
              <a:t>Baseando-se numa média de US$50/MH, o custo total da mão de obra para Check C custa aproximadamente US$75.000.</a:t>
            </a:r>
            <a:br>
              <a:rPr lang="pt-PT" sz="2000" dirty="0">
                <a:latin typeface="Arial" panose="020B0604020202020204" pitchFamily="34" charset="0"/>
                <a:ea typeface="+mn-lt"/>
                <a:cs typeface="Arial" panose="020B0604020202020204" pitchFamily="34" charset="0"/>
              </a:rPr>
            </a:br>
            <a:endParaRPr lang="pt-PT" sz="2000" dirty="0">
              <a:latin typeface="Arial" panose="020B0604020202020204" pitchFamily="34" charset="0"/>
              <a:ea typeface="+mn-lt"/>
              <a:cs typeface="Arial" panose="020B0604020202020204" pitchFamily="34" charset="0"/>
            </a:endParaRPr>
          </a:p>
          <a:p>
            <a:pPr marL="285750" indent="-285750">
              <a:buFont typeface="Arial" panose="020B0604020202020204" pitchFamily="34" charset="0"/>
              <a:buChar char="•"/>
            </a:pPr>
            <a:r>
              <a:rPr lang="pt-PT" sz="2000" dirty="0">
                <a:latin typeface="Arial" panose="020B0604020202020204" pitchFamily="34" charset="0"/>
                <a:ea typeface="+mn-lt"/>
                <a:cs typeface="Arial" panose="020B0604020202020204" pitchFamily="34" charset="0"/>
              </a:rPr>
              <a:t>Somando com o valor dos materiais que é de US$18.000, chegamos ao total de US$93.000 para o Check C. </a:t>
            </a:r>
            <a:endParaRPr lang="pt-PT"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0214913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1A5FC-D544-48DF-F34A-B6F0E33B166A}"/>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B41D7269-BE63-11AC-7C79-B1B9EDB991B6}"/>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E2709B2B-6D30-A1A1-C8D8-B4E79BBDA0BC}"/>
              </a:ext>
            </a:extLst>
          </p:cNvPr>
          <p:cNvSpPr txBox="1"/>
          <p:nvPr/>
        </p:nvSpPr>
        <p:spPr>
          <a:xfrm>
            <a:off x="204278" y="110005"/>
            <a:ext cx="1483558"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srgbClr val="0070C0"/>
                </a:solidFill>
                <a:effectLst/>
                <a:uLnTx/>
                <a:uFillTx/>
                <a:latin typeface="Arial"/>
                <a:cs typeface="Arial"/>
                <a:sym typeface="Helvetica Neue"/>
              </a:rPr>
              <a:t>Capítulo</a:t>
            </a:r>
            <a:r>
              <a:rPr kumimoji="0" lang="en-US" sz="2000" b="1" i="0" u="none" strike="noStrike" kern="1200" cap="none" spc="0" normalizeH="0" baseline="0" noProof="0" dirty="0">
                <a:ln>
                  <a:noFill/>
                </a:ln>
                <a:solidFill>
                  <a:srgbClr val="0070C0"/>
                </a:solidFill>
                <a:effectLst/>
                <a:uLnTx/>
                <a:uFillTx/>
                <a:latin typeface="Arial"/>
                <a:cs typeface="Arial"/>
                <a:sym typeface="Helvetica Neue"/>
              </a:rPr>
              <a:t> </a:t>
            </a:r>
            <a:r>
              <a:rPr lang="en-US" sz="2000" b="1" dirty="0">
                <a:solidFill>
                  <a:srgbClr val="0070C0"/>
                </a:solidFill>
                <a:latin typeface="Arial"/>
                <a:cs typeface="Arial"/>
                <a:sym typeface="Helvetica Neue"/>
              </a:rPr>
              <a:t>10</a:t>
            </a:r>
            <a:endParaRPr kumimoji="0" lang="pt-BR" sz="2000" b="1" i="0" u="none" strike="noStrike" kern="1200" cap="none" spc="0" normalizeH="0" baseline="0" noProof="0" dirty="0">
              <a:ln>
                <a:noFill/>
              </a:ln>
              <a:solidFill>
                <a:srgbClr val="0070C0"/>
              </a:solidFill>
              <a:effectLst/>
              <a:uLnTx/>
              <a:uFillTx/>
              <a:latin typeface="Arial"/>
              <a:cs typeface="Arial"/>
              <a:sym typeface="Helvetica Neue"/>
            </a:endParaRPr>
          </a:p>
        </p:txBody>
      </p:sp>
      <p:sp>
        <p:nvSpPr>
          <p:cNvPr id="6" name="CaixaDeTexto 5">
            <a:extLst>
              <a:ext uri="{FF2B5EF4-FFF2-40B4-BE49-F238E27FC236}">
                <a16:creationId xmlns:a16="http://schemas.microsoft.com/office/drawing/2014/main" id="{C2AD1691-4F2F-03C2-93EC-1A57555C3B58}"/>
              </a:ext>
            </a:extLst>
          </p:cNvPr>
          <p:cNvSpPr txBox="1"/>
          <p:nvPr/>
        </p:nvSpPr>
        <p:spPr>
          <a:xfrm>
            <a:off x="204278" y="564779"/>
            <a:ext cx="11881779" cy="307777"/>
          </a:xfrm>
          <a:prstGeom prst="rect">
            <a:avLst/>
          </a:prstGeom>
          <a:noFill/>
        </p:spPr>
        <p:txBody>
          <a:bodyPr wrap="none" lIns="91440" tIns="45720" rIns="91440" bIns="45720" rtlCol="0" anchor="t">
            <a:spAutoFit/>
          </a:bodyPr>
          <a:lstStyle/>
          <a:p>
            <a:r>
              <a:rPr lang="pt-BR" sz="1400" u="sng" dirty="0">
                <a:solidFill>
                  <a:srgbClr val="0070C0"/>
                </a:solidFill>
                <a:latin typeface="Arial"/>
                <a:cs typeface="Arial"/>
              </a:rPr>
              <a:t>Slide 10.2 - Reserva de Manutenção para a manutenção e substituição do conjunto do eixo do sistema de compensação do estabilizador horizontal</a:t>
            </a:r>
            <a:endParaRPr lang="pt-BR" sz="1400" u="sng" dirty="0">
              <a:solidFill>
                <a:srgbClr val="0070C0"/>
              </a:solidFill>
              <a:latin typeface="Arial"/>
              <a:cs typeface="Arial" panose="020B0604020202020204" pitchFamily="34" charset="0"/>
            </a:endParaRPr>
          </a:p>
        </p:txBody>
      </p:sp>
      <p:sp>
        <p:nvSpPr>
          <p:cNvPr id="8" name="CaixaDeTexto 7">
            <a:extLst>
              <a:ext uri="{FF2B5EF4-FFF2-40B4-BE49-F238E27FC236}">
                <a16:creationId xmlns:a16="http://schemas.microsoft.com/office/drawing/2014/main" id="{5D007F38-5F44-C9A1-24BF-8FC16CCF5F1B}"/>
              </a:ext>
            </a:extLst>
          </p:cNvPr>
          <p:cNvSpPr txBox="1"/>
          <p:nvPr/>
        </p:nvSpPr>
        <p:spPr>
          <a:xfrm>
            <a:off x="10315467" y="0"/>
            <a:ext cx="1875093" cy="646331"/>
          </a:xfrm>
          <a:prstGeom prst="rect">
            <a:avLst/>
          </a:prstGeom>
          <a:noFill/>
        </p:spPr>
        <p:txBody>
          <a:bodyPr wrap="square" lIns="91440" tIns="45720" rIns="91440" bIns="45720" rtlCol="0" anchor="t">
            <a:spAutoFit/>
          </a:bodyPr>
          <a:lstStyle/>
          <a:p>
            <a:pPr algn="ctr">
              <a:defRPr/>
            </a:pPr>
            <a:r>
              <a:rPr lang="pt-BR" u="sng" dirty="0">
                <a:solidFill>
                  <a:srgbClr val="0070C0"/>
                </a:solidFill>
                <a:latin typeface="Aptos" panose="02110004020202020204"/>
              </a:rPr>
              <a:t>Resp.: Willian Henrique</a:t>
            </a:r>
            <a:endParaRPr lang="pt-BR" u="sng" dirty="0">
              <a:solidFill>
                <a:srgbClr val="0070C0"/>
              </a:solidFill>
            </a:endParaRPr>
          </a:p>
        </p:txBody>
      </p:sp>
      <p:sp>
        <p:nvSpPr>
          <p:cNvPr id="9" name="CaixaDeTexto 8">
            <a:extLst>
              <a:ext uri="{FF2B5EF4-FFF2-40B4-BE49-F238E27FC236}">
                <a16:creationId xmlns:a16="http://schemas.microsoft.com/office/drawing/2014/main" id="{3C974A05-A097-07F3-0878-7505351FD8C2}"/>
              </a:ext>
            </a:extLst>
          </p:cNvPr>
          <p:cNvSpPr txBox="1"/>
          <p:nvPr/>
        </p:nvSpPr>
        <p:spPr>
          <a:xfrm>
            <a:off x="1608667" y="31082"/>
            <a:ext cx="9075172" cy="677108"/>
          </a:xfrm>
          <a:prstGeom prst="rect">
            <a:avLst/>
          </a:prstGeom>
          <a:noFill/>
        </p:spPr>
        <p:txBody>
          <a:bodyPr wrap="square" lIns="91440" tIns="45720" rIns="91440" bIns="45720" rtlCol="0" anchor="t">
            <a:spAutoFit/>
          </a:bodyPr>
          <a:lstStyle/>
          <a:p>
            <a:pPr>
              <a:defRPr/>
            </a:pPr>
            <a:r>
              <a:rPr lang="pt-BR" sz="1200" dirty="0">
                <a:solidFill>
                  <a:srgbClr val="0070C0"/>
                </a:solidFill>
                <a:latin typeface="Arial"/>
                <a:cs typeface="Arial"/>
              </a:rPr>
              <a:t>Custos de Manutenção: Discorra sobre os custos associados as tarefas de manutenção do sistema de compensação do estabilizador horizontal:</a:t>
            </a:r>
            <a:endParaRPr lang="pt-PT" dirty="0">
              <a:solidFill>
                <a:srgbClr val="000000"/>
              </a:solidFill>
              <a:latin typeface="Aptos" panose="02110004020202020204"/>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DFA4040F-29CC-927B-853D-3CF8C9591636}"/>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7" name="TextBox 6">
            <a:extLst>
              <a:ext uri="{FF2B5EF4-FFF2-40B4-BE49-F238E27FC236}">
                <a16:creationId xmlns:a16="http://schemas.microsoft.com/office/drawing/2014/main" id="{9C297E58-60CE-3592-371B-BBD59DD6CD11}"/>
              </a:ext>
            </a:extLst>
          </p:cNvPr>
          <p:cNvSpPr txBox="1"/>
          <p:nvPr/>
        </p:nvSpPr>
        <p:spPr>
          <a:xfrm>
            <a:off x="3818156" y="1694709"/>
            <a:ext cx="392214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a:ea typeface="+mn-lt"/>
                <a:cs typeface="+mn-lt"/>
              </a:rPr>
              <a:t>         </a:t>
            </a:r>
            <a:r>
              <a:rPr lang="en-US">
                <a:latin typeface="Aptos"/>
                <a:ea typeface="+mn-lt"/>
                <a:cs typeface="+mn-lt"/>
              </a:rPr>
              <a:t>   </a:t>
            </a:r>
            <a:endParaRPr lang="en-US"/>
          </a:p>
        </p:txBody>
      </p:sp>
      <p:sp>
        <p:nvSpPr>
          <p:cNvPr id="12" name="CaixaDeTexto 11">
            <a:extLst>
              <a:ext uri="{FF2B5EF4-FFF2-40B4-BE49-F238E27FC236}">
                <a16:creationId xmlns:a16="http://schemas.microsoft.com/office/drawing/2014/main" id="{413DDC38-D245-1ACA-4A02-B53CF2185126}"/>
              </a:ext>
            </a:extLst>
          </p:cNvPr>
          <p:cNvSpPr txBox="1"/>
          <p:nvPr/>
        </p:nvSpPr>
        <p:spPr>
          <a:xfrm>
            <a:off x="610169" y="3839146"/>
            <a:ext cx="27432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PT" sz="5400" b="1" dirty="0">
                <a:latin typeface="MS Gothic"/>
                <a:ea typeface="MS Gothic"/>
              </a:rPr>
              <a:t> </a:t>
            </a:r>
          </a:p>
        </p:txBody>
      </p:sp>
      <p:sp>
        <p:nvSpPr>
          <p:cNvPr id="13" name="CaixaDeTexto 12">
            <a:extLst>
              <a:ext uri="{FF2B5EF4-FFF2-40B4-BE49-F238E27FC236}">
                <a16:creationId xmlns:a16="http://schemas.microsoft.com/office/drawing/2014/main" id="{28BAECBD-2BEE-E82F-0519-D509D920218D}"/>
              </a:ext>
            </a:extLst>
          </p:cNvPr>
          <p:cNvSpPr txBox="1"/>
          <p:nvPr/>
        </p:nvSpPr>
        <p:spPr>
          <a:xfrm>
            <a:off x="3935260" y="435279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PT" dirty="0">
                <a:ea typeface="+mn-lt"/>
                <a:cs typeface="+mn-lt"/>
              </a:rPr>
              <a:t> </a:t>
            </a:r>
            <a:endParaRPr lang="pt-PT" dirty="0"/>
          </a:p>
        </p:txBody>
      </p:sp>
      <p:sp>
        <p:nvSpPr>
          <p:cNvPr id="20" name="CaixaDeTexto 19">
            <a:extLst>
              <a:ext uri="{FF2B5EF4-FFF2-40B4-BE49-F238E27FC236}">
                <a16:creationId xmlns:a16="http://schemas.microsoft.com/office/drawing/2014/main" id="{8B64CD90-AB7B-5C9F-C0FE-FCEE1D4817B7}"/>
              </a:ext>
            </a:extLst>
          </p:cNvPr>
          <p:cNvSpPr txBox="1"/>
          <p:nvPr/>
        </p:nvSpPr>
        <p:spPr>
          <a:xfrm>
            <a:off x="764554" y="1484655"/>
            <a:ext cx="9834794" cy="3970318"/>
          </a:xfrm>
          <a:prstGeom prst="rect">
            <a:avLst/>
          </a:prstGeom>
          <a:noFill/>
        </p:spPr>
        <p:txBody>
          <a:bodyPr wrap="square">
            <a:spAutoFit/>
          </a:bodyPr>
          <a:lstStyle/>
          <a:p>
            <a:r>
              <a:rPr lang="pt-BR" sz="2400" dirty="0">
                <a:latin typeface="Arial" panose="020B0604020202020204" pitchFamily="34" charset="0"/>
                <a:cs typeface="Arial" panose="020B0604020202020204" pitchFamily="34" charset="0"/>
              </a:rPr>
              <a:t>Base de cálculo</a:t>
            </a:r>
            <a:br>
              <a:rPr lang="pt-BR" sz="2000" dirty="0">
                <a:latin typeface="Arial" panose="020B0604020202020204" pitchFamily="34" charset="0"/>
                <a:cs typeface="Arial" panose="020B0604020202020204" pitchFamily="34" charset="0"/>
              </a:rPr>
            </a:br>
            <a:r>
              <a:rPr lang="pt-BR" sz="2000" dirty="0">
                <a:latin typeface="Arial" panose="020B0604020202020204" pitchFamily="34" charset="0"/>
                <a:cs typeface="Arial" panose="020B0604020202020204" pitchFamily="34" charset="0"/>
              </a:rPr>
              <a:t>A substituição do conjunto completo do eixo (jackscrew + porca trapezoidal) tem preço de lista estimado em US$ 80.000.</a:t>
            </a:r>
          </a:p>
          <a:p>
            <a:endParaRPr lang="pt-BR" sz="2000" dirty="0">
              <a:latin typeface="Arial" panose="020B0604020202020204" pitchFamily="34" charset="0"/>
              <a:cs typeface="Arial" panose="020B0604020202020204" pitchFamily="34" charset="0"/>
            </a:endParaRPr>
          </a:p>
          <a:p>
            <a:r>
              <a:rPr lang="pt-BR" sz="2400" dirty="0">
                <a:latin typeface="Arial" panose="020B0604020202020204" pitchFamily="34" charset="0"/>
                <a:cs typeface="Arial" panose="020B0604020202020204" pitchFamily="34" charset="0"/>
              </a:rPr>
              <a:t>Vida útil considerada</a:t>
            </a:r>
            <a:br>
              <a:rPr lang="pt-BR" sz="2000" dirty="0">
                <a:latin typeface="Arial" panose="020B0604020202020204" pitchFamily="34" charset="0"/>
                <a:cs typeface="Arial" panose="020B0604020202020204" pitchFamily="34" charset="0"/>
              </a:rPr>
            </a:br>
            <a:r>
              <a:rPr lang="pt-BR" sz="2000" dirty="0">
                <a:latin typeface="Arial" panose="020B0604020202020204" pitchFamily="34" charset="0"/>
                <a:cs typeface="Arial" panose="020B0604020202020204" pitchFamily="34" charset="0"/>
              </a:rPr>
              <a:t>Para fins de provisão, utiliza-se um intervalo médio de 30.000 horas de voo, valor compatível com a vida típica de componentes estruturais e com os ciclos de manutenção pesada aplicados ao MD-80.</a:t>
            </a:r>
          </a:p>
          <a:p>
            <a:endParaRPr lang="pt-BR" sz="2000" dirty="0">
              <a:latin typeface="Arial" panose="020B0604020202020204" pitchFamily="34" charset="0"/>
              <a:cs typeface="Arial" panose="020B0604020202020204" pitchFamily="34" charset="0"/>
            </a:endParaRPr>
          </a:p>
          <a:p>
            <a:r>
              <a:rPr lang="pt-BR" sz="2400" dirty="0">
                <a:latin typeface="Arial" panose="020B0604020202020204" pitchFamily="34" charset="0"/>
                <a:cs typeface="Arial" panose="020B0604020202020204" pitchFamily="34" charset="0"/>
              </a:rPr>
              <a:t>Cálculo do PBH (</a:t>
            </a:r>
            <a:r>
              <a:rPr lang="pt-BR" sz="2400" i="1" dirty="0" err="1">
                <a:latin typeface="Arial" panose="020B0604020202020204" pitchFamily="34" charset="0"/>
                <a:cs typeface="Arial" panose="020B0604020202020204" pitchFamily="34" charset="0"/>
              </a:rPr>
              <a:t>Price</a:t>
            </a:r>
            <a:r>
              <a:rPr lang="pt-BR" sz="2400" i="1" dirty="0">
                <a:latin typeface="Arial" panose="020B0604020202020204" pitchFamily="34" charset="0"/>
                <a:cs typeface="Arial" panose="020B0604020202020204" pitchFamily="34" charset="0"/>
              </a:rPr>
              <a:t> per Block Hour</a:t>
            </a:r>
            <a:r>
              <a:rPr lang="pt-BR" sz="2400" dirty="0">
                <a:latin typeface="Arial" panose="020B0604020202020204" pitchFamily="34" charset="0"/>
                <a:cs typeface="Arial" panose="020B0604020202020204" pitchFamily="34" charset="0"/>
              </a:rPr>
              <a:t>)</a:t>
            </a:r>
            <a:br>
              <a:rPr lang="pt-BR" sz="2000" dirty="0">
                <a:latin typeface="Arial" panose="020B0604020202020204" pitchFamily="34" charset="0"/>
                <a:cs typeface="Arial" panose="020B0604020202020204" pitchFamily="34" charset="0"/>
              </a:rPr>
            </a:br>
            <a:r>
              <a:rPr lang="pt-BR" sz="2000" dirty="0">
                <a:latin typeface="Arial" panose="020B0604020202020204" pitchFamily="34" charset="0"/>
                <a:cs typeface="Arial" panose="020B0604020202020204" pitchFamily="34" charset="0"/>
              </a:rPr>
              <a:t>PBH = Custo do conjunto ÷ Vida útil</a:t>
            </a:r>
            <a:br>
              <a:rPr lang="pt-BR" sz="2000" dirty="0">
                <a:latin typeface="Arial" panose="020B0604020202020204" pitchFamily="34" charset="0"/>
                <a:cs typeface="Arial" panose="020B0604020202020204" pitchFamily="34" charset="0"/>
              </a:rPr>
            </a:br>
            <a:r>
              <a:rPr lang="pt-BR" sz="2000" dirty="0">
                <a:latin typeface="Arial" panose="020B0604020202020204" pitchFamily="34" charset="0"/>
                <a:cs typeface="Arial" panose="020B0604020202020204" pitchFamily="34" charset="0"/>
              </a:rPr>
              <a:t>PBH = 80.000 ÷ 30.000 ≈ US$ 2,67 por hora de voo</a:t>
            </a:r>
          </a:p>
        </p:txBody>
      </p:sp>
    </p:spTree>
    <p:extLst>
      <p:ext uri="{BB962C8B-B14F-4D97-AF65-F5344CB8AC3E}">
        <p14:creationId xmlns:p14="http://schemas.microsoft.com/office/powerpoint/2010/main" val="2327685103"/>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02FFC-2479-F21B-2D83-2602D95C3FB2}"/>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16E2F487-4234-6A35-64F2-D9151DDDB144}"/>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454DABF5-1984-C328-8207-7A632D2B0EA1}"/>
              </a:ext>
            </a:extLst>
          </p:cNvPr>
          <p:cNvSpPr txBox="1"/>
          <p:nvPr/>
        </p:nvSpPr>
        <p:spPr>
          <a:xfrm>
            <a:off x="249101" y="89488"/>
            <a:ext cx="1610577"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srgbClr val="0070C0"/>
                </a:solidFill>
                <a:effectLst/>
                <a:uLnTx/>
                <a:uFillTx/>
                <a:latin typeface="Arial"/>
                <a:cs typeface="Arial"/>
                <a:sym typeface="Helvetica Neue"/>
              </a:rPr>
              <a:t>Capítulo</a:t>
            </a:r>
            <a:r>
              <a:rPr kumimoji="0" lang="en-US" sz="2000" b="1" i="0" u="none" strike="noStrike" kern="1200" cap="none" spc="0" normalizeH="0" baseline="0" noProof="0" dirty="0">
                <a:ln>
                  <a:noFill/>
                </a:ln>
                <a:solidFill>
                  <a:srgbClr val="0070C0"/>
                </a:solidFill>
                <a:effectLst/>
                <a:uLnTx/>
                <a:uFillTx/>
                <a:latin typeface="Arial"/>
                <a:cs typeface="Arial"/>
                <a:sym typeface="Helvetica Neue"/>
              </a:rPr>
              <a:t> </a:t>
            </a:r>
            <a:r>
              <a:rPr lang="en-US" sz="2000" b="1" dirty="0">
                <a:solidFill>
                  <a:srgbClr val="0070C0"/>
                </a:solidFill>
                <a:latin typeface="Arial"/>
                <a:cs typeface="Arial"/>
                <a:sym typeface="Helvetica Neue"/>
              </a:rPr>
              <a:t>11</a:t>
            </a:r>
            <a:endParaRPr kumimoji="0" lang="pt-BR" sz="2000" b="1"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3" name="CaixaDeTexto 2">
            <a:extLst>
              <a:ext uri="{FF2B5EF4-FFF2-40B4-BE49-F238E27FC236}">
                <a16:creationId xmlns:a16="http://schemas.microsoft.com/office/drawing/2014/main" id="{BD362954-B0DA-468D-A479-4FD0903137B5}"/>
              </a:ext>
            </a:extLst>
          </p:cNvPr>
          <p:cNvSpPr txBox="1"/>
          <p:nvPr/>
        </p:nvSpPr>
        <p:spPr>
          <a:xfrm>
            <a:off x="1614834" y="168490"/>
            <a:ext cx="8669433" cy="307777"/>
          </a:xfrm>
          <a:prstGeom prst="rect">
            <a:avLst/>
          </a:prstGeom>
          <a:noFill/>
        </p:spPr>
        <p:txBody>
          <a:bodyPr wrap="square" lIns="91440" tIns="45720" rIns="91440" bIns="45720" rtlCol="0" anchor="t">
            <a:spAutoFit/>
          </a:bodyPr>
          <a:lstStyle/>
          <a:p>
            <a:pPr>
              <a:defRPr/>
            </a:pPr>
            <a:r>
              <a:rPr lang="pt-BR" sz="1400" dirty="0">
                <a:solidFill>
                  <a:srgbClr val="0070C0"/>
                </a:solidFill>
                <a:latin typeface="Arial"/>
                <a:cs typeface="Arial"/>
              </a:rPr>
              <a:t>Monitoramento</a:t>
            </a:r>
            <a:r>
              <a:rPr kumimoji="0" lang="pt-BR" sz="1400" b="0" i="0" u="none" strike="noStrike" kern="1200" cap="none" spc="0" normalizeH="0" baseline="0" noProof="0" dirty="0">
                <a:ln>
                  <a:noFill/>
                </a:ln>
                <a:solidFill>
                  <a:srgbClr val="0070C0"/>
                </a:solidFill>
                <a:effectLst/>
                <a:uLnTx/>
                <a:uFillTx/>
                <a:latin typeface="Arial"/>
                <a:cs typeface="Arial"/>
              </a:rPr>
              <a:t> da Frota em Serviço</a:t>
            </a:r>
          </a:p>
        </p:txBody>
      </p:sp>
      <p:sp>
        <p:nvSpPr>
          <p:cNvPr id="6" name="CaixaDeTexto 5">
            <a:extLst>
              <a:ext uri="{FF2B5EF4-FFF2-40B4-BE49-F238E27FC236}">
                <a16:creationId xmlns:a16="http://schemas.microsoft.com/office/drawing/2014/main" id="{C2FA2E0E-E594-4751-8CDD-53FB4F85BF06}"/>
              </a:ext>
            </a:extLst>
          </p:cNvPr>
          <p:cNvSpPr txBox="1"/>
          <p:nvPr/>
        </p:nvSpPr>
        <p:spPr>
          <a:xfrm>
            <a:off x="204278" y="564779"/>
            <a:ext cx="765575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0" i="0" u="sng"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rPr>
              <a:t>Slide </a:t>
            </a:r>
            <a:r>
              <a:rPr lang="pt-BR" sz="1400" u="sng" dirty="0">
                <a:solidFill>
                  <a:srgbClr val="0070C0"/>
                </a:solidFill>
                <a:latin typeface="Arial" panose="020B0604020202020204" pitchFamily="34" charset="0"/>
                <a:cs typeface="Arial" panose="020B0604020202020204" pitchFamily="34" charset="0"/>
              </a:rPr>
              <a:t>11.1</a:t>
            </a:r>
            <a:r>
              <a:rPr kumimoji="0" lang="pt-BR" sz="1400" b="0" i="0" u="sng"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rPr>
              <a:t> – Dados de confiabilidade do Sistema de Compensação do Estabilizador Horizontal</a:t>
            </a:r>
          </a:p>
        </p:txBody>
      </p:sp>
      <p:sp>
        <p:nvSpPr>
          <p:cNvPr id="4" name="CaixaDeTexto 3">
            <a:extLst>
              <a:ext uri="{FF2B5EF4-FFF2-40B4-BE49-F238E27FC236}">
                <a16:creationId xmlns:a16="http://schemas.microsoft.com/office/drawing/2014/main" id="{A5F46BC9-F388-4635-B38B-0F3BFEB47F72}"/>
              </a:ext>
            </a:extLst>
          </p:cNvPr>
          <p:cNvSpPr txBox="1"/>
          <p:nvPr/>
        </p:nvSpPr>
        <p:spPr>
          <a:xfrm>
            <a:off x="10314669" y="175582"/>
            <a:ext cx="2336129" cy="646331"/>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pt-BR" sz="1800" b="0" i="0" u="sng" strike="noStrike" kern="1200" cap="none" spc="0" normalizeH="0" baseline="0" noProof="0" dirty="0">
                <a:ln>
                  <a:noFill/>
                </a:ln>
                <a:solidFill>
                  <a:srgbClr val="0070C0"/>
                </a:solidFill>
                <a:effectLst/>
                <a:uLnTx/>
                <a:uFillTx/>
                <a:latin typeface="Aptos" panose="02110004020202020204"/>
                <a:ea typeface="+mn-ea"/>
                <a:cs typeface="+mn-cs"/>
              </a:rPr>
              <a:t>Resp.: </a:t>
            </a:r>
            <a:r>
              <a:rPr lang="pt-BR" u="sng" dirty="0">
                <a:solidFill>
                  <a:srgbClr val="0070C0"/>
                </a:solidFill>
              </a:rPr>
              <a:t>Willian Henrique</a:t>
            </a:r>
          </a:p>
        </p:txBody>
      </p:sp>
      <p:pic>
        <p:nvPicPr>
          <p:cNvPr id="9" name="Imagem 8" descr="Placa vermelha com letras brancas&#10;&#10;Descrição gerada automaticamente com confiança baixa">
            <a:extLst>
              <a:ext uri="{FF2B5EF4-FFF2-40B4-BE49-F238E27FC236}">
                <a16:creationId xmlns:a16="http://schemas.microsoft.com/office/drawing/2014/main" id="{C60871FE-1476-9926-2B5C-1131F1D4A310}"/>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8" name="CaixaDeTexto 7">
            <a:extLst>
              <a:ext uri="{FF2B5EF4-FFF2-40B4-BE49-F238E27FC236}">
                <a16:creationId xmlns:a16="http://schemas.microsoft.com/office/drawing/2014/main" id="{D49F026C-10C8-962F-59A2-1FA8E0E52AAC}"/>
              </a:ext>
            </a:extLst>
          </p:cNvPr>
          <p:cNvSpPr txBox="1"/>
          <p:nvPr/>
        </p:nvSpPr>
        <p:spPr>
          <a:xfrm>
            <a:off x="528558" y="1424392"/>
            <a:ext cx="6718547" cy="1477328"/>
          </a:xfrm>
          <a:prstGeom prst="rect">
            <a:avLst/>
          </a:prstGeom>
          <a:noFill/>
        </p:spPr>
        <p:txBody>
          <a:bodyPr wrap="square">
            <a:spAutoFit/>
          </a:bodyPr>
          <a:lstStyle/>
          <a:p>
            <a:pPr>
              <a:lnSpc>
                <a:spcPct val="150000"/>
              </a:lnSpc>
            </a:pPr>
            <a:r>
              <a:rPr lang="pt-BR" sz="2000" b="1" dirty="0">
                <a:latin typeface="Arial" panose="020B0604020202020204" pitchFamily="34" charset="0"/>
                <a:cs typeface="Arial" panose="020B0604020202020204" pitchFamily="34" charset="0"/>
              </a:rPr>
              <a:t>Componentes Analisados</a:t>
            </a:r>
          </a:p>
          <a:p>
            <a:pPr lvl="1"/>
            <a:r>
              <a:rPr lang="pt-BR" sz="2000" dirty="0">
                <a:latin typeface="Arial" panose="020B0604020202020204" pitchFamily="34" charset="0"/>
                <a:cs typeface="Arial" panose="020B0604020202020204" pitchFamily="34" charset="0"/>
              </a:rPr>
              <a:t>Conjunto do eixo trapezoidal;</a:t>
            </a:r>
          </a:p>
          <a:p>
            <a:pPr lvl="1"/>
            <a:r>
              <a:rPr lang="pt-BR" sz="2000" dirty="0">
                <a:latin typeface="Arial" panose="020B0604020202020204" pitchFamily="34" charset="0"/>
                <a:cs typeface="Arial" panose="020B0604020202020204" pitchFamily="34" charset="0"/>
              </a:rPr>
              <a:t>Porca trapezoidal;</a:t>
            </a:r>
          </a:p>
          <a:p>
            <a:pPr lvl="1"/>
            <a:endParaRPr lang="pt-BR" sz="2000" dirty="0">
              <a:latin typeface="Arial" panose="020B0604020202020204" pitchFamily="34" charset="0"/>
              <a:cs typeface="Arial" panose="020B0604020202020204" pitchFamily="34" charset="0"/>
            </a:endParaRPr>
          </a:p>
        </p:txBody>
      </p:sp>
      <p:sp>
        <p:nvSpPr>
          <p:cNvPr id="15" name="Rectangle 1">
            <a:extLst>
              <a:ext uri="{FF2B5EF4-FFF2-40B4-BE49-F238E27FC236}">
                <a16:creationId xmlns:a16="http://schemas.microsoft.com/office/drawing/2014/main" id="{88314450-90C6-C8BA-AE27-AEF69939E788}"/>
              </a:ext>
            </a:extLst>
          </p:cNvPr>
          <p:cNvSpPr>
            <a:spLocks noChangeArrowheads="1"/>
          </p:cNvSpPr>
          <p:nvPr/>
        </p:nvSpPr>
        <p:spPr bwMode="auto">
          <a:xfrm>
            <a:off x="528558" y="3316985"/>
            <a:ext cx="11449455"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pt-BR" sz="2000" b="1" dirty="0">
                <a:latin typeface="Arial" panose="020B0604020202020204" pitchFamily="34" charset="0"/>
                <a:cs typeface="Arial" panose="020B0604020202020204" pitchFamily="34" charset="0"/>
              </a:rPr>
              <a:t>Dados estatísticos do documento de confiabilidade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pt-BR" altLang="pt-BR"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lvl="1" eaLnBrk="0" fontAlgn="base" hangingPunct="0">
              <a:spcBef>
                <a:spcPct val="0"/>
              </a:spcBef>
              <a:spcAft>
                <a:spcPct val="0"/>
              </a:spcAft>
              <a:buFontTx/>
              <a:buChar char="•"/>
            </a:pPr>
            <a:r>
              <a:rPr kumimoji="0" lang="pt-BR" altLang="pt-BR"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pt-BR" altLang="pt-BR" sz="2000" i="0" u="none" strike="noStrike" cap="none" normalizeH="0" baseline="0" dirty="0">
                <a:ln>
                  <a:noFill/>
                </a:ln>
                <a:solidFill>
                  <a:schemeClr val="tx1"/>
                </a:solidFill>
                <a:effectLst/>
                <a:latin typeface="Arial" panose="020B0604020202020204" pitchFamily="34" charset="0"/>
                <a:cs typeface="Arial" panose="020B0604020202020204" pitchFamily="34" charset="0"/>
              </a:rPr>
              <a:t>Período analisado: 1997–1999.</a:t>
            </a:r>
          </a:p>
          <a:p>
            <a:pPr lvl="1" eaLnBrk="0" fontAlgn="base" hangingPunct="0">
              <a:spcBef>
                <a:spcPct val="0"/>
              </a:spcBef>
              <a:spcAft>
                <a:spcPct val="0"/>
              </a:spcAft>
              <a:buFontTx/>
              <a:buChar char="•"/>
            </a:pPr>
            <a:r>
              <a:rPr kumimoji="0" lang="pt-BR" altLang="pt-BR" sz="2000" i="0" u="none" strike="noStrike" cap="none" normalizeH="0" baseline="0" dirty="0">
                <a:ln>
                  <a:noFill/>
                </a:ln>
                <a:solidFill>
                  <a:schemeClr val="tx1"/>
                </a:solidFill>
                <a:effectLst/>
                <a:latin typeface="Arial" panose="020B0604020202020204" pitchFamily="34" charset="0"/>
                <a:cs typeface="Arial" panose="020B0604020202020204" pitchFamily="34" charset="0"/>
              </a:rPr>
              <a:t> Amostra: 214 conjuntos.</a:t>
            </a:r>
          </a:p>
          <a:p>
            <a:pPr lvl="1" eaLnBrk="0" fontAlgn="base" hangingPunct="0">
              <a:spcBef>
                <a:spcPct val="0"/>
              </a:spcBef>
              <a:spcAft>
                <a:spcPct val="0"/>
              </a:spcAft>
              <a:buFontTx/>
              <a:buChar char="•"/>
            </a:pPr>
            <a:r>
              <a:rPr kumimoji="0" lang="pt-BR" altLang="pt-BR" sz="2000" i="0" u="none" strike="noStrike" cap="none" normalizeH="0" baseline="0" dirty="0">
                <a:ln>
                  <a:noFill/>
                </a:ln>
                <a:solidFill>
                  <a:schemeClr val="tx1"/>
                </a:solidFill>
                <a:effectLst/>
                <a:latin typeface="Arial" panose="020B0604020202020204" pitchFamily="34" charset="0"/>
                <a:cs typeface="Arial" panose="020B0604020202020204" pitchFamily="34" charset="0"/>
              </a:rPr>
              <a:t> Remoções não programadas nos 21 meses: 13.</a:t>
            </a:r>
          </a:p>
          <a:p>
            <a:pPr lvl="1" eaLnBrk="0" fontAlgn="base" hangingPunct="0">
              <a:spcBef>
                <a:spcPct val="0"/>
              </a:spcBef>
              <a:spcAft>
                <a:spcPct val="0"/>
              </a:spcAft>
              <a:buFontTx/>
              <a:buChar char="•"/>
            </a:pPr>
            <a:r>
              <a:rPr kumimoji="0" lang="pt-BR" altLang="pt-BR" sz="2000" i="0" u="none" strike="noStrike" cap="none" normalizeH="0" baseline="0" dirty="0">
                <a:ln>
                  <a:noFill/>
                </a:ln>
                <a:solidFill>
                  <a:schemeClr val="tx1"/>
                </a:solidFill>
                <a:effectLst/>
                <a:latin typeface="Arial" panose="020B0604020202020204" pitchFamily="34" charset="0"/>
                <a:cs typeface="Arial" panose="020B0604020202020204" pitchFamily="34" charset="0"/>
              </a:rPr>
              <a:t> Horas totais de operação analisadas: 5.223.750 h.</a:t>
            </a:r>
          </a:p>
          <a:p>
            <a:pPr lvl="1" eaLnBrk="0" fontAlgn="base" hangingPunct="0">
              <a:spcBef>
                <a:spcPct val="0"/>
              </a:spcBef>
              <a:spcAft>
                <a:spcPct val="0"/>
              </a:spcAft>
              <a:buFontTx/>
              <a:buChar char="•"/>
            </a:pPr>
            <a:r>
              <a:rPr kumimoji="0" lang="pt-BR" altLang="pt-BR" sz="2000" i="0" u="none" strike="noStrike" cap="none" normalizeH="0" baseline="0" dirty="0">
                <a:ln>
                  <a:noFill/>
                </a:ln>
                <a:solidFill>
                  <a:schemeClr val="tx1"/>
                </a:solidFill>
                <a:effectLst/>
                <a:latin typeface="Arial" panose="020B0604020202020204" pitchFamily="34" charset="0"/>
                <a:cs typeface="Arial" panose="020B0604020202020204" pitchFamily="34" charset="0"/>
              </a:rPr>
              <a:t> Taxa média de remoção</a:t>
            </a:r>
            <a:r>
              <a:rPr lang="pt-BR" altLang="pt-BR" sz="2000" dirty="0">
                <a:latin typeface="Arial" panose="020B0604020202020204" pitchFamily="34" charset="0"/>
                <a:cs typeface="Arial" panose="020B0604020202020204" pitchFamily="34" charset="0"/>
              </a:rPr>
              <a:t> não programada (MTBUR):</a:t>
            </a:r>
            <a:r>
              <a:rPr kumimoji="0" lang="pt-BR" altLang="pt-BR" sz="2000" i="0" u="none" strike="noStrike" cap="none" normalizeH="0" baseline="0" dirty="0">
                <a:ln>
                  <a:noFill/>
                </a:ln>
                <a:solidFill>
                  <a:schemeClr val="tx1"/>
                </a:solidFill>
                <a:effectLst/>
                <a:latin typeface="Arial" panose="020B0604020202020204" pitchFamily="34" charset="0"/>
                <a:cs typeface="Arial" panose="020B0604020202020204" pitchFamily="34" charset="0"/>
              </a:rPr>
              <a:t> λ = 2,49 × 10⁻⁶.</a:t>
            </a:r>
          </a:p>
          <a:p>
            <a:pPr lvl="1" eaLnBrk="0" fontAlgn="base" hangingPunct="0">
              <a:spcBef>
                <a:spcPct val="0"/>
              </a:spcBef>
              <a:spcAft>
                <a:spcPct val="0"/>
              </a:spcAft>
              <a:buFontTx/>
              <a:buChar char="•"/>
            </a:pPr>
            <a:r>
              <a:rPr kumimoji="0" lang="pt-BR" altLang="pt-BR" sz="2000" i="0" u="none" strike="noStrike" cap="none" normalizeH="0" baseline="0" dirty="0">
                <a:ln>
                  <a:noFill/>
                </a:ln>
                <a:solidFill>
                  <a:schemeClr val="tx1"/>
                </a:solidFill>
                <a:effectLst/>
                <a:latin typeface="Arial" panose="020B0604020202020204" pitchFamily="34" charset="0"/>
                <a:cs typeface="Arial" panose="020B0604020202020204" pitchFamily="34" charset="0"/>
              </a:rPr>
              <a:t> Remoções esperadas em 3 meses: 1,85 (~2).</a:t>
            </a:r>
          </a:p>
          <a:p>
            <a:pPr lvl="1" eaLnBrk="0" fontAlgn="base" hangingPunct="0">
              <a:spcBef>
                <a:spcPct val="0"/>
              </a:spcBef>
              <a:spcAft>
                <a:spcPct val="0"/>
              </a:spcAft>
              <a:buFontTx/>
              <a:buChar char="•"/>
            </a:pPr>
            <a:r>
              <a:rPr kumimoji="0" lang="pt-BR" altLang="pt-BR" sz="2000" i="0" u="none" strike="noStrike" cap="none" normalizeH="0" baseline="0" dirty="0">
                <a:ln>
                  <a:noFill/>
                </a:ln>
                <a:solidFill>
                  <a:schemeClr val="tx1"/>
                </a:solidFill>
                <a:effectLst/>
                <a:latin typeface="Arial" panose="020B0604020202020204" pitchFamily="34" charset="0"/>
                <a:cs typeface="Arial" panose="020B0604020202020204" pitchFamily="34" charset="0"/>
              </a:rPr>
              <a:t> Nível de alerta de 95%: até 4 remoções em um intervalo de 3 meses.</a:t>
            </a:r>
          </a:p>
        </p:txBody>
      </p:sp>
      <p:pic>
        <p:nvPicPr>
          <p:cNvPr id="16" name="Imagem 15">
            <a:extLst>
              <a:ext uri="{FF2B5EF4-FFF2-40B4-BE49-F238E27FC236}">
                <a16:creationId xmlns:a16="http://schemas.microsoft.com/office/drawing/2014/main" id="{1F276A84-9733-CD7C-533E-76E8DBA1A72C}"/>
              </a:ext>
            </a:extLst>
          </p:cNvPr>
          <p:cNvPicPr>
            <a:picLocks noChangeAspect="1"/>
          </p:cNvPicPr>
          <p:nvPr/>
        </p:nvPicPr>
        <p:blipFill>
          <a:blip r:embed="rId3"/>
          <a:stretch>
            <a:fillRect/>
          </a:stretch>
        </p:blipFill>
        <p:spPr>
          <a:xfrm>
            <a:off x="9036479" y="1093846"/>
            <a:ext cx="3074766" cy="4039718"/>
          </a:xfrm>
          <a:prstGeom prst="rect">
            <a:avLst/>
          </a:prstGeom>
          <a:ln>
            <a:solidFill>
              <a:schemeClr val="tx1"/>
            </a:solidFill>
          </a:ln>
        </p:spPr>
      </p:pic>
    </p:spTree>
    <p:extLst>
      <p:ext uri="{BB962C8B-B14F-4D97-AF65-F5344CB8AC3E}">
        <p14:creationId xmlns:p14="http://schemas.microsoft.com/office/powerpoint/2010/main" val="4098885860"/>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02FFC-2479-F21B-2D83-2602D95C3FB2}"/>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16E2F487-4234-6A35-64F2-D9151DDDB144}"/>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454DABF5-1984-C328-8207-7A632D2B0EA1}"/>
              </a:ext>
            </a:extLst>
          </p:cNvPr>
          <p:cNvSpPr txBox="1"/>
          <p:nvPr/>
        </p:nvSpPr>
        <p:spPr>
          <a:xfrm>
            <a:off x="249101" y="89488"/>
            <a:ext cx="1610577"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srgbClr val="0070C0"/>
                </a:solidFill>
                <a:effectLst/>
                <a:uLnTx/>
                <a:uFillTx/>
                <a:latin typeface="Arial"/>
                <a:cs typeface="Arial"/>
                <a:sym typeface="Helvetica Neue"/>
              </a:rPr>
              <a:t>Capítulo</a:t>
            </a:r>
            <a:r>
              <a:rPr kumimoji="0" lang="en-US" sz="2000" b="1" i="0" u="none" strike="noStrike" kern="1200" cap="none" spc="0" normalizeH="0" baseline="0" noProof="0" dirty="0">
                <a:ln>
                  <a:noFill/>
                </a:ln>
                <a:solidFill>
                  <a:srgbClr val="0070C0"/>
                </a:solidFill>
                <a:effectLst/>
                <a:uLnTx/>
                <a:uFillTx/>
                <a:latin typeface="Arial"/>
                <a:cs typeface="Arial"/>
                <a:sym typeface="Helvetica Neue"/>
              </a:rPr>
              <a:t> </a:t>
            </a:r>
            <a:r>
              <a:rPr lang="en-US" sz="2000" b="1" dirty="0">
                <a:solidFill>
                  <a:srgbClr val="0070C0"/>
                </a:solidFill>
                <a:latin typeface="Arial"/>
                <a:cs typeface="Arial"/>
                <a:sym typeface="Helvetica Neue"/>
              </a:rPr>
              <a:t>11</a:t>
            </a:r>
            <a:endParaRPr kumimoji="0" lang="pt-BR" sz="2000" b="1"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3" name="CaixaDeTexto 2">
            <a:extLst>
              <a:ext uri="{FF2B5EF4-FFF2-40B4-BE49-F238E27FC236}">
                <a16:creationId xmlns:a16="http://schemas.microsoft.com/office/drawing/2014/main" id="{BD362954-B0DA-468D-A479-4FD0903137B5}"/>
              </a:ext>
            </a:extLst>
          </p:cNvPr>
          <p:cNvSpPr txBox="1"/>
          <p:nvPr/>
        </p:nvSpPr>
        <p:spPr>
          <a:xfrm>
            <a:off x="1614834" y="168490"/>
            <a:ext cx="8669433" cy="307777"/>
          </a:xfrm>
          <a:prstGeom prst="rect">
            <a:avLst/>
          </a:prstGeom>
          <a:noFill/>
        </p:spPr>
        <p:txBody>
          <a:bodyPr wrap="square" lIns="91440" tIns="45720" rIns="91440" bIns="45720" rtlCol="0" anchor="t">
            <a:spAutoFit/>
          </a:bodyPr>
          <a:lstStyle/>
          <a:p>
            <a:pPr>
              <a:defRPr/>
            </a:pPr>
            <a:r>
              <a:rPr lang="pt-BR" sz="1400" dirty="0">
                <a:solidFill>
                  <a:srgbClr val="0070C0"/>
                </a:solidFill>
                <a:latin typeface="Arial"/>
                <a:cs typeface="Arial"/>
              </a:rPr>
              <a:t>Monitoramento</a:t>
            </a:r>
            <a:r>
              <a:rPr kumimoji="0" lang="pt-BR" sz="1400" b="0" i="0" u="none" strike="noStrike" kern="1200" cap="none" spc="0" normalizeH="0" baseline="0" noProof="0" dirty="0">
                <a:ln>
                  <a:noFill/>
                </a:ln>
                <a:solidFill>
                  <a:srgbClr val="0070C0"/>
                </a:solidFill>
                <a:effectLst/>
                <a:uLnTx/>
                <a:uFillTx/>
                <a:latin typeface="Arial"/>
                <a:cs typeface="Arial"/>
              </a:rPr>
              <a:t> da Frota em Serviço</a:t>
            </a:r>
          </a:p>
        </p:txBody>
      </p:sp>
      <p:sp>
        <p:nvSpPr>
          <p:cNvPr id="6" name="CaixaDeTexto 5">
            <a:extLst>
              <a:ext uri="{FF2B5EF4-FFF2-40B4-BE49-F238E27FC236}">
                <a16:creationId xmlns:a16="http://schemas.microsoft.com/office/drawing/2014/main" id="{C2FA2E0E-E594-4751-8CDD-53FB4F85BF06}"/>
              </a:ext>
            </a:extLst>
          </p:cNvPr>
          <p:cNvSpPr txBox="1"/>
          <p:nvPr/>
        </p:nvSpPr>
        <p:spPr>
          <a:xfrm>
            <a:off x="204278" y="564779"/>
            <a:ext cx="780482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0" i="0" u="sng"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rPr>
              <a:t>Slide </a:t>
            </a:r>
            <a:r>
              <a:rPr lang="pt-BR" sz="1400" u="sng" dirty="0">
                <a:solidFill>
                  <a:srgbClr val="0070C0"/>
                </a:solidFill>
                <a:latin typeface="Arial" panose="020B0604020202020204" pitchFamily="34" charset="0"/>
                <a:cs typeface="Arial" panose="020B0604020202020204" pitchFamily="34" charset="0"/>
              </a:rPr>
              <a:t>11.1.1</a:t>
            </a:r>
            <a:r>
              <a:rPr kumimoji="0" lang="pt-BR" sz="1400" b="0" i="0" u="sng"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rPr>
              <a:t> – Dados de confiabilidade do Sistema de Compensação do Estabilizador Horizontal</a:t>
            </a:r>
          </a:p>
        </p:txBody>
      </p:sp>
      <p:sp>
        <p:nvSpPr>
          <p:cNvPr id="4" name="CaixaDeTexto 3">
            <a:extLst>
              <a:ext uri="{FF2B5EF4-FFF2-40B4-BE49-F238E27FC236}">
                <a16:creationId xmlns:a16="http://schemas.microsoft.com/office/drawing/2014/main" id="{A5F46BC9-F388-4635-B38B-0F3BFEB47F72}"/>
              </a:ext>
            </a:extLst>
          </p:cNvPr>
          <p:cNvSpPr txBox="1"/>
          <p:nvPr/>
        </p:nvSpPr>
        <p:spPr>
          <a:xfrm>
            <a:off x="9633141" y="193847"/>
            <a:ext cx="230594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800" b="0" i="0" u="sng" strike="noStrike" kern="1200" cap="none" spc="0" normalizeH="0" baseline="0" noProof="0" dirty="0">
                <a:ln>
                  <a:noFill/>
                </a:ln>
                <a:solidFill>
                  <a:srgbClr val="0070C0"/>
                </a:solidFill>
                <a:effectLst/>
                <a:uLnTx/>
                <a:uFillTx/>
                <a:latin typeface="Aptos" panose="02110004020202020204"/>
                <a:ea typeface="+mn-ea"/>
                <a:cs typeface="+mn-cs"/>
              </a:rPr>
              <a:t>Resp.: </a:t>
            </a:r>
            <a:r>
              <a:rPr lang="pt-BR" u="sng" dirty="0">
                <a:solidFill>
                  <a:srgbClr val="0070C0"/>
                </a:solidFill>
              </a:rPr>
              <a:t>Willian Henrique</a:t>
            </a:r>
          </a:p>
        </p:txBody>
      </p:sp>
      <p:pic>
        <p:nvPicPr>
          <p:cNvPr id="9" name="Imagem 8" descr="Placa vermelha com letras brancas&#10;&#10;Descrição gerada automaticamente com confiança baixa">
            <a:extLst>
              <a:ext uri="{FF2B5EF4-FFF2-40B4-BE49-F238E27FC236}">
                <a16:creationId xmlns:a16="http://schemas.microsoft.com/office/drawing/2014/main" id="{C60871FE-1476-9926-2B5C-1131F1D4A310}"/>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2" name="Retângulo: Cantos Arredondados 1">
            <a:extLst>
              <a:ext uri="{FF2B5EF4-FFF2-40B4-BE49-F238E27FC236}">
                <a16:creationId xmlns:a16="http://schemas.microsoft.com/office/drawing/2014/main" id="{74AA2367-22A4-BAC5-FB12-19B962B3F486}"/>
              </a:ext>
            </a:extLst>
          </p:cNvPr>
          <p:cNvSpPr/>
          <p:nvPr/>
        </p:nvSpPr>
        <p:spPr>
          <a:xfrm>
            <a:off x="136228" y="2230097"/>
            <a:ext cx="2908529" cy="1318584"/>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2400" dirty="0">
                <a:ln w="0">
                  <a:solidFill>
                    <a:sysClr val="windowText" lastClr="000000"/>
                  </a:solidFill>
                </a:ln>
                <a:solidFill>
                  <a:sysClr val="windowText" lastClr="000000"/>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Comportamento do desgaste</a:t>
            </a:r>
          </a:p>
        </p:txBody>
      </p:sp>
      <p:sp>
        <p:nvSpPr>
          <p:cNvPr id="12" name="Retângulo: Cantos Arredondados 11">
            <a:extLst>
              <a:ext uri="{FF2B5EF4-FFF2-40B4-BE49-F238E27FC236}">
                <a16:creationId xmlns:a16="http://schemas.microsoft.com/office/drawing/2014/main" id="{B8F297B5-CBEB-BA28-F02D-9B23EE2BBB02}"/>
              </a:ext>
            </a:extLst>
          </p:cNvPr>
          <p:cNvSpPr/>
          <p:nvPr/>
        </p:nvSpPr>
        <p:spPr>
          <a:xfrm>
            <a:off x="3570051" y="3257462"/>
            <a:ext cx="3207528" cy="115576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2000" dirty="0"/>
              <a:t>Desgaste da porca progressivo e acumulativo </a:t>
            </a:r>
          </a:p>
        </p:txBody>
      </p:sp>
      <p:sp>
        <p:nvSpPr>
          <p:cNvPr id="13" name="Retângulo: Cantos Arredondados 12">
            <a:extLst>
              <a:ext uri="{FF2B5EF4-FFF2-40B4-BE49-F238E27FC236}">
                <a16:creationId xmlns:a16="http://schemas.microsoft.com/office/drawing/2014/main" id="{E9191D03-2204-CE66-0741-669F53726CA5}"/>
              </a:ext>
            </a:extLst>
          </p:cNvPr>
          <p:cNvSpPr/>
          <p:nvPr/>
        </p:nvSpPr>
        <p:spPr>
          <a:xfrm>
            <a:off x="5362219" y="4970851"/>
            <a:ext cx="4270922" cy="1498039"/>
          </a:xfrm>
          <a:prstGeom prst="roundRect">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2000" dirty="0"/>
              <a:t>A confiabilidade depende diretamente da lubrificação e monitoramento da medições de folga</a:t>
            </a:r>
          </a:p>
        </p:txBody>
      </p:sp>
      <p:cxnSp>
        <p:nvCxnSpPr>
          <p:cNvPr id="16" name="Conector de Seta Reta 15">
            <a:extLst>
              <a:ext uri="{FF2B5EF4-FFF2-40B4-BE49-F238E27FC236}">
                <a16:creationId xmlns:a16="http://schemas.microsoft.com/office/drawing/2014/main" id="{2396699D-7552-362B-D25F-451DA88025FA}"/>
              </a:ext>
            </a:extLst>
          </p:cNvPr>
          <p:cNvCxnSpPr>
            <a:cxnSpLocks/>
          </p:cNvCxnSpPr>
          <p:nvPr/>
        </p:nvCxnSpPr>
        <p:spPr>
          <a:xfrm>
            <a:off x="6994266" y="1912207"/>
            <a:ext cx="86576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Retângulo: Cantos Arredondados 16">
            <a:extLst>
              <a:ext uri="{FF2B5EF4-FFF2-40B4-BE49-F238E27FC236}">
                <a16:creationId xmlns:a16="http://schemas.microsoft.com/office/drawing/2014/main" id="{756CC976-1B27-2F46-B44B-2F009586387B}"/>
              </a:ext>
            </a:extLst>
          </p:cNvPr>
          <p:cNvSpPr/>
          <p:nvPr/>
        </p:nvSpPr>
        <p:spPr>
          <a:xfrm>
            <a:off x="8076715" y="1443027"/>
            <a:ext cx="2305940" cy="93835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2000" dirty="0"/>
              <a:t>Falha catastrófica</a:t>
            </a:r>
          </a:p>
        </p:txBody>
      </p:sp>
      <p:sp>
        <p:nvSpPr>
          <p:cNvPr id="18" name="Retângulo: Cantos Arredondados 17">
            <a:extLst>
              <a:ext uri="{FF2B5EF4-FFF2-40B4-BE49-F238E27FC236}">
                <a16:creationId xmlns:a16="http://schemas.microsoft.com/office/drawing/2014/main" id="{5F7779D0-EB1A-FBCF-3CCC-445A500342AB}"/>
              </a:ext>
            </a:extLst>
          </p:cNvPr>
          <p:cNvSpPr/>
          <p:nvPr/>
        </p:nvSpPr>
        <p:spPr>
          <a:xfrm>
            <a:off x="3667328" y="1399170"/>
            <a:ext cx="3110251" cy="11867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2000" dirty="0"/>
              <a:t>Sistema sem mecanismo redundante</a:t>
            </a:r>
          </a:p>
        </p:txBody>
      </p:sp>
      <p:sp>
        <p:nvSpPr>
          <p:cNvPr id="19" name="Retângulo: Cantos Arredondados 18">
            <a:extLst>
              <a:ext uri="{FF2B5EF4-FFF2-40B4-BE49-F238E27FC236}">
                <a16:creationId xmlns:a16="http://schemas.microsoft.com/office/drawing/2014/main" id="{E08A69EC-5CFE-F910-77CC-5924D4833968}"/>
              </a:ext>
            </a:extLst>
          </p:cNvPr>
          <p:cNvSpPr/>
          <p:nvPr/>
        </p:nvSpPr>
        <p:spPr>
          <a:xfrm>
            <a:off x="7959825" y="3225084"/>
            <a:ext cx="3090639" cy="13171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2000" dirty="0"/>
              <a:t>Exige lubrificação e monitoramento constante dentro dos corretos intervalos</a:t>
            </a:r>
          </a:p>
        </p:txBody>
      </p:sp>
      <p:cxnSp>
        <p:nvCxnSpPr>
          <p:cNvPr id="20" name="Conector de Seta Reta 19">
            <a:extLst>
              <a:ext uri="{FF2B5EF4-FFF2-40B4-BE49-F238E27FC236}">
                <a16:creationId xmlns:a16="http://schemas.microsoft.com/office/drawing/2014/main" id="{E0D988A5-F98D-5DDB-08F0-A21D6027508B}"/>
              </a:ext>
            </a:extLst>
          </p:cNvPr>
          <p:cNvCxnSpPr/>
          <p:nvPr/>
        </p:nvCxnSpPr>
        <p:spPr>
          <a:xfrm>
            <a:off x="7021065" y="3819840"/>
            <a:ext cx="86576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6767513"/>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Linha reta"/>
          <p:cNvSpPr>
            <a:spLocks/>
          </p:cNvSpPr>
          <p:nvPr/>
        </p:nvSpPr>
        <p:spPr>
          <a:xfrm flipV="1">
            <a:off x="252919" y="486960"/>
            <a:ext cx="8852170" cy="30053"/>
          </a:xfrm>
          <a:prstGeom prst="line">
            <a:avLst/>
          </a:prstGeom>
          <a:noFill/>
          <a:ln w="57150" cap="flat" cmpd="sng">
            <a:gradFill rotWithShape="1">
              <a:gsLst>
                <a:gs pos="42000">
                  <a:srgbClr val="B2CBFF">
                    <a:alpha val="84705"/>
                  </a:srgbClr>
                </a:gs>
                <a:gs pos="63000">
                  <a:srgbClr val="93B5FF">
                    <a:alpha val="100000"/>
                  </a:srgbClr>
                </a:gs>
                <a:gs pos="28000">
                  <a:srgbClr val="C7D9FF">
                    <a:alpha val="100000"/>
                  </a:srgbClr>
                </a:gs>
                <a:gs pos="0">
                  <a:srgbClr val="F0F8FD">
                    <a:alpha val="100000"/>
                  </a:srgbClr>
                </a:gs>
                <a:gs pos="74000">
                  <a:srgbClr val="74C4E9">
                    <a:alpha val="100000"/>
                  </a:srgbClr>
                </a:gs>
                <a:gs pos="83000">
                  <a:srgbClr val="74C4E9">
                    <a:alpha val="100000"/>
                  </a:srgbClr>
                </a:gs>
                <a:gs pos="100000">
                  <a:srgbClr val="A2D8F0">
                    <a:alpha val="100000"/>
                  </a:srgbClr>
                </a:gs>
              </a:gsLst>
              <a:lin ang="10800000" scaled="1"/>
            </a:gradFill>
            <a:prstDash val="solid"/>
            <a:miter/>
          </a:ln>
        </p:spPr>
        <p:txBody>
          <a:bodyPr/>
          <a:lstStyle/>
          <a:p>
            <a:endParaRPr lang="pt-BR"/>
          </a:p>
        </p:txBody>
      </p:sp>
      <p:sp>
        <p:nvSpPr>
          <p:cNvPr id="14" name="Retângulo"/>
          <p:cNvSpPr>
            <a:spLocks/>
          </p:cNvSpPr>
          <p:nvPr/>
        </p:nvSpPr>
        <p:spPr>
          <a:xfrm>
            <a:off x="253758" y="135243"/>
            <a:ext cx="1493454" cy="396875"/>
          </a:xfrm>
          <a:prstGeom prst="rect">
            <a:avLst/>
          </a:prstGeom>
          <a:noFill/>
          <a:ln w="12700" cap="flat" cmpd="sng">
            <a:noFill/>
            <a:prstDash val="solid"/>
            <a:miter/>
          </a:ln>
          <a:scene3d>
            <a:camera prst="legacyObliqueFront"/>
            <a:lightRig rig="legacyFlat4" dir="r"/>
          </a:scene3d>
          <a:sp3d prstMaterial="legacyMatte">
            <a:bevelT w="13500" h="13500" prst="angle"/>
            <a:bevelB w="13500" h="13500" prst="angle"/>
          </a:sp3d>
        </p:spPr>
        <p:txBody>
          <a:bodyPr vert="horz" wrap="square" lIns="50800" tIns="50800" rIns="50800" bIns="50800" anchor="ctr" anchorCtr="0">
            <a:prstTxWarp prst="textNoShape">
              <a:avLst/>
            </a:prstTxWarp>
            <a:spAutoFit/>
          </a:bodyPr>
          <a:lstStyle/>
          <a:p>
            <a:pPr marL="0" indent="0" algn="l" defTabSz="2438273" eaLnBrk="1" fontAlgn="auto" latinLnBrk="0" hangingPunct="0">
              <a:lnSpc>
                <a:spcPct val="100000"/>
              </a:lnSpc>
              <a:spcBef>
                <a:spcPts val="0"/>
              </a:spcBef>
              <a:spcAft>
                <a:spcPts val="0"/>
              </a:spcAft>
              <a:buNone/>
            </a:pPr>
            <a:r>
              <a:rPr lang="en-US" altLang="zh-CN" sz="2000" b="1" i="0" u="none" strike="noStrike" kern="1200" cap="none" spc="0" baseline="0">
                <a:solidFill>
                  <a:srgbClr val="0070C0"/>
                </a:solidFill>
                <a:latin typeface="Arial" pitchFamily="34" charset="0"/>
                <a:ea typeface="等线" charset="0"/>
                <a:cs typeface="Arial" pitchFamily="34" charset="0"/>
                <a:sym typeface="Helvetica Neue" charset="0"/>
              </a:rPr>
              <a:t>Capítulo 11</a:t>
            </a:r>
            <a:endParaRPr lang="zh-CN" altLang="en-US" sz="2000" b="1" i="0" u="none" strike="noStrike" kern="1200" cap="none" spc="0" baseline="0">
              <a:solidFill>
                <a:srgbClr val="0070C0"/>
              </a:solidFill>
              <a:latin typeface="Arial" pitchFamily="34" charset="0"/>
              <a:ea typeface="等线" charset="0"/>
              <a:cs typeface="Arial" pitchFamily="34" charset="0"/>
              <a:sym typeface="Helvetica Neue" charset="0"/>
            </a:endParaRPr>
          </a:p>
        </p:txBody>
      </p:sp>
      <p:sp>
        <p:nvSpPr>
          <p:cNvPr id="15" name="Retângulo"/>
          <p:cNvSpPr>
            <a:spLocks/>
          </p:cNvSpPr>
          <p:nvPr/>
        </p:nvSpPr>
        <p:spPr>
          <a:xfrm>
            <a:off x="204278" y="564779"/>
            <a:ext cx="6219825" cy="300990"/>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400" b="0" i="0" u="sng" strike="noStrike" kern="1200" cap="none" spc="0" baseline="0">
                <a:solidFill>
                  <a:srgbClr val="0070C0"/>
                </a:solidFill>
                <a:latin typeface="Arial" pitchFamily="34" charset="0"/>
                <a:ea typeface="等线" charset="0"/>
                <a:cs typeface="Arial" pitchFamily="34" charset="0"/>
              </a:rPr>
              <a:t>Slide 11.2 - Análise das taxas de falhas dos componentes do conjunto do eixo</a:t>
            </a:r>
            <a:endParaRPr lang="zh-CN" altLang="en-US" sz="1400" b="0" i="0" u="sng" strike="noStrike" kern="1200" cap="none" spc="0" baseline="0">
              <a:solidFill>
                <a:srgbClr val="0070C0"/>
              </a:solidFill>
              <a:latin typeface="Arial" pitchFamily="34" charset="0"/>
              <a:ea typeface="等线" charset="0"/>
              <a:cs typeface="Arial" pitchFamily="34" charset="0"/>
            </a:endParaRPr>
          </a:p>
        </p:txBody>
      </p:sp>
      <p:sp>
        <p:nvSpPr>
          <p:cNvPr id="16" name="Retângulo"/>
          <p:cNvSpPr>
            <a:spLocks/>
          </p:cNvSpPr>
          <p:nvPr/>
        </p:nvSpPr>
        <p:spPr>
          <a:xfrm>
            <a:off x="10315467" y="0"/>
            <a:ext cx="1875093" cy="3581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ctr">
              <a:lnSpc>
                <a:spcPct val="100000"/>
              </a:lnSpc>
              <a:spcBef>
                <a:spcPts val="0"/>
              </a:spcBef>
              <a:spcAft>
                <a:spcPts val="0"/>
              </a:spcAft>
              <a:buNone/>
            </a:pPr>
            <a:r>
              <a:rPr lang="en-US" altLang="zh-CN" sz="1800" b="0" i="0" u="sng" strike="noStrike" kern="1200" cap="none" spc="0" baseline="0">
                <a:solidFill>
                  <a:srgbClr val="0070C0"/>
                </a:solidFill>
                <a:latin typeface="Aptos" charset="0"/>
                <a:ea typeface="等线" charset="0"/>
                <a:cs typeface="Droid Sans" charset="0"/>
              </a:rPr>
              <a:t>Resp.:Jhonata</a:t>
            </a:r>
            <a:endParaRPr lang="zh-CN" altLang="en-US" sz="1800" b="0" i="0" u="sng" strike="noStrike" kern="1200" cap="none" spc="0" baseline="0">
              <a:solidFill>
                <a:srgbClr val="0070C0"/>
              </a:solidFill>
              <a:latin typeface="Aptos" charset="0"/>
              <a:ea typeface="等线" charset="0"/>
              <a:cs typeface="Droid Sans" charset="0"/>
            </a:endParaRPr>
          </a:p>
        </p:txBody>
      </p:sp>
      <p:sp>
        <p:nvSpPr>
          <p:cNvPr id="17" name="Retângulo"/>
          <p:cNvSpPr>
            <a:spLocks/>
          </p:cNvSpPr>
          <p:nvPr/>
        </p:nvSpPr>
        <p:spPr>
          <a:xfrm>
            <a:off x="1677939" y="189420"/>
            <a:ext cx="9075172" cy="5105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400" b="0" i="0" u="none" strike="noStrike" kern="1200" cap="none" spc="0" baseline="0">
                <a:solidFill>
                  <a:srgbClr val="0070C0"/>
                </a:solidFill>
                <a:latin typeface="Arial" pitchFamily="34" charset="0"/>
                <a:ea typeface="等线" charset="0"/>
                <a:cs typeface="Arial" pitchFamily="34" charset="0"/>
              </a:rPr>
              <a:t>Monitoramento da Frota em Serviço</a:t>
            </a:r>
            <a:endParaRPr lang="en-US" altLang="zh-CN" sz="1800" b="0" i="0" u="none" strike="noStrike" kern="1200" cap="none" spc="0" baseline="0">
              <a:solidFill>
                <a:schemeClr val="tx1"/>
              </a:solidFill>
              <a:latin typeface="Aptos" charset="0"/>
              <a:ea typeface="等线" charset="0"/>
              <a:cs typeface="Droid Sans" charset="0"/>
            </a:endParaRPr>
          </a:p>
          <a:p>
            <a:pPr marL="0" indent="0" algn="l" eaLnBrk="1" fontAlgn="auto" latinLnBrk="0" hangingPunct="1">
              <a:lnSpc>
                <a:spcPct val="100000"/>
              </a:lnSpc>
              <a:spcBef>
                <a:spcPts val="0"/>
              </a:spcBef>
              <a:spcAft>
                <a:spcPts val="0"/>
              </a:spcAft>
              <a:buNone/>
            </a:pPr>
            <a:endParaRPr lang="zh-CN" altLang="en-US" sz="1400" b="0" i="0" u="none" strike="noStrike" kern="1200" cap="none" spc="0" baseline="0">
              <a:solidFill>
                <a:srgbClr val="0070C0"/>
              </a:solidFill>
              <a:latin typeface="Arial" pitchFamily="34" charset="0"/>
              <a:ea typeface="等线" charset="0"/>
              <a:cs typeface="Arial" pitchFamily="34" charset="0"/>
            </a:endParaRPr>
          </a:p>
        </p:txBody>
      </p:sp>
      <p:pic>
        <p:nvPicPr>
          <p:cNvPr id="18" name="Imagem" descr="Placa vermelha com letras brancas&#10;&#10;Descrição gerada automaticamente com confiança baixa"/>
          <p:cNvPicPr>
            <a:picLocks noChangeAspect="1"/>
          </p:cNvPicPr>
          <p:nvPr/>
        </p:nvPicPr>
        <p:blipFill>
          <a:blip r:embed="rId3" cstate="print"/>
          <a:stretch>
            <a:fillRect/>
          </a:stretch>
        </p:blipFill>
        <p:spPr>
          <a:xfrm>
            <a:off x="10682496" y="6023665"/>
            <a:ext cx="1428750" cy="685800"/>
          </a:xfrm>
          <a:prstGeom prst="rect">
            <a:avLst/>
          </a:prstGeom>
          <a:noFill/>
          <a:ln w="12700" cap="flat" cmpd="sng">
            <a:noFill/>
            <a:prstDash val="solid"/>
            <a:miter/>
          </a:ln>
        </p:spPr>
      </p:pic>
      <p:sp>
        <p:nvSpPr>
          <p:cNvPr id="19" name="Retângulo"/>
          <p:cNvSpPr>
            <a:spLocks/>
          </p:cNvSpPr>
          <p:nvPr/>
        </p:nvSpPr>
        <p:spPr>
          <a:xfrm>
            <a:off x="3818155" y="1694709"/>
            <a:ext cx="3922143" cy="358138"/>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just">
              <a:lnSpc>
                <a:spcPct val="100000"/>
              </a:lnSpc>
              <a:spcBef>
                <a:spcPts val="0"/>
              </a:spcBef>
              <a:spcAft>
                <a:spcPts val="0"/>
              </a:spcAft>
              <a:buNone/>
            </a:pPr>
            <a:r>
              <a:rPr lang="en-US" altLang="zh-CN" sz="1800" b="0" i="0" u="none" strike="noStrike" kern="1200" cap="none" spc="0" baseline="0">
                <a:solidFill>
                  <a:schemeClr val="tx1"/>
                </a:solidFill>
                <a:latin typeface="Aptos" charset="0"/>
                <a:ea typeface="Aptos" charset="0"/>
                <a:cs typeface="Aptos" charset="0"/>
              </a:rPr>
              <a:t>            </a:t>
            </a:r>
            <a:endParaRPr lang="zh-CN" altLang="en-US" sz="1800" b="0" i="0" u="none" strike="noStrike" kern="1200" cap="none" spc="0" baseline="0">
              <a:solidFill>
                <a:schemeClr val="tx1"/>
              </a:solidFill>
              <a:latin typeface="Aptos" charset="0"/>
              <a:ea typeface="等线" charset="0"/>
              <a:cs typeface="Droid Sans" charset="0"/>
            </a:endParaRPr>
          </a:p>
        </p:txBody>
      </p:sp>
      <p:sp>
        <p:nvSpPr>
          <p:cNvPr id="20" name="Retângulo"/>
          <p:cNvSpPr>
            <a:spLocks/>
          </p:cNvSpPr>
          <p:nvPr/>
        </p:nvSpPr>
        <p:spPr>
          <a:xfrm>
            <a:off x="629961" y="4403224"/>
            <a:ext cx="2743200" cy="91059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5400" b="1" i="0" u="none" strike="noStrike" kern="1200" cap="none" spc="0" baseline="0">
                <a:solidFill>
                  <a:schemeClr val="tx1"/>
                </a:solidFill>
                <a:latin typeface="MS Gothic" charset="0"/>
                <a:ea typeface="MS Gothic" charset="0"/>
                <a:cs typeface="Droid Sans" charset="0"/>
              </a:rPr>
              <a:t> </a:t>
            </a:r>
            <a:endParaRPr lang="zh-CN" altLang="en-US" sz="5400" b="1" i="0" u="none" strike="noStrike" kern="1200" cap="none" spc="0" baseline="0">
              <a:solidFill>
                <a:schemeClr val="tx1"/>
              </a:solidFill>
              <a:latin typeface="MS Gothic" charset="0"/>
              <a:ea typeface="MS Gothic" charset="0"/>
              <a:cs typeface="Droid Sans" charset="0"/>
            </a:endParaRPr>
          </a:p>
        </p:txBody>
      </p:sp>
      <p:sp>
        <p:nvSpPr>
          <p:cNvPr id="21" name="Retângulo"/>
          <p:cNvSpPr>
            <a:spLocks/>
          </p:cNvSpPr>
          <p:nvPr/>
        </p:nvSpPr>
        <p:spPr>
          <a:xfrm>
            <a:off x="3925364" y="4441859"/>
            <a:ext cx="2743200" cy="3581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Aptos" charset="0"/>
                <a:ea typeface="Aptos" charset="0"/>
                <a:cs typeface="Aptos" charset="0"/>
              </a:rPr>
              <a:t> </a:t>
            </a:r>
            <a:endParaRPr lang="zh-CN" altLang="en-US" sz="1800" b="0" i="0" u="none" strike="noStrike" kern="1200" cap="none" spc="0" baseline="0">
              <a:solidFill>
                <a:schemeClr val="tx1"/>
              </a:solidFill>
              <a:latin typeface="Aptos" charset="0"/>
              <a:ea typeface="等线" charset="0"/>
              <a:cs typeface="Droid Sans" charset="0"/>
            </a:endParaRPr>
          </a:p>
        </p:txBody>
      </p:sp>
      <p:sp>
        <p:nvSpPr>
          <p:cNvPr id="22" name="Retângulo"/>
          <p:cNvSpPr>
            <a:spLocks/>
          </p:cNvSpPr>
          <p:nvPr/>
        </p:nvSpPr>
        <p:spPr>
          <a:xfrm>
            <a:off x="251062" y="1031499"/>
            <a:ext cx="11689689" cy="3581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Aptos" charset="0"/>
                <a:ea typeface="Aptos" charset="0"/>
                <a:cs typeface="Aptos" charset="0"/>
              </a:rPr>
              <a:t>Os principais componentes do conjunto do eixo que apresentam falhas comprovadas incluem:</a:t>
            </a:r>
            <a:endParaRPr lang="zh-CN" altLang="en-US" sz="1800" b="0" i="0" u="none" strike="noStrike" kern="1200" cap="none" spc="0" baseline="0">
              <a:solidFill>
                <a:schemeClr val="tx1"/>
              </a:solidFill>
              <a:latin typeface="Aptos" charset="0"/>
              <a:ea typeface="Aptos" charset="0"/>
              <a:cs typeface="Aptos" charset="0"/>
            </a:endParaRPr>
          </a:p>
        </p:txBody>
      </p:sp>
      <p:sp>
        <p:nvSpPr>
          <p:cNvPr id="23" name="Retângulo"/>
          <p:cNvSpPr>
            <a:spLocks/>
          </p:cNvSpPr>
          <p:nvPr/>
        </p:nvSpPr>
        <p:spPr>
          <a:xfrm>
            <a:off x="272753" y="2061370"/>
            <a:ext cx="5276601" cy="11582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Font typeface="Droid Sans" charset="0"/>
              <a:buChar char="●"/>
            </a:pPr>
            <a:r>
              <a:rPr lang="en-US" altLang="zh-CN" sz="1800" b="0" i="0" u="none" strike="noStrike" kern="1200" cap="none" spc="0" baseline="0">
                <a:solidFill>
                  <a:schemeClr val="tx1"/>
                </a:solidFill>
                <a:latin typeface="Aptos" charset="0"/>
                <a:ea typeface="Aptos" charset="0"/>
                <a:cs typeface="Aptos" charset="0"/>
              </a:rPr>
              <a:t> Motores elétricos primário e secundário, que possuem uma confiabilidade estimada de MTBF de 102.396 horas (cerca de 11,7 anos) e uma taxa de falha média de 9,77 falhas por milhão de horas.</a:t>
            </a:r>
            <a:endParaRPr lang="zh-CN" altLang="en-US" sz="1600" b="0" i="0" u="none" strike="noStrike" kern="1200" cap="none" spc="0" baseline="0">
              <a:solidFill>
                <a:schemeClr val="tx1"/>
              </a:solidFill>
              <a:latin typeface="Aptos" charset="0"/>
              <a:ea typeface="等线" charset="0"/>
              <a:cs typeface="Droid Sans" charset="0"/>
            </a:endParaRPr>
          </a:p>
        </p:txBody>
      </p:sp>
      <p:sp>
        <p:nvSpPr>
          <p:cNvPr id="24" name="Retângulo"/>
          <p:cNvSpPr>
            <a:spLocks/>
          </p:cNvSpPr>
          <p:nvPr/>
        </p:nvSpPr>
        <p:spPr>
          <a:xfrm>
            <a:off x="6099160" y="3529797"/>
            <a:ext cx="5395355" cy="24917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ClrTx/>
              <a:buAutoNum type="arabicPeriod"/>
            </a:pPr>
            <a:r>
              <a:rPr lang="en-US" altLang="zh-CN" sz="1800" b="0" i="0" u="none" strike="noStrike" kern="1200" cap="none" spc="0" baseline="0">
                <a:solidFill>
                  <a:schemeClr val="tx1"/>
                </a:solidFill>
                <a:latin typeface="Aptos" charset="0"/>
                <a:ea typeface="Aptos" charset="0"/>
                <a:cs typeface="Aptos" charset="0"/>
              </a:rPr>
              <a:t>Engrenagens dos motores, tanto do primário quanto do secundário.</a:t>
            </a:r>
          </a:p>
          <a:p>
            <a:pPr marL="0" indent="0" algn="l">
              <a:lnSpc>
                <a:spcPct val="100000"/>
              </a:lnSpc>
              <a:spcBef>
                <a:spcPts val="0"/>
              </a:spcBef>
              <a:spcAft>
                <a:spcPts val="0"/>
              </a:spcAft>
              <a:buClrTx/>
              <a:buAutoNum type="arabicPeriod"/>
            </a:pPr>
            <a:endParaRPr lang="en-US" altLang="zh-CN" sz="1800" b="0" i="0" u="none" strike="noStrike" kern="1200" cap="none" spc="0" baseline="0">
              <a:solidFill>
                <a:schemeClr val="tx1"/>
              </a:solidFill>
              <a:latin typeface="Aptos" charset="0"/>
              <a:ea typeface="Aptos" charset="0"/>
              <a:cs typeface="Aptos" charset="0"/>
            </a:endParaRPr>
          </a:p>
          <a:p>
            <a:pPr marL="0" indent="0" algn="l">
              <a:lnSpc>
                <a:spcPct val="100000"/>
              </a:lnSpc>
              <a:spcBef>
                <a:spcPts val="0"/>
              </a:spcBef>
              <a:spcAft>
                <a:spcPts val="0"/>
              </a:spcAft>
              <a:buClrTx/>
              <a:buAutoNum type="arabicPeriod"/>
            </a:pPr>
            <a:r>
              <a:rPr lang="en-US" altLang="zh-CN" sz="1800" b="0" i="0" u="none" strike="noStrike" kern="1200" cap="none" spc="0" baseline="0">
                <a:solidFill>
                  <a:schemeClr val="tx1"/>
                </a:solidFill>
                <a:latin typeface="Aptos" charset="0"/>
                <a:ea typeface="Aptos" charset="0"/>
                <a:cs typeface="Aptos" charset="0"/>
              </a:rPr>
              <a:t>Eixo trapezoidal (jackscrew) e sua porca trapezoidal correspondente.</a:t>
            </a:r>
          </a:p>
          <a:p>
            <a:pPr marL="0" indent="0" algn="l">
              <a:lnSpc>
                <a:spcPct val="100000"/>
              </a:lnSpc>
              <a:spcBef>
                <a:spcPts val="0"/>
              </a:spcBef>
              <a:spcAft>
                <a:spcPts val="0"/>
              </a:spcAft>
              <a:buClrTx/>
              <a:buAutoNum type="arabicPeriod"/>
            </a:pPr>
            <a:endParaRPr lang="en-US" altLang="zh-CN" sz="1800" b="0" i="0" u="none" strike="noStrike" kern="1200" cap="none" spc="0" baseline="0">
              <a:solidFill>
                <a:schemeClr val="tx1"/>
              </a:solidFill>
              <a:latin typeface="Aptos" charset="0"/>
              <a:ea typeface="Aptos" charset="0"/>
              <a:cs typeface="Aptos" charset="0"/>
            </a:endParaRPr>
          </a:p>
          <a:p>
            <a:pPr marL="0" indent="0" algn="l">
              <a:lnSpc>
                <a:spcPct val="100000"/>
              </a:lnSpc>
              <a:spcBef>
                <a:spcPts val="0"/>
              </a:spcBef>
              <a:spcAft>
                <a:spcPts val="0"/>
              </a:spcAft>
              <a:buClrTx/>
              <a:buAutoNum type="arabicPeriod"/>
            </a:pPr>
            <a:r>
              <a:rPr lang="en-US" altLang="zh-CN" sz="1800" b="0" i="0" u="none" strike="noStrike" kern="1200" cap="none" spc="0" baseline="0">
                <a:solidFill>
                  <a:schemeClr val="tx1"/>
                </a:solidFill>
                <a:latin typeface="Aptos" charset="0"/>
                <a:ea typeface="Aptos" charset="0"/>
                <a:cs typeface="Aptos" charset="0"/>
              </a:rPr>
              <a:t>Tubo de torque (torque tube).</a:t>
            </a:r>
          </a:p>
          <a:p>
            <a:pPr marL="0" indent="0" algn="l">
              <a:lnSpc>
                <a:spcPct val="100000"/>
              </a:lnSpc>
              <a:spcBef>
                <a:spcPts val="0"/>
              </a:spcBef>
              <a:spcAft>
                <a:spcPts val="0"/>
              </a:spcAft>
              <a:buClrTx/>
              <a:buAutoNum type="arabicPeriod"/>
            </a:pPr>
            <a:endParaRPr lang="en-US" altLang="zh-CN" sz="1800" b="0" i="0" u="none" strike="noStrike" kern="1200" cap="none" spc="0" baseline="0">
              <a:solidFill>
                <a:schemeClr val="tx1"/>
              </a:solidFill>
              <a:latin typeface="Aptos" charset="0"/>
              <a:ea typeface="Aptos" charset="0"/>
              <a:cs typeface="Aptos" charset="0"/>
            </a:endParaRPr>
          </a:p>
          <a:p>
            <a:pPr marL="0" indent="0" algn="l">
              <a:lnSpc>
                <a:spcPct val="100000"/>
              </a:lnSpc>
              <a:spcBef>
                <a:spcPts val="0"/>
              </a:spcBef>
              <a:spcAft>
                <a:spcPts val="0"/>
              </a:spcAft>
              <a:buClrTx/>
              <a:buAutoNum type="arabicPeriod"/>
            </a:pPr>
            <a:r>
              <a:rPr lang="en-US" altLang="zh-CN" sz="1800" b="0" i="0" u="none" strike="noStrike" kern="1200" cap="none" spc="0" baseline="0">
                <a:solidFill>
                  <a:schemeClr val="tx1"/>
                </a:solidFill>
                <a:latin typeface="Aptos" charset="0"/>
                <a:ea typeface="Aptos" charset="0"/>
                <a:cs typeface="Aptos" charset="0"/>
              </a:rPr>
              <a:t>Anel de suporte estabilizador (gimbal ring).</a:t>
            </a:r>
            <a:endParaRPr lang="zh-CN" altLang="en-US" sz="1800" b="0" i="0" u="none" strike="noStrike" kern="1200" cap="none" spc="0" baseline="0">
              <a:solidFill>
                <a:schemeClr val="tx1"/>
              </a:solidFill>
              <a:latin typeface="Aptos" charset="0"/>
              <a:ea typeface="Aptos" charset="0"/>
              <a:cs typeface="Aptos" charset="0"/>
            </a:endParaRPr>
          </a:p>
        </p:txBody>
      </p:sp>
      <p:cxnSp>
        <p:nvCxnSpPr>
          <p:cNvPr id="30" name="直线连接线"/>
          <p:cNvCxnSpPr>
            <a:cxnSpLocks/>
          </p:cNvCxnSpPr>
          <p:nvPr/>
        </p:nvCxnSpPr>
        <p:spPr>
          <a:xfrm>
            <a:off x="5769698" y="1645599"/>
            <a:ext cx="10438" cy="4446739"/>
          </a:xfrm>
          <a:prstGeom prst="straightConnector1">
            <a:avLst/>
          </a:prstGeom>
          <a:noFill/>
          <a:ln w="28575" cap="flat" cmpd="sng">
            <a:solidFill>
              <a:srgbClr val="000000"/>
            </a:solidFill>
            <a:prstDash val="solid"/>
            <a:round/>
          </a:ln>
        </p:spPr>
      </p:cxnSp>
      <p:sp>
        <p:nvSpPr>
          <p:cNvPr id="31" name="Retângulo"/>
          <p:cNvSpPr>
            <a:spLocks/>
          </p:cNvSpPr>
          <p:nvPr/>
        </p:nvSpPr>
        <p:spPr>
          <a:xfrm>
            <a:off x="6041774" y="1647226"/>
            <a:ext cx="5405250" cy="14249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Font typeface="Droid Sans" charset="0"/>
              <a:buChar char="●"/>
            </a:pPr>
            <a:r>
              <a:rPr lang="en-US" altLang="zh-CN" sz="1800" b="0" i="0" u="none" strike="noStrike" kern="1200" cap="none" spc="0" baseline="0">
                <a:solidFill>
                  <a:schemeClr val="tx1"/>
                </a:solidFill>
                <a:latin typeface="Aptos" charset="0"/>
                <a:ea typeface="等线" charset="0"/>
                <a:cs typeface="Aptos" charset="0"/>
              </a:rPr>
              <a:t> Além disso, foi identificado que um grupo de componentes compartilha uma taxa de falha semelhante, resultando em um MTBF de 74.558 horas (aproximadamente 8,5 anos) e 13,41 falhas por milhão de horas.</a:t>
            </a:r>
            <a:endParaRPr lang="zh-CN" altLang="en-US" sz="1800" b="0" i="0" u="none" strike="noStrike" kern="1200" cap="none" spc="0" baseline="0">
              <a:solidFill>
                <a:schemeClr val="tx1"/>
              </a:solidFill>
              <a:latin typeface="Aptos" charset="0"/>
              <a:ea typeface="等线" charset="0"/>
              <a:cs typeface="Droid Sans" charset="0"/>
            </a:endParaRPr>
          </a:p>
        </p:txBody>
      </p:sp>
      <p:sp>
        <p:nvSpPr>
          <p:cNvPr id="121" name="Caixa de texto"/>
          <p:cNvSpPr txBox="1">
            <a:spLocks/>
          </p:cNvSpPr>
          <p:nvPr/>
        </p:nvSpPr>
        <p:spPr>
          <a:xfrm>
            <a:off x="247646" y="3952814"/>
            <a:ext cx="5049318" cy="16916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Font typeface="Droid Sans" charset="0"/>
              <a:buChar char="●"/>
            </a:pPr>
            <a:r>
              <a:rPr lang="en-US" altLang="zh-CN" sz="1800" b="0" i="0" u="none" strike="noStrike" kern="1200" cap="none" spc="0" baseline="0">
                <a:solidFill>
                  <a:schemeClr val="tx1"/>
                </a:solidFill>
                <a:latin typeface="Droid Sans" charset="0"/>
                <a:ea typeface="宋体" charset="0"/>
                <a:cs typeface="Droid Sans" charset="0"/>
              </a:rPr>
              <a:t> Conjuntos de fixação dos batentes estriados superior e inferior, responsáveis pela conexão do eixo estriado ao tubo de torque, cuja confiabilidade registrada é extremamente elevada, com MTBF de 840.584.995 horas e taxa de falha próxima de zero.</a:t>
            </a:r>
            <a:endParaRPr lang="zh-CN" altLang="en-US" sz="1800" b="0" i="0" u="none" strike="noStrike" kern="1200" cap="none" spc="0" baseline="0">
              <a:solidFill>
                <a:schemeClr val="tx1"/>
              </a:solidFill>
              <a:latin typeface="Droid Sans" charset="0"/>
              <a:ea typeface="宋体" charset="0"/>
              <a:cs typeface="Lucida Sans" charset="0"/>
            </a:endParaRPr>
          </a:p>
        </p:txBody>
      </p:sp>
    </p:spTree>
    <p:extLst>
      <p:ext uri="{BB962C8B-B14F-4D97-AF65-F5344CB8AC3E}">
        <p14:creationId xmlns:p14="http://schemas.microsoft.com/office/powerpoint/2010/main" val="471841492"/>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Linha reta"/>
          <p:cNvSpPr>
            <a:spLocks/>
          </p:cNvSpPr>
          <p:nvPr/>
        </p:nvSpPr>
        <p:spPr>
          <a:xfrm flipV="1">
            <a:off x="252919" y="486960"/>
            <a:ext cx="8852170" cy="30053"/>
          </a:xfrm>
          <a:prstGeom prst="line">
            <a:avLst/>
          </a:prstGeom>
          <a:noFill/>
          <a:ln w="57150" cap="flat" cmpd="sng">
            <a:gradFill rotWithShape="1">
              <a:gsLst>
                <a:gs pos="42000">
                  <a:srgbClr val="B2CBFF">
                    <a:alpha val="84705"/>
                  </a:srgbClr>
                </a:gs>
                <a:gs pos="63000">
                  <a:srgbClr val="93B5FF">
                    <a:alpha val="100000"/>
                  </a:srgbClr>
                </a:gs>
                <a:gs pos="28000">
                  <a:srgbClr val="C7D9FF">
                    <a:alpha val="100000"/>
                  </a:srgbClr>
                </a:gs>
                <a:gs pos="0">
                  <a:srgbClr val="F0F8FD">
                    <a:alpha val="100000"/>
                  </a:srgbClr>
                </a:gs>
                <a:gs pos="74000">
                  <a:srgbClr val="74C4E9">
                    <a:alpha val="100000"/>
                  </a:srgbClr>
                </a:gs>
                <a:gs pos="83000">
                  <a:srgbClr val="74C4E9">
                    <a:alpha val="100000"/>
                  </a:srgbClr>
                </a:gs>
                <a:gs pos="100000">
                  <a:srgbClr val="A2D8F0">
                    <a:alpha val="100000"/>
                  </a:srgbClr>
                </a:gs>
              </a:gsLst>
              <a:lin ang="10800000" scaled="1"/>
            </a:gradFill>
            <a:prstDash val="solid"/>
            <a:miter/>
          </a:ln>
        </p:spPr>
        <p:txBody>
          <a:bodyPr/>
          <a:lstStyle/>
          <a:p>
            <a:endParaRPr lang="pt-BR"/>
          </a:p>
        </p:txBody>
      </p:sp>
      <p:sp>
        <p:nvSpPr>
          <p:cNvPr id="36" name="Retângulo"/>
          <p:cNvSpPr>
            <a:spLocks/>
          </p:cNvSpPr>
          <p:nvPr/>
        </p:nvSpPr>
        <p:spPr>
          <a:xfrm>
            <a:off x="252919" y="59194"/>
            <a:ext cx="1595025" cy="396875"/>
          </a:xfrm>
          <a:prstGeom prst="rect">
            <a:avLst/>
          </a:prstGeom>
          <a:noFill/>
          <a:ln w="12700" cap="flat" cmpd="sng">
            <a:noFill/>
            <a:prstDash val="solid"/>
            <a:miter/>
          </a:ln>
          <a:scene3d>
            <a:camera prst="legacyObliqueFront"/>
            <a:lightRig rig="legacyFlat4" dir="r"/>
          </a:scene3d>
          <a:sp3d prstMaterial="legacyMatte">
            <a:bevelT w="13500" h="13500" prst="angle"/>
            <a:bevelB w="13500" h="13500" prst="angle"/>
          </a:sp3d>
        </p:spPr>
        <p:txBody>
          <a:bodyPr vert="horz" wrap="square" lIns="50800" tIns="50800" rIns="50800" bIns="50800" anchor="ctr" anchorCtr="0">
            <a:prstTxWarp prst="textNoShape">
              <a:avLst/>
            </a:prstTxWarp>
            <a:spAutoFit/>
          </a:bodyPr>
          <a:lstStyle/>
          <a:p>
            <a:pPr marL="0" indent="0" algn="l" defTabSz="2438273" eaLnBrk="1" fontAlgn="auto" latinLnBrk="0" hangingPunct="0">
              <a:lnSpc>
                <a:spcPct val="100000"/>
              </a:lnSpc>
              <a:spcBef>
                <a:spcPts val="0"/>
              </a:spcBef>
              <a:spcAft>
                <a:spcPts val="0"/>
              </a:spcAft>
              <a:buNone/>
            </a:pPr>
            <a:r>
              <a:rPr lang="en-US" altLang="zh-CN" sz="2000" b="1" i="0" u="none" strike="noStrike" kern="1200" cap="none" spc="0" baseline="0">
                <a:solidFill>
                  <a:srgbClr val="0070C0"/>
                </a:solidFill>
                <a:latin typeface="Arial" pitchFamily="34" charset="0"/>
                <a:ea typeface="等线" charset="0"/>
                <a:cs typeface="Arial" pitchFamily="34" charset="0"/>
                <a:sym typeface="Helvetica Neue" charset="0"/>
              </a:rPr>
              <a:t>Capítulo 11</a:t>
            </a:r>
            <a:endParaRPr lang="zh-CN" altLang="en-US" sz="2000" b="1" i="0" u="none" strike="noStrike" kern="1200" cap="none" spc="0" baseline="0">
              <a:solidFill>
                <a:srgbClr val="0070C0"/>
              </a:solidFill>
              <a:latin typeface="Arial" pitchFamily="34" charset="0"/>
              <a:ea typeface="等线" charset="0"/>
              <a:cs typeface="Arial" pitchFamily="34" charset="0"/>
              <a:sym typeface="Helvetica Neue" charset="0"/>
            </a:endParaRPr>
          </a:p>
        </p:txBody>
      </p:sp>
      <p:sp>
        <p:nvSpPr>
          <p:cNvPr id="37" name="Retângulo"/>
          <p:cNvSpPr>
            <a:spLocks/>
          </p:cNvSpPr>
          <p:nvPr/>
        </p:nvSpPr>
        <p:spPr>
          <a:xfrm>
            <a:off x="204278" y="564779"/>
            <a:ext cx="5003673" cy="300990"/>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400" b="0" i="0" u="sng" strike="noStrike" kern="1200" cap="none" spc="0" baseline="0">
                <a:solidFill>
                  <a:srgbClr val="0070C0"/>
                </a:solidFill>
                <a:latin typeface="Arial" pitchFamily="34" charset="0"/>
                <a:ea typeface="等线" charset="0"/>
                <a:cs typeface="Arial" pitchFamily="34" charset="0"/>
              </a:rPr>
              <a:t>Slide 11.3 – Extensão de Intervalos de Manutenção Periódica</a:t>
            </a:r>
            <a:endParaRPr lang="zh-CN" altLang="en-US" sz="1400" b="0" i="0" u="sng" strike="noStrike" kern="1200" cap="none" spc="0" baseline="0">
              <a:solidFill>
                <a:srgbClr val="0070C0"/>
              </a:solidFill>
              <a:latin typeface="Arial" pitchFamily="34" charset="0"/>
              <a:ea typeface="等线" charset="0"/>
              <a:cs typeface="Arial" pitchFamily="34" charset="0"/>
            </a:endParaRPr>
          </a:p>
        </p:txBody>
      </p:sp>
      <p:sp>
        <p:nvSpPr>
          <p:cNvPr id="38" name="Retângulo"/>
          <p:cNvSpPr>
            <a:spLocks/>
          </p:cNvSpPr>
          <p:nvPr/>
        </p:nvSpPr>
        <p:spPr>
          <a:xfrm>
            <a:off x="10364949" y="0"/>
            <a:ext cx="1766236" cy="6248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ctr" eaLnBrk="1" fontAlgn="auto" latinLnBrk="0" hangingPunct="1">
              <a:lnSpc>
                <a:spcPct val="100000"/>
              </a:lnSpc>
              <a:spcBef>
                <a:spcPts val="0"/>
              </a:spcBef>
              <a:spcAft>
                <a:spcPts val="0"/>
              </a:spcAft>
              <a:buNone/>
            </a:pPr>
            <a:r>
              <a:rPr lang="en-US" altLang="zh-CN" sz="1800" b="0" i="0" u="sng" strike="noStrike" kern="1200" cap="none" spc="0" baseline="0">
                <a:solidFill>
                  <a:srgbClr val="0070C0"/>
                </a:solidFill>
                <a:latin typeface="Aptos" charset="0"/>
                <a:ea typeface="等线" charset="0"/>
                <a:cs typeface="Droid Sans" charset="0"/>
              </a:rPr>
              <a:t>Resp.:Jhonata</a:t>
            </a:r>
          </a:p>
          <a:p>
            <a:pPr marL="0" indent="0" algn="ctr">
              <a:lnSpc>
                <a:spcPct val="100000"/>
              </a:lnSpc>
              <a:spcBef>
                <a:spcPts val="0"/>
              </a:spcBef>
              <a:spcAft>
                <a:spcPts val="0"/>
              </a:spcAft>
              <a:buNone/>
            </a:pPr>
            <a:endParaRPr lang="zh-CN" altLang="en-US" sz="1800" b="0" i="0" u="none" strike="noStrike" kern="1200" cap="none" spc="0" baseline="0">
              <a:solidFill>
                <a:schemeClr val="tx1"/>
              </a:solidFill>
              <a:latin typeface="Aptos" charset="0"/>
              <a:ea typeface="等线" charset="0"/>
              <a:cs typeface="Droid Sans" charset="0"/>
            </a:endParaRPr>
          </a:p>
        </p:txBody>
      </p:sp>
      <p:sp>
        <p:nvSpPr>
          <p:cNvPr id="39" name="Retângulo"/>
          <p:cNvSpPr>
            <a:spLocks/>
          </p:cNvSpPr>
          <p:nvPr/>
        </p:nvSpPr>
        <p:spPr>
          <a:xfrm>
            <a:off x="1695516" y="110489"/>
            <a:ext cx="8669433" cy="30099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400" b="0" i="0" u="none" strike="noStrike" kern="1200" cap="none" spc="0" baseline="0">
                <a:solidFill>
                  <a:srgbClr val="0070C0"/>
                </a:solidFill>
                <a:latin typeface="Arial" pitchFamily="34" charset="0"/>
                <a:ea typeface="等线" charset="0"/>
                <a:cs typeface="Arial" pitchFamily="34" charset="0"/>
              </a:rPr>
              <a:t>Desenvolva Monitoramento da Frota em Serviço</a:t>
            </a:r>
            <a:endParaRPr lang="zh-CN" altLang="en-US" sz="1400" b="0" i="0" u="none" strike="noStrike" kern="1200" cap="none" spc="0" baseline="0">
              <a:solidFill>
                <a:srgbClr val="0070C0"/>
              </a:solidFill>
              <a:latin typeface="Arial" pitchFamily="34" charset="0"/>
              <a:ea typeface="等线" charset="0"/>
              <a:cs typeface="Arial" pitchFamily="34" charset="0"/>
            </a:endParaRPr>
          </a:p>
        </p:txBody>
      </p:sp>
      <p:pic>
        <p:nvPicPr>
          <p:cNvPr id="40" name="Imagem" descr="Placa vermelha com letras brancas&#10;&#10;Descrição gerada automaticamente com confiança baixa"/>
          <p:cNvPicPr>
            <a:picLocks noChangeAspect="1"/>
          </p:cNvPicPr>
          <p:nvPr/>
        </p:nvPicPr>
        <p:blipFill>
          <a:blip r:embed="rId3" cstate="print"/>
          <a:stretch>
            <a:fillRect/>
          </a:stretch>
        </p:blipFill>
        <p:spPr>
          <a:xfrm>
            <a:off x="10682496" y="6023665"/>
            <a:ext cx="1428750" cy="685800"/>
          </a:xfrm>
          <a:prstGeom prst="rect">
            <a:avLst/>
          </a:prstGeom>
          <a:noFill/>
          <a:ln w="12700" cap="flat" cmpd="sng">
            <a:noFill/>
            <a:prstDash val="solid"/>
            <a:miter/>
          </a:ln>
        </p:spPr>
      </p:pic>
      <p:sp>
        <p:nvSpPr>
          <p:cNvPr id="41" name="Retângulo"/>
          <p:cNvSpPr>
            <a:spLocks/>
          </p:cNvSpPr>
          <p:nvPr/>
        </p:nvSpPr>
        <p:spPr>
          <a:xfrm>
            <a:off x="3944787" y="1694709"/>
            <a:ext cx="3922143" cy="358138"/>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just">
              <a:lnSpc>
                <a:spcPct val="100000"/>
              </a:lnSpc>
              <a:spcBef>
                <a:spcPts val="0"/>
              </a:spcBef>
              <a:spcAft>
                <a:spcPts val="0"/>
              </a:spcAft>
              <a:buNone/>
            </a:pPr>
            <a:r>
              <a:rPr lang="en-US" altLang="zh-CN" sz="1800" b="0" i="0" u="none" strike="noStrike" kern="1200" cap="none" spc="0" baseline="0">
                <a:solidFill>
                  <a:schemeClr val="tx1"/>
                </a:solidFill>
                <a:latin typeface="Aptos" charset="0"/>
                <a:ea typeface="Aptos" charset="0"/>
                <a:cs typeface="Aptos" charset="0"/>
              </a:rPr>
              <a:t>            </a:t>
            </a:r>
            <a:endParaRPr lang="zh-CN" altLang="en-US" sz="1800" b="0" i="0" u="none" strike="noStrike" kern="1200" cap="none" spc="0" baseline="0">
              <a:solidFill>
                <a:schemeClr val="tx1"/>
              </a:solidFill>
              <a:latin typeface="Aptos" charset="0"/>
              <a:ea typeface="等线" charset="0"/>
              <a:cs typeface="Droid Sans" charset="0"/>
            </a:endParaRPr>
          </a:p>
        </p:txBody>
      </p:sp>
      <p:sp>
        <p:nvSpPr>
          <p:cNvPr id="42" name="Retângulo"/>
          <p:cNvSpPr>
            <a:spLocks/>
          </p:cNvSpPr>
          <p:nvPr/>
        </p:nvSpPr>
        <p:spPr>
          <a:xfrm>
            <a:off x="1131360" y="1885140"/>
            <a:ext cx="6006860" cy="358138"/>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just">
              <a:lnSpc>
                <a:spcPct val="100000"/>
              </a:lnSpc>
              <a:spcBef>
                <a:spcPts val="0"/>
              </a:spcBef>
              <a:spcAft>
                <a:spcPts val="0"/>
              </a:spcAft>
              <a:buNone/>
            </a:pPr>
            <a:r>
              <a:rPr lang="zh-CN" altLang="en-US" sz="1800" b="0" i="0" u="none" strike="noStrike" kern="1200" cap="none" spc="0" baseline="0">
                <a:solidFill>
                  <a:schemeClr val="tx1"/>
                </a:solidFill>
                <a:latin typeface="Aptos" charset="0"/>
                <a:ea typeface="Aptos" charset="0"/>
                <a:cs typeface="Aptos" charset="0"/>
              </a:rPr>
              <a:t> </a:t>
            </a:r>
            <a:endParaRPr lang="zh-CN" altLang="en-US" sz="1600" b="1" i="0" u="none" strike="noStrike" kern="1200" cap="none" spc="0" baseline="0">
              <a:solidFill>
                <a:schemeClr val="tx1"/>
              </a:solidFill>
              <a:latin typeface="Aptos" charset="0"/>
              <a:ea typeface="等线" charset="0"/>
              <a:cs typeface="Droid Sans" charset="0"/>
            </a:endParaRPr>
          </a:p>
        </p:txBody>
      </p:sp>
      <p:sp>
        <p:nvSpPr>
          <p:cNvPr id="43" name="Retângulo"/>
          <p:cNvSpPr>
            <a:spLocks/>
          </p:cNvSpPr>
          <p:nvPr/>
        </p:nvSpPr>
        <p:spPr>
          <a:xfrm>
            <a:off x="187853" y="966615"/>
            <a:ext cx="5426366" cy="54254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just">
              <a:lnSpc>
                <a:spcPct val="100000"/>
              </a:lnSpc>
              <a:spcBef>
                <a:spcPts val="0"/>
              </a:spcBef>
              <a:spcAft>
                <a:spcPts val="0"/>
              </a:spcAft>
              <a:buNone/>
            </a:pPr>
            <a:r>
              <a:rPr lang="en-US" altLang="zh-CN" sz="1800" b="0" i="0" u="none" strike="noStrike" kern="1200" cap="none" spc="0" baseline="0">
                <a:solidFill>
                  <a:schemeClr val="tx1"/>
                </a:solidFill>
                <a:latin typeface="Aptos" charset="0"/>
                <a:ea typeface="等线" charset="0"/>
                <a:cs typeface="Aptos" charset="0"/>
              </a:rPr>
              <a:t>A Alaska Airlines ampliou os intervalos das tarefas de manutenção após migrar do sistema MSG-2 para o MSG-3, adotando uma abordagem mais orientada por confiabilidade e agrupamento de tarefas em pacotes maiores, como o Check C.</a:t>
            </a:r>
          </a:p>
          <a:p>
            <a:pPr marL="0" indent="0" algn="just">
              <a:lnSpc>
                <a:spcPct val="100000"/>
              </a:lnSpc>
              <a:spcBef>
                <a:spcPts val="0"/>
              </a:spcBef>
              <a:spcAft>
                <a:spcPts val="0"/>
              </a:spcAft>
              <a:buNone/>
            </a:pPr>
            <a:r>
              <a:rPr lang="en-US" altLang="zh-CN" sz="1800" b="0" i="0" u="none" strike="noStrike" kern="1200" cap="none" spc="0" baseline="0">
                <a:solidFill>
                  <a:schemeClr val="tx1"/>
                </a:solidFill>
                <a:latin typeface="Aptos" charset="0"/>
                <a:ea typeface="等线" charset="0"/>
                <a:cs typeface="Aptos" charset="0"/>
              </a:rPr>
              <a:t>Com essa mudança, inspeções que antes eram realizadas com maior frequência passaram a ocorrer em períodos mais longos — por exemplo, lubrificações passaram a seguir intervalos de 3.600 horas ou 15 meses, enquanto a verificação de folgas no eixo era feita a cada dois Checks C (7.200 horas).</a:t>
            </a:r>
          </a:p>
          <a:p>
            <a:pPr marL="0" indent="0" algn="just">
              <a:lnSpc>
                <a:spcPct val="100000"/>
              </a:lnSpc>
              <a:spcBef>
                <a:spcPts val="0"/>
              </a:spcBef>
              <a:spcAft>
                <a:spcPts val="0"/>
              </a:spcAft>
              <a:buNone/>
            </a:pPr>
            <a:endParaRPr lang="en-US" altLang="zh-CN" sz="1800" b="0" i="0" u="none" strike="noStrike" kern="1200" cap="none" spc="0" baseline="0">
              <a:solidFill>
                <a:schemeClr val="tx1"/>
              </a:solidFill>
              <a:latin typeface="Aptos" charset="0"/>
              <a:ea typeface="等线" charset="0"/>
              <a:cs typeface="Aptos" charset="0"/>
            </a:endParaRPr>
          </a:p>
          <a:p>
            <a:pPr marL="0" indent="0" algn="just">
              <a:lnSpc>
                <a:spcPct val="100000"/>
              </a:lnSpc>
              <a:spcBef>
                <a:spcPts val="0"/>
              </a:spcBef>
              <a:spcAft>
                <a:spcPts val="0"/>
              </a:spcAft>
              <a:buNone/>
            </a:pPr>
            <a:r>
              <a:rPr lang="en-US" altLang="zh-CN" sz="1800" b="0" i="0" u="none" strike="noStrike" kern="1200" cap="none" spc="0" baseline="0">
                <a:solidFill>
                  <a:schemeClr val="tx1"/>
                </a:solidFill>
                <a:latin typeface="Aptos" charset="0"/>
                <a:ea typeface="等线" charset="0"/>
                <a:cs typeface="Aptos" charset="0"/>
              </a:rPr>
              <a:t>Entretanto, essas ampliações não foram fundamentadas em análises individuais de cada tarefa. O próprio presidente do MRB do MD-80 relatou que as decisões foram tomadas com base em dados gerais e que a extensão dos intervalos foi tratada como parte de um pacote, sem avaliação específica dos impactos de cada atividade.</a:t>
            </a:r>
            <a:endParaRPr lang="zh-CN" altLang="en-US" sz="1800" b="0" i="0" u="none" strike="noStrike" kern="1200" cap="none" spc="0" baseline="0">
              <a:solidFill>
                <a:schemeClr val="tx1"/>
              </a:solidFill>
              <a:latin typeface="Aptos" charset="0"/>
              <a:ea typeface="等线" charset="0"/>
              <a:cs typeface="Droid Sans" charset="0"/>
            </a:endParaRPr>
          </a:p>
        </p:txBody>
      </p:sp>
      <p:pic>
        <p:nvPicPr>
          <p:cNvPr id="44" name="Imagem" descr="Air Crash Investigation: Cutting Corners (Alaska Airlines Flight 261 ..."/>
          <p:cNvPicPr>
            <a:picLocks noChangeAspect="1"/>
          </p:cNvPicPr>
          <p:nvPr/>
        </p:nvPicPr>
        <p:blipFill>
          <a:blip r:embed="rId4" cstate="print"/>
          <a:stretch>
            <a:fillRect/>
          </a:stretch>
        </p:blipFill>
        <p:spPr>
          <a:xfrm>
            <a:off x="5713251" y="1761932"/>
            <a:ext cx="6292645" cy="3539613"/>
          </a:xfrm>
          <a:prstGeom prst="rect">
            <a:avLst/>
          </a:prstGeom>
          <a:noFill/>
          <a:ln w="38100" cap="sq" cmpd="sng">
            <a:solidFill>
              <a:srgbClr val="000000"/>
            </a:solidFill>
            <a:prstDash val="solid"/>
            <a:miter/>
          </a:ln>
          <a:effectLst>
            <a:outerShdw blurRad="50800" dist="38100" dir="2700000" algn="tl" rotWithShape="0">
              <a:srgbClr val="000000">
                <a:alpha val="42745"/>
              </a:srgbClr>
            </a:outerShdw>
          </a:effectLst>
        </p:spPr>
      </p:pic>
    </p:spTree>
    <p:extLst>
      <p:ext uri="{BB962C8B-B14F-4D97-AF65-F5344CB8AC3E}">
        <p14:creationId xmlns:p14="http://schemas.microsoft.com/office/powerpoint/2010/main" val="2057249529"/>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Linha reta"/>
          <p:cNvSpPr>
            <a:spLocks/>
          </p:cNvSpPr>
          <p:nvPr/>
        </p:nvSpPr>
        <p:spPr>
          <a:xfrm flipV="1">
            <a:off x="200217" y="446442"/>
            <a:ext cx="8852170" cy="30053"/>
          </a:xfrm>
          <a:prstGeom prst="line">
            <a:avLst/>
          </a:prstGeom>
          <a:noFill/>
          <a:ln w="57150" cap="flat" cmpd="sng">
            <a:gradFill rotWithShape="1">
              <a:gsLst>
                <a:gs pos="42000">
                  <a:srgbClr val="B2CBFF">
                    <a:alpha val="84705"/>
                  </a:srgbClr>
                </a:gs>
                <a:gs pos="63000">
                  <a:srgbClr val="93B5FF">
                    <a:alpha val="100000"/>
                  </a:srgbClr>
                </a:gs>
                <a:gs pos="28000">
                  <a:srgbClr val="C7D9FF">
                    <a:alpha val="100000"/>
                  </a:srgbClr>
                </a:gs>
                <a:gs pos="0">
                  <a:srgbClr val="F0F8FD">
                    <a:alpha val="100000"/>
                  </a:srgbClr>
                </a:gs>
                <a:gs pos="74000">
                  <a:srgbClr val="74C4E9">
                    <a:alpha val="100000"/>
                  </a:srgbClr>
                </a:gs>
                <a:gs pos="83000">
                  <a:srgbClr val="74C4E9">
                    <a:alpha val="100000"/>
                  </a:srgbClr>
                </a:gs>
                <a:gs pos="100000">
                  <a:srgbClr val="A2D8F0">
                    <a:alpha val="100000"/>
                  </a:srgbClr>
                </a:gs>
              </a:gsLst>
              <a:lin ang="10800000" scaled="1"/>
            </a:gradFill>
            <a:prstDash val="solid"/>
            <a:miter/>
          </a:ln>
        </p:spPr>
        <p:txBody>
          <a:bodyPr/>
          <a:lstStyle/>
          <a:p>
            <a:endParaRPr lang="pt-BR"/>
          </a:p>
        </p:txBody>
      </p:sp>
      <p:sp>
        <p:nvSpPr>
          <p:cNvPr id="49" name="Retângulo"/>
          <p:cNvSpPr>
            <a:spLocks/>
          </p:cNvSpPr>
          <p:nvPr/>
        </p:nvSpPr>
        <p:spPr>
          <a:xfrm>
            <a:off x="252919" y="59194"/>
            <a:ext cx="1595025" cy="396875"/>
          </a:xfrm>
          <a:prstGeom prst="rect">
            <a:avLst/>
          </a:prstGeom>
          <a:noFill/>
          <a:ln w="12700" cap="flat" cmpd="sng">
            <a:noFill/>
            <a:prstDash val="solid"/>
            <a:miter/>
          </a:ln>
          <a:scene3d>
            <a:camera prst="legacyObliqueFront"/>
            <a:lightRig rig="legacyFlat4" dir="r"/>
          </a:scene3d>
          <a:sp3d prstMaterial="legacyMatte">
            <a:bevelT w="13500" h="13500" prst="angle"/>
            <a:bevelB w="13500" h="13500" prst="angle"/>
          </a:sp3d>
        </p:spPr>
        <p:txBody>
          <a:bodyPr vert="horz" wrap="square" lIns="50800" tIns="50800" rIns="50800" bIns="50800" anchor="ctr" anchorCtr="0">
            <a:prstTxWarp prst="textNoShape">
              <a:avLst/>
            </a:prstTxWarp>
            <a:spAutoFit/>
          </a:bodyPr>
          <a:lstStyle/>
          <a:p>
            <a:pPr marL="0" indent="0" algn="l" defTabSz="2438273" eaLnBrk="1" fontAlgn="auto" latinLnBrk="0" hangingPunct="0">
              <a:lnSpc>
                <a:spcPct val="100000"/>
              </a:lnSpc>
              <a:spcBef>
                <a:spcPts val="0"/>
              </a:spcBef>
              <a:spcAft>
                <a:spcPts val="0"/>
              </a:spcAft>
              <a:buNone/>
            </a:pPr>
            <a:r>
              <a:rPr lang="en-US" altLang="zh-CN" sz="2000" b="1" i="0" u="none" strike="noStrike" kern="1200" cap="none" spc="0" baseline="0">
                <a:solidFill>
                  <a:srgbClr val="0070C0"/>
                </a:solidFill>
                <a:latin typeface="Arial" pitchFamily="34" charset="0"/>
                <a:ea typeface="等线" charset="0"/>
                <a:cs typeface="Arial" pitchFamily="34" charset="0"/>
                <a:sym typeface="Helvetica Neue" charset="0"/>
              </a:rPr>
              <a:t>Capítulo 11</a:t>
            </a:r>
            <a:endParaRPr lang="zh-CN" altLang="en-US" sz="2000" b="1" i="0" u="none" strike="noStrike" kern="1200" cap="none" spc="0" baseline="0">
              <a:solidFill>
                <a:srgbClr val="0070C0"/>
              </a:solidFill>
              <a:latin typeface="Arial" pitchFamily="34" charset="0"/>
              <a:ea typeface="等线" charset="0"/>
              <a:cs typeface="Arial" pitchFamily="34" charset="0"/>
              <a:sym typeface="Helvetica Neue" charset="0"/>
            </a:endParaRPr>
          </a:p>
        </p:txBody>
      </p:sp>
      <p:sp>
        <p:nvSpPr>
          <p:cNvPr id="50" name="Retângulo"/>
          <p:cNvSpPr>
            <a:spLocks/>
          </p:cNvSpPr>
          <p:nvPr/>
        </p:nvSpPr>
        <p:spPr>
          <a:xfrm>
            <a:off x="204278" y="564779"/>
            <a:ext cx="5149469" cy="300990"/>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400" b="0" i="0" u="sng" strike="noStrike" kern="1200" cap="none" spc="0" baseline="0">
                <a:solidFill>
                  <a:srgbClr val="0070C0"/>
                </a:solidFill>
                <a:latin typeface="Arial" pitchFamily="34" charset="0"/>
                <a:ea typeface="等线" charset="0"/>
                <a:cs typeface="Arial" pitchFamily="34" charset="0"/>
              </a:rPr>
              <a:t>Slide 11.3.1 – Extensão de Intervalos de Manutenção Periódica</a:t>
            </a:r>
            <a:endParaRPr lang="zh-CN" altLang="en-US" sz="1400" b="0" i="0" u="sng" strike="noStrike" kern="1200" cap="none" spc="0" baseline="0">
              <a:solidFill>
                <a:srgbClr val="0070C0"/>
              </a:solidFill>
              <a:latin typeface="Arial" pitchFamily="34" charset="0"/>
              <a:ea typeface="等线" charset="0"/>
              <a:cs typeface="Arial" pitchFamily="34" charset="0"/>
            </a:endParaRPr>
          </a:p>
        </p:txBody>
      </p:sp>
      <p:sp>
        <p:nvSpPr>
          <p:cNvPr id="51" name="Retângulo"/>
          <p:cNvSpPr>
            <a:spLocks/>
          </p:cNvSpPr>
          <p:nvPr/>
        </p:nvSpPr>
        <p:spPr>
          <a:xfrm>
            <a:off x="10364949" y="0"/>
            <a:ext cx="1766236" cy="6248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ctr" eaLnBrk="1" fontAlgn="auto" latinLnBrk="0" hangingPunct="1">
              <a:lnSpc>
                <a:spcPct val="100000"/>
              </a:lnSpc>
              <a:spcBef>
                <a:spcPts val="0"/>
              </a:spcBef>
              <a:spcAft>
                <a:spcPts val="0"/>
              </a:spcAft>
              <a:buNone/>
            </a:pPr>
            <a:r>
              <a:rPr lang="en-US" altLang="zh-CN" sz="1800" b="0" i="0" u="sng" strike="noStrike" kern="1200" cap="none" spc="0" baseline="0">
                <a:solidFill>
                  <a:srgbClr val="0070C0"/>
                </a:solidFill>
                <a:latin typeface="Aptos" charset="0"/>
                <a:ea typeface="等线" charset="0"/>
                <a:cs typeface="Droid Sans" charset="0"/>
              </a:rPr>
              <a:t>Resp.:Jhonata</a:t>
            </a:r>
          </a:p>
          <a:p>
            <a:pPr marL="0" indent="0" algn="just">
              <a:lnSpc>
                <a:spcPct val="100000"/>
              </a:lnSpc>
              <a:spcBef>
                <a:spcPts val="0"/>
              </a:spcBef>
              <a:spcAft>
                <a:spcPts val="0"/>
              </a:spcAft>
              <a:buNone/>
            </a:pPr>
            <a:endParaRPr lang="zh-CN" altLang="en-US" sz="1800" b="0" i="0" u="none" strike="noStrike" kern="1200" cap="none" spc="0" baseline="0">
              <a:solidFill>
                <a:schemeClr val="tx1"/>
              </a:solidFill>
              <a:latin typeface="Aptos" charset="0"/>
              <a:ea typeface="等线" charset="0"/>
              <a:cs typeface="Droid Sans" charset="0"/>
            </a:endParaRPr>
          </a:p>
        </p:txBody>
      </p:sp>
      <p:sp>
        <p:nvSpPr>
          <p:cNvPr id="52" name="Retângulo"/>
          <p:cNvSpPr>
            <a:spLocks/>
          </p:cNvSpPr>
          <p:nvPr/>
        </p:nvSpPr>
        <p:spPr>
          <a:xfrm>
            <a:off x="1695516" y="110489"/>
            <a:ext cx="8669433" cy="30099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400" b="0" i="0" u="none" strike="noStrike" kern="1200" cap="none" spc="0" baseline="0">
                <a:solidFill>
                  <a:srgbClr val="0070C0"/>
                </a:solidFill>
                <a:latin typeface="Arial" pitchFamily="34" charset="0"/>
                <a:ea typeface="等线" charset="0"/>
                <a:cs typeface="Arial" pitchFamily="34" charset="0"/>
              </a:rPr>
              <a:t>Desenvolva Monitoramento da Frota em Serviço</a:t>
            </a:r>
            <a:endParaRPr lang="zh-CN" altLang="en-US" sz="1400" b="0" i="0" u="none" strike="noStrike" kern="1200" cap="none" spc="0" baseline="0">
              <a:solidFill>
                <a:srgbClr val="0070C0"/>
              </a:solidFill>
              <a:latin typeface="Arial" pitchFamily="34" charset="0"/>
              <a:ea typeface="等线" charset="0"/>
              <a:cs typeface="Arial" pitchFamily="34" charset="0"/>
            </a:endParaRPr>
          </a:p>
        </p:txBody>
      </p:sp>
      <p:pic>
        <p:nvPicPr>
          <p:cNvPr id="53" name="Imagem" descr="Placa vermelha com letras brancas&#10;&#10;Descrição gerada automaticamente com confiança baixa"/>
          <p:cNvPicPr>
            <a:picLocks noChangeAspect="1"/>
          </p:cNvPicPr>
          <p:nvPr/>
        </p:nvPicPr>
        <p:blipFill>
          <a:blip r:embed="rId3" cstate="print"/>
          <a:stretch>
            <a:fillRect/>
          </a:stretch>
        </p:blipFill>
        <p:spPr>
          <a:xfrm>
            <a:off x="10682496" y="6023665"/>
            <a:ext cx="1428750" cy="685800"/>
          </a:xfrm>
          <a:prstGeom prst="rect">
            <a:avLst/>
          </a:prstGeom>
          <a:noFill/>
          <a:ln w="12700" cap="flat" cmpd="sng">
            <a:noFill/>
            <a:prstDash val="solid"/>
            <a:miter/>
          </a:ln>
        </p:spPr>
      </p:pic>
      <p:sp>
        <p:nvSpPr>
          <p:cNvPr id="54" name="Retângulo"/>
          <p:cNvSpPr>
            <a:spLocks/>
          </p:cNvSpPr>
          <p:nvPr/>
        </p:nvSpPr>
        <p:spPr>
          <a:xfrm>
            <a:off x="3818155" y="1694709"/>
            <a:ext cx="3922143" cy="358138"/>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just">
              <a:lnSpc>
                <a:spcPct val="100000"/>
              </a:lnSpc>
              <a:spcBef>
                <a:spcPts val="0"/>
              </a:spcBef>
              <a:spcAft>
                <a:spcPts val="0"/>
              </a:spcAft>
              <a:buNone/>
            </a:pPr>
            <a:r>
              <a:rPr lang="en-US" altLang="zh-CN" sz="1800" b="0" i="0" u="none" strike="noStrike" kern="1200" cap="none" spc="0" baseline="0">
                <a:solidFill>
                  <a:schemeClr val="tx1"/>
                </a:solidFill>
                <a:latin typeface="Aptos" charset="0"/>
                <a:ea typeface="Aptos" charset="0"/>
                <a:cs typeface="Aptos" charset="0"/>
              </a:rPr>
              <a:t>            </a:t>
            </a:r>
            <a:endParaRPr lang="zh-CN" altLang="en-US" sz="1800" b="0" i="0" u="none" strike="noStrike" kern="1200" cap="none" spc="0" baseline="0">
              <a:solidFill>
                <a:schemeClr val="tx1"/>
              </a:solidFill>
              <a:latin typeface="Aptos" charset="0"/>
              <a:ea typeface="等线" charset="0"/>
              <a:cs typeface="Droid Sans" charset="0"/>
            </a:endParaRPr>
          </a:p>
        </p:txBody>
      </p:sp>
      <p:sp>
        <p:nvSpPr>
          <p:cNvPr id="55" name="Retângulo"/>
          <p:cNvSpPr>
            <a:spLocks/>
          </p:cNvSpPr>
          <p:nvPr/>
        </p:nvSpPr>
        <p:spPr>
          <a:xfrm>
            <a:off x="1131360" y="1885140"/>
            <a:ext cx="6006860" cy="358138"/>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just">
              <a:lnSpc>
                <a:spcPct val="100000"/>
              </a:lnSpc>
              <a:spcBef>
                <a:spcPts val="0"/>
              </a:spcBef>
              <a:spcAft>
                <a:spcPts val="0"/>
              </a:spcAft>
              <a:buNone/>
            </a:pPr>
            <a:r>
              <a:rPr lang="zh-CN" altLang="en-US" sz="1800" b="0" i="0" u="none" strike="noStrike" kern="1200" cap="none" spc="0" baseline="0">
                <a:solidFill>
                  <a:schemeClr val="tx1"/>
                </a:solidFill>
                <a:latin typeface="Aptos" charset="0"/>
                <a:ea typeface="Aptos" charset="0"/>
                <a:cs typeface="Aptos" charset="0"/>
              </a:rPr>
              <a:t> </a:t>
            </a:r>
            <a:endParaRPr lang="zh-CN" altLang="en-US" sz="1600" b="1" i="0" u="none" strike="noStrike" kern="1200" cap="none" spc="0" baseline="0">
              <a:solidFill>
                <a:schemeClr val="tx1"/>
              </a:solidFill>
              <a:latin typeface="Aptos" charset="0"/>
              <a:ea typeface="等线" charset="0"/>
              <a:cs typeface="Droid Sans" charset="0"/>
            </a:endParaRPr>
          </a:p>
        </p:txBody>
      </p:sp>
      <p:sp>
        <p:nvSpPr>
          <p:cNvPr id="56" name="Retângulo"/>
          <p:cNvSpPr>
            <a:spLocks/>
          </p:cNvSpPr>
          <p:nvPr/>
        </p:nvSpPr>
        <p:spPr>
          <a:xfrm>
            <a:off x="203756" y="1252032"/>
            <a:ext cx="5689304" cy="43586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just">
              <a:lnSpc>
                <a:spcPct val="100000"/>
              </a:lnSpc>
              <a:spcBef>
                <a:spcPts val="0"/>
              </a:spcBef>
              <a:spcAft>
                <a:spcPts val="0"/>
              </a:spcAft>
              <a:buNone/>
            </a:pPr>
            <a:r>
              <a:rPr lang="en-US" altLang="zh-CN" sz="1800" b="0" i="0" u="none" strike="noStrike" kern="1200" cap="none" spc="0" baseline="0">
                <a:solidFill>
                  <a:schemeClr val="tx1"/>
                </a:solidFill>
                <a:latin typeface="Aptos" charset="0"/>
                <a:ea typeface="等线" charset="0"/>
                <a:cs typeface="Aptos" charset="0"/>
              </a:rPr>
              <a:t>Também foi constatado que documentos antigos, que previam intervalos menores, não foram devidamente consultados no novo processo. A ausência de participação dos engenheiros de projeto da Boeing reforça que houve falhas significativas na revisão técnica. Essa falta de acompanhamento adequado contribuiu para que intervalos maiores fossem aprovados sem considerar fatores essenciais para a manutenção eficaz.</a:t>
            </a:r>
          </a:p>
          <a:p>
            <a:pPr marL="0" indent="0" algn="just">
              <a:lnSpc>
                <a:spcPct val="100000"/>
              </a:lnSpc>
              <a:spcBef>
                <a:spcPts val="0"/>
              </a:spcBef>
              <a:spcAft>
                <a:spcPts val="0"/>
              </a:spcAft>
              <a:buNone/>
            </a:pPr>
            <a:endParaRPr lang="en-US" altLang="zh-CN" sz="1800" b="0" i="0" u="none" strike="noStrike" kern="1200" cap="none" spc="0" baseline="0">
              <a:solidFill>
                <a:schemeClr val="tx1"/>
              </a:solidFill>
              <a:latin typeface="Aptos" charset="0"/>
              <a:ea typeface="等线" charset="0"/>
              <a:cs typeface="Aptos" charset="0"/>
            </a:endParaRPr>
          </a:p>
          <a:p>
            <a:pPr marL="0" indent="0" algn="just">
              <a:lnSpc>
                <a:spcPct val="100000"/>
              </a:lnSpc>
              <a:spcBef>
                <a:spcPts val="0"/>
              </a:spcBef>
              <a:spcAft>
                <a:spcPts val="0"/>
              </a:spcAft>
              <a:buNone/>
            </a:pPr>
            <a:r>
              <a:rPr lang="en-US" altLang="zh-CN" sz="1800" b="0" i="0" u="none" strike="noStrike" kern="1200" cap="none" spc="0" baseline="0">
                <a:solidFill>
                  <a:schemeClr val="tx1"/>
                </a:solidFill>
                <a:latin typeface="Aptos" charset="0"/>
                <a:ea typeface="等线" charset="0"/>
                <a:cs typeface="Aptos" charset="0"/>
              </a:rPr>
              <a:t>É importante destacar que, no monitoramento da frota, o caso da Alaska Airlines demonstra que tarefas como lubrificação e checagem de folga axial são indispensáveis para prevenir desgaste excessivo do sistema jackscrew/porca trapezoidal — componente diretamente relacionado ao acidente do voo 261.</a:t>
            </a:r>
            <a:endParaRPr lang="zh-CN" altLang="en-US" sz="1800" b="0" i="0" u="none" strike="noStrike" kern="1200" cap="none" spc="0" baseline="0">
              <a:solidFill>
                <a:schemeClr val="tx1"/>
              </a:solidFill>
              <a:latin typeface="Aptos" charset="0"/>
              <a:ea typeface="等线" charset="0"/>
              <a:cs typeface="Droid Sans" charset="0"/>
            </a:endParaRPr>
          </a:p>
        </p:txBody>
      </p:sp>
      <p:pic>
        <p:nvPicPr>
          <p:cNvPr id="57" name="Imagem" descr="Focus"/>
          <p:cNvPicPr>
            <a:picLocks noChangeAspect="1"/>
          </p:cNvPicPr>
          <p:nvPr/>
        </p:nvPicPr>
        <p:blipFill>
          <a:blip r:embed="rId4" cstate="print"/>
          <a:stretch>
            <a:fillRect/>
          </a:stretch>
        </p:blipFill>
        <p:spPr>
          <a:xfrm>
            <a:off x="5966122" y="1885142"/>
            <a:ext cx="6018567" cy="3385444"/>
          </a:xfrm>
          <a:prstGeom prst="rect">
            <a:avLst/>
          </a:prstGeom>
          <a:noFill/>
          <a:ln w="38100" cap="sq" cmpd="sng">
            <a:solidFill>
              <a:srgbClr val="000000"/>
            </a:solidFill>
            <a:prstDash val="solid"/>
            <a:miter/>
          </a:ln>
          <a:effectLst>
            <a:outerShdw blurRad="50800" dist="38100" dir="2700000" algn="tl" rotWithShape="0">
              <a:srgbClr val="000000">
                <a:alpha val="42745"/>
              </a:srgbClr>
            </a:outerShdw>
          </a:effectLst>
        </p:spPr>
      </p:pic>
    </p:spTree>
    <p:extLst>
      <p:ext uri="{BB962C8B-B14F-4D97-AF65-F5344CB8AC3E}">
        <p14:creationId xmlns:p14="http://schemas.microsoft.com/office/powerpoint/2010/main" val="978632249"/>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Linha reta"/>
          <p:cNvSpPr>
            <a:spLocks/>
          </p:cNvSpPr>
          <p:nvPr/>
        </p:nvSpPr>
        <p:spPr>
          <a:xfrm flipV="1">
            <a:off x="252919" y="486960"/>
            <a:ext cx="8852170" cy="30053"/>
          </a:xfrm>
          <a:prstGeom prst="line">
            <a:avLst/>
          </a:prstGeom>
          <a:noFill/>
          <a:ln w="57150" cap="flat" cmpd="sng">
            <a:gradFill rotWithShape="1">
              <a:gsLst>
                <a:gs pos="42000">
                  <a:srgbClr val="B2CBFF">
                    <a:alpha val="84705"/>
                  </a:srgbClr>
                </a:gs>
                <a:gs pos="63000">
                  <a:srgbClr val="93B5FF">
                    <a:alpha val="100000"/>
                  </a:srgbClr>
                </a:gs>
                <a:gs pos="28000">
                  <a:srgbClr val="C7D9FF">
                    <a:alpha val="100000"/>
                  </a:srgbClr>
                </a:gs>
                <a:gs pos="0">
                  <a:srgbClr val="F0F8FD">
                    <a:alpha val="100000"/>
                  </a:srgbClr>
                </a:gs>
                <a:gs pos="74000">
                  <a:srgbClr val="74C4E9">
                    <a:alpha val="100000"/>
                  </a:srgbClr>
                </a:gs>
                <a:gs pos="83000">
                  <a:srgbClr val="74C4E9">
                    <a:alpha val="100000"/>
                  </a:srgbClr>
                </a:gs>
                <a:gs pos="100000">
                  <a:srgbClr val="A2D8F0">
                    <a:alpha val="100000"/>
                  </a:srgbClr>
                </a:gs>
              </a:gsLst>
              <a:lin ang="10800000" scaled="1"/>
            </a:gradFill>
            <a:prstDash val="solid"/>
            <a:miter/>
          </a:ln>
        </p:spPr>
        <p:txBody>
          <a:bodyPr/>
          <a:lstStyle/>
          <a:p>
            <a:endParaRPr lang="pt-BR"/>
          </a:p>
        </p:txBody>
      </p:sp>
      <p:sp>
        <p:nvSpPr>
          <p:cNvPr id="62" name="Retângulo"/>
          <p:cNvSpPr>
            <a:spLocks/>
          </p:cNvSpPr>
          <p:nvPr/>
        </p:nvSpPr>
        <p:spPr>
          <a:xfrm>
            <a:off x="252919" y="59194"/>
            <a:ext cx="1595025" cy="396875"/>
          </a:xfrm>
          <a:prstGeom prst="rect">
            <a:avLst/>
          </a:prstGeom>
          <a:noFill/>
          <a:ln w="12700" cap="flat" cmpd="sng">
            <a:noFill/>
            <a:prstDash val="solid"/>
            <a:miter/>
          </a:ln>
          <a:scene3d>
            <a:camera prst="legacyObliqueFront"/>
            <a:lightRig rig="legacyFlat4" dir="r"/>
          </a:scene3d>
          <a:sp3d prstMaterial="legacyMatte">
            <a:bevelT w="13500" h="13500" prst="angle"/>
            <a:bevelB w="13500" h="13500" prst="angle"/>
          </a:sp3d>
        </p:spPr>
        <p:txBody>
          <a:bodyPr vert="horz" wrap="square" lIns="50800" tIns="50800" rIns="50800" bIns="50800" anchor="ctr" anchorCtr="0">
            <a:prstTxWarp prst="textNoShape">
              <a:avLst/>
            </a:prstTxWarp>
            <a:spAutoFit/>
          </a:bodyPr>
          <a:lstStyle/>
          <a:p>
            <a:pPr marL="0" indent="0" algn="l" defTabSz="2438273" eaLnBrk="1" fontAlgn="auto" latinLnBrk="0" hangingPunct="0">
              <a:lnSpc>
                <a:spcPct val="100000"/>
              </a:lnSpc>
              <a:spcBef>
                <a:spcPts val="0"/>
              </a:spcBef>
              <a:spcAft>
                <a:spcPts val="0"/>
              </a:spcAft>
              <a:buNone/>
            </a:pPr>
            <a:r>
              <a:rPr lang="en-US" altLang="zh-CN" sz="2000" b="1" i="0" u="none" strike="noStrike" kern="1200" cap="none" spc="0" baseline="0">
                <a:solidFill>
                  <a:srgbClr val="0070C0"/>
                </a:solidFill>
                <a:latin typeface="Arial" pitchFamily="34" charset="0"/>
                <a:ea typeface="等线" charset="0"/>
                <a:cs typeface="Arial" pitchFamily="34" charset="0"/>
                <a:sym typeface="Helvetica Neue" charset="0"/>
              </a:rPr>
              <a:t>Capítulo 11</a:t>
            </a:r>
            <a:endParaRPr lang="zh-CN" altLang="en-US" sz="2000" b="1" i="0" u="none" strike="noStrike" kern="1200" cap="none" spc="0" baseline="0">
              <a:solidFill>
                <a:srgbClr val="0070C0"/>
              </a:solidFill>
              <a:latin typeface="Arial" pitchFamily="34" charset="0"/>
              <a:ea typeface="等线" charset="0"/>
              <a:cs typeface="Arial" pitchFamily="34" charset="0"/>
              <a:sym typeface="Helvetica Neue" charset="0"/>
            </a:endParaRPr>
          </a:p>
        </p:txBody>
      </p:sp>
      <p:sp>
        <p:nvSpPr>
          <p:cNvPr id="63" name="Retângulo"/>
          <p:cNvSpPr>
            <a:spLocks/>
          </p:cNvSpPr>
          <p:nvPr/>
        </p:nvSpPr>
        <p:spPr>
          <a:xfrm>
            <a:off x="204278" y="564779"/>
            <a:ext cx="8719693" cy="300990"/>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400" b="0" i="0" u="sng" strike="noStrike" kern="1200" cap="none" spc="0" baseline="0">
                <a:solidFill>
                  <a:srgbClr val="0070C0"/>
                </a:solidFill>
                <a:latin typeface="Arial" pitchFamily="34" charset="0"/>
                <a:ea typeface="等线" charset="0"/>
                <a:cs typeface="Arial" pitchFamily="34" charset="0"/>
              </a:rPr>
              <a:t>Slide 11.4 – Discorra sobre a atuação da Alaska Airlines na extensão dos intervalos de lubrificação e Check C</a:t>
            </a:r>
            <a:endParaRPr lang="zh-CN" altLang="en-US" sz="1400" b="0" i="0" u="sng" strike="noStrike" kern="1200" cap="none" spc="0" baseline="0">
              <a:solidFill>
                <a:srgbClr val="0070C0"/>
              </a:solidFill>
              <a:latin typeface="Arial" pitchFamily="34" charset="0"/>
              <a:ea typeface="等线" charset="0"/>
              <a:cs typeface="Arial" pitchFamily="34" charset="0"/>
            </a:endParaRPr>
          </a:p>
        </p:txBody>
      </p:sp>
      <p:sp>
        <p:nvSpPr>
          <p:cNvPr id="64" name="Retângulo"/>
          <p:cNvSpPr>
            <a:spLocks/>
          </p:cNvSpPr>
          <p:nvPr/>
        </p:nvSpPr>
        <p:spPr>
          <a:xfrm>
            <a:off x="10364949" y="0"/>
            <a:ext cx="1766236" cy="6248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ctr" eaLnBrk="1" fontAlgn="auto" latinLnBrk="0" hangingPunct="1">
              <a:lnSpc>
                <a:spcPct val="100000"/>
              </a:lnSpc>
              <a:spcBef>
                <a:spcPts val="0"/>
              </a:spcBef>
              <a:spcAft>
                <a:spcPts val="0"/>
              </a:spcAft>
              <a:buNone/>
            </a:pPr>
            <a:r>
              <a:rPr lang="en-US" altLang="zh-CN" sz="1800" b="0" i="0" u="sng" strike="noStrike" kern="1200" cap="none" spc="0" baseline="0">
                <a:solidFill>
                  <a:srgbClr val="0070C0"/>
                </a:solidFill>
                <a:latin typeface="Aptos" charset="0"/>
                <a:ea typeface="等线" charset="0"/>
                <a:cs typeface="Droid Sans" charset="0"/>
              </a:rPr>
              <a:t>Resp.:Jhonata</a:t>
            </a:r>
          </a:p>
          <a:p>
            <a:pPr marL="0" indent="0" algn="just">
              <a:lnSpc>
                <a:spcPct val="100000"/>
              </a:lnSpc>
              <a:spcBef>
                <a:spcPts val="0"/>
              </a:spcBef>
              <a:spcAft>
                <a:spcPts val="0"/>
              </a:spcAft>
              <a:buNone/>
            </a:pPr>
            <a:endParaRPr lang="zh-CN" altLang="en-US" sz="1800" b="0" i="0" u="none" strike="noStrike" kern="1200" cap="none" spc="0" baseline="0">
              <a:solidFill>
                <a:schemeClr val="tx1"/>
              </a:solidFill>
              <a:latin typeface="Aptos" charset="0"/>
              <a:ea typeface="等线" charset="0"/>
              <a:cs typeface="Droid Sans" charset="0"/>
            </a:endParaRPr>
          </a:p>
        </p:txBody>
      </p:sp>
      <p:sp>
        <p:nvSpPr>
          <p:cNvPr id="65" name="Retângulo"/>
          <p:cNvSpPr>
            <a:spLocks/>
          </p:cNvSpPr>
          <p:nvPr/>
        </p:nvSpPr>
        <p:spPr>
          <a:xfrm>
            <a:off x="1695516" y="110439"/>
            <a:ext cx="8669433" cy="30099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400" b="0" i="0" u="none" strike="noStrike" kern="1200" cap="none" spc="0" baseline="0">
                <a:solidFill>
                  <a:srgbClr val="0070C0"/>
                </a:solidFill>
                <a:latin typeface="Arial" pitchFamily="34" charset="0"/>
                <a:ea typeface="等线" charset="0"/>
                <a:cs typeface="Arial" pitchFamily="34" charset="0"/>
              </a:rPr>
              <a:t>Desenvolva Monitoramento da Frota em Serviço</a:t>
            </a:r>
            <a:endParaRPr lang="zh-CN" altLang="en-US" sz="1400" b="0" i="0" u="none" strike="noStrike" kern="1200" cap="none" spc="0" baseline="0">
              <a:solidFill>
                <a:srgbClr val="0070C0"/>
              </a:solidFill>
              <a:latin typeface="Arial" pitchFamily="34" charset="0"/>
              <a:ea typeface="等线" charset="0"/>
              <a:cs typeface="Arial" pitchFamily="34" charset="0"/>
            </a:endParaRPr>
          </a:p>
        </p:txBody>
      </p:sp>
      <p:pic>
        <p:nvPicPr>
          <p:cNvPr id="66" name="Imagem" descr="Placa vermelha com letras brancas&#10;&#10;Descrição gerada automaticamente com confiança baixa"/>
          <p:cNvPicPr>
            <a:picLocks noChangeAspect="1"/>
          </p:cNvPicPr>
          <p:nvPr/>
        </p:nvPicPr>
        <p:blipFill>
          <a:blip r:embed="rId3" cstate="print"/>
          <a:stretch>
            <a:fillRect/>
          </a:stretch>
        </p:blipFill>
        <p:spPr>
          <a:xfrm>
            <a:off x="10682496" y="6023665"/>
            <a:ext cx="1428750" cy="685800"/>
          </a:xfrm>
          <a:prstGeom prst="rect">
            <a:avLst/>
          </a:prstGeom>
          <a:noFill/>
          <a:ln w="12700" cap="flat" cmpd="sng">
            <a:noFill/>
            <a:prstDash val="solid"/>
            <a:miter/>
          </a:ln>
        </p:spPr>
      </p:pic>
      <p:sp>
        <p:nvSpPr>
          <p:cNvPr id="67" name="Retângulo"/>
          <p:cNvSpPr>
            <a:spLocks/>
          </p:cNvSpPr>
          <p:nvPr/>
        </p:nvSpPr>
        <p:spPr>
          <a:xfrm>
            <a:off x="3818155" y="1694709"/>
            <a:ext cx="3922143" cy="358138"/>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just">
              <a:lnSpc>
                <a:spcPct val="100000"/>
              </a:lnSpc>
              <a:spcBef>
                <a:spcPts val="0"/>
              </a:spcBef>
              <a:spcAft>
                <a:spcPts val="0"/>
              </a:spcAft>
              <a:buNone/>
            </a:pPr>
            <a:r>
              <a:rPr lang="en-US" altLang="zh-CN" sz="1800" b="0" i="0" u="none" strike="noStrike" kern="1200" cap="none" spc="0" baseline="0">
                <a:solidFill>
                  <a:schemeClr val="tx1"/>
                </a:solidFill>
                <a:latin typeface="Aptos" charset="0"/>
                <a:ea typeface="Aptos" charset="0"/>
                <a:cs typeface="Aptos" charset="0"/>
              </a:rPr>
              <a:t>            </a:t>
            </a:r>
            <a:endParaRPr lang="zh-CN" altLang="en-US" sz="1800" b="0" i="0" u="none" strike="noStrike" kern="1200" cap="none" spc="0" baseline="0">
              <a:solidFill>
                <a:schemeClr val="tx1"/>
              </a:solidFill>
              <a:latin typeface="Aptos" charset="0"/>
              <a:ea typeface="等线" charset="0"/>
              <a:cs typeface="Droid Sans" charset="0"/>
            </a:endParaRPr>
          </a:p>
        </p:txBody>
      </p:sp>
      <p:sp>
        <p:nvSpPr>
          <p:cNvPr id="68" name="Retângulo"/>
          <p:cNvSpPr>
            <a:spLocks/>
          </p:cNvSpPr>
          <p:nvPr/>
        </p:nvSpPr>
        <p:spPr>
          <a:xfrm>
            <a:off x="1141192" y="1932653"/>
            <a:ext cx="6006860" cy="358138"/>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just">
              <a:lnSpc>
                <a:spcPct val="100000"/>
              </a:lnSpc>
              <a:spcBef>
                <a:spcPts val="0"/>
              </a:spcBef>
              <a:spcAft>
                <a:spcPts val="0"/>
              </a:spcAft>
              <a:buNone/>
            </a:pPr>
            <a:r>
              <a:rPr lang="zh-CN" altLang="en-US" sz="1800" b="0" i="0" u="none" strike="noStrike" kern="1200" cap="none" spc="0" baseline="0">
                <a:solidFill>
                  <a:schemeClr val="tx1"/>
                </a:solidFill>
                <a:latin typeface="Aptos" charset="0"/>
                <a:ea typeface="Aptos" charset="0"/>
                <a:cs typeface="Aptos" charset="0"/>
              </a:rPr>
              <a:t> </a:t>
            </a:r>
            <a:endParaRPr lang="zh-CN" altLang="en-US" sz="1600" b="1" i="0" u="none" strike="noStrike" kern="1200" cap="none" spc="0" baseline="0">
              <a:solidFill>
                <a:schemeClr val="tx1"/>
              </a:solidFill>
              <a:latin typeface="Aptos" charset="0"/>
              <a:ea typeface="等线" charset="0"/>
              <a:cs typeface="Droid Sans" charset="0"/>
            </a:endParaRPr>
          </a:p>
        </p:txBody>
      </p:sp>
      <p:sp>
        <p:nvSpPr>
          <p:cNvPr id="69" name="Retângulo"/>
          <p:cNvSpPr>
            <a:spLocks/>
          </p:cNvSpPr>
          <p:nvPr/>
        </p:nvSpPr>
        <p:spPr>
          <a:xfrm>
            <a:off x="367482" y="1019119"/>
            <a:ext cx="4841459" cy="46253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457200" algn="just">
              <a:lnSpc>
                <a:spcPct val="100000"/>
              </a:lnSpc>
              <a:spcBef>
                <a:spcPts val="0"/>
              </a:spcBef>
              <a:spcAft>
                <a:spcPts val="0"/>
              </a:spcAft>
              <a:buNone/>
            </a:pPr>
            <a:r>
              <a:rPr lang="en-US" altLang="zh-CN" sz="1800" b="0" i="0" u="none" strike="noStrike" kern="1200" cap="none" spc="0" baseline="0">
                <a:solidFill>
                  <a:schemeClr val="tx1"/>
                </a:solidFill>
                <a:latin typeface="Aptos" charset="0"/>
                <a:ea typeface="等线" charset="0"/>
                <a:cs typeface="Droid Sans" charset="0"/>
              </a:rPr>
              <a:t>Seguindo o MSG-2, a Alaska Airlines realizava lubrificações a cada dois Checks B (700 horas) em 1985. Em 1987, o intervalo passou para cada Check B (500 horas). Após a eliminação do Check B, o procedimento passou a ocorrer a cada oito Checks A, aumentando para 1.000 horas (1988), 1.200 horas (1991) e 1.600 horas (1994).</a:t>
            </a:r>
          </a:p>
          <a:p>
            <a:pPr marL="0" indent="457200" algn="just">
              <a:lnSpc>
                <a:spcPct val="100000"/>
              </a:lnSpc>
              <a:spcBef>
                <a:spcPts val="0"/>
              </a:spcBef>
              <a:spcAft>
                <a:spcPts val="0"/>
              </a:spcAft>
              <a:buNone/>
            </a:pPr>
            <a:endParaRPr lang="en-US" altLang="zh-CN" sz="1800" b="0" i="0" u="none" strike="noStrike" kern="1200" cap="none" spc="0" baseline="0">
              <a:solidFill>
                <a:schemeClr val="tx1"/>
              </a:solidFill>
              <a:latin typeface="Aptos" charset="0"/>
              <a:ea typeface="等线" charset="0"/>
              <a:cs typeface="Droid Sans" charset="0"/>
            </a:endParaRPr>
          </a:p>
          <a:p>
            <a:pPr marL="0" indent="457200" algn="just">
              <a:lnSpc>
                <a:spcPct val="100000"/>
              </a:lnSpc>
              <a:spcBef>
                <a:spcPts val="0"/>
              </a:spcBef>
              <a:spcAft>
                <a:spcPts val="0"/>
              </a:spcAft>
              <a:buNone/>
            </a:pPr>
            <a:r>
              <a:rPr lang="en-US" altLang="zh-CN" sz="1800" b="0" i="0" u="none" strike="noStrike" kern="1200" cap="none" spc="0" baseline="0">
                <a:solidFill>
                  <a:schemeClr val="tx1"/>
                </a:solidFill>
                <a:latin typeface="Aptos" charset="0"/>
                <a:ea typeface="等线" charset="0"/>
                <a:cs typeface="Droid Sans" charset="0"/>
              </a:rPr>
              <a:t>Em 1996, a tarefa deixou de fazer parte do Check A e passou a ser controlada por um cartão de manutenção baseado em tempo, com limite de 8 meses. A companhia justificou esse aumento utilizando o MSG-3, que previa lubrificação apenas no Check C. Assim, o intervalo passou a acompanhar exclusivamente o Check C.</a:t>
            </a:r>
            <a:endParaRPr lang="zh-CN" altLang="en-US" sz="1800" b="0" i="0" u="none" strike="noStrike" kern="1200" cap="none" spc="0" baseline="0">
              <a:solidFill>
                <a:schemeClr val="tx1"/>
              </a:solidFill>
              <a:latin typeface="Aptos" charset="0"/>
              <a:ea typeface="等线" charset="0"/>
              <a:cs typeface="Droid Sans" charset="0"/>
            </a:endParaRPr>
          </a:p>
        </p:txBody>
      </p:sp>
      <p:pic>
        <p:nvPicPr>
          <p:cNvPr id="70" name="Imagem"/>
          <p:cNvPicPr>
            <a:picLocks noChangeAspect="1"/>
          </p:cNvPicPr>
          <p:nvPr/>
        </p:nvPicPr>
        <p:blipFill>
          <a:blip r:embed="rId4" cstate="print"/>
          <a:stretch>
            <a:fillRect/>
          </a:stretch>
        </p:blipFill>
        <p:spPr>
          <a:xfrm>
            <a:off x="5269330" y="1121862"/>
            <a:ext cx="6780569" cy="2673482"/>
          </a:xfrm>
          <a:prstGeom prst="rect">
            <a:avLst/>
          </a:prstGeom>
          <a:noFill/>
          <a:ln w="12700" cap="flat" cmpd="sng">
            <a:noFill/>
            <a:prstDash val="solid"/>
            <a:miter/>
          </a:ln>
        </p:spPr>
      </p:pic>
      <p:sp>
        <p:nvSpPr>
          <p:cNvPr id="71" name="Retângulo"/>
          <p:cNvSpPr>
            <a:spLocks/>
          </p:cNvSpPr>
          <p:nvPr/>
        </p:nvSpPr>
        <p:spPr>
          <a:xfrm>
            <a:off x="5269330" y="4041223"/>
            <a:ext cx="6475769" cy="14249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just">
              <a:lnSpc>
                <a:spcPct val="100000"/>
              </a:lnSpc>
              <a:spcBef>
                <a:spcPts val="0"/>
              </a:spcBef>
              <a:spcAft>
                <a:spcPts val="0"/>
              </a:spcAft>
              <a:buFont typeface="Droid Sans" charset="0"/>
              <a:buChar char="●"/>
            </a:pPr>
            <a:r>
              <a:rPr lang="en-US" altLang="zh-CN" sz="1800" b="0" i="0" u="none" strike="noStrike" kern="1200" cap="none" spc="0" baseline="0">
                <a:solidFill>
                  <a:srgbClr val="000000"/>
                </a:solidFill>
                <a:latin typeface="Aptos" charset="0"/>
                <a:ea typeface="等线" charset="0"/>
                <a:cs typeface="Droid Sans" charset="0"/>
              </a:rPr>
              <a:t> Vale lembrar que os documentos originais da Douglas, como o Process Standard 3.17-49 (1964), recomendavam lubrificação entre 300 e 350 horas, enquanto versões posteriores indicavam 600–900 horas, demonstrando que os intervalos praticados eram muito superiores ao recomendado.</a:t>
            </a:r>
            <a:endParaRPr lang="zh-CN" altLang="en-US" sz="1800" b="0" i="0" u="none" strike="noStrike" kern="1200" cap="none" spc="0" baseline="0">
              <a:solidFill>
                <a:srgbClr val="000000"/>
              </a:solidFill>
              <a:latin typeface="Aptos" charset="0"/>
              <a:ea typeface="等线" charset="0"/>
              <a:cs typeface="Droid Sans" charset="0"/>
            </a:endParaRPr>
          </a:p>
        </p:txBody>
      </p:sp>
    </p:spTree>
    <p:extLst>
      <p:ext uri="{BB962C8B-B14F-4D97-AF65-F5344CB8AC3E}">
        <p14:creationId xmlns:p14="http://schemas.microsoft.com/office/powerpoint/2010/main" val="2028722808"/>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Linha reta"/>
          <p:cNvSpPr>
            <a:spLocks/>
          </p:cNvSpPr>
          <p:nvPr/>
        </p:nvSpPr>
        <p:spPr>
          <a:xfrm flipV="1">
            <a:off x="252919" y="486960"/>
            <a:ext cx="8852170" cy="30053"/>
          </a:xfrm>
          <a:prstGeom prst="line">
            <a:avLst/>
          </a:prstGeom>
          <a:noFill/>
          <a:ln w="57150" cap="flat" cmpd="sng">
            <a:gradFill rotWithShape="1">
              <a:gsLst>
                <a:gs pos="42000">
                  <a:srgbClr val="B2CBFF">
                    <a:alpha val="84705"/>
                  </a:srgbClr>
                </a:gs>
                <a:gs pos="63000">
                  <a:srgbClr val="93B5FF">
                    <a:alpha val="100000"/>
                  </a:srgbClr>
                </a:gs>
                <a:gs pos="28000">
                  <a:srgbClr val="C7D9FF">
                    <a:alpha val="100000"/>
                  </a:srgbClr>
                </a:gs>
                <a:gs pos="0">
                  <a:srgbClr val="F0F8FD">
                    <a:alpha val="100000"/>
                  </a:srgbClr>
                </a:gs>
                <a:gs pos="74000">
                  <a:srgbClr val="74C4E9">
                    <a:alpha val="100000"/>
                  </a:srgbClr>
                </a:gs>
                <a:gs pos="83000">
                  <a:srgbClr val="74C4E9">
                    <a:alpha val="100000"/>
                  </a:srgbClr>
                </a:gs>
                <a:gs pos="100000">
                  <a:srgbClr val="A2D8F0">
                    <a:alpha val="100000"/>
                  </a:srgbClr>
                </a:gs>
              </a:gsLst>
              <a:lin ang="10800000" scaled="1"/>
            </a:gradFill>
            <a:prstDash val="solid"/>
            <a:miter/>
          </a:ln>
        </p:spPr>
        <p:txBody>
          <a:bodyPr/>
          <a:lstStyle/>
          <a:p>
            <a:endParaRPr lang="pt-BR"/>
          </a:p>
        </p:txBody>
      </p:sp>
      <p:sp>
        <p:nvSpPr>
          <p:cNvPr id="76" name="Retângulo"/>
          <p:cNvSpPr>
            <a:spLocks/>
          </p:cNvSpPr>
          <p:nvPr/>
        </p:nvSpPr>
        <p:spPr>
          <a:xfrm>
            <a:off x="252919" y="59194"/>
            <a:ext cx="1595025" cy="396875"/>
          </a:xfrm>
          <a:prstGeom prst="rect">
            <a:avLst/>
          </a:prstGeom>
          <a:noFill/>
          <a:ln w="12700" cap="flat" cmpd="sng">
            <a:noFill/>
            <a:prstDash val="solid"/>
            <a:miter/>
          </a:ln>
          <a:scene3d>
            <a:camera prst="legacyObliqueFront"/>
            <a:lightRig rig="legacyFlat4" dir="r"/>
          </a:scene3d>
          <a:sp3d prstMaterial="legacyMatte">
            <a:bevelT w="13500" h="13500" prst="angle"/>
            <a:bevelB w="13500" h="13500" prst="angle"/>
          </a:sp3d>
        </p:spPr>
        <p:txBody>
          <a:bodyPr vert="horz" wrap="square" lIns="50800" tIns="50800" rIns="50800" bIns="50800" anchor="ctr" anchorCtr="0">
            <a:prstTxWarp prst="textNoShape">
              <a:avLst/>
            </a:prstTxWarp>
            <a:spAutoFit/>
          </a:bodyPr>
          <a:lstStyle/>
          <a:p>
            <a:pPr marL="0" indent="0" algn="l" defTabSz="2438273" eaLnBrk="1" fontAlgn="auto" latinLnBrk="0" hangingPunct="0">
              <a:lnSpc>
                <a:spcPct val="100000"/>
              </a:lnSpc>
              <a:spcBef>
                <a:spcPts val="0"/>
              </a:spcBef>
              <a:spcAft>
                <a:spcPts val="0"/>
              </a:spcAft>
              <a:buNone/>
            </a:pPr>
            <a:r>
              <a:rPr lang="en-US" altLang="zh-CN" sz="2000" b="1" i="0" u="none" strike="noStrike" kern="1200" cap="none" spc="0" baseline="0">
                <a:solidFill>
                  <a:srgbClr val="0070C0"/>
                </a:solidFill>
                <a:latin typeface="Arial" pitchFamily="34" charset="0"/>
                <a:ea typeface="等线" charset="0"/>
                <a:cs typeface="Arial" pitchFamily="34" charset="0"/>
                <a:sym typeface="Helvetica Neue" charset="0"/>
              </a:rPr>
              <a:t>Capítulo 11</a:t>
            </a:r>
            <a:endParaRPr lang="zh-CN" altLang="en-US" sz="2000" b="1" i="0" u="none" strike="noStrike" kern="1200" cap="none" spc="0" baseline="0">
              <a:solidFill>
                <a:srgbClr val="0070C0"/>
              </a:solidFill>
              <a:latin typeface="Arial" pitchFamily="34" charset="0"/>
              <a:ea typeface="等线" charset="0"/>
              <a:cs typeface="Arial" pitchFamily="34" charset="0"/>
              <a:sym typeface="Helvetica Neue" charset="0"/>
            </a:endParaRPr>
          </a:p>
        </p:txBody>
      </p:sp>
      <p:sp>
        <p:nvSpPr>
          <p:cNvPr id="77" name="Retângulo"/>
          <p:cNvSpPr>
            <a:spLocks/>
          </p:cNvSpPr>
          <p:nvPr/>
        </p:nvSpPr>
        <p:spPr>
          <a:xfrm>
            <a:off x="204278" y="564779"/>
            <a:ext cx="8865490" cy="300990"/>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400" b="0" i="0" u="sng" strike="noStrike" kern="1200" cap="none" spc="0" baseline="0">
                <a:solidFill>
                  <a:srgbClr val="0070C0"/>
                </a:solidFill>
                <a:latin typeface="Arial" pitchFamily="34" charset="0"/>
                <a:ea typeface="等线" charset="0"/>
                <a:cs typeface="Arial" pitchFamily="34" charset="0"/>
              </a:rPr>
              <a:t>Slide 11.4.1 – Discorra sobre a atuação da Alaska Airlines na extensão dos intervalos de lubrificação e Check C</a:t>
            </a:r>
            <a:endParaRPr lang="zh-CN" altLang="en-US" sz="1400" b="0" i="0" u="sng" strike="noStrike" kern="1200" cap="none" spc="0" baseline="0">
              <a:solidFill>
                <a:srgbClr val="0070C0"/>
              </a:solidFill>
              <a:latin typeface="Arial" pitchFamily="34" charset="0"/>
              <a:ea typeface="等线" charset="0"/>
              <a:cs typeface="Arial" pitchFamily="34" charset="0"/>
            </a:endParaRPr>
          </a:p>
        </p:txBody>
      </p:sp>
      <p:sp>
        <p:nvSpPr>
          <p:cNvPr id="78" name="Retângulo"/>
          <p:cNvSpPr>
            <a:spLocks/>
          </p:cNvSpPr>
          <p:nvPr/>
        </p:nvSpPr>
        <p:spPr>
          <a:xfrm>
            <a:off x="10364949" y="0"/>
            <a:ext cx="1766236" cy="6248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ctr" eaLnBrk="1" fontAlgn="auto" latinLnBrk="0" hangingPunct="1">
              <a:lnSpc>
                <a:spcPct val="100000"/>
              </a:lnSpc>
              <a:spcBef>
                <a:spcPts val="0"/>
              </a:spcBef>
              <a:spcAft>
                <a:spcPts val="0"/>
              </a:spcAft>
              <a:buNone/>
            </a:pPr>
            <a:r>
              <a:rPr lang="en-US" altLang="zh-CN" sz="1800" b="0" i="0" u="sng" strike="noStrike" kern="1200" cap="none" spc="0" baseline="0">
                <a:solidFill>
                  <a:srgbClr val="0070C0"/>
                </a:solidFill>
                <a:latin typeface="Aptos" charset="0"/>
                <a:ea typeface="等线" charset="0"/>
                <a:cs typeface="Droid Sans" charset="0"/>
              </a:rPr>
              <a:t>Resp.:Jhonata</a:t>
            </a:r>
          </a:p>
          <a:p>
            <a:pPr marL="0" indent="0" algn="just">
              <a:lnSpc>
                <a:spcPct val="100000"/>
              </a:lnSpc>
              <a:spcBef>
                <a:spcPts val="0"/>
              </a:spcBef>
              <a:spcAft>
                <a:spcPts val="0"/>
              </a:spcAft>
              <a:buNone/>
            </a:pPr>
            <a:endParaRPr lang="zh-CN" altLang="en-US" sz="1800" b="0" i="0" u="none" strike="noStrike" kern="1200" cap="none" spc="0" baseline="0">
              <a:solidFill>
                <a:schemeClr val="tx1"/>
              </a:solidFill>
              <a:latin typeface="Aptos" charset="0"/>
              <a:ea typeface="等线" charset="0"/>
              <a:cs typeface="Droid Sans" charset="0"/>
            </a:endParaRPr>
          </a:p>
        </p:txBody>
      </p:sp>
      <p:sp>
        <p:nvSpPr>
          <p:cNvPr id="79" name="Retângulo"/>
          <p:cNvSpPr>
            <a:spLocks/>
          </p:cNvSpPr>
          <p:nvPr/>
        </p:nvSpPr>
        <p:spPr>
          <a:xfrm>
            <a:off x="1695516" y="110439"/>
            <a:ext cx="8669433" cy="30099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400" b="0" i="0" u="none" strike="noStrike" kern="1200" cap="none" spc="0" baseline="0">
                <a:solidFill>
                  <a:srgbClr val="0070C0"/>
                </a:solidFill>
                <a:latin typeface="Arial" pitchFamily="34" charset="0"/>
                <a:ea typeface="等线" charset="0"/>
                <a:cs typeface="Arial" pitchFamily="34" charset="0"/>
              </a:rPr>
              <a:t>Desenvolva Monitoramento da Frota em Serviço</a:t>
            </a:r>
            <a:endParaRPr lang="zh-CN" altLang="en-US" sz="1400" b="0" i="0" u="none" strike="noStrike" kern="1200" cap="none" spc="0" baseline="0">
              <a:solidFill>
                <a:srgbClr val="0070C0"/>
              </a:solidFill>
              <a:latin typeface="Arial" pitchFamily="34" charset="0"/>
              <a:ea typeface="等线" charset="0"/>
              <a:cs typeface="Arial" pitchFamily="34" charset="0"/>
            </a:endParaRPr>
          </a:p>
        </p:txBody>
      </p:sp>
      <p:pic>
        <p:nvPicPr>
          <p:cNvPr id="80" name="Imagem" descr="Placa vermelha com letras brancas&#10;&#10;Descrição gerada automaticamente com confiança baixa"/>
          <p:cNvPicPr>
            <a:picLocks noChangeAspect="1"/>
          </p:cNvPicPr>
          <p:nvPr/>
        </p:nvPicPr>
        <p:blipFill>
          <a:blip r:embed="rId3" cstate="print"/>
          <a:stretch>
            <a:fillRect/>
          </a:stretch>
        </p:blipFill>
        <p:spPr>
          <a:xfrm>
            <a:off x="10682496" y="6023665"/>
            <a:ext cx="1428750" cy="685800"/>
          </a:xfrm>
          <a:prstGeom prst="rect">
            <a:avLst/>
          </a:prstGeom>
          <a:noFill/>
          <a:ln w="12700" cap="flat" cmpd="sng">
            <a:noFill/>
            <a:prstDash val="solid"/>
            <a:miter/>
          </a:ln>
        </p:spPr>
      </p:pic>
      <p:sp>
        <p:nvSpPr>
          <p:cNvPr id="81" name="Retângulo"/>
          <p:cNvSpPr>
            <a:spLocks/>
          </p:cNvSpPr>
          <p:nvPr/>
        </p:nvSpPr>
        <p:spPr>
          <a:xfrm>
            <a:off x="3818155" y="1694709"/>
            <a:ext cx="3922143" cy="358138"/>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just">
              <a:lnSpc>
                <a:spcPct val="100000"/>
              </a:lnSpc>
              <a:spcBef>
                <a:spcPts val="0"/>
              </a:spcBef>
              <a:spcAft>
                <a:spcPts val="0"/>
              </a:spcAft>
              <a:buNone/>
            </a:pPr>
            <a:r>
              <a:rPr lang="en-US" altLang="zh-CN" sz="1800" b="0" i="0" u="none" strike="noStrike" kern="1200" cap="none" spc="0" baseline="0">
                <a:solidFill>
                  <a:schemeClr val="tx1"/>
                </a:solidFill>
                <a:latin typeface="Aptos" charset="0"/>
                <a:ea typeface="Aptos" charset="0"/>
                <a:cs typeface="Aptos" charset="0"/>
              </a:rPr>
              <a:t>            </a:t>
            </a:r>
            <a:endParaRPr lang="zh-CN" altLang="en-US" sz="1800" b="0" i="0" u="none" strike="noStrike" kern="1200" cap="none" spc="0" baseline="0">
              <a:solidFill>
                <a:schemeClr val="tx1"/>
              </a:solidFill>
              <a:latin typeface="Aptos" charset="0"/>
              <a:ea typeface="等线" charset="0"/>
              <a:cs typeface="Droid Sans" charset="0"/>
            </a:endParaRPr>
          </a:p>
        </p:txBody>
      </p:sp>
      <p:sp>
        <p:nvSpPr>
          <p:cNvPr id="82" name="Retângulo"/>
          <p:cNvSpPr>
            <a:spLocks/>
          </p:cNvSpPr>
          <p:nvPr/>
        </p:nvSpPr>
        <p:spPr>
          <a:xfrm>
            <a:off x="1141192" y="1932653"/>
            <a:ext cx="6006860" cy="358138"/>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just">
              <a:lnSpc>
                <a:spcPct val="100000"/>
              </a:lnSpc>
              <a:spcBef>
                <a:spcPts val="0"/>
              </a:spcBef>
              <a:spcAft>
                <a:spcPts val="0"/>
              </a:spcAft>
              <a:buNone/>
            </a:pPr>
            <a:r>
              <a:rPr lang="zh-CN" altLang="en-US" sz="1800" b="0" i="0" u="none" strike="noStrike" kern="1200" cap="none" spc="0" baseline="0">
                <a:solidFill>
                  <a:schemeClr val="tx1"/>
                </a:solidFill>
                <a:latin typeface="Aptos" charset="0"/>
                <a:ea typeface="Aptos" charset="0"/>
                <a:cs typeface="Aptos" charset="0"/>
              </a:rPr>
              <a:t> </a:t>
            </a:r>
            <a:endParaRPr lang="zh-CN" altLang="en-US" sz="1600" b="1" i="0" u="none" strike="noStrike" kern="1200" cap="none" spc="0" baseline="0">
              <a:solidFill>
                <a:schemeClr val="tx1"/>
              </a:solidFill>
              <a:latin typeface="Aptos" charset="0"/>
              <a:ea typeface="等线" charset="0"/>
              <a:cs typeface="Droid Sans" charset="0"/>
            </a:endParaRPr>
          </a:p>
        </p:txBody>
      </p:sp>
      <p:sp>
        <p:nvSpPr>
          <p:cNvPr id="83" name="Retângulo"/>
          <p:cNvSpPr>
            <a:spLocks/>
          </p:cNvSpPr>
          <p:nvPr/>
        </p:nvSpPr>
        <p:spPr>
          <a:xfrm>
            <a:off x="250854" y="1383865"/>
            <a:ext cx="5951796" cy="40919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457200" algn="just">
              <a:lnSpc>
                <a:spcPct val="100000"/>
              </a:lnSpc>
              <a:spcBef>
                <a:spcPts val="0"/>
              </a:spcBef>
              <a:spcAft>
                <a:spcPts val="0"/>
              </a:spcAft>
              <a:buNone/>
            </a:pPr>
            <a:r>
              <a:rPr lang="en-US" altLang="zh-CN" sz="1800" b="0" i="0" u="none" strike="noStrike" kern="1200" cap="none" spc="0" baseline="0">
                <a:solidFill>
                  <a:schemeClr val="tx1"/>
                </a:solidFill>
                <a:latin typeface="Aptos" charset="0"/>
                <a:ea typeface="等线" charset="0"/>
                <a:cs typeface="Droid Sans" charset="0"/>
              </a:rPr>
              <a:t>O documento MSG-3 OAMP, que definia o intervalo de 3.600 horas, não apresentava um limite de tempo, o que levou representantes da FAA a sugerirem que isso poderia ter sido um erro editorial. Mesmo assim, essa ausência favoreceu uma prática mais permissiva por parte da Alaska Airlines, desconsiderando as orientações históricas da fabricante.</a:t>
            </a:r>
          </a:p>
          <a:p>
            <a:pPr marL="0" indent="457200" algn="just">
              <a:lnSpc>
                <a:spcPct val="100000"/>
              </a:lnSpc>
              <a:spcBef>
                <a:spcPts val="0"/>
              </a:spcBef>
              <a:spcAft>
                <a:spcPts val="0"/>
              </a:spcAft>
              <a:buNone/>
            </a:pPr>
            <a:endParaRPr lang="en-US" altLang="zh-CN" sz="1800" b="0" i="0" u="none" strike="noStrike" kern="1200" cap="none" spc="0" baseline="0">
              <a:solidFill>
                <a:schemeClr val="tx1"/>
              </a:solidFill>
              <a:latin typeface="Aptos" charset="0"/>
              <a:ea typeface="等线" charset="0"/>
              <a:cs typeface="Droid Sans" charset="0"/>
            </a:endParaRPr>
          </a:p>
          <a:p>
            <a:pPr marL="0" indent="457200" algn="just">
              <a:lnSpc>
                <a:spcPct val="100000"/>
              </a:lnSpc>
              <a:spcBef>
                <a:spcPts val="0"/>
              </a:spcBef>
              <a:spcAft>
                <a:spcPts val="0"/>
              </a:spcAft>
              <a:buNone/>
            </a:pPr>
            <a:r>
              <a:rPr lang="en-US" altLang="zh-CN" sz="1800" b="0" i="0" u="none" strike="noStrike" kern="1200" cap="none" spc="0" baseline="0">
                <a:solidFill>
                  <a:schemeClr val="tx1"/>
                </a:solidFill>
                <a:latin typeface="Aptos" charset="0"/>
                <a:ea typeface="等线" charset="0"/>
                <a:cs typeface="Droid Sans" charset="0"/>
              </a:rPr>
              <a:t>A redução para 650 horas só ocorreu em abril de 2000, após o acidente do voo 261, quando foram emitidas as ADs 2000-03-51 e 2000-15-15. O caso evidencia os riscos de estender intervalos críticos baseando-se apenas em agrupamentos e estatísticas, sem considerar fundamentos técnicos e histórico de projeto.</a:t>
            </a:r>
            <a:endParaRPr lang="zh-CN" altLang="en-US" sz="1800" b="0" i="0" u="none" strike="noStrike" kern="1200" cap="none" spc="0" baseline="0">
              <a:solidFill>
                <a:schemeClr val="tx1"/>
              </a:solidFill>
              <a:latin typeface="Aptos" charset="0"/>
              <a:ea typeface="等线" charset="0"/>
              <a:cs typeface="Droid Sans" charset="0"/>
            </a:endParaRPr>
          </a:p>
        </p:txBody>
      </p:sp>
      <p:pic>
        <p:nvPicPr>
          <p:cNvPr id="84" name="Imagem" descr="Close-up of a document with text&#10;&#10;AI-generated content may be incorrect."/>
          <p:cNvPicPr>
            <a:picLocks noChangeAspect="1"/>
          </p:cNvPicPr>
          <p:nvPr/>
        </p:nvPicPr>
        <p:blipFill>
          <a:blip r:embed="rId4" cstate="print"/>
          <a:stretch>
            <a:fillRect/>
          </a:stretch>
        </p:blipFill>
        <p:spPr>
          <a:xfrm>
            <a:off x="6094738" y="2429872"/>
            <a:ext cx="5891419" cy="1999964"/>
          </a:xfrm>
          <a:prstGeom prst="rect">
            <a:avLst/>
          </a:prstGeom>
          <a:noFill/>
          <a:ln w="12700" cap="flat" cmpd="sng">
            <a:noFill/>
            <a:prstDash val="solid"/>
            <a:miter/>
          </a:ln>
        </p:spPr>
      </p:pic>
    </p:spTree>
    <p:extLst>
      <p:ext uri="{BB962C8B-B14F-4D97-AF65-F5344CB8AC3E}">
        <p14:creationId xmlns:p14="http://schemas.microsoft.com/office/powerpoint/2010/main" val="703610681"/>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Linha reta"/>
          <p:cNvSpPr>
            <a:spLocks/>
          </p:cNvSpPr>
          <p:nvPr/>
        </p:nvSpPr>
        <p:spPr>
          <a:xfrm flipV="1">
            <a:off x="252919" y="486960"/>
            <a:ext cx="8852170" cy="30053"/>
          </a:xfrm>
          <a:prstGeom prst="line">
            <a:avLst/>
          </a:prstGeom>
          <a:noFill/>
          <a:ln w="57150" cap="flat" cmpd="sng">
            <a:gradFill rotWithShape="1">
              <a:gsLst>
                <a:gs pos="42000">
                  <a:srgbClr val="B2CBFF">
                    <a:alpha val="84705"/>
                  </a:srgbClr>
                </a:gs>
                <a:gs pos="63000">
                  <a:srgbClr val="93B5FF">
                    <a:alpha val="100000"/>
                  </a:srgbClr>
                </a:gs>
                <a:gs pos="28000">
                  <a:srgbClr val="C7D9FF">
                    <a:alpha val="100000"/>
                  </a:srgbClr>
                </a:gs>
                <a:gs pos="0">
                  <a:srgbClr val="F0F8FD">
                    <a:alpha val="100000"/>
                  </a:srgbClr>
                </a:gs>
                <a:gs pos="74000">
                  <a:srgbClr val="74C4E9">
                    <a:alpha val="100000"/>
                  </a:srgbClr>
                </a:gs>
                <a:gs pos="83000">
                  <a:srgbClr val="74C4E9">
                    <a:alpha val="100000"/>
                  </a:srgbClr>
                </a:gs>
                <a:gs pos="100000">
                  <a:srgbClr val="A2D8F0">
                    <a:alpha val="100000"/>
                  </a:srgbClr>
                </a:gs>
              </a:gsLst>
              <a:lin ang="10800000" scaled="1"/>
            </a:gradFill>
            <a:prstDash val="solid"/>
            <a:miter/>
          </a:ln>
        </p:spPr>
        <p:txBody>
          <a:bodyPr/>
          <a:lstStyle/>
          <a:p>
            <a:endParaRPr lang="pt-BR"/>
          </a:p>
        </p:txBody>
      </p:sp>
      <p:sp>
        <p:nvSpPr>
          <p:cNvPr id="89" name="Retângulo"/>
          <p:cNvSpPr>
            <a:spLocks/>
          </p:cNvSpPr>
          <p:nvPr/>
        </p:nvSpPr>
        <p:spPr>
          <a:xfrm>
            <a:off x="252919" y="59345"/>
            <a:ext cx="1595025" cy="396875"/>
          </a:xfrm>
          <a:prstGeom prst="rect">
            <a:avLst/>
          </a:prstGeom>
          <a:noFill/>
          <a:ln w="12700" cap="flat" cmpd="sng">
            <a:noFill/>
            <a:prstDash val="solid"/>
            <a:miter/>
          </a:ln>
          <a:scene3d>
            <a:camera prst="legacyObliqueFront"/>
            <a:lightRig rig="legacyFlat4" dir="r"/>
          </a:scene3d>
          <a:sp3d prstMaterial="legacyMatte">
            <a:bevelT w="13500" h="13500" prst="angle"/>
            <a:bevelB w="13500" h="13500" prst="angle"/>
          </a:sp3d>
        </p:spPr>
        <p:txBody>
          <a:bodyPr vert="horz" wrap="square" lIns="50800" tIns="50800" rIns="50800" bIns="50800" anchor="ctr" anchorCtr="0">
            <a:prstTxWarp prst="textNoShape">
              <a:avLst/>
            </a:prstTxWarp>
            <a:spAutoFit/>
          </a:bodyPr>
          <a:lstStyle/>
          <a:p>
            <a:pPr marL="0" indent="0" algn="l" defTabSz="2438273" eaLnBrk="1" fontAlgn="auto" latinLnBrk="0" hangingPunct="0">
              <a:lnSpc>
                <a:spcPct val="100000"/>
              </a:lnSpc>
              <a:spcBef>
                <a:spcPts val="0"/>
              </a:spcBef>
              <a:spcAft>
                <a:spcPts val="0"/>
              </a:spcAft>
              <a:buNone/>
            </a:pPr>
            <a:r>
              <a:rPr lang="en-US" altLang="zh-CN" sz="2000" b="1" i="0" u="none" strike="noStrike" kern="1200" cap="none" spc="0" baseline="0">
                <a:solidFill>
                  <a:srgbClr val="0070C0"/>
                </a:solidFill>
                <a:latin typeface="Arial" pitchFamily="34" charset="0"/>
                <a:ea typeface="等线" charset="0"/>
                <a:cs typeface="Arial" pitchFamily="34" charset="0"/>
                <a:sym typeface="Helvetica Neue" charset="0"/>
              </a:rPr>
              <a:t>Capítulo 11</a:t>
            </a:r>
            <a:endParaRPr lang="zh-CN" altLang="en-US" sz="2000" b="1" i="0" u="none" strike="noStrike" kern="1200" cap="none" spc="0" baseline="0">
              <a:solidFill>
                <a:srgbClr val="0070C0"/>
              </a:solidFill>
              <a:latin typeface="Arial" pitchFamily="34" charset="0"/>
              <a:ea typeface="等线" charset="0"/>
              <a:cs typeface="Arial" pitchFamily="34" charset="0"/>
              <a:sym typeface="Helvetica Neue" charset="0"/>
            </a:endParaRPr>
          </a:p>
        </p:txBody>
      </p:sp>
      <p:sp>
        <p:nvSpPr>
          <p:cNvPr id="90" name="Retângulo"/>
          <p:cNvSpPr>
            <a:spLocks/>
          </p:cNvSpPr>
          <p:nvPr/>
        </p:nvSpPr>
        <p:spPr>
          <a:xfrm>
            <a:off x="204278" y="564779"/>
            <a:ext cx="5931789" cy="300990"/>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400" b="0" i="0" u="sng" strike="noStrike" kern="1200" cap="none" spc="0" baseline="0">
                <a:solidFill>
                  <a:srgbClr val="0070C0"/>
                </a:solidFill>
                <a:latin typeface="Arial" pitchFamily="34" charset="0"/>
                <a:ea typeface="等线" charset="0"/>
                <a:cs typeface="Arial" pitchFamily="34" charset="0"/>
              </a:rPr>
              <a:t>Slide 11.5 – Considere a atuação da FAA na aprovação destas Extensões</a:t>
            </a:r>
            <a:endParaRPr lang="zh-CN" altLang="en-US" sz="1400" b="0" i="0" u="sng" strike="noStrike" kern="1200" cap="none" spc="0" baseline="0">
              <a:solidFill>
                <a:srgbClr val="0070C0"/>
              </a:solidFill>
              <a:latin typeface="Arial" pitchFamily="34" charset="0"/>
              <a:ea typeface="等线" charset="0"/>
              <a:cs typeface="Arial" pitchFamily="34" charset="0"/>
            </a:endParaRPr>
          </a:p>
        </p:txBody>
      </p:sp>
      <p:sp>
        <p:nvSpPr>
          <p:cNvPr id="91" name="Retângulo"/>
          <p:cNvSpPr>
            <a:spLocks/>
          </p:cNvSpPr>
          <p:nvPr/>
        </p:nvSpPr>
        <p:spPr>
          <a:xfrm>
            <a:off x="10364949" y="0"/>
            <a:ext cx="1766236" cy="6248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ctr" eaLnBrk="1" fontAlgn="auto" latinLnBrk="0" hangingPunct="1">
              <a:lnSpc>
                <a:spcPct val="100000"/>
              </a:lnSpc>
              <a:spcBef>
                <a:spcPts val="0"/>
              </a:spcBef>
              <a:spcAft>
                <a:spcPts val="0"/>
              </a:spcAft>
              <a:buNone/>
            </a:pPr>
            <a:r>
              <a:rPr lang="en-US" altLang="zh-CN" sz="1800" b="0" i="0" u="sng" strike="noStrike" kern="1200" cap="none" spc="0" baseline="0">
                <a:solidFill>
                  <a:srgbClr val="0070C0"/>
                </a:solidFill>
                <a:latin typeface="Aptos" charset="0"/>
                <a:ea typeface="等线" charset="0"/>
                <a:cs typeface="Droid Sans" charset="0"/>
              </a:rPr>
              <a:t>Resp.:Jhonata</a:t>
            </a:r>
          </a:p>
          <a:p>
            <a:pPr marL="0" indent="0" algn="just">
              <a:lnSpc>
                <a:spcPct val="100000"/>
              </a:lnSpc>
              <a:spcBef>
                <a:spcPts val="0"/>
              </a:spcBef>
              <a:spcAft>
                <a:spcPts val="0"/>
              </a:spcAft>
              <a:buNone/>
            </a:pPr>
            <a:endParaRPr lang="zh-CN" altLang="en-US" sz="1800" b="0" i="0" u="none" strike="noStrike" kern="1200" cap="none" spc="0" baseline="0">
              <a:solidFill>
                <a:schemeClr val="tx1"/>
              </a:solidFill>
              <a:latin typeface="Aptos" charset="0"/>
              <a:ea typeface="等线" charset="0"/>
              <a:cs typeface="Droid Sans" charset="0"/>
            </a:endParaRPr>
          </a:p>
        </p:txBody>
      </p:sp>
      <p:sp>
        <p:nvSpPr>
          <p:cNvPr id="92" name="Retângulo"/>
          <p:cNvSpPr>
            <a:spLocks/>
          </p:cNvSpPr>
          <p:nvPr/>
        </p:nvSpPr>
        <p:spPr>
          <a:xfrm>
            <a:off x="1695516" y="110640"/>
            <a:ext cx="8669433" cy="30099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400" b="0" i="0" u="none" strike="noStrike" kern="1200" cap="none" spc="0" baseline="0">
                <a:solidFill>
                  <a:srgbClr val="0070C0"/>
                </a:solidFill>
                <a:latin typeface="Arial" pitchFamily="34" charset="0"/>
                <a:ea typeface="等线" charset="0"/>
                <a:cs typeface="Arial" pitchFamily="34" charset="0"/>
              </a:rPr>
              <a:t>Desenvolva Monitoramento da Frota em Serviço</a:t>
            </a:r>
            <a:endParaRPr lang="zh-CN" altLang="en-US" sz="1400" b="0" i="0" u="none" strike="noStrike" kern="1200" cap="none" spc="0" baseline="0">
              <a:solidFill>
                <a:srgbClr val="0070C0"/>
              </a:solidFill>
              <a:latin typeface="Arial" pitchFamily="34" charset="0"/>
              <a:ea typeface="等线" charset="0"/>
              <a:cs typeface="Arial" pitchFamily="34" charset="0"/>
            </a:endParaRPr>
          </a:p>
        </p:txBody>
      </p:sp>
      <p:pic>
        <p:nvPicPr>
          <p:cNvPr id="93" name="Imagem" descr="Placa vermelha com letras brancas&#10;&#10;Descrição gerada automaticamente com confiança baixa"/>
          <p:cNvPicPr>
            <a:picLocks noChangeAspect="1"/>
          </p:cNvPicPr>
          <p:nvPr/>
        </p:nvPicPr>
        <p:blipFill>
          <a:blip r:embed="rId3" cstate="print"/>
          <a:stretch>
            <a:fillRect/>
          </a:stretch>
        </p:blipFill>
        <p:spPr>
          <a:xfrm>
            <a:off x="10682496" y="6023665"/>
            <a:ext cx="1428750" cy="685800"/>
          </a:xfrm>
          <a:prstGeom prst="rect">
            <a:avLst/>
          </a:prstGeom>
          <a:noFill/>
          <a:ln w="12700" cap="flat" cmpd="sng">
            <a:noFill/>
            <a:prstDash val="solid"/>
            <a:miter/>
          </a:ln>
        </p:spPr>
      </p:pic>
      <p:sp>
        <p:nvSpPr>
          <p:cNvPr id="94" name="Retângulo"/>
          <p:cNvSpPr>
            <a:spLocks/>
          </p:cNvSpPr>
          <p:nvPr/>
        </p:nvSpPr>
        <p:spPr>
          <a:xfrm>
            <a:off x="3818155" y="1694709"/>
            <a:ext cx="3922143" cy="358138"/>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just">
              <a:lnSpc>
                <a:spcPct val="100000"/>
              </a:lnSpc>
              <a:spcBef>
                <a:spcPts val="0"/>
              </a:spcBef>
              <a:spcAft>
                <a:spcPts val="0"/>
              </a:spcAft>
              <a:buNone/>
            </a:pPr>
            <a:r>
              <a:rPr lang="en-US" altLang="zh-CN" sz="1800" b="0" i="0" u="none" strike="noStrike" kern="1200" cap="none" spc="0" baseline="0">
                <a:solidFill>
                  <a:schemeClr val="tx1"/>
                </a:solidFill>
                <a:latin typeface="Aptos" charset="0"/>
                <a:ea typeface="Aptos" charset="0"/>
                <a:cs typeface="Aptos" charset="0"/>
              </a:rPr>
              <a:t>            </a:t>
            </a:r>
            <a:endParaRPr lang="zh-CN" altLang="en-US" sz="1800" b="0" i="0" u="none" strike="noStrike" kern="1200" cap="none" spc="0" baseline="0">
              <a:solidFill>
                <a:schemeClr val="tx1"/>
              </a:solidFill>
              <a:latin typeface="Aptos" charset="0"/>
              <a:ea typeface="等线" charset="0"/>
              <a:cs typeface="Droid Sans" charset="0"/>
            </a:endParaRPr>
          </a:p>
        </p:txBody>
      </p:sp>
      <p:sp>
        <p:nvSpPr>
          <p:cNvPr id="95" name="Retângulo"/>
          <p:cNvSpPr>
            <a:spLocks/>
          </p:cNvSpPr>
          <p:nvPr/>
        </p:nvSpPr>
        <p:spPr>
          <a:xfrm>
            <a:off x="1131360" y="1885140"/>
            <a:ext cx="6006860" cy="358138"/>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just">
              <a:lnSpc>
                <a:spcPct val="100000"/>
              </a:lnSpc>
              <a:spcBef>
                <a:spcPts val="0"/>
              </a:spcBef>
              <a:spcAft>
                <a:spcPts val="0"/>
              </a:spcAft>
              <a:buNone/>
            </a:pPr>
            <a:r>
              <a:rPr lang="zh-CN" altLang="en-US" sz="1800" b="0" i="0" u="none" strike="noStrike" kern="1200" cap="none" spc="0" baseline="0">
                <a:solidFill>
                  <a:schemeClr val="tx1"/>
                </a:solidFill>
                <a:latin typeface="Aptos" charset="0"/>
                <a:ea typeface="Aptos" charset="0"/>
                <a:cs typeface="Aptos" charset="0"/>
              </a:rPr>
              <a:t> </a:t>
            </a:r>
            <a:endParaRPr lang="zh-CN" altLang="en-US" sz="1600" b="1" i="0" u="none" strike="noStrike" kern="1200" cap="none" spc="0" baseline="0">
              <a:solidFill>
                <a:schemeClr val="tx1"/>
              </a:solidFill>
              <a:latin typeface="Aptos" charset="0"/>
              <a:ea typeface="等线" charset="0"/>
              <a:cs typeface="Droid Sans" charset="0"/>
            </a:endParaRPr>
          </a:p>
        </p:txBody>
      </p:sp>
      <p:sp>
        <p:nvSpPr>
          <p:cNvPr id="96" name="Retângulo"/>
          <p:cNvSpPr>
            <a:spLocks/>
          </p:cNvSpPr>
          <p:nvPr/>
        </p:nvSpPr>
        <p:spPr>
          <a:xfrm flipH="1">
            <a:off x="-3917685" y="5471871"/>
            <a:ext cx="582627" cy="369332"/>
          </a:xfrm>
          <a:prstGeom prst="rect">
            <a:avLst/>
          </a:prstGeom>
          <a:noFill/>
          <a:ln w="12700" cap="flat" cmpd="sng">
            <a:noFill/>
            <a:prstDash val="solid"/>
            <a:miter/>
          </a:ln>
        </p:spPr>
        <p:txBody>
          <a:bodyPr/>
          <a:lstStyle/>
          <a:p>
            <a:endParaRPr lang="pt-BR"/>
          </a:p>
        </p:txBody>
      </p:sp>
      <p:sp>
        <p:nvSpPr>
          <p:cNvPr id="97" name="Retângulo"/>
          <p:cNvSpPr>
            <a:spLocks/>
          </p:cNvSpPr>
          <p:nvPr/>
        </p:nvSpPr>
        <p:spPr>
          <a:xfrm flipH="1">
            <a:off x="364760" y="1699384"/>
            <a:ext cx="5727452" cy="2491740"/>
          </a:xfrm>
          <a:prstGeom prst="rect">
            <a:avLst/>
          </a:prstGeom>
          <a:noFill/>
          <a:ln w="12700" cap="flat" cmpd="sng">
            <a:noFill/>
            <a:prstDash val="solid"/>
            <a:round/>
          </a:ln>
        </p:spPr>
        <p:txBody>
          <a:bodyPr vert="horz" wrap="square" lIns="91440" tIns="45720" rIns="91440" bIns="45720" anchor="ctr" anchorCtr="0">
            <a:prstTxWarp prst="textNoShape">
              <a:avLst/>
            </a:prstTxWarp>
            <a:spAutoFit/>
          </a:bodyPr>
          <a:lstStyle/>
          <a:p>
            <a:pPr marL="0" indent="457200" algn="just" eaLnBrk="0" fontAlgn="base" latinLnBrk="0" hangingPunct="0">
              <a:lnSpc>
                <a:spcPct val="100000"/>
              </a:lnSpc>
              <a:spcBef>
                <a:spcPts val="0"/>
              </a:spcBef>
              <a:spcAft>
                <a:spcPts val="0"/>
              </a:spcAft>
              <a:buNone/>
            </a:pPr>
            <a:r>
              <a:rPr lang="en-US" altLang="zh-CN" sz="1800" b="0" i="0" u="none" strike="noStrike" kern="1200" cap="none" spc="0" baseline="0">
                <a:solidFill>
                  <a:schemeClr val="tx1"/>
                </a:solidFill>
                <a:latin typeface="Aptos" charset="0"/>
                <a:ea typeface="等线" charset="0"/>
                <a:cs typeface="Droid Sans" charset="0"/>
              </a:rPr>
              <a:t>A FAA teve participação direta na aprovação das extensões propostas pela Alaska Airlines. Em 1996, a mudança da lubrificação para um cartão de tarefa com limite de 8 meses foi revisada e oficialmente aceita pelo PMI da FAA responsável pela companhia.</a:t>
            </a:r>
          </a:p>
          <a:p>
            <a:pPr marL="0" indent="457200" algn="just" eaLnBrk="0" fontAlgn="base" latinLnBrk="0" hangingPunct="0">
              <a:lnSpc>
                <a:spcPct val="100000"/>
              </a:lnSpc>
              <a:spcBef>
                <a:spcPts val="0"/>
              </a:spcBef>
              <a:spcAft>
                <a:spcPts val="0"/>
              </a:spcAft>
              <a:buNone/>
            </a:pPr>
            <a:endParaRPr lang="en-US" altLang="zh-CN" sz="1800" b="0" i="0" u="none" strike="noStrike" kern="1200" cap="none" spc="0" baseline="0">
              <a:solidFill>
                <a:schemeClr val="tx1"/>
              </a:solidFill>
              <a:latin typeface="Aptos" charset="0"/>
              <a:ea typeface="等线" charset="0"/>
              <a:cs typeface="Droid Sans" charset="0"/>
            </a:endParaRPr>
          </a:p>
          <a:p>
            <a:pPr marL="0" indent="457200" algn="just" eaLnBrk="0" fontAlgn="base" latinLnBrk="0" hangingPunct="0">
              <a:lnSpc>
                <a:spcPct val="100000"/>
              </a:lnSpc>
              <a:spcBef>
                <a:spcPts val="0"/>
              </a:spcBef>
              <a:spcAft>
                <a:spcPts val="0"/>
              </a:spcAft>
              <a:buNone/>
            </a:pPr>
            <a:r>
              <a:rPr lang="en-US" altLang="zh-CN" sz="1800" b="0" i="0" u="none" strike="noStrike" kern="1200" cap="none" spc="0" baseline="0">
                <a:solidFill>
                  <a:schemeClr val="tx1"/>
                </a:solidFill>
                <a:latin typeface="Aptos" charset="0"/>
                <a:ea typeface="等线" charset="0"/>
                <a:cs typeface="Droid Sans" charset="0"/>
              </a:rPr>
              <a:t>A justificativa utilizada foi o intervalo ampliado do MSG-3 para o Check C: 3.600 horas ou 15 meses, o que fosse atingido primeiro.</a:t>
            </a:r>
            <a:endParaRPr lang="zh-CN" altLang="en-US" sz="1800" b="0" i="0" u="none" strike="noStrike" kern="1200" cap="none" spc="0" baseline="0">
              <a:solidFill>
                <a:schemeClr val="tx1"/>
              </a:solidFill>
              <a:latin typeface="Aptos" charset="0"/>
              <a:ea typeface="等线" charset="0"/>
              <a:cs typeface="Droid Sans" charset="0"/>
            </a:endParaRPr>
          </a:p>
        </p:txBody>
      </p:sp>
      <p:pic>
        <p:nvPicPr>
          <p:cNvPr id="98" name="Imagem" descr="FAA"/>
          <p:cNvPicPr>
            <a:picLocks noChangeAspect="1"/>
          </p:cNvPicPr>
          <p:nvPr/>
        </p:nvPicPr>
        <p:blipFill>
          <a:blip r:embed="rId4" cstate="print"/>
          <a:stretch>
            <a:fillRect/>
          </a:stretch>
        </p:blipFill>
        <p:spPr>
          <a:xfrm>
            <a:off x="6858812" y="1198880"/>
            <a:ext cx="4321890" cy="4460239"/>
          </a:xfrm>
          <a:prstGeom prst="rect">
            <a:avLst/>
          </a:prstGeom>
          <a:noFill/>
          <a:ln w="12700" cap="flat" cmpd="sng">
            <a:noFill/>
            <a:prstDash val="solid"/>
            <a:miter/>
          </a:ln>
        </p:spPr>
      </p:pic>
    </p:spTree>
    <p:extLst>
      <p:ext uri="{BB962C8B-B14F-4D97-AF65-F5344CB8AC3E}">
        <p14:creationId xmlns:p14="http://schemas.microsoft.com/office/powerpoint/2010/main" val="2064032430"/>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Linha reta"/>
          <p:cNvSpPr>
            <a:spLocks/>
          </p:cNvSpPr>
          <p:nvPr/>
        </p:nvSpPr>
        <p:spPr>
          <a:xfrm flipV="1">
            <a:off x="252919" y="486960"/>
            <a:ext cx="8852170" cy="30053"/>
          </a:xfrm>
          <a:prstGeom prst="line">
            <a:avLst/>
          </a:prstGeom>
          <a:noFill/>
          <a:ln w="57150" cap="flat" cmpd="sng">
            <a:gradFill rotWithShape="1">
              <a:gsLst>
                <a:gs pos="42000">
                  <a:srgbClr val="B2CBFF">
                    <a:alpha val="84705"/>
                  </a:srgbClr>
                </a:gs>
                <a:gs pos="63000">
                  <a:srgbClr val="93B5FF">
                    <a:alpha val="100000"/>
                  </a:srgbClr>
                </a:gs>
                <a:gs pos="28000">
                  <a:srgbClr val="C7D9FF">
                    <a:alpha val="100000"/>
                  </a:srgbClr>
                </a:gs>
                <a:gs pos="0">
                  <a:srgbClr val="F0F8FD">
                    <a:alpha val="100000"/>
                  </a:srgbClr>
                </a:gs>
                <a:gs pos="74000">
                  <a:srgbClr val="74C4E9">
                    <a:alpha val="100000"/>
                  </a:srgbClr>
                </a:gs>
                <a:gs pos="83000">
                  <a:srgbClr val="74C4E9">
                    <a:alpha val="100000"/>
                  </a:srgbClr>
                </a:gs>
                <a:gs pos="100000">
                  <a:srgbClr val="A2D8F0">
                    <a:alpha val="100000"/>
                  </a:srgbClr>
                </a:gs>
              </a:gsLst>
              <a:lin ang="10800000" scaled="1"/>
            </a:gradFill>
            <a:prstDash val="solid"/>
            <a:miter/>
          </a:ln>
        </p:spPr>
        <p:txBody>
          <a:bodyPr/>
          <a:lstStyle/>
          <a:p>
            <a:endParaRPr lang="pt-BR"/>
          </a:p>
        </p:txBody>
      </p:sp>
      <p:sp>
        <p:nvSpPr>
          <p:cNvPr id="104" name="Retângulo"/>
          <p:cNvSpPr>
            <a:spLocks/>
          </p:cNvSpPr>
          <p:nvPr/>
        </p:nvSpPr>
        <p:spPr>
          <a:xfrm>
            <a:off x="252919" y="59345"/>
            <a:ext cx="1595025" cy="396875"/>
          </a:xfrm>
          <a:prstGeom prst="rect">
            <a:avLst/>
          </a:prstGeom>
          <a:noFill/>
          <a:ln w="12700" cap="flat" cmpd="sng">
            <a:noFill/>
            <a:prstDash val="solid"/>
            <a:miter/>
          </a:ln>
          <a:scene3d>
            <a:camera prst="legacyObliqueFront"/>
            <a:lightRig rig="legacyFlat4" dir="r"/>
          </a:scene3d>
          <a:sp3d prstMaterial="legacyMatte">
            <a:bevelT w="13500" h="13500" prst="angle"/>
            <a:bevelB w="13500" h="13500" prst="angle"/>
          </a:sp3d>
        </p:spPr>
        <p:txBody>
          <a:bodyPr vert="horz" wrap="square" lIns="50800" tIns="50800" rIns="50800" bIns="50800" anchor="ctr" anchorCtr="0">
            <a:prstTxWarp prst="textNoShape">
              <a:avLst/>
            </a:prstTxWarp>
            <a:spAutoFit/>
          </a:bodyPr>
          <a:lstStyle/>
          <a:p>
            <a:pPr marL="0" indent="0" algn="l" defTabSz="2438273" eaLnBrk="1" fontAlgn="auto" latinLnBrk="0" hangingPunct="0">
              <a:lnSpc>
                <a:spcPct val="100000"/>
              </a:lnSpc>
              <a:spcBef>
                <a:spcPts val="0"/>
              </a:spcBef>
              <a:spcAft>
                <a:spcPts val="0"/>
              </a:spcAft>
              <a:buNone/>
            </a:pPr>
            <a:r>
              <a:rPr lang="en-US" altLang="zh-CN" sz="2000" b="1" i="0" u="none" strike="noStrike" kern="1200" cap="none" spc="0" baseline="0">
                <a:solidFill>
                  <a:srgbClr val="0070C0"/>
                </a:solidFill>
                <a:latin typeface="Arial" pitchFamily="34" charset="0"/>
                <a:ea typeface="等线" charset="0"/>
                <a:cs typeface="Arial" pitchFamily="34" charset="0"/>
                <a:sym typeface="Helvetica Neue" charset="0"/>
              </a:rPr>
              <a:t>Capítulo 11</a:t>
            </a:r>
            <a:endParaRPr lang="zh-CN" altLang="en-US" sz="2000" b="1" i="0" u="none" strike="noStrike" kern="1200" cap="none" spc="0" baseline="0">
              <a:solidFill>
                <a:srgbClr val="0070C0"/>
              </a:solidFill>
              <a:latin typeface="Arial" pitchFamily="34" charset="0"/>
              <a:ea typeface="等线" charset="0"/>
              <a:cs typeface="Arial" pitchFamily="34" charset="0"/>
              <a:sym typeface="Helvetica Neue" charset="0"/>
            </a:endParaRPr>
          </a:p>
        </p:txBody>
      </p:sp>
      <p:sp>
        <p:nvSpPr>
          <p:cNvPr id="105" name="Retângulo"/>
          <p:cNvSpPr>
            <a:spLocks/>
          </p:cNvSpPr>
          <p:nvPr/>
        </p:nvSpPr>
        <p:spPr>
          <a:xfrm>
            <a:off x="204278" y="564779"/>
            <a:ext cx="6077584" cy="300990"/>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400" b="0" i="0" u="sng" strike="noStrike" kern="1200" cap="none" spc="0" baseline="0">
                <a:solidFill>
                  <a:srgbClr val="0070C0"/>
                </a:solidFill>
                <a:latin typeface="Arial" pitchFamily="34" charset="0"/>
                <a:ea typeface="等线" charset="0"/>
                <a:cs typeface="Arial" pitchFamily="34" charset="0"/>
              </a:rPr>
              <a:t>Slide 11.5.1 – Considere a atuação da FAA na aprovação destas Extensões</a:t>
            </a:r>
            <a:endParaRPr lang="zh-CN" altLang="en-US" sz="1400" b="0" i="0" u="sng" strike="noStrike" kern="1200" cap="none" spc="0" baseline="0">
              <a:solidFill>
                <a:srgbClr val="0070C0"/>
              </a:solidFill>
              <a:latin typeface="Arial" pitchFamily="34" charset="0"/>
              <a:ea typeface="等线" charset="0"/>
              <a:cs typeface="Arial" pitchFamily="34" charset="0"/>
            </a:endParaRPr>
          </a:p>
        </p:txBody>
      </p:sp>
      <p:sp>
        <p:nvSpPr>
          <p:cNvPr id="106" name="Retângulo"/>
          <p:cNvSpPr>
            <a:spLocks/>
          </p:cNvSpPr>
          <p:nvPr/>
        </p:nvSpPr>
        <p:spPr>
          <a:xfrm>
            <a:off x="10364949" y="0"/>
            <a:ext cx="1766236" cy="6248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ctr" eaLnBrk="1" fontAlgn="auto" latinLnBrk="0" hangingPunct="1">
              <a:lnSpc>
                <a:spcPct val="100000"/>
              </a:lnSpc>
              <a:spcBef>
                <a:spcPts val="0"/>
              </a:spcBef>
              <a:spcAft>
                <a:spcPts val="0"/>
              </a:spcAft>
              <a:buNone/>
            </a:pPr>
            <a:r>
              <a:rPr lang="en-US" altLang="zh-CN" sz="1800" b="0" i="0" u="sng" strike="noStrike" kern="1200" cap="none" spc="0" baseline="0">
                <a:solidFill>
                  <a:srgbClr val="0070C0"/>
                </a:solidFill>
                <a:latin typeface="Aptos" charset="0"/>
                <a:ea typeface="等线" charset="0"/>
                <a:cs typeface="Droid Sans" charset="0"/>
              </a:rPr>
              <a:t>Resp.:Jhonata</a:t>
            </a:r>
          </a:p>
          <a:p>
            <a:pPr marL="0" indent="0" algn="just">
              <a:lnSpc>
                <a:spcPct val="100000"/>
              </a:lnSpc>
              <a:spcBef>
                <a:spcPts val="0"/>
              </a:spcBef>
              <a:spcAft>
                <a:spcPts val="0"/>
              </a:spcAft>
              <a:buNone/>
            </a:pPr>
            <a:endParaRPr lang="zh-CN" altLang="en-US" sz="1800" b="0" i="0" u="none" strike="noStrike" kern="1200" cap="none" spc="0" baseline="0">
              <a:solidFill>
                <a:schemeClr val="tx1"/>
              </a:solidFill>
              <a:latin typeface="Aptos" charset="0"/>
              <a:ea typeface="等线" charset="0"/>
              <a:cs typeface="Droid Sans" charset="0"/>
            </a:endParaRPr>
          </a:p>
        </p:txBody>
      </p:sp>
      <p:sp>
        <p:nvSpPr>
          <p:cNvPr id="107" name="Retângulo"/>
          <p:cNvSpPr>
            <a:spLocks/>
          </p:cNvSpPr>
          <p:nvPr/>
        </p:nvSpPr>
        <p:spPr>
          <a:xfrm>
            <a:off x="1695516" y="110640"/>
            <a:ext cx="8669433" cy="30099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400" b="0" i="0" u="none" strike="noStrike" kern="1200" cap="none" spc="0" baseline="0">
                <a:solidFill>
                  <a:srgbClr val="0070C0"/>
                </a:solidFill>
                <a:latin typeface="Arial" pitchFamily="34" charset="0"/>
                <a:ea typeface="等线" charset="0"/>
                <a:cs typeface="Arial" pitchFamily="34" charset="0"/>
              </a:rPr>
              <a:t>Desenvolva Monitoramento da Frota em Serviço</a:t>
            </a:r>
            <a:endParaRPr lang="zh-CN" altLang="en-US" sz="1400" b="0" i="0" u="none" strike="noStrike" kern="1200" cap="none" spc="0" baseline="0">
              <a:solidFill>
                <a:srgbClr val="0070C0"/>
              </a:solidFill>
              <a:latin typeface="Arial" pitchFamily="34" charset="0"/>
              <a:ea typeface="等线" charset="0"/>
              <a:cs typeface="Arial" pitchFamily="34" charset="0"/>
            </a:endParaRPr>
          </a:p>
        </p:txBody>
      </p:sp>
      <p:pic>
        <p:nvPicPr>
          <p:cNvPr id="108" name="Imagem" descr="Placa vermelha com letras brancas&#10;&#10;Descrição gerada automaticamente com confiança baixa"/>
          <p:cNvPicPr>
            <a:picLocks noChangeAspect="1"/>
          </p:cNvPicPr>
          <p:nvPr/>
        </p:nvPicPr>
        <p:blipFill>
          <a:blip r:embed="rId3" cstate="print"/>
          <a:stretch>
            <a:fillRect/>
          </a:stretch>
        </p:blipFill>
        <p:spPr>
          <a:xfrm>
            <a:off x="10682496" y="6023665"/>
            <a:ext cx="1428750" cy="685800"/>
          </a:xfrm>
          <a:prstGeom prst="rect">
            <a:avLst/>
          </a:prstGeom>
          <a:noFill/>
          <a:ln w="12700" cap="flat" cmpd="sng">
            <a:noFill/>
            <a:prstDash val="solid"/>
            <a:miter/>
          </a:ln>
        </p:spPr>
      </p:pic>
      <p:sp>
        <p:nvSpPr>
          <p:cNvPr id="109" name="Retângulo"/>
          <p:cNvSpPr>
            <a:spLocks/>
          </p:cNvSpPr>
          <p:nvPr/>
        </p:nvSpPr>
        <p:spPr>
          <a:xfrm>
            <a:off x="3818155" y="1694709"/>
            <a:ext cx="3922143" cy="358138"/>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just">
              <a:lnSpc>
                <a:spcPct val="100000"/>
              </a:lnSpc>
              <a:spcBef>
                <a:spcPts val="0"/>
              </a:spcBef>
              <a:spcAft>
                <a:spcPts val="0"/>
              </a:spcAft>
              <a:buNone/>
            </a:pPr>
            <a:r>
              <a:rPr lang="en-US" altLang="zh-CN" sz="1800" b="0" i="0" u="none" strike="noStrike" kern="1200" cap="none" spc="0" baseline="0">
                <a:solidFill>
                  <a:schemeClr val="tx1"/>
                </a:solidFill>
                <a:latin typeface="Aptos" charset="0"/>
                <a:ea typeface="Aptos" charset="0"/>
                <a:cs typeface="Aptos" charset="0"/>
              </a:rPr>
              <a:t>            </a:t>
            </a:r>
            <a:endParaRPr lang="zh-CN" altLang="en-US" sz="1800" b="0" i="0" u="none" strike="noStrike" kern="1200" cap="none" spc="0" baseline="0">
              <a:solidFill>
                <a:schemeClr val="tx1"/>
              </a:solidFill>
              <a:latin typeface="Aptos" charset="0"/>
              <a:ea typeface="等线" charset="0"/>
              <a:cs typeface="Droid Sans" charset="0"/>
            </a:endParaRPr>
          </a:p>
        </p:txBody>
      </p:sp>
      <p:sp>
        <p:nvSpPr>
          <p:cNvPr id="110" name="Retângulo"/>
          <p:cNvSpPr>
            <a:spLocks/>
          </p:cNvSpPr>
          <p:nvPr/>
        </p:nvSpPr>
        <p:spPr>
          <a:xfrm>
            <a:off x="1131360" y="1885140"/>
            <a:ext cx="6006860" cy="358138"/>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just">
              <a:lnSpc>
                <a:spcPct val="100000"/>
              </a:lnSpc>
              <a:spcBef>
                <a:spcPts val="0"/>
              </a:spcBef>
              <a:spcAft>
                <a:spcPts val="0"/>
              </a:spcAft>
              <a:buNone/>
            </a:pPr>
            <a:r>
              <a:rPr lang="zh-CN" altLang="en-US" sz="1800" b="0" i="0" u="none" strike="noStrike" kern="1200" cap="none" spc="0" baseline="0">
                <a:solidFill>
                  <a:schemeClr val="tx1"/>
                </a:solidFill>
                <a:latin typeface="Aptos" charset="0"/>
                <a:ea typeface="Aptos" charset="0"/>
                <a:cs typeface="Aptos" charset="0"/>
              </a:rPr>
              <a:t> </a:t>
            </a:r>
            <a:endParaRPr lang="zh-CN" altLang="en-US" sz="1600" b="1" i="0" u="none" strike="noStrike" kern="1200" cap="none" spc="0" baseline="0">
              <a:solidFill>
                <a:schemeClr val="tx1"/>
              </a:solidFill>
              <a:latin typeface="Aptos" charset="0"/>
              <a:ea typeface="等线" charset="0"/>
              <a:cs typeface="Droid Sans" charset="0"/>
            </a:endParaRPr>
          </a:p>
        </p:txBody>
      </p:sp>
      <p:sp>
        <p:nvSpPr>
          <p:cNvPr id="111" name="Retângulo"/>
          <p:cNvSpPr>
            <a:spLocks/>
          </p:cNvSpPr>
          <p:nvPr/>
        </p:nvSpPr>
        <p:spPr>
          <a:xfrm flipH="1">
            <a:off x="-3917685" y="5471871"/>
            <a:ext cx="582627" cy="369332"/>
          </a:xfrm>
          <a:prstGeom prst="rect">
            <a:avLst/>
          </a:prstGeom>
          <a:noFill/>
          <a:ln w="12700" cap="flat" cmpd="sng">
            <a:noFill/>
            <a:prstDash val="solid"/>
            <a:miter/>
          </a:ln>
        </p:spPr>
        <p:txBody>
          <a:bodyPr/>
          <a:lstStyle/>
          <a:p>
            <a:endParaRPr lang="pt-BR"/>
          </a:p>
        </p:txBody>
      </p:sp>
      <p:sp>
        <p:nvSpPr>
          <p:cNvPr id="112" name="Retângulo"/>
          <p:cNvSpPr>
            <a:spLocks/>
          </p:cNvSpPr>
          <p:nvPr/>
        </p:nvSpPr>
        <p:spPr>
          <a:xfrm flipH="1">
            <a:off x="341239" y="3258779"/>
            <a:ext cx="5727452" cy="369332"/>
          </a:xfrm>
          <a:prstGeom prst="rect">
            <a:avLst/>
          </a:prstGeom>
          <a:noFill/>
          <a:ln w="12700" cap="flat" cmpd="sng">
            <a:noFill/>
            <a:prstDash val="solid"/>
            <a:round/>
          </a:ln>
        </p:spPr>
        <p:txBody>
          <a:bodyPr/>
          <a:lstStyle/>
          <a:p>
            <a:endParaRPr lang="pt-BR"/>
          </a:p>
        </p:txBody>
      </p:sp>
      <p:sp>
        <p:nvSpPr>
          <p:cNvPr id="113" name="Retângulo"/>
          <p:cNvSpPr>
            <a:spLocks/>
          </p:cNvSpPr>
          <p:nvPr/>
        </p:nvSpPr>
        <p:spPr>
          <a:xfrm>
            <a:off x="248735" y="1481019"/>
            <a:ext cx="6476120" cy="3558540"/>
          </a:xfrm>
          <a:prstGeom prst="rect">
            <a:avLst/>
          </a:prstGeom>
          <a:noFill/>
          <a:ln w="12700" cap="flat" cmpd="sng">
            <a:noFill/>
            <a:prstDash val="solid"/>
            <a:round/>
          </a:ln>
        </p:spPr>
        <p:txBody>
          <a:bodyPr vert="horz" wrap="square" lIns="91440" tIns="45720" rIns="91440" bIns="45720" anchor="ctr" anchorCtr="0">
            <a:prstTxWarp prst="textNoShape">
              <a:avLst/>
            </a:prstTxWarp>
            <a:spAutoFit/>
          </a:bodyPr>
          <a:lstStyle/>
          <a:p>
            <a:pPr marL="0" indent="457200" algn="just" eaLnBrk="0" fontAlgn="base" latinLnBrk="0" hangingPunct="0">
              <a:lnSpc>
                <a:spcPct val="100000"/>
              </a:lnSpc>
              <a:spcBef>
                <a:spcPts val="0"/>
              </a:spcBef>
              <a:spcAft>
                <a:spcPts val="0"/>
              </a:spcAft>
              <a:buNone/>
            </a:pPr>
            <a:r>
              <a:rPr lang="en-US" altLang="zh-CN" sz="1800" b="0" i="0" u="none" strike="noStrike" kern="1200" cap="none" spc="0" baseline="0">
                <a:solidFill>
                  <a:schemeClr val="tx1"/>
                </a:solidFill>
                <a:latin typeface="Aptos" charset="0"/>
                <a:ea typeface="等线" charset="0"/>
                <a:cs typeface="Aptos" charset="0"/>
              </a:rPr>
              <a:t>Durante a audiência do NTSB, foi revelado que a FAA avaliou a extensão como parte do pacote do Check C, não como uma tarefa independente — ou seja, não houve análise técnica específica da lubrificação.</a:t>
            </a:r>
          </a:p>
          <a:p>
            <a:pPr marL="0" indent="457200" algn="just" eaLnBrk="0" fontAlgn="base" latinLnBrk="0" hangingPunct="0">
              <a:lnSpc>
                <a:spcPct val="100000"/>
              </a:lnSpc>
              <a:spcBef>
                <a:spcPts val="0"/>
              </a:spcBef>
              <a:spcAft>
                <a:spcPts val="0"/>
              </a:spcAft>
              <a:buNone/>
            </a:pPr>
            <a:r>
              <a:rPr lang="en-US" altLang="zh-CN" sz="1800" b="0" i="0" u="none" strike="noStrike" kern="1200" cap="none" spc="0" baseline="0">
                <a:solidFill>
                  <a:schemeClr val="tx1"/>
                </a:solidFill>
                <a:latin typeface="Aptos" charset="0"/>
                <a:ea typeface="等线" charset="0"/>
                <a:cs typeface="Aptos" charset="0"/>
              </a:rPr>
              <a:t>Além disso, a agência não identificou que os intervalos recomendados pela Douglas (600–900 horas) haviam sido ignorados durante a transição entre sistemas de manutenção, falha que contribuiu para decisões inadequadas.</a:t>
            </a:r>
          </a:p>
          <a:p>
            <a:pPr marL="0" indent="457200" algn="just" eaLnBrk="0" fontAlgn="base" latinLnBrk="0" hangingPunct="0">
              <a:lnSpc>
                <a:spcPct val="100000"/>
              </a:lnSpc>
              <a:spcBef>
                <a:spcPts val="0"/>
              </a:spcBef>
              <a:spcAft>
                <a:spcPts val="0"/>
              </a:spcAft>
              <a:buNone/>
            </a:pPr>
            <a:endParaRPr lang="en-US" altLang="zh-CN" sz="1800" b="0" i="0" u="none" strike="noStrike" kern="1200" cap="none" spc="0" baseline="0">
              <a:solidFill>
                <a:schemeClr val="tx1"/>
              </a:solidFill>
              <a:latin typeface="Aptos" charset="0"/>
              <a:ea typeface="等线" charset="0"/>
              <a:cs typeface="Aptos" charset="0"/>
            </a:endParaRPr>
          </a:p>
          <a:p>
            <a:pPr marL="0" indent="457200" algn="just" eaLnBrk="0" fontAlgn="base" latinLnBrk="0" hangingPunct="0">
              <a:lnSpc>
                <a:spcPct val="100000"/>
              </a:lnSpc>
              <a:spcBef>
                <a:spcPts val="0"/>
              </a:spcBef>
              <a:spcAft>
                <a:spcPts val="0"/>
              </a:spcAft>
              <a:buNone/>
            </a:pPr>
            <a:r>
              <a:rPr lang="en-US" altLang="zh-CN" sz="1800" b="0" i="0" u="none" strike="noStrike" kern="1200" cap="none" spc="0" baseline="0">
                <a:solidFill>
                  <a:schemeClr val="tx1"/>
                </a:solidFill>
                <a:latin typeface="Aptos" charset="0"/>
                <a:ea typeface="等线" charset="0"/>
                <a:cs typeface="Aptos" charset="0"/>
              </a:rPr>
              <a:t>Somente após o acidente do voo 261, a FAA respondeu formalmente, emitindo diretrizes obrigatórias que reduziram o intervalo para 650 horas, eliminando o sistema baseado apenas em tempo.</a:t>
            </a:r>
            <a:endParaRPr lang="zh-CN" altLang="en-US" sz="1800" b="0" i="0" u="none" strike="noStrike" kern="1200" cap="none" spc="0" baseline="0">
              <a:solidFill>
                <a:schemeClr val="tx1"/>
              </a:solidFill>
              <a:latin typeface="Aptos" charset="0"/>
              <a:ea typeface="等线" charset="0"/>
              <a:cs typeface="Droid Sans" charset="0"/>
            </a:endParaRPr>
          </a:p>
        </p:txBody>
      </p:sp>
      <p:pic>
        <p:nvPicPr>
          <p:cNvPr id="114" name="Imagem" descr="FAA"/>
          <p:cNvPicPr>
            <a:picLocks noChangeAspect="1"/>
          </p:cNvPicPr>
          <p:nvPr/>
        </p:nvPicPr>
        <p:blipFill>
          <a:blip r:embed="rId4" cstate="print"/>
          <a:stretch>
            <a:fillRect/>
          </a:stretch>
        </p:blipFill>
        <p:spPr>
          <a:xfrm>
            <a:off x="8197213" y="2085550"/>
            <a:ext cx="2606450" cy="2689885"/>
          </a:xfrm>
          <a:prstGeom prst="rect">
            <a:avLst/>
          </a:prstGeom>
          <a:noFill/>
          <a:ln w="12700" cap="flat" cmpd="sng">
            <a:noFill/>
            <a:prstDash val="solid"/>
            <a:miter/>
          </a:ln>
        </p:spPr>
      </p:pic>
    </p:spTree>
    <p:extLst>
      <p:ext uri="{BB962C8B-B14F-4D97-AF65-F5344CB8AC3E}">
        <p14:creationId xmlns:p14="http://schemas.microsoft.com/office/powerpoint/2010/main" val="1434984846"/>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DFE02-2A74-03D7-DFAC-FBE8D61C715C}"/>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F0B08BA7-6DE1-EDDA-49D7-17A6EA641D21}"/>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68BDEDA9-AB16-97AC-1039-1E74DBC0216E}"/>
              </a:ext>
            </a:extLst>
          </p:cNvPr>
          <p:cNvSpPr txBox="1"/>
          <p:nvPr/>
        </p:nvSpPr>
        <p:spPr>
          <a:xfrm>
            <a:off x="252919" y="59345"/>
            <a:ext cx="1595025"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70C0"/>
                </a:solidFill>
                <a:effectLst/>
                <a:uLnTx/>
                <a:uFillTx/>
                <a:latin typeface="Arial"/>
                <a:cs typeface="Arial"/>
                <a:sym typeface="Helvetica Neue"/>
              </a:rPr>
              <a:t>Capítulo 12</a:t>
            </a:r>
            <a:endParaRPr kumimoji="0" lang="pt-BR" sz="2000" b="1" i="0" u="none" strike="noStrike" kern="1200" cap="none" spc="0" normalizeH="0" baseline="0" noProof="0" dirty="0">
              <a:ln>
                <a:noFill/>
              </a:ln>
              <a:solidFill>
                <a:srgbClr val="0070C0"/>
              </a:solidFill>
              <a:effectLst/>
              <a:uLnTx/>
              <a:uFillTx/>
              <a:latin typeface="Arial"/>
              <a:cs typeface="Arial"/>
              <a:sym typeface="Helvetica Neue"/>
            </a:endParaRPr>
          </a:p>
        </p:txBody>
      </p:sp>
      <p:sp>
        <p:nvSpPr>
          <p:cNvPr id="6" name="CaixaDeTexto 5">
            <a:extLst>
              <a:ext uri="{FF2B5EF4-FFF2-40B4-BE49-F238E27FC236}">
                <a16:creationId xmlns:a16="http://schemas.microsoft.com/office/drawing/2014/main" id="{306364F4-AF3D-9F7B-FA55-9470BB64D00D}"/>
              </a:ext>
            </a:extLst>
          </p:cNvPr>
          <p:cNvSpPr txBox="1"/>
          <p:nvPr/>
        </p:nvSpPr>
        <p:spPr>
          <a:xfrm>
            <a:off x="204278" y="564779"/>
            <a:ext cx="2642070" cy="307777"/>
          </a:xfrm>
          <a:prstGeom prst="rect">
            <a:avLst/>
          </a:prstGeom>
          <a:noFill/>
        </p:spPr>
        <p:txBody>
          <a:bodyPr wrap="none" lIns="91440" tIns="45720" rIns="91440" bIns="45720" rtlCol="0" anchor="t">
            <a:spAutoFit/>
          </a:bodyPr>
          <a:lstStyle/>
          <a:p>
            <a:r>
              <a:rPr lang="pt-BR" sz="1400" u="sng" dirty="0">
                <a:solidFill>
                  <a:srgbClr val="0070C0"/>
                </a:solidFill>
                <a:latin typeface="Arial"/>
                <a:cs typeface="Arial"/>
              </a:rPr>
              <a:t>Slide 12.1 – Fazer a conclusão</a:t>
            </a:r>
            <a:endParaRPr lang="pt-BR" sz="1400" u="sng" dirty="0">
              <a:solidFill>
                <a:srgbClr val="0070C0"/>
              </a:solidFill>
              <a:latin typeface="Arial" panose="020B0604020202020204" pitchFamily="34" charset="0"/>
              <a:cs typeface="Arial" panose="020B0604020202020204" pitchFamily="34" charset="0"/>
            </a:endParaRPr>
          </a:p>
        </p:txBody>
      </p:sp>
      <p:sp>
        <p:nvSpPr>
          <p:cNvPr id="8" name="CaixaDeTexto 7">
            <a:extLst>
              <a:ext uri="{FF2B5EF4-FFF2-40B4-BE49-F238E27FC236}">
                <a16:creationId xmlns:a16="http://schemas.microsoft.com/office/drawing/2014/main" id="{5070F144-79CB-E353-9C5D-362DB7320F3E}"/>
              </a:ext>
            </a:extLst>
          </p:cNvPr>
          <p:cNvSpPr txBox="1"/>
          <p:nvPr/>
        </p:nvSpPr>
        <p:spPr>
          <a:xfrm>
            <a:off x="10364949" y="0"/>
            <a:ext cx="1766236" cy="646331"/>
          </a:xfrm>
          <a:prstGeom prst="rect">
            <a:avLst/>
          </a:prstGeom>
          <a:noFill/>
        </p:spPr>
        <p:txBody>
          <a:bodyPr wrap="square" lIns="91440" tIns="45720" rIns="91440" bIns="45720" rtlCol="0" anchor="t">
            <a:spAutoFit/>
          </a:bodyPr>
          <a:lstStyle/>
          <a:p>
            <a:pPr algn="ctr">
              <a:defRPr/>
            </a:pPr>
            <a:r>
              <a:rPr lang="pt-BR" u="sng" dirty="0">
                <a:solidFill>
                  <a:srgbClr val="0070C0"/>
                </a:solidFill>
                <a:latin typeface="Aptos" panose="02110004020202020204"/>
              </a:rPr>
              <a:t>Resp.:</a:t>
            </a:r>
          </a:p>
          <a:p>
            <a:pPr algn="ctr">
              <a:defRPr/>
            </a:pPr>
            <a:r>
              <a:rPr lang="pt-BR" u="sng" dirty="0">
                <a:solidFill>
                  <a:srgbClr val="0070C0"/>
                </a:solidFill>
              </a:rPr>
              <a:t>Isabela Soares</a:t>
            </a:r>
          </a:p>
        </p:txBody>
      </p:sp>
      <p:sp>
        <p:nvSpPr>
          <p:cNvPr id="9" name="CaixaDeTexto 8">
            <a:extLst>
              <a:ext uri="{FF2B5EF4-FFF2-40B4-BE49-F238E27FC236}">
                <a16:creationId xmlns:a16="http://schemas.microsoft.com/office/drawing/2014/main" id="{F61AA1A3-CE6E-B848-B99E-74360331CA56}"/>
              </a:ext>
            </a:extLst>
          </p:cNvPr>
          <p:cNvSpPr txBox="1"/>
          <p:nvPr/>
        </p:nvSpPr>
        <p:spPr>
          <a:xfrm>
            <a:off x="1695516" y="110640"/>
            <a:ext cx="8669433" cy="307777"/>
          </a:xfrm>
          <a:prstGeom prst="rect">
            <a:avLst/>
          </a:prstGeom>
          <a:noFill/>
        </p:spPr>
        <p:txBody>
          <a:bodyPr wrap="square" lIns="91440" tIns="45720" rIns="91440" bIns="45720" rtlCol="0" anchor="t">
            <a:spAutoFit/>
          </a:bodyPr>
          <a:lstStyle/>
          <a:p>
            <a:pPr>
              <a:defRPr/>
            </a:pPr>
            <a:r>
              <a:rPr kumimoji="0" lang="pt-BR" sz="1400" b="0" i="0" u="none" strike="noStrike" kern="1200" cap="none" spc="0" normalizeH="0" baseline="0" noProof="0" dirty="0">
                <a:ln>
                  <a:noFill/>
                </a:ln>
                <a:solidFill>
                  <a:srgbClr val="0070C0"/>
                </a:solidFill>
                <a:effectLst/>
                <a:uLnTx/>
                <a:uFillTx/>
                <a:latin typeface="Arial"/>
                <a:ea typeface="+mn-ea"/>
                <a:cs typeface="Arial"/>
              </a:rPr>
              <a:t>Conclusão</a:t>
            </a:r>
            <a:endParaRPr kumimoji="0" lang="pt-BR" sz="1400" b="0"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B18FB2A0-17E7-2D2B-E9F8-978FF3535AF2}"/>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7" name="TextBox 6">
            <a:extLst>
              <a:ext uri="{FF2B5EF4-FFF2-40B4-BE49-F238E27FC236}">
                <a16:creationId xmlns:a16="http://schemas.microsoft.com/office/drawing/2014/main" id="{EACB3C64-BCDC-26E1-89BB-655B2320DCF9}"/>
              </a:ext>
            </a:extLst>
          </p:cNvPr>
          <p:cNvSpPr txBox="1"/>
          <p:nvPr/>
        </p:nvSpPr>
        <p:spPr>
          <a:xfrm>
            <a:off x="3818156" y="1694709"/>
            <a:ext cx="392214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ea typeface="+mn-lt"/>
                <a:cs typeface="+mn-lt"/>
              </a:rPr>
              <a:t>         </a:t>
            </a:r>
            <a:r>
              <a:rPr lang="en-US" dirty="0">
                <a:latin typeface="Aptos"/>
                <a:ea typeface="+mn-lt"/>
                <a:cs typeface="+mn-lt"/>
              </a:rPr>
              <a:t>   </a:t>
            </a:r>
            <a:endParaRPr lang="en-US" dirty="0"/>
          </a:p>
        </p:txBody>
      </p:sp>
      <p:sp>
        <p:nvSpPr>
          <p:cNvPr id="10" name="CaixaDeTexto 9">
            <a:extLst>
              <a:ext uri="{FF2B5EF4-FFF2-40B4-BE49-F238E27FC236}">
                <a16:creationId xmlns:a16="http://schemas.microsoft.com/office/drawing/2014/main" id="{DA04AD27-3894-F42D-3177-7EB0C13C2C50}"/>
              </a:ext>
            </a:extLst>
          </p:cNvPr>
          <p:cNvSpPr txBox="1"/>
          <p:nvPr/>
        </p:nvSpPr>
        <p:spPr>
          <a:xfrm>
            <a:off x="1131360" y="1885141"/>
            <a:ext cx="60068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ea typeface="+mn-lt"/>
                <a:cs typeface="+mn-lt"/>
              </a:rPr>
              <a:t> </a:t>
            </a:r>
            <a:endParaRPr lang="en-US" sz="1600" b="1" dirty="0"/>
          </a:p>
        </p:txBody>
      </p:sp>
      <p:sp>
        <p:nvSpPr>
          <p:cNvPr id="12" name="CaixaDeTexto 11">
            <a:extLst>
              <a:ext uri="{FF2B5EF4-FFF2-40B4-BE49-F238E27FC236}">
                <a16:creationId xmlns:a16="http://schemas.microsoft.com/office/drawing/2014/main" id="{9C2AF835-C7BC-A812-1BA1-85E84D7399DE}"/>
              </a:ext>
            </a:extLst>
          </p:cNvPr>
          <p:cNvSpPr txBox="1"/>
          <p:nvPr/>
        </p:nvSpPr>
        <p:spPr>
          <a:xfrm>
            <a:off x="457349" y="1712553"/>
            <a:ext cx="10924819" cy="2862322"/>
          </a:xfrm>
          <a:prstGeom prst="rect">
            <a:avLst/>
          </a:prstGeom>
          <a:noFill/>
        </p:spPr>
        <p:txBody>
          <a:bodyPr wrap="square" lIns="91440" tIns="45720" rIns="91440" bIns="45720" anchor="t">
            <a:spAutoFit/>
          </a:bodyPr>
          <a:lstStyle/>
          <a:p>
            <a:pPr algn="just"/>
            <a:r>
              <a:rPr lang="pt-BR" dirty="0">
                <a:ea typeface="+mn-lt"/>
                <a:cs typeface="+mn-lt"/>
              </a:rPr>
              <a:t>A análise realizada mostra que o acidente do voo Alaska Airlines 261 foi consequência direta da falha do conjunto de eixo trapezoidal do estabilizador horizontal. O desgaste ocorreu devido à lubrificação inadequada e ao prolongamento excessivo dos intervalos de manutenção.</a:t>
            </a:r>
            <a:endParaRPr lang="pt-BR"/>
          </a:p>
          <a:p>
            <a:pPr algn="just"/>
            <a:endParaRPr lang="pt-BR" dirty="0">
              <a:ea typeface="+mn-lt"/>
              <a:cs typeface="+mn-lt"/>
            </a:endParaRPr>
          </a:p>
          <a:p>
            <a:pPr algn="just"/>
            <a:r>
              <a:rPr lang="pt-BR" dirty="0">
                <a:ea typeface="+mn-lt"/>
                <a:cs typeface="+mn-lt"/>
              </a:rPr>
              <a:t>Embora a tripulação estivesse qualificada e a aeronave tivesse sido liberada conforme regulamentação, o programa de manutenção da empresa apresentava falhas estruturais: procedimentos incompletos, inspeções insuficientes e ausência de controle rigoroso de componentes críticos.</a:t>
            </a:r>
          </a:p>
          <a:p>
            <a:pPr algn="just"/>
            <a:endParaRPr lang="pt-BR" dirty="0">
              <a:ea typeface="+mn-lt"/>
              <a:cs typeface="+mn-lt"/>
            </a:endParaRPr>
          </a:p>
          <a:p>
            <a:pPr algn="just"/>
            <a:r>
              <a:rPr lang="pt-BR" dirty="0">
                <a:ea typeface="+mn-lt"/>
                <a:cs typeface="+mn-lt"/>
              </a:rPr>
              <a:t>Além disso, a supervisão da FAA não identificou ou corrigiu essas deficiências a tempo, contribuindo para a continuidade das práticas inadequadas.</a:t>
            </a:r>
          </a:p>
        </p:txBody>
      </p:sp>
      <p:pic>
        <p:nvPicPr>
          <p:cNvPr id="13" name="Imagem 12" descr="McDonnell Douglas MD-83 - Alaska Airlines - Md83 - Sticker | TeePublic">
            <a:extLst>
              <a:ext uri="{FF2B5EF4-FFF2-40B4-BE49-F238E27FC236}">
                <a16:creationId xmlns:a16="http://schemas.microsoft.com/office/drawing/2014/main" id="{3AC16567-60A0-29A9-F583-2C78B4DD9759}"/>
              </a:ext>
            </a:extLst>
          </p:cNvPr>
          <p:cNvPicPr>
            <a:picLocks noChangeAspect="1"/>
          </p:cNvPicPr>
          <p:nvPr/>
        </p:nvPicPr>
        <p:blipFill>
          <a:blip r:embed="rId3"/>
          <a:srcRect l="4357" t="30172" r="4509" b="31209"/>
          <a:stretch>
            <a:fillRect/>
          </a:stretch>
        </p:blipFill>
        <p:spPr>
          <a:xfrm>
            <a:off x="2575487" y="4867738"/>
            <a:ext cx="6689477" cy="1841676"/>
          </a:xfrm>
          <a:prstGeom prst="rect">
            <a:avLst/>
          </a:prstGeom>
        </p:spPr>
      </p:pic>
      <p:sp>
        <p:nvSpPr>
          <p:cNvPr id="2" name="CaixaDeTexto 1">
            <a:extLst>
              <a:ext uri="{FF2B5EF4-FFF2-40B4-BE49-F238E27FC236}">
                <a16:creationId xmlns:a16="http://schemas.microsoft.com/office/drawing/2014/main" id="{B5B469E5-8F52-CC2B-65F2-DFA4F27782B8}"/>
              </a:ext>
            </a:extLst>
          </p:cNvPr>
          <p:cNvSpPr txBox="1"/>
          <p:nvPr/>
        </p:nvSpPr>
        <p:spPr>
          <a:xfrm>
            <a:off x="4640576" y="878495"/>
            <a:ext cx="291322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pt-BR" sz="3600" dirty="0"/>
              <a:t>CONCLUSÃO</a:t>
            </a:r>
          </a:p>
        </p:txBody>
      </p:sp>
    </p:spTree>
    <p:extLst>
      <p:ext uri="{BB962C8B-B14F-4D97-AF65-F5344CB8AC3E}">
        <p14:creationId xmlns:p14="http://schemas.microsoft.com/office/powerpoint/2010/main" val="964942513"/>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DFE02-2A74-03D7-DFAC-FBE8D61C715C}"/>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F0B08BA7-6DE1-EDDA-49D7-17A6EA641D21}"/>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68BDEDA9-AB16-97AC-1039-1E74DBC0216E}"/>
              </a:ext>
            </a:extLst>
          </p:cNvPr>
          <p:cNvSpPr txBox="1"/>
          <p:nvPr/>
        </p:nvSpPr>
        <p:spPr>
          <a:xfrm>
            <a:off x="252919" y="59345"/>
            <a:ext cx="1595025"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70C0"/>
                </a:solidFill>
                <a:effectLst/>
                <a:uLnTx/>
                <a:uFillTx/>
                <a:latin typeface="Arial"/>
                <a:cs typeface="Arial"/>
                <a:sym typeface="Helvetica Neue"/>
              </a:rPr>
              <a:t>Capítulo 12</a:t>
            </a:r>
            <a:endParaRPr kumimoji="0" lang="pt-BR" sz="2000" b="1" i="0" u="none" strike="noStrike" kern="1200" cap="none" spc="0" normalizeH="0" baseline="0" noProof="0" dirty="0">
              <a:ln>
                <a:noFill/>
              </a:ln>
              <a:solidFill>
                <a:srgbClr val="0070C0"/>
              </a:solidFill>
              <a:effectLst/>
              <a:uLnTx/>
              <a:uFillTx/>
              <a:latin typeface="Arial"/>
              <a:cs typeface="Arial"/>
              <a:sym typeface="Helvetica Neue"/>
            </a:endParaRPr>
          </a:p>
        </p:txBody>
      </p:sp>
      <p:sp>
        <p:nvSpPr>
          <p:cNvPr id="6" name="CaixaDeTexto 5">
            <a:extLst>
              <a:ext uri="{FF2B5EF4-FFF2-40B4-BE49-F238E27FC236}">
                <a16:creationId xmlns:a16="http://schemas.microsoft.com/office/drawing/2014/main" id="{306364F4-AF3D-9F7B-FA55-9470BB64D00D}"/>
              </a:ext>
            </a:extLst>
          </p:cNvPr>
          <p:cNvSpPr txBox="1"/>
          <p:nvPr/>
        </p:nvSpPr>
        <p:spPr>
          <a:xfrm>
            <a:off x="204278" y="564779"/>
            <a:ext cx="2791149" cy="307777"/>
          </a:xfrm>
          <a:prstGeom prst="rect">
            <a:avLst/>
          </a:prstGeom>
          <a:noFill/>
        </p:spPr>
        <p:txBody>
          <a:bodyPr wrap="none" lIns="91440" tIns="45720" rIns="91440" bIns="45720" rtlCol="0" anchor="t">
            <a:spAutoFit/>
          </a:bodyPr>
          <a:lstStyle/>
          <a:p>
            <a:r>
              <a:rPr lang="pt-BR" sz="1400" u="sng" dirty="0">
                <a:solidFill>
                  <a:srgbClr val="0070C0"/>
                </a:solidFill>
                <a:latin typeface="Arial"/>
                <a:cs typeface="Arial"/>
              </a:rPr>
              <a:t>Slide 12.1.1 – Fazer a conclusão</a:t>
            </a:r>
            <a:endParaRPr lang="pt-BR" sz="1400" u="sng" dirty="0">
              <a:solidFill>
                <a:srgbClr val="0070C0"/>
              </a:solidFill>
              <a:latin typeface="Arial" panose="020B0604020202020204" pitchFamily="34" charset="0"/>
              <a:cs typeface="Arial" panose="020B0604020202020204" pitchFamily="34" charset="0"/>
            </a:endParaRPr>
          </a:p>
        </p:txBody>
      </p:sp>
      <p:sp>
        <p:nvSpPr>
          <p:cNvPr id="8" name="CaixaDeTexto 7">
            <a:extLst>
              <a:ext uri="{FF2B5EF4-FFF2-40B4-BE49-F238E27FC236}">
                <a16:creationId xmlns:a16="http://schemas.microsoft.com/office/drawing/2014/main" id="{5070F144-79CB-E353-9C5D-362DB7320F3E}"/>
              </a:ext>
            </a:extLst>
          </p:cNvPr>
          <p:cNvSpPr txBox="1"/>
          <p:nvPr/>
        </p:nvSpPr>
        <p:spPr>
          <a:xfrm>
            <a:off x="10364949" y="0"/>
            <a:ext cx="1766236" cy="646331"/>
          </a:xfrm>
          <a:prstGeom prst="rect">
            <a:avLst/>
          </a:prstGeom>
          <a:noFill/>
        </p:spPr>
        <p:txBody>
          <a:bodyPr wrap="square" lIns="91440" tIns="45720" rIns="91440" bIns="45720" rtlCol="0" anchor="t">
            <a:spAutoFit/>
          </a:bodyPr>
          <a:lstStyle/>
          <a:p>
            <a:pPr algn="ctr">
              <a:defRPr/>
            </a:pPr>
            <a:r>
              <a:rPr lang="pt-BR" u="sng" dirty="0">
                <a:solidFill>
                  <a:srgbClr val="0070C0"/>
                </a:solidFill>
                <a:latin typeface="Aptos" panose="02110004020202020204"/>
              </a:rPr>
              <a:t>Resp.:</a:t>
            </a:r>
            <a:endParaRPr lang="pt-BR" dirty="0">
              <a:solidFill>
                <a:srgbClr val="000000"/>
              </a:solidFill>
              <a:latin typeface="Aptos" panose="02110004020202020204"/>
            </a:endParaRPr>
          </a:p>
          <a:p>
            <a:pPr algn="ctr">
              <a:defRPr/>
            </a:pPr>
            <a:r>
              <a:rPr lang="pt-BR" u="sng" dirty="0">
                <a:solidFill>
                  <a:srgbClr val="0070C0"/>
                </a:solidFill>
              </a:rPr>
              <a:t>Isabela Soares</a:t>
            </a:r>
          </a:p>
        </p:txBody>
      </p:sp>
      <p:sp>
        <p:nvSpPr>
          <p:cNvPr id="9" name="CaixaDeTexto 8">
            <a:extLst>
              <a:ext uri="{FF2B5EF4-FFF2-40B4-BE49-F238E27FC236}">
                <a16:creationId xmlns:a16="http://schemas.microsoft.com/office/drawing/2014/main" id="{F61AA1A3-CE6E-B848-B99E-74360331CA56}"/>
              </a:ext>
            </a:extLst>
          </p:cNvPr>
          <p:cNvSpPr txBox="1"/>
          <p:nvPr/>
        </p:nvSpPr>
        <p:spPr>
          <a:xfrm>
            <a:off x="1695516" y="110640"/>
            <a:ext cx="8669433" cy="307777"/>
          </a:xfrm>
          <a:prstGeom prst="rect">
            <a:avLst/>
          </a:prstGeom>
          <a:noFill/>
        </p:spPr>
        <p:txBody>
          <a:bodyPr wrap="square" lIns="91440" tIns="45720" rIns="91440" bIns="45720" rtlCol="0" anchor="t">
            <a:spAutoFit/>
          </a:bodyPr>
          <a:lstStyle/>
          <a:p>
            <a:pPr>
              <a:defRPr/>
            </a:pPr>
            <a:r>
              <a:rPr kumimoji="0" lang="pt-BR" sz="1400" b="0" i="0" u="none" strike="noStrike" kern="1200" cap="none" spc="0" normalizeH="0" baseline="0" noProof="0" dirty="0">
                <a:ln>
                  <a:noFill/>
                </a:ln>
                <a:solidFill>
                  <a:srgbClr val="0070C0"/>
                </a:solidFill>
                <a:effectLst/>
                <a:uLnTx/>
                <a:uFillTx/>
                <a:latin typeface="Arial"/>
                <a:ea typeface="+mn-ea"/>
                <a:cs typeface="Arial"/>
              </a:rPr>
              <a:t>Conclusão</a:t>
            </a:r>
            <a:endParaRPr kumimoji="0" lang="pt-BR" sz="1400" b="0"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B18FB2A0-17E7-2D2B-E9F8-978FF3535AF2}"/>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7" name="TextBox 6">
            <a:extLst>
              <a:ext uri="{FF2B5EF4-FFF2-40B4-BE49-F238E27FC236}">
                <a16:creationId xmlns:a16="http://schemas.microsoft.com/office/drawing/2014/main" id="{EACB3C64-BCDC-26E1-89BB-655B2320DCF9}"/>
              </a:ext>
            </a:extLst>
          </p:cNvPr>
          <p:cNvSpPr txBox="1"/>
          <p:nvPr/>
        </p:nvSpPr>
        <p:spPr>
          <a:xfrm>
            <a:off x="3818156" y="1694709"/>
            <a:ext cx="392214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ea typeface="+mn-lt"/>
                <a:cs typeface="+mn-lt"/>
              </a:rPr>
              <a:t>         </a:t>
            </a:r>
            <a:r>
              <a:rPr lang="en-US" dirty="0">
                <a:latin typeface="Aptos"/>
                <a:ea typeface="+mn-lt"/>
                <a:cs typeface="+mn-lt"/>
              </a:rPr>
              <a:t>   </a:t>
            </a:r>
            <a:endParaRPr lang="en-US" dirty="0"/>
          </a:p>
        </p:txBody>
      </p:sp>
      <p:sp>
        <p:nvSpPr>
          <p:cNvPr id="10" name="CaixaDeTexto 9">
            <a:extLst>
              <a:ext uri="{FF2B5EF4-FFF2-40B4-BE49-F238E27FC236}">
                <a16:creationId xmlns:a16="http://schemas.microsoft.com/office/drawing/2014/main" id="{DA04AD27-3894-F42D-3177-7EB0C13C2C50}"/>
              </a:ext>
            </a:extLst>
          </p:cNvPr>
          <p:cNvSpPr txBox="1"/>
          <p:nvPr/>
        </p:nvSpPr>
        <p:spPr>
          <a:xfrm>
            <a:off x="1131360" y="1885141"/>
            <a:ext cx="60068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ea typeface="+mn-lt"/>
                <a:cs typeface="+mn-lt"/>
              </a:rPr>
              <a:t> </a:t>
            </a:r>
            <a:endParaRPr lang="en-US" sz="1600" b="1" dirty="0"/>
          </a:p>
        </p:txBody>
      </p:sp>
      <p:sp>
        <p:nvSpPr>
          <p:cNvPr id="12" name="CaixaDeTexto 11">
            <a:extLst>
              <a:ext uri="{FF2B5EF4-FFF2-40B4-BE49-F238E27FC236}">
                <a16:creationId xmlns:a16="http://schemas.microsoft.com/office/drawing/2014/main" id="{9C2AF835-C7BC-A812-1BA1-85E84D7399DE}"/>
              </a:ext>
            </a:extLst>
          </p:cNvPr>
          <p:cNvSpPr txBox="1"/>
          <p:nvPr/>
        </p:nvSpPr>
        <p:spPr>
          <a:xfrm>
            <a:off x="6445682" y="1178171"/>
            <a:ext cx="5321878" cy="4524315"/>
          </a:xfrm>
          <a:prstGeom prst="rect">
            <a:avLst/>
          </a:prstGeom>
          <a:noFill/>
        </p:spPr>
        <p:txBody>
          <a:bodyPr wrap="square" lIns="91440" tIns="45720" rIns="91440" bIns="45720" anchor="t">
            <a:spAutoFit/>
          </a:bodyPr>
          <a:lstStyle/>
          <a:p>
            <a:pPr algn="just"/>
            <a:r>
              <a:rPr lang="pt-BR" dirty="0">
                <a:ea typeface="+mn-lt"/>
                <a:cs typeface="+mn-lt"/>
              </a:rPr>
              <a:t>Outro fator agravante foi que o projeto do conjunto do eixo não incorporava um mecanismo redundante ou à prova de falhas, permitindo que a quebra do componente levasse à perda completa de controle longitudinal.</a:t>
            </a:r>
          </a:p>
          <a:p>
            <a:pPr algn="just"/>
            <a:endParaRPr lang="pt-BR" dirty="0">
              <a:ea typeface="+mn-lt"/>
              <a:cs typeface="+mn-lt"/>
            </a:endParaRPr>
          </a:p>
          <a:p>
            <a:pPr algn="just"/>
            <a:r>
              <a:rPr lang="pt-BR" dirty="0">
                <a:ea typeface="+mn-lt"/>
                <a:cs typeface="+mn-lt"/>
              </a:rPr>
              <a:t>O caso reforça a importância de não estender intervalos de manutenção sem base analítica sólida. Extensões podem ser benéficas, mas apenas quando sustentadas por monitoramento contínuo, avaliações de desgaste reais e comprovação da efetividade da lubrificação.</a:t>
            </a:r>
          </a:p>
          <a:p>
            <a:pPr algn="just"/>
            <a:endParaRPr lang="pt-BR" dirty="0">
              <a:ea typeface="+mn-lt"/>
              <a:cs typeface="+mn-lt"/>
            </a:endParaRPr>
          </a:p>
          <a:p>
            <a:pPr algn="just"/>
            <a:r>
              <a:rPr lang="pt-BR" dirty="0">
                <a:ea typeface="+mn-lt"/>
                <a:cs typeface="+mn-lt"/>
              </a:rPr>
              <a:t>Sem esses controles, qualquer economia gerada transforma-se em risco significativo para a segurança operacional.</a:t>
            </a:r>
          </a:p>
        </p:txBody>
      </p:sp>
      <p:pic>
        <p:nvPicPr>
          <p:cNvPr id="13" name="Imagem 12" descr="175 Alaska Airlines 261 Stock Photos, High-Res Pictures, and Images - Getty  Images">
            <a:extLst>
              <a:ext uri="{FF2B5EF4-FFF2-40B4-BE49-F238E27FC236}">
                <a16:creationId xmlns:a16="http://schemas.microsoft.com/office/drawing/2014/main" id="{B377F0A7-14C7-00E1-3440-95ED99DE64FF}"/>
              </a:ext>
            </a:extLst>
          </p:cNvPr>
          <p:cNvPicPr>
            <a:picLocks noChangeAspect="1"/>
          </p:cNvPicPr>
          <p:nvPr/>
        </p:nvPicPr>
        <p:blipFill>
          <a:blip r:embed="rId3"/>
          <a:stretch>
            <a:fillRect/>
          </a:stretch>
        </p:blipFill>
        <p:spPr>
          <a:xfrm>
            <a:off x="872256" y="1180187"/>
            <a:ext cx="4549818" cy="4497627"/>
          </a:xfrm>
          <a:prstGeom prst="rect">
            <a:avLst/>
          </a:prstGeom>
        </p:spPr>
      </p:pic>
    </p:spTree>
    <p:extLst>
      <p:ext uri="{BB962C8B-B14F-4D97-AF65-F5344CB8AC3E}">
        <p14:creationId xmlns:p14="http://schemas.microsoft.com/office/powerpoint/2010/main" val="674046932"/>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3E0C3D0F-A690-2836-2A40-B742826DB3D5}"/>
              </a:ext>
            </a:extLst>
          </p:cNvPr>
          <p:cNvSpPr txBox="1"/>
          <p:nvPr/>
        </p:nvSpPr>
        <p:spPr>
          <a:xfrm>
            <a:off x="4628696" y="104571"/>
            <a:ext cx="274319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pt-BR" sz="3600" dirty="0"/>
              <a:t>Referências</a:t>
            </a:r>
          </a:p>
        </p:txBody>
      </p:sp>
      <p:sp>
        <p:nvSpPr>
          <p:cNvPr id="4" name="CaixaDeTexto 3">
            <a:extLst>
              <a:ext uri="{FF2B5EF4-FFF2-40B4-BE49-F238E27FC236}">
                <a16:creationId xmlns:a16="http://schemas.microsoft.com/office/drawing/2014/main" id="{B8244DED-E2DA-A4C8-BC77-6A1832E3EB33}"/>
              </a:ext>
            </a:extLst>
          </p:cNvPr>
          <p:cNvSpPr txBox="1"/>
          <p:nvPr/>
        </p:nvSpPr>
        <p:spPr>
          <a:xfrm>
            <a:off x="873512" y="1245219"/>
            <a:ext cx="10758666"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b="1" dirty="0"/>
              <a:t> Modos de Falha do Sistema de </a:t>
            </a:r>
            <a:r>
              <a:rPr lang="pt-BR" b="1" dirty="0" err="1"/>
              <a:t>Compensação</a:t>
            </a:r>
            <a:r>
              <a:rPr lang="pt-BR" b="1" dirty="0"/>
              <a:t> do Estabilizador Horizontal.pdf</a:t>
            </a:r>
            <a:endParaRPr lang="pt-PT" dirty="0"/>
          </a:p>
          <a:p>
            <a:endParaRPr lang="pt-BR" b="1" dirty="0"/>
          </a:p>
          <a:p>
            <a:r>
              <a:rPr lang="pt-BR" b="1"/>
              <a:t>NTSB Report.pdf</a:t>
            </a:r>
            <a:endParaRPr lang="pt-BR" b="1" dirty="0">
              <a:hlinkClick r:id="rId2">
                <a:extLst>
                  <a:ext uri="{A12FA001-AC4F-418D-AE19-62706E023703}">
                    <ahyp:hlinkClr xmlns:ahyp="http://schemas.microsoft.com/office/drawing/2018/hyperlinkcolor" val="tx"/>
                  </a:ext>
                </a:extLst>
              </a:hlinkClick>
            </a:endParaRPr>
          </a:p>
          <a:p>
            <a:br>
              <a:rPr lang="pt-BR" b="1" dirty="0"/>
            </a:br>
            <a:r>
              <a:rPr lang="pt-BR" b="1" dirty="0" err="1">
                <a:ea typeface="+mn-lt"/>
                <a:cs typeface="+mn-lt"/>
              </a:rPr>
              <a:t>Análise</a:t>
            </a:r>
            <a:r>
              <a:rPr lang="pt-BR" b="1" dirty="0">
                <a:ea typeface="+mn-lt"/>
                <a:cs typeface="+mn-lt"/>
              </a:rPr>
              <a:t> Custos de </a:t>
            </a:r>
            <a:r>
              <a:rPr lang="pt-BR" b="1" dirty="0" err="1">
                <a:ea typeface="+mn-lt"/>
                <a:cs typeface="+mn-lt"/>
              </a:rPr>
              <a:t>Manutenção</a:t>
            </a:r>
            <a:r>
              <a:rPr lang="pt-BR" b="1" dirty="0">
                <a:ea typeface="+mn-lt"/>
                <a:cs typeface="+mn-lt"/>
              </a:rPr>
              <a:t> MD-80.pdf</a:t>
            </a:r>
          </a:p>
          <a:p>
            <a:br>
              <a:rPr lang="pt-BR" b="1" dirty="0"/>
            </a:br>
            <a:r>
              <a:rPr lang="pt-BR" b="1" err="1">
                <a:ea typeface="+mn-lt"/>
                <a:cs typeface="+mn-lt"/>
              </a:rPr>
              <a:t>Nível</a:t>
            </a:r>
            <a:r>
              <a:rPr lang="pt-BR" b="1">
                <a:ea typeface="+mn-lt"/>
                <a:cs typeface="+mn-lt"/>
              </a:rPr>
              <a:t> de Alerta para a Falha do Conjunto de Eixo.pdf</a:t>
            </a:r>
            <a:endParaRPr lang="pt-BR" b="1"/>
          </a:p>
          <a:p>
            <a:endParaRPr lang="pt-BR" b="1" dirty="0"/>
          </a:p>
          <a:p>
            <a:r>
              <a:rPr lang="pt-BR" b="1" dirty="0"/>
              <a:t>NTSB Alaska Airlines </a:t>
            </a:r>
            <a:r>
              <a:rPr lang="pt-BR" b="1" dirty="0" err="1"/>
              <a:t>Flight</a:t>
            </a:r>
            <a:r>
              <a:rPr lang="pt-BR" b="1" dirty="0"/>
              <a:t> 261.pdf</a:t>
            </a:r>
            <a:endParaRPr lang="pt-BR" dirty="0"/>
          </a:p>
        </p:txBody>
      </p:sp>
    </p:spTree>
    <p:extLst>
      <p:ext uri="{BB962C8B-B14F-4D97-AF65-F5344CB8AC3E}">
        <p14:creationId xmlns:p14="http://schemas.microsoft.com/office/powerpoint/2010/main" val="3268198013"/>
      </p:ext>
    </p:extLst>
  </p:cSld>
  <p:clrMapOvr>
    <a:masterClrMapping/>
  </p:clrMapOvr>
  <p:transition spd="me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1ABCCFB9D3C004BB94D97C809799F2F" ma:contentTypeVersion="8" ma:contentTypeDescription="Create a new document." ma:contentTypeScope="" ma:versionID="c2b89dc85aa8552a19009a5f80179c02">
  <xsd:schema xmlns:xsd="http://www.w3.org/2001/XMLSchema" xmlns:xs="http://www.w3.org/2001/XMLSchema" xmlns:p="http://schemas.microsoft.com/office/2006/metadata/properties" xmlns:ns2="5778c784-c5d6-4776-848c-a3fbe1e3f7ab" targetNamespace="http://schemas.microsoft.com/office/2006/metadata/properties" ma:root="true" ma:fieldsID="3d11bd5628893defa2fc065608213160" ns2:_="">
    <xsd:import namespace="5778c784-c5d6-4776-848c-a3fbe1e3f7ab"/>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778c784-c5d6-4776-848c-a3fbe1e3f7ab"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ReferenceId xmlns="5778c784-c5d6-4776-848c-a3fbe1e3f7ab" xsi:nil="true"/>
  </documentManagement>
</p:properties>
</file>

<file path=customXml/itemProps1.xml><?xml version="1.0" encoding="utf-8"?>
<ds:datastoreItem xmlns:ds="http://schemas.openxmlformats.org/officeDocument/2006/customXml" ds:itemID="{B3145773-D737-4EC9-8261-5C2709CFF3F3}"/>
</file>

<file path=customXml/itemProps2.xml><?xml version="1.0" encoding="utf-8"?>
<ds:datastoreItem xmlns:ds="http://schemas.openxmlformats.org/officeDocument/2006/customXml" ds:itemID="{3C872017-E752-4F53-8D5B-27287A871FD8}">
  <ds:schemaRefs>
    <ds:schemaRef ds:uri="http://schemas.microsoft.com/sharepoint/v3/contenttype/forms"/>
  </ds:schemaRefs>
</ds:datastoreItem>
</file>

<file path=customXml/itemProps3.xml><?xml version="1.0" encoding="utf-8"?>
<ds:datastoreItem xmlns:ds="http://schemas.openxmlformats.org/officeDocument/2006/customXml" ds:itemID="{B6C7BBB0-65E3-4575-8567-14986480DDE4}">
  <ds:schemaRefs>
    <ds:schemaRef ds:uri="b5b4fdda-cf04-458a-9d93-49e24552b6f6"/>
    <ds:schemaRef ds:uri="http://purl.org/dc/dcmitype/"/>
    <ds:schemaRef ds:uri="http://schemas.microsoft.com/office/infopath/2007/PartnerControls"/>
    <ds:schemaRef ds:uri="http://www.w3.org/XML/1998/namespace"/>
    <ds:schemaRef ds:uri="http://schemas.microsoft.com/office/2006/documentManagement/types"/>
    <ds:schemaRef ds:uri="http://schemas.microsoft.com/office/2006/metadata/properties"/>
    <ds:schemaRef ds:uri="http://schemas.openxmlformats.org/package/2006/metadata/core-properties"/>
    <ds:schemaRef ds:uri="http://purl.org/dc/terms/"/>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395</TotalTime>
  <Words>2844</Words>
  <Application>Microsoft Office PowerPoint</Application>
  <PresentationFormat>Widescreen</PresentationFormat>
  <Paragraphs>269</Paragraphs>
  <Slides>20</Slides>
  <Notes>8</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20</vt:i4>
      </vt:variant>
    </vt:vector>
  </HeadingPairs>
  <TitlesOfParts>
    <vt:vector size="27" baseType="lpstr">
      <vt:lpstr>MS Gothic</vt:lpstr>
      <vt:lpstr>Aptos</vt:lpstr>
      <vt:lpstr>Aptos Display</vt:lpstr>
      <vt:lpstr>Arial</vt:lpstr>
      <vt:lpstr>Calibri</vt:lpstr>
      <vt:lpstr>Droid Sans</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RODRIGO ELIAS PEREIRA</dc:creator>
  <cp:lastModifiedBy>JAMILE VICTORIA DE SOUZA LINO</cp:lastModifiedBy>
  <cp:revision>176</cp:revision>
  <dcterms:created xsi:type="dcterms:W3CDTF">2025-03-11T00:08:10Z</dcterms:created>
  <dcterms:modified xsi:type="dcterms:W3CDTF">2025-11-16T22:36:39Z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0x01010021ABCCFB9D3C004BB94D97C809799F2F</vt:lpwstr>
  </property>
</Properties>
</file>