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6"/>
  </p:notesMasterIdLst>
  <p:sldIdLst>
    <p:sldId id="257" r:id="rId5"/>
    <p:sldId id="2147471201" r:id="rId6"/>
    <p:sldId id="2147471156" r:id="rId7"/>
    <p:sldId id="2147471157" r:id="rId8"/>
    <p:sldId id="2147471172" r:id="rId9"/>
    <p:sldId id="2147471194" r:id="rId10"/>
    <p:sldId id="2147471158" r:id="rId11"/>
    <p:sldId id="2147471195" r:id="rId12"/>
    <p:sldId id="2147471196" r:id="rId13"/>
    <p:sldId id="2147471197" r:id="rId14"/>
    <p:sldId id="2147471173" r:id="rId15"/>
    <p:sldId id="2147471174" r:id="rId16"/>
    <p:sldId id="2147471160" r:id="rId17"/>
    <p:sldId id="2147471175" r:id="rId18"/>
    <p:sldId id="2147471165" r:id="rId19"/>
    <p:sldId id="2147471166" r:id="rId20"/>
    <p:sldId id="2147471167" r:id="rId21"/>
    <p:sldId id="2147471202" r:id="rId22"/>
    <p:sldId id="2147471168" r:id="rId23"/>
    <p:sldId id="2147471203" r:id="rId24"/>
    <p:sldId id="2147471169" r:id="rId25"/>
    <p:sldId id="2147471204" r:id="rId26"/>
    <p:sldId id="2147471186" r:id="rId27"/>
    <p:sldId id="2147471187" r:id="rId28"/>
    <p:sldId id="2147471188" r:id="rId29"/>
    <p:sldId id="2147471205" r:id="rId30"/>
    <p:sldId id="2147471189" r:id="rId31"/>
    <p:sldId id="2147471206" r:id="rId32"/>
    <p:sldId id="2147471207" r:id="rId33"/>
    <p:sldId id="2147471208" r:id="rId34"/>
    <p:sldId id="2147471177" r:id="rId35"/>
    <p:sldId id="2147471178" r:id="rId36"/>
    <p:sldId id="2147471192" r:id="rId37"/>
    <p:sldId id="2147471180" r:id="rId38"/>
    <p:sldId id="2147471162" r:id="rId39"/>
    <p:sldId id="2147471163" r:id="rId40"/>
    <p:sldId id="2147471181" r:id="rId41"/>
    <p:sldId id="2147471182" r:id="rId42"/>
    <p:sldId id="2147471191" r:id="rId43"/>
    <p:sldId id="2147471193" r:id="rId44"/>
    <p:sldId id="2147471198" r:id="rId45"/>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9D6499-7F72-4F54-9064-8A0CF279E5CF}" v="2217" dt="2025-09-23T02:06:42.224"/>
    <p1510:client id="{72829954-8E3C-47DF-9081-F32BAE0B73D7}" v="1789" dt="2025-09-22T22:20:25.370"/>
    <p1510:client id="{84592A7A-3269-4255-B256-9E4606EC915F}" v="793" dt="2025-09-22T16:57:20.827"/>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B178-FCA9-4478-A18F-223F6C5C5FB2}" type="datetimeFigureOut">
              <a:t>22/09/2025</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B13993-F645-42BB-BDC6-6C27EE590429}" type="slidenum">
              <a:t>‹nº›</a:t>
            </a:fld>
            <a:endParaRPr lang="pt-BR"/>
          </a:p>
        </p:txBody>
      </p:sp>
    </p:spTree>
    <p:extLst>
      <p:ext uri="{BB962C8B-B14F-4D97-AF65-F5344CB8AC3E}">
        <p14:creationId xmlns:p14="http://schemas.microsoft.com/office/powerpoint/2010/main" val="3141305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Espaço Reservado para Imagem de Slide 1">
            <a:extLst>
              <a:ext uri="{FF2B5EF4-FFF2-40B4-BE49-F238E27FC236}">
                <a16:creationId xmlns:a16="http://schemas.microsoft.com/office/drawing/2014/main" id="{39F64EB7-3853-BB05-44AE-250FC021731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Espaço Reservado para Anotações 2">
            <a:extLst>
              <a:ext uri="{FF2B5EF4-FFF2-40B4-BE49-F238E27FC236}">
                <a16:creationId xmlns:a16="http://schemas.microsoft.com/office/drawing/2014/main" id="{932F9492-A0BF-CD35-D75C-436674FD373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4100" name="Espaço Reservado para Número de Slide 3">
            <a:extLst>
              <a:ext uri="{FF2B5EF4-FFF2-40B4-BE49-F238E27FC236}">
                <a16:creationId xmlns:a16="http://schemas.microsoft.com/office/drawing/2014/main" id="{9C00CCA5-8CAD-9486-4978-017A430DE3A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fontAlgn="base">
              <a:spcBef>
                <a:spcPct val="0"/>
              </a:spcBef>
              <a:spcAft>
                <a:spcPct val="0"/>
              </a:spcAft>
              <a:defRPr>
                <a:solidFill>
                  <a:schemeClr val="tx1"/>
                </a:solidFill>
                <a:latin typeface="Aptos" panose="020B0004020202020204" pitchFamily="34" charset="0"/>
              </a:defRPr>
            </a:lvl6pPr>
            <a:lvl7pPr marL="2971800" indent="-228600" fontAlgn="base">
              <a:spcBef>
                <a:spcPct val="0"/>
              </a:spcBef>
              <a:spcAft>
                <a:spcPct val="0"/>
              </a:spcAft>
              <a:defRPr>
                <a:solidFill>
                  <a:schemeClr val="tx1"/>
                </a:solidFill>
                <a:latin typeface="Aptos" panose="020B0004020202020204" pitchFamily="34" charset="0"/>
              </a:defRPr>
            </a:lvl7pPr>
            <a:lvl8pPr marL="3429000" indent="-228600" fontAlgn="base">
              <a:spcBef>
                <a:spcPct val="0"/>
              </a:spcBef>
              <a:spcAft>
                <a:spcPct val="0"/>
              </a:spcAft>
              <a:defRPr>
                <a:solidFill>
                  <a:schemeClr val="tx1"/>
                </a:solidFill>
                <a:latin typeface="Aptos" panose="020B0004020202020204" pitchFamily="34" charset="0"/>
              </a:defRPr>
            </a:lvl8pPr>
            <a:lvl9pPr marL="3886200" indent="-2286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674F9C81-55A5-4326-8502-47DA60A7C1BC}" type="slidenum">
              <a:rPr lang="pt-BR" altLang="en-US"/>
              <a:pPr fontAlgn="base">
                <a:spcBef>
                  <a:spcPct val="0"/>
                </a:spcBef>
                <a:spcAft>
                  <a:spcPct val="0"/>
                </a:spcAft>
              </a:pPr>
              <a:t>1</a:t>
            </a:fld>
            <a:endParaRPr lang="pt-BR"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AAB13993-F645-42BB-BDC6-6C27EE590429}" type="slidenum">
              <a:rPr lang="pt-BR" smtClean="0"/>
              <a:t>37</a:t>
            </a:fld>
            <a:endParaRPr lang="pt-BR"/>
          </a:p>
        </p:txBody>
      </p:sp>
    </p:spTree>
    <p:extLst>
      <p:ext uri="{BB962C8B-B14F-4D97-AF65-F5344CB8AC3E}">
        <p14:creationId xmlns:p14="http://schemas.microsoft.com/office/powerpoint/2010/main" val="1780740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E804C-C841-F63F-EF9C-2D9822D29A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pt-BR"/>
          </a:p>
        </p:txBody>
      </p:sp>
      <p:sp>
        <p:nvSpPr>
          <p:cNvPr id="3" name="Subtitle 2">
            <a:extLst>
              <a:ext uri="{FF2B5EF4-FFF2-40B4-BE49-F238E27FC236}">
                <a16:creationId xmlns:a16="http://schemas.microsoft.com/office/drawing/2014/main" id="{077F6D4D-675E-A7E7-BDC6-1B9AA0DB3F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pt-BR"/>
          </a:p>
        </p:txBody>
      </p:sp>
      <p:sp>
        <p:nvSpPr>
          <p:cNvPr id="4" name="Date Placeholder 3">
            <a:extLst>
              <a:ext uri="{FF2B5EF4-FFF2-40B4-BE49-F238E27FC236}">
                <a16:creationId xmlns:a16="http://schemas.microsoft.com/office/drawing/2014/main" id="{A141E944-8A01-E41F-6F75-54A60A0FB34B}"/>
              </a:ext>
            </a:extLst>
          </p:cNvPr>
          <p:cNvSpPr>
            <a:spLocks noGrp="1"/>
          </p:cNvSpPr>
          <p:nvPr>
            <p:ph type="dt" sz="half" idx="10"/>
          </p:nvPr>
        </p:nvSpPr>
        <p:spPr/>
        <p:txBody>
          <a:bodyPr/>
          <a:lstStyle/>
          <a:p>
            <a:fld id="{C1AF92EF-C2C2-4FE7-B0CC-B56D04CC503C}" type="datetimeFigureOut">
              <a:rPr lang="pt-BR" smtClean="0"/>
              <a:t>22/09/2025</a:t>
            </a:fld>
            <a:endParaRPr lang="pt-BR"/>
          </a:p>
        </p:txBody>
      </p:sp>
      <p:sp>
        <p:nvSpPr>
          <p:cNvPr id="5" name="Footer Placeholder 4">
            <a:extLst>
              <a:ext uri="{FF2B5EF4-FFF2-40B4-BE49-F238E27FC236}">
                <a16:creationId xmlns:a16="http://schemas.microsoft.com/office/drawing/2014/main" id="{16600EDC-2BAE-C954-5B49-59470487BA87}"/>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F5354623-4735-822A-8F18-7AB13F2495F9}"/>
              </a:ext>
            </a:extLst>
          </p:cNvPr>
          <p:cNvSpPr>
            <a:spLocks noGrp="1"/>
          </p:cNvSpPr>
          <p:nvPr>
            <p:ph type="sldNum" sz="quarter" idx="12"/>
          </p:nvPr>
        </p:nvSpPr>
        <p:spPr/>
        <p:txBody>
          <a:bodyPr/>
          <a:lstStyle/>
          <a:p>
            <a:fld id="{15EC5CAC-0D2B-42EC-9BE4-D43DD57308E8}" type="slidenum">
              <a:rPr lang="pt-BR" smtClean="0"/>
              <a:t>‹nº›</a:t>
            </a:fld>
            <a:endParaRPr lang="pt-BR"/>
          </a:p>
        </p:txBody>
      </p:sp>
    </p:spTree>
    <p:extLst>
      <p:ext uri="{BB962C8B-B14F-4D97-AF65-F5344CB8AC3E}">
        <p14:creationId xmlns:p14="http://schemas.microsoft.com/office/powerpoint/2010/main" val="735038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767F0-97B6-4898-1464-EA6D06DA0DD9}"/>
              </a:ext>
            </a:extLst>
          </p:cNvPr>
          <p:cNvSpPr>
            <a:spLocks noGrp="1"/>
          </p:cNvSpPr>
          <p:nvPr>
            <p:ph type="title"/>
          </p:nvPr>
        </p:nvSpPr>
        <p:spPr/>
        <p:txBody>
          <a:bodyPr/>
          <a:lstStyle/>
          <a:p>
            <a:r>
              <a:rPr lang="en-US"/>
              <a:t>Click to edit Master title style</a:t>
            </a:r>
            <a:endParaRPr lang="pt-BR"/>
          </a:p>
        </p:txBody>
      </p:sp>
      <p:sp>
        <p:nvSpPr>
          <p:cNvPr id="3" name="Content Placeholder 2">
            <a:extLst>
              <a:ext uri="{FF2B5EF4-FFF2-40B4-BE49-F238E27FC236}">
                <a16:creationId xmlns:a16="http://schemas.microsoft.com/office/drawing/2014/main" id="{696A71A3-FBAA-0C71-30EF-C4C3E17395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43E8FBE3-8886-056A-CEA2-3B982DFBE433}"/>
              </a:ext>
            </a:extLst>
          </p:cNvPr>
          <p:cNvSpPr>
            <a:spLocks noGrp="1"/>
          </p:cNvSpPr>
          <p:nvPr>
            <p:ph type="dt" sz="half" idx="10"/>
          </p:nvPr>
        </p:nvSpPr>
        <p:spPr/>
        <p:txBody>
          <a:bodyPr/>
          <a:lstStyle/>
          <a:p>
            <a:fld id="{C1AF92EF-C2C2-4FE7-B0CC-B56D04CC503C}" type="datetimeFigureOut">
              <a:rPr lang="pt-BR" smtClean="0"/>
              <a:t>22/09/2025</a:t>
            </a:fld>
            <a:endParaRPr lang="pt-BR"/>
          </a:p>
        </p:txBody>
      </p:sp>
      <p:sp>
        <p:nvSpPr>
          <p:cNvPr id="5" name="Footer Placeholder 4">
            <a:extLst>
              <a:ext uri="{FF2B5EF4-FFF2-40B4-BE49-F238E27FC236}">
                <a16:creationId xmlns:a16="http://schemas.microsoft.com/office/drawing/2014/main" id="{CEFB3C0C-F52E-BE24-4A52-DECAEFDA9BEC}"/>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289F6E4C-CD78-12A3-4EBE-974AD95EDFE1}"/>
              </a:ext>
            </a:extLst>
          </p:cNvPr>
          <p:cNvSpPr>
            <a:spLocks noGrp="1"/>
          </p:cNvSpPr>
          <p:nvPr>
            <p:ph type="sldNum" sz="quarter" idx="12"/>
          </p:nvPr>
        </p:nvSpPr>
        <p:spPr/>
        <p:txBody>
          <a:bodyPr/>
          <a:lstStyle/>
          <a:p>
            <a:fld id="{15EC5CAC-0D2B-42EC-9BE4-D43DD57308E8}" type="slidenum">
              <a:rPr lang="pt-BR" smtClean="0"/>
              <a:t>‹nº›</a:t>
            </a:fld>
            <a:endParaRPr lang="pt-BR"/>
          </a:p>
        </p:txBody>
      </p:sp>
    </p:spTree>
    <p:extLst>
      <p:ext uri="{BB962C8B-B14F-4D97-AF65-F5344CB8AC3E}">
        <p14:creationId xmlns:p14="http://schemas.microsoft.com/office/powerpoint/2010/main" val="2315282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00098-F150-419A-A9BC-1EE2D261B1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pt-BR"/>
          </a:p>
        </p:txBody>
      </p:sp>
      <p:sp>
        <p:nvSpPr>
          <p:cNvPr id="3" name="Text Placeholder 2">
            <a:extLst>
              <a:ext uri="{FF2B5EF4-FFF2-40B4-BE49-F238E27FC236}">
                <a16:creationId xmlns:a16="http://schemas.microsoft.com/office/drawing/2014/main" id="{A5CC16AB-E376-897E-2C52-BE550EF00B9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81FC71-64BC-F172-8AD4-BD9877270441}"/>
              </a:ext>
            </a:extLst>
          </p:cNvPr>
          <p:cNvSpPr>
            <a:spLocks noGrp="1"/>
          </p:cNvSpPr>
          <p:nvPr>
            <p:ph type="dt" sz="half" idx="10"/>
          </p:nvPr>
        </p:nvSpPr>
        <p:spPr/>
        <p:txBody>
          <a:bodyPr/>
          <a:lstStyle/>
          <a:p>
            <a:fld id="{C1AF92EF-C2C2-4FE7-B0CC-B56D04CC503C}" type="datetimeFigureOut">
              <a:rPr lang="pt-BR" smtClean="0"/>
              <a:t>22/09/2025</a:t>
            </a:fld>
            <a:endParaRPr lang="pt-BR"/>
          </a:p>
        </p:txBody>
      </p:sp>
      <p:sp>
        <p:nvSpPr>
          <p:cNvPr id="5" name="Footer Placeholder 4">
            <a:extLst>
              <a:ext uri="{FF2B5EF4-FFF2-40B4-BE49-F238E27FC236}">
                <a16:creationId xmlns:a16="http://schemas.microsoft.com/office/drawing/2014/main" id="{610CC6BA-5773-1B7F-16CE-FF6508864DDD}"/>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28C9EE54-D726-42B6-D5E5-2C3CE7115035}"/>
              </a:ext>
            </a:extLst>
          </p:cNvPr>
          <p:cNvSpPr>
            <a:spLocks noGrp="1"/>
          </p:cNvSpPr>
          <p:nvPr>
            <p:ph type="sldNum" sz="quarter" idx="12"/>
          </p:nvPr>
        </p:nvSpPr>
        <p:spPr/>
        <p:txBody>
          <a:bodyPr/>
          <a:lstStyle/>
          <a:p>
            <a:fld id="{15EC5CAC-0D2B-42EC-9BE4-D43DD57308E8}" type="slidenum">
              <a:rPr lang="pt-BR" smtClean="0"/>
              <a:t>‹nº›</a:t>
            </a:fld>
            <a:endParaRPr lang="pt-BR"/>
          </a:p>
        </p:txBody>
      </p:sp>
    </p:spTree>
    <p:extLst>
      <p:ext uri="{BB962C8B-B14F-4D97-AF65-F5344CB8AC3E}">
        <p14:creationId xmlns:p14="http://schemas.microsoft.com/office/powerpoint/2010/main" val="3011941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846-2F6A-744F-C918-4917FC4C37FE}"/>
              </a:ext>
            </a:extLst>
          </p:cNvPr>
          <p:cNvSpPr>
            <a:spLocks noGrp="1"/>
          </p:cNvSpPr>
          <p:nvPr>
            <p:ph type="title"/>
          </p:nvPr>
        </p:nvSpPr>
        <p:spPr/>
        <p:txBody>
          <a:bodyPr/>
          <a:lstStyle/>
          <a:p>
            <a:r>
              <a:rPr lang="en-US"/>
              <a:t>Click to edit Master title style</a:t>
            </a:r>
            <a:endParaRPr lang="pt-BR"/>
          </a:p>
        </p:txBody>
      </p:sp>
      <p:sp>
        <p:nvSpPr>
          <p:cNvPr id="3" name="Content Placeholder 2">
            <a:extLst>
              <a:ext uri="{FF2B5EF4-FFF2-40B4-BE49-F238E27FC236}">
                <a16:creationId xmlns:a16="http://schemas.microsoft.com/office/drawing/2014/main" id="{B67DDA83-FA02-B316-386E-56F8333941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Content Placeholder 3">
            <a:extLst>
              <a:ext uri="{FF2B5EF4-FFF2-40B4-BE49-F238E27FC236}">
                <a16:creationId xmlns:a16="http://schemas.microsoft.com/office/drawing/2014/main" id="{72155A66-8D0B-630E-20D2-1B5AE8E1E0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5" name="Date Placeholder 4">
            <a:extLst>
              <a:ext uri="{FF2B5EF4-FFF2-40B4-BE49-F238E27FC236}">
                <a16:creationId xmlns:a16="http://schemas.microsoft.com/office/drawing/2014/main" id="{E31483B9-A8BF-A4A6-AADD-40633E1B0768}"/>
              </a:ext>
            </a:extLst>
          </p:cNvPr>
          <p:cNvSpPr>
            <a:spLocks noGrp="1"/>
          </p:cNvSpPr>
          <p:nvPr>
            <p:ph type="dt" sz="half" idx="10"/>
          </p:nvPr>
        </p:nvSpPr>
        <p:spPr/>
        <p:txBody>
          <a:bodyPr/>
          <a:lstStyle/>
          <a:p>
            <a:fld id="{C1AF92EF-C2C2-4FE7-B0CC-B56D04CC503C}" type="datetimeFigureOut">
              <a:rPr lang="pt-BR" smtClean="0"/>
              <a:t>22/09/2025</a:t>
            </a:fld>
            <a:endParaRPr lang="pt-BR"/>
          </a:p>
        </p:txBody>
      </p:sp>
      <p:sp>
        <p:nvSpPr>
          <p:cNvPr id="6" name="Footer Placeholder 5">
            <a:extLst>
              <a:ext uri="{FF2B5EF4-FFF2-40B4-BE49-F238E27FC236}">
                <a16:creationId xmlns:a16="http://schemas.microsoft.com/office/drawing/2014/main" id="{35CB37AD-9875-6D91-41B1-8D727043B8E1}"/>
              </a:ext>
            </a:extLst>
          </p:cNvPr>
          <p:cNvSpPr>
            <a:spLocks noGrp="1"/>
          </p:cNvSpPr>
          <p:nvPr>
            <p:ph type="ftr" sz="quarter" idx="11"/>
          </p:nvPr>
        </p:nvSpPr>
        <p:spPr/>
        <p:txBody>
          <a:bodyPr/>
          <a:lstStyle/>
          <a:p>
            <a:endParaRPr lang="pt-BR"/>
          </a:p>
        </p:txBody>
      </p:sp>
      <p:sp>
        <p:nvSpPr>
          <p:cNvPr id="7" name="Slide Number Placeholder 6">
            <a:extLst>
              <a:ext uri="{FF2B5EF4-FFF2-40B4-BE49-F238E27FC236}">
                <a16:creationId xmlns:a16="http://schemas.microsoft.com/office/drawing/2014/main" id="{E8DF534F-6DDA-54E0-0E08-DF759D2AC2E1}"/>
              </a:ext>
            </a:extLst>
          </p:cNvPr>
          <p:cNvSpPr>
            <a:spLocks noGrp="1"/>
          </p:cNvSpPr>
          <p:nvPr>
            <p:ph type="sldNum" sz="quarter" idx="12"/>
          </p:nvPr>
        </p:nvSpPr>
        <p:spPr/>
        <p:txBody>
          <a:bodyPr/>
          <a:lstStyle/>
          <a:p>
            <a:fld id="{15EC5CAC-0D2B-42EC-9BE4-D43DD57308E8}" type="slidenum">
              <a:rPr lang="pt-BR" smtClean="0"/>
              <a:t>‹nº›</a:t>
            </a:fld>
            <a:endParaRPr lang="pt-BR"/>
          </a:p>
        </p:txBody>
      </p:sp>
    </p:spTree>
    <p:extLst>
      <p:ext uri="{BB962C8B-B14F-4D97-AF65-F5344CB8AC3E}">
        <p14:creationId xmlns:p14="http://schemas.microsoft.com/office/powerpoint/2010/main" val="1763987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8E74E-2150-50EE-B6ED-D1299E656C8D}"/>
              </a:ext>
            </a:extLst>
          </p:cNvPr>
          <p:cNvSpPr>
            <a:spLocks noGrp="1"/>
          </p:cNvSpPr>
          <p:nvPr>
            <p:ph type="title"/>
          </p:nvPr>
        </p:nvSpPr>
        <p:spPr>
          <a:xfrm>
            <a:off x="839788" y="365125"/>
            <a:ext cx="10515600" cy="1325563"/>
          </a:xfrm>
        </p:spPr>
        <p:txBody>
          <a:bodyPr/>
          <a:lstStyle/>
          <a:p>
            <a:r>
              <a:rPr lang="en-US"/>
              <a:t>Click to edit Master title style</a:t>
            </a:r>
            <a:endParaRPr lang="pt-BR"/>
          </a:p>
        </p:txBody>
      </p:sp>
      <p:sp>
        <p:nvSpPr>
          <p:cNvPr id="3" name="Text Placeholder 2">
            <a:extLst>
              <a:ext uri="{FF2B5EF4-FFF2-40B4-BE49-F238E27FC236}">
                <a16:creationId xmlns:a16="http://schemas.microsoft.com/office/drawing/2014/main" id="{CAE459A8-52A3-B7D3-1198-F2643D6ACE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B8441E-0D60-0601-83D3-87FE70A615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5" name="Text Placeholder 4">
            <a:extLst>
              <a:ext uri="{FF2B5EF4-FFF2-40B4-BE49-F238E27FC236}">
                <a16:creationId xmlns:a16="http://schemas.microsoft.com/office/drawing/2014/main" id="{E1958987-0357-7CFE-B623-A47635D7DC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94B78B-D078-5238-80D0-B789567B16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7" name="Date Placeholder 6">
            <a:extLst>
              <a:ext uri="{FF2B5EF4-FFF2-40B4-BE49-F238E27FC236}">
                <a16:creationId xmlns:a16="http://schemas.microsoft.com/office/drawing/2014/main" id="{16BB6AC4-1B5E-E3A1-C60C-AA5BC952BBDC}"/>
              </a:ext>
            </a:extLst>
          </p:cNvPr>
          <p:cNvSpPr>
            <a:spLocks noGrp="1"/>
          </p:cNvSpPr>
          <p:nvPr>
            <p:ph type="dt" sz="half" idx="10"/>
          </p:nvPr>
        </p:nvSpPr>
        <p:spPr/>
        <p:txBody>
          <a:bodyPr/>
          <a:lstStyle/>
          <a:p>
            <a:fld id="{C1AF92EF-C2C2-4FE7-B0CC-B56D04CC503C}" type="datetimeFigureOut">
              <a:rPr lang="pt-BR" smtClean="0"/>
              <a:t>22/09/2025</a:t>
            </a:fld>
            <a:endParaRPr lang="pt-BR"/>
          </a:p>
        </p:txBody>
      </p:sp>
      <p:sp>
        <p:nvSpPr>
          <p:cNvPr id="8" name="Footer Placeholder 7">
            <a:extLst>
              <a:ext uri="{FF2B5EF4-FFF2-40B4-BE49-F238E27FC236}">
                <a16:creationId xmlns:a16="http://schemas.microsoft.com/office/drawing/2014/main" id="{B031C5C5-6977-4577-D5C5-9EE92B183CF3}"/>
              </a:ext>
            </a:extLst>
          </p:cNvPr>
          <p:cNvSpPr>
            <a:spLocks noGrp="1"/>
          </p:cNvSpPr>
          <p:nvPr>
            <p:ph type="ftr" sz="quarter" idx="11"/>
          </p:nvPr>
        </p:nvSpPr>
        <p:spPr/>
        <p:txBody>
          <a:bodyPr/>
          <a:lstStyle/>
          <a:p>
            <a:endParaRPr lang="pt-BR"/>
          </a:p>
        </p:txBody>
      </p:sp>
      <p:sp>
        <p:nvSpPr>
          <p:cNvPr id="9" name="Slide Number Placeholder 8">
            <a:extLst>
              <a:ext uri="{FF2B5EF4-FFF2-40B4-BE49-F238E27FC236}">
                <a16:creationId xmlns:a16="http://schemas.microsoft.com/office/drawing/2014/main" id="{31643670-CA73-9D7B-9113-E81AE0338DD6}"/>
              </a:ext>
            </a:extLst>
          </p:cNvPr>
          <p:cNvSpPr>
            <a:spLocks noGrp="1"/>
          </p:cNvSpPr>
          <p:nvPr>
            <p:ph type="sldNum" sz="quarter" idx="12"/>
          </p:nvPr>
        </p:nvSpPr>
        <p:spPr/>
        <p:txBody>
          <a:bodyPr/>
          <a:lstStyle/>
          <a:p>
            <a:fld id="{15EC5CAC-0D2B-42EC-9BE4-D43DD57308E8}" type="slidenum">
              <a:rPr lang="pt-BR" smtClean="0"/>
              <a:t>‹nº›</a:t>
            </a:fld>
            <a:endParaRPr lang="pt-BR"/>
          </a:p>
        </p:txBody>
      </p:sp>
    </p:spTree>
    <p:extLst>
      <p:ext uri="{BB962C8B-B14F-4D97-AF65-F5344CB8AC3E}">
        <p14:creationId xmlns:p14="http://schemas.microsoft.com/office/powerpoint/2010/main" val="3628375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1252B-98E1-7087-B344-6A38D86D7730}"/>
              </a:ext>
            </a:extLst>
          </p:cNvPr>
          <p:cNvSpPr>
            <a:spLocks noGrp="1"/>
          </p:cNvSpPr>
          <p:nvPr>
            <p:ph type="title"/>
          </p:nvPr>
        </p:nvSpPr>
        <p:spPr/>
        <p:txBody>
          <a:bodyPr/>
          <a:lstStyle/>
          <a:p>
            <a:r>
              <a:rPr lang="en-US"/>
              <a:t>Click to edit Master title style</a:t>
            </a:r>
            <a:endParaRPr lang="pt-BR"/>
          </a:p>
        </p:txBody>
      </p:sp>
      <p:sp>
        <p:nvSpPr>
          <p:cNvPr id="3" name="Date Placeholder 2">
            <a:extLst>
              <a:ext uri="{FF2B5EF4-FFF2-40B4-BE49-F238E27FC236}">
                <a16:creationId xmlns:a16="http://schemas.microsoft.com/office/drawing/2014/main" id="{BEF864BB-DC36-E4AC-B1FC-D0C8F6A2E235}"/>
              </a:ext>
            </a:extLst>
          </p:cNvPr>
          <p:cNvSpPr>
            <a:spLocks noGrp="1"/>
          </p:cNvSpPr>
          <p:nvPr>
            <p:ph type="dt" sz="half" idx="10"/>
          </p:nvPr>
        </p:nvSpPr>
        <p:spPr/>
        <p:txBody>
          <a:bodyPr/>
          <a:lstStyle/>
          <a:p>
            <a:fld id="{C1AF92EF-C2C2-4FE7-B0CC-B56D04CC503C}" type="datetimeFigureOut">
              <a:rPr lang="pt-BR" smtClean="0"/>
              <a:t>22/09/2025</a:t>
            </a:fld>
            <a:endParaRPr lang="pt-BR"/>
          </a:p>
        </p:txBody>
      </p:sp>
      <p:sp>
        <p:nvSpPr>
          <p:cNvPr id="4" name="Footer Placeholder 3">
            <a:extLst>
              <a:ext uri="{FF2B5EF4-FFF2-40B4-BE49-F238E27FC236}">
                <a16:creationId xmlns:a16="http://schemas.microsoft.com/office/drawing/2014/main" id="{6F666BBF-0928-4374-620E-8BFEFFABB1EF}"/>
              </a:ext>
            </a:extLst>
          </p:cNvPr>
          <p:cNvSpPr>
            <a:spLocks noGrp="1"/>
          </p:cNvSpPr>
          <p:nvPr>
            <p:ph type="ftr" sz="quarter" idx="11"/>
          </p:nvPr>
        </p:nvSpPr>
        <p:spPr/>
        <p:txBody>
          <a:bodyPr/>
          <a:lstStyle/>
          <a:p>
            <a:endParaRPr lang="pt-BR"/>
          </a:p>
        </p:txBody>
      </p:sp>
      <p:sp>
        <p:nvSpPr>
          <p:cNvPr id="5" name="Slide Number Placeholder 4">
            <a:extLst>
              <a:ext uri="{FF2B5EF4-FFF2-40B4-BE49-F238E27FC236}">
                <a16:creationId xmlns:a16="http://schemas.microsoft.com/office/drawing/2014/main" id="{52ED3C37-7172-77E1-F696-20197EE60339}"/>
              </a:ext>
            </a:extLst>
          </p:cNvPr>
          <p:cNvSpPr>
            <a:spLocks noGrp="1"/>
          </p:cNvSpPr>
          <p:nvPr>
            <p:ph type="sldNum" sz="quarter" idx="12"/>
          </p:nvPr>
        </p:nvSpPr>
        <p:spPr/>
        <p:txBody>
          <a:bodyPr/>
          <a:lstStyle/>
          <a:p>
            <a:fld id="{15EC5CAC-0D2B-42EC-9BE4-D43DD57308E8}" type="slidenum">
              <a:rPr lang="pt-BR" smtClean="0"/>
              <a:t>‹nº›</a:t>
            </a:fld>
            <a:endParaRPr lang="pt-BR"/>
          </a:p>
        </p:txBody>
      </p:sp>
    </p:spTree>
    <p:extLst>
      <p:ext uri="{BB962C8B-B14F-4D97-AF65-F5344CB8AC3E}">
        <p14:creationId xmlns:p14="http://schemas.microsoft.com/office/powerpoint/2010/main" val="940080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A75BA1-AFED-96B0-7CA0-898C67A6203C}"/>
              </a:ext>
            </a:extLst>
          </p:cNvPr>
          <p:cNvSpPr>
            <a:spLocks noGrp="1"/>
          </p:cNvSpPr>
          <p:nvPr>
            <p:ph type="dt" sz="half" idx="10"/>
          </p:nvPr>
        </p:nvSpPr>
        <p:spPr/>
        <p:txBody>
          <a:bodyPr/>
          <a:lstStyle/>
          <a:p>
            <a:fld id="{C1AF92EF-C2C2-4FE7-B0CC-B56D04CC503C}" type="datetimeFigureOut">
              <a:rPr lang="pt-BR" smtClean="0"/>
              <a:t>22/09/2025</a:t>
            </a:fld>
            <a:endParaRPr lang="pt-BR"/>
          </a:p>
        </p:txBody>
      </p:sp>
      <p:sp>
        <p:nvSpPr>
          <p:cNvPr id="3" name="Footer Placeholder 2">
            <a:extLst>
              <a:ext uri="{FF2B5EF4-FFF2-40B4-BE49-F238E27FC236}">
                <a16:creationId xmlns:a16="http://schemas.microsoft.com/office/drawing/2014/main" id="{DBF0919E-04B3-10BD-5A4C-A73AD9D17218}"/>
              </a:ext>
            </a:extLst>
          </p:cNvPr>
          <p:cNvSpPr>
            <a:spLocks noGrp="1"/>
          </p:cNvSpPr>
          <p:nvPr>
            <p:ph type="ftr" sz="quarter" idx="11"/>
          </p:nvPr>
        </p:nvSpPr>
        <p:spPr/>
        <p:txBody>
          <a:bodyPr/>
          <a:lstStyle/>
          <a:p>
            <a:endParaRPr lang="pt-BR"/>
          </a:p>
        </p:txBody>
      </p:sp>
      <p:sp>
        <p:nvSpPr>
          <p:cNvPr id="4" name="Slide Number Placeholder 3">
            <a:extLst>
              <a:ext uri="{FF2B5EF4-FFF2-40B4-BE49-F238E27FC236}">
                <a16:creationId xmlns:a16="http://schemas.microsoft.com/office/drawing/2014/main" id="{390E1FBF-BFF7-212B-DA76-2B2A25493884}"/>
              </a:ext>
            </a:extLst>
          </p:cNvPr>
          <p:cNvSpPr>
            <a:spLocks noGrp="1"/>
          </p:cNvSpPr>
          <p:nvPr>
            <p:ph type="sldNum" sz="quarter" idx="12"/>
          </p:nvPr>
        </p:nvSpPr>
        <p:spPr/>
        <p:txBody>
          <a:bodyPr/>
          <a:lstStyle/>
          <a:p>
            <a:fld id="{15EC5CAC-0D2B-42EC-9BE4-D43DD57308E8}" type="slidenum">
              <a:rPr lang="pt-BR" smtClean="0"/>
              <a:t>‹nº›</a:t>
            </a:fld>
            <a:endParaRPr lang="pt-BR"/>
          </a:p>
        </p:txBody>
      </p:sp>
    </p:spTree>
    <p:extLst>
      <p:ext uri="{BB962C8B-B14F-4D97-AF65-F5344CB8AC3E}">
        <p14:creationId xmlns:p14="http://schemas.microsoft.com/office/powerpoint/2010/main" val="3966603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61075-D163-3EE4-B161-258DEBFB70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t-BR"/>
          </a:p>
        </p:txBody>
      </p:sp>
      <p:sp>
        <p:nvSpPr>
          <p:cNvPr id="3" name="Content Placeholder 2">
            <a:extLst>
              <a:ext uri="{FF2B5EF4-FFF2-40B4-BE49-F238E27FC236}">
                <a16:creationId xmlns:a16="http://schemas.microsoft.com/office/drawing/2014/main" id="{585D32FB-A51D-DF66-7C51-DDCCFA9E3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Text Placeholder 3">
            <a:extLst>
              <a:ext uri="{FF2B5EF4-FFF2-40B4-BE49-F238E27FC236}">
                <a16:creationId xmlns:a16="http://schemas.microsoft.com/office/drawing/2014/main" id="{1109AB59-B641-D3EC-29D5-B7871F5E1A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851CC6-5465-6E80-1CE8-862753C84142}"/>
              </a:ext>
            </a:extLst>
          </p:cNvPr>
          <p:cNvSpPr>
            <a:spLocks noGrp="1"/>
          </p:cNvSpPr>
          <p:nvPr>
            <p:ph type="dt" sz="half" idx="10"/>
          </p:nvPr>
        </p:nvSpPr>
        <p:spPr/>
        <p:txBody>
          <a:bodyPr/>
          <a:lstStyle/>
          <a:p>
            <a:fld id="{C1AF92EF-C2C2-4FE7-B0CC-B56D04CC503C}" type="datetimeFigureOut">
              <a:rPr lang="pt-BR" smtClean="0"/>
              <a:t>22/09/2025</a:t>
            </a:fld>
            <a:endParaRPr lang="pt-BR"/>
          </a:p>
        </p:txBody>
      </p:sp>
      <p:sp>
        <p:nvSpPr>
          <p:cNvPr id="6" name="Footer Placeholder 5">
            <a:extLst>
              <a:ext uri="{FF2B5EF4-FFF2-40B4-BE49-F238E27FC236}">
                <a16:creationId xmlns:a16="http://schemas.microsoft.com/office/drawing/2014/main" id="{AA89E4E7-2E7F-1D99-0C56-7CED5E446EB3}"/>
              </a:ext>
            </a:extLst>
          </p:cNvPr>
          <p:cNvSpPr>
            <a:spLocks noGrp="1"/>
          </p:cNvSpPr>
          <p:nvPr>
            <p:ph type="ftr" sz="quarter" idx="11"/>
          </p:nvPr>
        </p:nvSpPr>
        <p:spPr/>
        <p:txBody>
          <a:bodyPr/>
          <a:lstStyle/>
          <a:p>
            <a:endParaRPr lang="pt-BR"/>
          </a:p>
        </p:txBody>
      </p:sp>
      <p:sp>
        <p:nvSpPr>
          <p:cNvPr id="7" name="Slide Number Placeholder 6">
            <a:extLst>
              <a:ext uri="{FF2B5EF4-FFF2-40B4-BE49-F238E27FC236}">
                <a16:creationId xmlns:a16="http://schemas.microsoft.com/office/drawing/2014/main" id="{10A5DDF2-15B4-3C53-645F-201F3DAAACB4}"/>
              </a:ext>
            </a:extLst>
          </p:cNvPr>
          <p:cNvSpPr>
            <a:spLocks noGrp="1"/>
          </p:cNvSpPr>
          <p:nvPr>
            <p:ph type="sldNum" sz="quarter" idx="12"/>
          </p:nvPr>
        </p:nvSpPr>
        <p:spPr/>
        <p:txBody>
          <a:bodyPr/>
          <a:lstStyle/>
          <a:p>
            <a:fld id="{15EC5CAC-0D2B-42EC-9BE4-D43DD57308E8}" type="slidenum">
              <a:rPr lang="pt-BR" smtClean="0"/>
              <a:t>‹nº›</a:t>
            </a:fld>
            <a:endParaRPr lang="pt-BR"/>
          </a:p>
        </p:txBody>
      </p:sp>
    </p:spTree>
    <p:extLst>
      <p:ext uri="{BB962C8B-B14F-4D97-AF65-F5344CB8AC3E}">
        <p14:creationId xmlns:p14="http://schemas.microsoft.com/office/powerpoint/2010/main" val="14705607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41610-D8BE-4877-12C9-B496F4C827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t-BR"/>
          </a:p>
        </p:txBody>
      </p:sp>
      <p:sp>
        <p:nvSpPr>
          <p:cNvPr id="3" name="Picture Placeholder 2">
            <a:extLst>
              <a:ext uri="{FF2B5EF4-FFF2-40B4-BE49-F238E27FC236}">
                <a16:creationId xmlns:a16="http://schemas.microsoft.com/office/drawing/2014/main" id="{DCF19008-EC03-AD15-F71B-5241856BC9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Text Placeholder 3">
            <a:extLst>
              <a:ext uri="{FF2B5EF4-FFF2-40B4-BE49-F238E27FC236}">
                <a16:creationId xmlns:a16="http://schemas.microsoft.com/office/drawing/2014/main" id="{86347B67-E286-0A94-D5ED-CBEC3A4E0D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EA531A-7D3A-CD92-40A8-5162542F8D3C}"/>
              </a:ext>
            </a:extLst>
          </p:cNvPr>
          <p:cNvSpPr>
            <a:spLocks noGrp="1"/>
          </p:cNvSpPr>
          <p:nvPr>
            <p:ph type="dt" sz="half" idx="10"/>
          </p:nvPr>
        </p:nvSpPr>
        <p:spPr/>
        <p:txBody>
          <a:bodyPr/>
          <a:lstStyle/>
          <a:p>
            <a:fld id="{C1AF92EF-C2C2-4FE7-B0CC-B56D04CC503C}" type="datetimeFigureOut">
              <a:rPr lang="pt-BR" smtClean="0"/>
              <a:t>22/09/2025</a:t>
            </a:fld>
            <a:endParaRPr lang="pt-BR"/>
          </a:p>
        </p:txBody>
      </p:sp>
      <p:sp>
        <p:nvSpPr>
          <p:cNvPr id="6" name="Footer Placeholder 5">
            <a:extLst>
              <a:ext uri="{FF2B5EF4-FFF2-40B4-BE49-F238E27FC236}">
                <a16:creationId xmlns:a16="http://schemas.microsoft.com/office/drawing/2014/main" id="{272ED5FE-359C-0EAE-36C6-58177F83AA08}"/>
              </a:ext>
            </a:extLst>
          </p:cNvPr>
          <p:cNvSpPr>
            <a:spLocks noGrp="1"/>
          </p:cNvSpPr>
          <p:nvPr>
            <p:ph type="ftr" sz="quarter" idx="11"/>
          </p:nvPr>
        </p:nvSpPr>
        <p:spPr/>
        <p:txBody>
          <a:bodyPr/>
          <a:lstStyle/>
          <a:p>
            <a:endParaRPr lang="pt-BR"/>
          </a:p>
        </p:txBody>
      </p:sp>
      <p:sp>
        <p:nvSpPr>
          <p:cNvPr id="7" name="Slide Number Placeholder 6">
            <a:extLst>
              <a:ext uri="{FF2B5EF4-FFF2-40B4-BE49-F238E27FC236}">
                <a16:creationId xmlns:a16="http://schemas.microsoft.com/office/drawing/2014/main" id="{B2E6E3CF-3717-AD65-E174-187608C1CA0B}"/>
              </a:ext>
            </a:extLst>
          </p:cNvPr>
          <p:cNvSpPr>
            <a:spLocks noGrp="1"/>
          </p:cNvSpPr>
          <p:nvPr>
            <p:ph type="sldNum" sz="quarter" idx="12"/>
          </p:nvPr>
        </p:nvSpPr>
        <p:spPr/>
        <p:txBody>
          <a:bodyPr/>
          <a:lstStyle/>
          <a:p>
            <a:fld id="{15EC5CAC-0D2B-42EC-9BE4-D43DD57308E8}" type="slidenum">
              <a:rPr lang="pt-BR" smtClean="0"/>
              <a:t>‹nº›</a:t>
            </a:fld>
            <a:endParaRPr lang="pt-BR"/>
          </a:p>
        </p:txBody>
      </p:sp>
    </p:spTree>
    <p:extLst>
      <p:ext uri="{BB962C8B-B14F-4D97-AF65-F5344CB8AC3E}">
        <p14:creationId xmlns:p14="http://schemas.microsoft.com/office/powerpoint/2010/main" val="647912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15EDF-2119-F798-A03C-50B2AEF2642F}"/>
              </a:ext>
            </a:extLst>
          </p:cNvPr>
          <p:cNvSpPr>
            <a:spLocks noGrp="1"/>
          </p:cNvSpPr>
          <p:nvPr>
            <p:ph type="title"/>
          </p:nvPr>
        </p:nvSpPr>
        <p:spPr/>
        <p:txBody>
          <a:bodyPr/>
          <a:lstStyle/>
          <a:p>
            <a:r>
              <a:rPr lang="en-US"/>
              <a:t>Click to edit Master title style</a:t>
            </a:r>
            <a:endParaRPr lang="pt-BR"/>
          </a:p>
        </p:txBody>
      </p:sp>
      <p:sp>
        <p:nvSpPr>
          <p:cNvPr id="3" name="Vertical Text Placeholder 2">
            <a:extLst>
              <a:ext uri="{FF2B5EF4-FFF2-40B4-BE49-F238E27FC236}">
                <a16:creationId xmlns:a16="http://schemas.microsoft.com/office/drawing/2014/main" id="{67B31E18-E903-75D7-AA58-E5A8D8062C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3A81C66C-06C2-E604-27F9-DACD7967ECB6}"/>
              </a:ext>
            </a:extLst>
          </p:cNvPr>
          <p:cNvSpPr>
            <a:spLocks noGrp="1"/>
          </p:cNvSpPr>
          <p:nvPr>
            <p:ph type="dt" sz="half" idx="10"/>
          </p:nvPr>
        </p:nvSpPr>
        <p:spPr/>
        <p:txBody>
          <a:bodyPr/>
          <a:lstStyle/>
          <a:p>
            <a:fld id="{C1AF92EF-C2C2-4FE7-B0CC-B56D04CC503C}" type="datetimeFigureOut">
              <a:rPr lang="pt-BR" smtClean="0"/>
              <a:t>22/09/2025</a:t>
            </a:fld>
            <a:endParaRPr lang="pt-BR"/>
          </a:p>
        </p:txBody>
      </p:sp>
      <p:sp>
        <p:nvSpPr>
          <p:cNvPr id="5" name="Footer Placeholder 4">
            <a:extLst>
              <a:ext uri="{FF2B5EF4-FFF2-40B4-BE49-F238E27FC236}">
                <a16:creationId xmlns:a16="http://schemas.microsoft.com/office/drawing/2014/main" id="{B179167B-CC90-563D-1BFC-6F80D99D886E}"/>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DDFFC286-F1DB-308D-CAD9-B6BA8A182CD4}"/>
              </a:ext>
            </a:extLst>
          </p:cNvPr>
          <p:cNvSpPr>
            <a:spLocks noGrp="1"/>
          </p:cNvSpPr>
          <p:nvPr>
            <p:ph type="sldNum" sz="quarter" idx="12"/>
          </p:nvPr>
        </p:nvSpPr>
        <p:spPr/>
        <p:txBody>
          <a:bodyPr/>
          <a:lstStyle/>
          <a:p>
            <a:fld id="{15EC5CAC-0D2B-42EC-9BE4-D43DD57308E8}" type="slidenum">
              <a:rPr lang="pt-BR" smtClean="0"/>
              <a:t>‹nº›</a:t>
            </a:fld>
            <a:endParaRPr lang="pt-BR"/>
          </a:p>
        </p:txBody>
      </p:sp>
    </p:spTree>
    <p:extLst>
      <p:ext uri="{BB962C8B-B14F-4D97-AF65-F5344CB8AC3E}">
        <p14:creationId xmlns:p14="http://schemas.microsoft.com/office/powerpoint/2010/main" val="987194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333EC9-43AC-C49C-F581-D836E79C75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pt-BR"/>
          </a:p>
        </p:txBody>
      </p:sp>
      <p:sp>
        <p:nvSpPr>
          <p:cNvPr id="3" name="Vertical Text Placeholder 2">
            <a:extLst>
              <a:ext uri="{FF2B5EF4-FFF2-40B4-BE49-F238E27FC236}">
                <a16:creationId xmlns:a16="http://schemas.microsoft.com/office/drawing/2014/main" id="{C04A66BB-384C-B1FC-2D54-C90FB98785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882723A2-21F1-B3BF-EBCA-3CD3D310F91A}"/>
              </a:ext>
            </a:extLst>
          </p:cNvPr>
          <p:cNvSpPr>
            <a:spLocks noGrp="1"/>
          </p:cNvSpPr>
          <p:nvPr>
            <p:ph type="dt" sz="half" idx="10"/>
          </p:nvPr>
        </p:nvSpPr>
        <p:spPr/>
        <p:txBody>
          <a:bodyPr/>
          <a:lstStyle/>
          <a:p>
            <a:fld id="{C1AF92EF-C2C2-4FE7-B0CC-B56D04CC503C}" type="datetimeFigureOut">
              <a:rPr lang="pt-BR" smtClean="0"/>
              <a:t>22/09/2025</a:t>
            </a:fld>
            <a:endParaRPr lang="pt-BR"/>
          </a:p>
        </p:txBody>
      </p:sp>
      <p:sp>
        <p:nvSpPr>
          <p:cNvPr id="5" name="Footer Placeholder 4">
            <a:extLst>
              <a:ext uri="{FF2B5EF4-FFF2-40B4-BE49-F238E27FC236}">
                <a16:creationId xmlns:a16="http://schemas.microsoft.com/office/drawing/2014/main" id="{B0603832-EF08-7839-B54F-73B1DDA03CBA}"/>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AB85CCF3-348B-A0FB-1897-53BA7299E30D}"/>
              </a:ext>
            </a:extLst>
          </p:cNvPr>
          <p:cNvSpPr>
            <a:spLocks noGrp="1"/>
          </p:cNvSpPr>
          <p:nvPr>
            <p:ph type="sldNum" sz="quarter" idx="12"/>
          </p:nvPr>
        </p:nvSpPr>
        <p:spPr/>
        <p:txBody>
          <a:bodyPr/>
          <a:lstStyle/>
          <a:p>
            <a:fld id="{15EC5CAC-0D2B-42EC-9BE4-D43DD57308E8}" type="slidenum">
              <a:rPr lang="pt-BR" smtClean="0"/>
              <a:t>‹nº›</a:t>
            </a:fld>
            <a:endParaRPr lang="pt-BR"/>
          </a:p>
        </p:txBody>
      </p:sp>
    </p:spTree>
    <p:extLst>
      <p:ext uri="{BB962C8B-B14F-4D97-AF65-F5344CB8AC3E}">
        <p14:creationId xmlns:p14="http://schemas.microsoft.com/office/powerpoint/2010/main" val="10959982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Limpo">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296086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DFFB70-60B5-3946-7116-14D84326C1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pt-BR"/>
          </a:p>
        </p:txBody>
      </p:sp>
      <p:sp>
        <p:nvSpPr>
          <p:cNvPr id="3" name="Text Placeholder 2">
            <a:extLst>
              <a:ext uri="{FF2B5EF4-FFF2-40B4-BE49-F238E27FC236}">
                <a16:creationId xmlns:a16="http://schemas.microsoft.com/office/drawing/2014/main" id="{A9B9E5CC-74BF-9813-F0F7-130A0F6B0D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C2661B58-A81C-14C0-BBEE-454AD11CBF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1AF92EF-C2C2-4FE7-B0CC-B56D04CC503C}" type="datetimeFigureOut">
              <a:rPr lang="pt-BR" smtClean="0"/>
              <a:t>22/09/2025</a:t>
            </a:fld>
            <a:endParaRPr lang="pt-BR"/>
          </a:p>
        </p:txBody>
      </p:sp>
      <p:sp>
        <p:nvSpPr>
          <p:cNvPr id="5" name="Footer Placeholder 4">
            <a:extLst>
              <a:ext uri="{FF2B5EF4-FFF2-40B4-BE49-F238E27FC236}">
                <a16:creationId xmlns:a16="http://schemas.microsoft.com/office/drawing/2014/main" id="{A8B501C3-5120-A0B1-3A39-21E843BCB5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Slide Number Placeholder 5">
            <a:extLst>
              <a:ext uri="{FF2B5EF4-FFF2-40B4-BE49-F238E27FC236}">
                <a16:creationId xmlns:a16="http://schemas.microsoft.com/office/drawing/2014/main" id="{DC8DCA61-C6CE-4C8F-CC70-60D1DCD5E0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EC5CAC-0D2B-42EC-9BE4-D43DD57308E8}" type="slidenum">
              <a:rPr lang="pt-BR" smtClean="0"/>
              <a:t>‹nº›</a:t>
            </a:fld>
            <a:endParaRPr lang="pt-BR"/>
          </a:p>
        </p:txBody>
      </p:sp>
    </p:spTree>
    <p:extLst>
      <p:ext uri="{BB962C8B-B14F-4D97-AF65-F5344CB8AC3E}">
        <p14:creationId xmlns:p14="http://schemas.microsoft.com/office/powerpoint/2010/main" val="14922729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descr="Avião de passageiros voando no céu&#10;&#10;O conteúdo gerado por IA pode estar incorreto.">
            <a:extLst>
              <a:ext uri="{FF2B5EF4-FFF2-40B4-BE49-F238E27FC236}">
                <a16:creationId xmlns:a16="http://schemas.microsoft.com/office/drawing/2014/main" id="{0AD6B2E7-8113-96BC-F5BC-DA1F92053373}"/>
              </a:ext>
            </a:extLst>
          </p:cNvPr>
          <p:cNvPicPr>
            <a:picLocks noChangeAspect="1"/>
          </p:cNvPicPr>
          <p:nvPr/>
        </p:nvPicPr>
        <p:blipFill>
          <a:blip r:embed="rId3">
            <a:alphaModFix amt="36000"/>
          </a:blip>
          <a:stretch>
            <a:fillRect/>
          </a:stretch>
        </p:blipFill>
        <p:spPr>
          <a:xfrm>
            <a:off x="69480" y="5089"/>
            <a:ext cx="12126108" cy="68373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074" name="CaixaDeTexto 10">
            <a:extLst>
              <a:ext uri="{FF2B5EF4-FFF2-40B4-BE49-F238E27FC236}">
                <a16:creationId xmlns:a16="http://schemas.microsoft.com/office/drawing/2014/main" id="{757D0703-03A4-E2AC-89F6-1896980DD04F}"/>
              </a:ext>
            </a:extLst>
          </p:cNvPr>
          <p:cNvSpPr txBox="1">
            <a:spLocks noChangeArrowheads="1"/>
          </p:cNvSpPr>
          <p:nvPr/>
        </p:nvSpPr>
        <p:spPr bwMode="auto">
          <a:xfrm>
            <a:off x="2920" y="1574916"/>
            <a:ext cx="5979243"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fontAlgn="base">
              <a:spcBef>
                <a:spcPct val="0"/>
              </a:spcBef>
              <a:spcAft>
                <a:spcPct val="0"/>
              </a:spcAft>
              <a:defRPr>
                <a:solidFill>
                  <a:schemeClr val="tx1"/>
                </a:solidFill>
                <a:latin typeface="Aptos" panose="020B0004020202020204" pitchFamily="34" charset="0"/>
              </a:defRPr>
            </a:lvl6pPr>
            <a:lvl7pPr marL="2971800" indent="-228600" fontAlgn="base">
              <a:spcBef>
                <a:spcPct val="0"/>
              </a:spcBef>
              <a:spcAft>
                <a:spcPct val="0"/>
              </a:spcAft>
              <a:defRPr>
                <a:solidFill>
                  <a:schemeClr val="tx1"/>
                </a:solidFill>
                <a:latin typeface="Aptos" panose="020B0004020202020204" pitchFamily="34" charset="0"/>
              </a:defRPr>
            </a:lvl7pPr>
            <a:lvl8pPr marL="3429000" indent="-228600" fontAlgn="base">
              <a:spcBef>
                <a:spcPct val="0"/>
              </a:spcBef>
              <a:spcAft>
                <a:spcPct val="0"/>
              </a:spcAft>
              <a:defRPr>
                <a:solidFill>
                  <a:schemeClr val="tx1"/>
                </a:solidFill>
                <a:latin typeface="Aptos" panose="020B0004020202020204" pitchFamily="34" charset="0"/>
              </a:defRPr>
            </a:lvl8pPr>
            <a:lvl9pPr marL="3886200" indent="-228600" fontAlgn="base">
              <a:spcBef>
                <a:spcPct val="0"/>
              </a:spcBef>
              <a:spcAft>
                <a:spcPct val="0"/>
              </a:spcAft>
              <a:defRPr>
                <a:solidFill>
                  <a:schemeClr val="tx1"/>
                </a:solidFill>
                <a:latin typeface="Aptos" panose="020B0004020202020204" pitchFamily="34" charset="0"/>
              </a:defRPr>
            </a:lvl9pPr>
          </a:lstStyle>
          <a:p>
            <a:pPr algn="ctr"/>
            <a:r>
              <a:rPr lang="pt-BR" sz="3200" dirty="0">
                <a:latin typeface="Arial"/>
                <a:cs typeface="Arial"/>
              </a:rPr>
              <a:t>Aprendizado por projeto integrador  API</a:t>
            </a:r>
            <a:endParaRPr lang="pt-BR" altLang="en-US" sz="3200" dirty="0">
              <a:latin typeface="Arial"/>
              <a:cs typeface="Arial"/>
            </a:endParaRPr>
          </a:p>
          <a:p>
            <a:pPr algn="ctr"/>
            <a:endParaRPr lang="pt-BR" sz="3200">
              <a:latin typeface="Arial"/>
              <a:cs typeface="Arial"/>
            </a:endParaRPr>
          </a:p>
        </p:txBody>
      </p:sp>
      <p:sp>
        <p:nvSpPr>
          <p:cNvPr id="3076" name="Footer Placeholder 3">
            <a:extLst>
              <a:ext uri="{FF2B5EF4-FFF2-40B4-BE49-F238E27FC236}">
                <a16:creationId xmlns:a16="http://schemas.microsoft.com/office/drawing/2014/main" id="{96C1FA7F-1A38-5E94-6C19-4334A4C2E9F4}"/>
              </a:ext>
            </a:extLst>
          </p:cNvPr>
          <p:cNvSpPr>
            <a:spLocks noGrp="1" noChangeArrowheads="1"/>
          </p:cNvSpPr>
          <p:nvPr>
            <p:ph type="ftr" sz="quarter" idx="11"/>
          </p:nvPr>
        </p:nvSpPr>
        <p:spPr bwMode="auto">
          <a:xfrm>
            <a:off x="4101231" y="581764"/>
            <a:ext cx="4824608" cy="250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fontAlgn="base">
              <a:spcBef>
                <a:spcPct val="0"/>
              </a:spcBef>
              <a:spcAft>
                <a:spcPct val="0"/>
              </a:spcAft>
              <a:defRPr>
                <a:solidFill>
                  <a:schemeClr val="tx1"/>
                </a:solidFill>
                <a:latin typeface="Aptos" panose="020B0004020202020204" pitchFamily="34" charset="0"/>
              </a:defRPr>
            </a:lvl6pPr>
            <a:lvl7pPr marL="2971800" indent="-228600" fontAlgn="base">
              <a:spcBef>
                <a:spcPct val="0"/>
              </a:spcBef>
              <a:spcAft>
                <a:spcPct val="0"/>
              </a:spcAft>
              <a:defRPr>
                <a:solidFill>
                  <a:schemeClr val="tx1"/>
                </a:solidFill>
                <a:latin typeface="Aptos" panose="020B0004020202020204" pitchFamily="34" charset="0"/>
              </a:defRPr>
            </a:lvl7pPr>
            <a:lvl8pPr marL="3429000" indent="-228600" fontAlgn="base">
              <a:spcBef>
                <a:spcPct val="0"/>
              </a:spcBef>
              <a:spcAft>
                <a:spcPct val="0"/>
              </a:spcAft>
              <a:defRPr>
                <a:solidFill>
                  <a:schemeClr val="tx1"/>
                </a:solidFill>
                <a:latin typeface="Aptos" panose="020B0004020202020204" pitchFamily="34" charset="0"/>
              </a:defRPr>
            </a:lvl8pPr>
            <a:lvl9pPr marL="3886200" indent="-228600" fontAlgn="base">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r>
              <a:rPr lang="pt-BR" altLang="en-US" sz="2800" dirty="0">
                <a:latin typeface="Arial"/>
                <a:cs typeface="Arial"/>
              </a:rPr>
              <a:t>Manutenção de Aeronaves </a:t>
            </a:r>
          </a:p>
        </p:txBody>
      </p:sp>
      <p:pic>
        <p:nvPicPr>
          <p:cNvPr id="3077" name="Imagem 33" descr="Placa vermelha com letras brancas&#10;&#10;Descrição gerada automaticamente com confiança baixa">
            <a:extLst>
              <a:ext uri="{FF2B5EF4-FFF2-40B4-BE49-F238E27FC236}">
                <a16:creationId xmlns:a16="http://schemas.microsoft.com/office/drawing/2014/main" id="{26139919-3579-45A7-9435-05383A4AD3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358" y="139643"/>
            <a:ext cx="142240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aixaDeTexto 2">
            <a:extLst>
              <a:ext uri="{FF2B5EF4-FFF2-40B4-BE49-F238E27FC236}">
                <a16:creationId xmlns:a16="http://schemas.microsoft.com/office/drawing/2014/main" id="{65FFF2B1-C76B-27E6-88F6-32E0306A9BEB}"/>
              </a:ext>
            </a:extLst>
          </p:cNvPr>
          <p:cNvSpPr txBox="1"/>
          <p:nvPr/>
        </p:nvSpPr>
        <p:spPr>
          <a:xfrm>
            <a:off x="8430724" y="5366866"/>
            <a:ext cx="6640008"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2000" dirty="0">
                <a:latin typeface="Arial"/>
                <a:cs typeface="Arial"/>
              </a:rPr>
              <a:t>         Willian Henrique</a:t>
            </a:r>
          </a:p>
          <a:p>
            <a:r>
              <a:rPr lang="pt-BR" sz="2000" dirty="0">
                <a:latin typeface="Arial"/>
                <a:cs typeface="Arial"/>
              </a:rPr>
              <a:t>Nomes     Isabela Soares</a:t>
            </a:r>
          </a:p>
          <a:p>
            <a:r>
              <a:rPr lang="pt-BR" sz="2000" dirty="0">
                <a:latin typeface="Arial"/>
                <a:cs typeface="Arial"/>
              </a:rPr>
              <a:t>           </a:t>
            </a:r>
            <a:r>
              <a:rPr lang="pt-BR" sz="2000" dirty="0" err="1">
                <a:latin typeface="Arial"/>
                <a:cs typeface="Arial"/>
              </a:rPr>
              <a:t>Jhonata</a:t>
            </a:r>
            <a:r>
              <a:rPr lang="pt-BR" sz="2000" dirty="0">
                <a:latin typeface="Arial"/>
                <a:cs typeface="Arial"/>
              </a:rPr>
              <a:t> </a:t>
            </a:r>
            <a:r>
              <a:rPr lang="pt-BR" sz="2000" dirty="0" err="1">
                <a:latin typeface="Arial"/>
                <a:cs typeface="Arial"/>
              </a:rPr>
              <a:t>Cawan</a:t>
            </a:r>
            <a:endParaRPr lang="pt-BR" sz="2000" dirty="0">
              <a:latin typeface="Arial"/>
              <a:cs typeface="Arial"/>
            </a:endParaRPr>
          </a:p>
        </p:txBody>
      </p:sp>
      <p:sp>
        <p:nvSpPr>
          <p:cNvPr id="6" name="CaixaDeTexto 5">
            <a:extLst>
              <a:ext uri="{FF2B5EF4-FFF2-40B4-BE49-F238E27FC236}">
                <a16:creationId xmlns:a16="http://schemas.microsoft.com/office/drawing/2014/main" id="{B4B51672-D6FB-1E5D-632B-47034A29E79F}"/>
              </a:ext>
            </a:extLst>
          </p:cNvPr>
          <p:cNvSpPr txBox="1"/>
          <p:nvPr/>
        </p:nvSpPr>
        <p:spPr>
          <a:xfrm>
            <a:off x="660286" y="2978488"/>
            <a:ext cx="4458063"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t-BR" sz="3200" dirty="0">
                <a:latin typeface="Arial"/>
                <a:cs typeface="Arial"/>
              </a:rPr>
              <a:t>Análise do acidente Alaska Airlines Voo 261 </a:t>
            </a:r>
          </a:p>
        </p:txBody>
      </p:sp>
      <p:cxnSp>
        <p:nvCxnSpPr>
          <p:cNvPr id="2" name="Conector de Seta Reta 1">
            <a:extLst>
              <a:ext uri="{FF2B5EF4-FFF2-40B4-BE49-F238E27FC236}">
                <a16:creationId xmlns:a16="http://schemas.microsoft.com/office/drawing/2014/main" id="{EDEBB4A9-465E-1400-4E26-EC3BE9C15DCE}"/>
              </a:ext>
            </a:extLst>
          </p:cNvPr>
          <p:cNvCxnSpPr/>
          <p:nvPr/>
        </p:nvCxnSpPr>
        <p:spPr>
          <a:xfrm>
            <a:off x="9460683" y="5373208"/>
            <a:ext cx="14007" cy="898872"/>
          </a:xfrm>
          <a:prstGeom prst="straightConnector1">
            <a:avLst/>
          </a:prstGeom>
        </p:spPr>
        <p:style>
          <a:lnRef idx="1">
            <a:schemeClr val="dk1"/>
          </a:lnRef>
          <a:fillRef idx="0">
            <a:schemeClr val="dk1"/>
          </a:fillRef>
          <a:effectRef idx="0">
            <a:schemeClr val="dk1"/>
          </a:effectRef>
          <a:fontRef idx="minor">
            <a:schemeClr val="tx1"/>
          </a:fontRef>
        </p:style>
      </p:cxnSp>
    </p:spTree>
  </p:cSld>
  <p:clrMapOvr>
    <a:masterClrMapping/>
  </p:clrMapOvr>
  <p:transition spd="slow" advTm="484">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descr="Tabela&#10;&#10;O conteúdo gerado por IA pode estar incorreto.">
            <a:extLst>
              <a:ext uri="{FF2B5EF4-FFF2-40B4-BE49-F238E27FC236}">
                <a16:creationId xmlns:a16="http://schemas.microsoft.com/office/drawing/2014/main" id="{9952DE46-19E6-10C6-859C-C81E1C5F1F84}"/>
              </a:ext>
            </a:extLst>
          </p:cNvPr>
          <p:cNvPicPr>
            <a:picLocks noChangeAspect="1"/>
          </p:cNvPicPr>
          <p:nvPr/>
        </p:nvPicPr>
        <p:blipFill>
          <a:blip r:embed="rId2"/>
          <a:stretch>
            <a:fillRect/>
          </a:stretch>
        </p:blipFill>
        <p:spPr>
          <a:xfrm>
            <a:off x="2257696" y="186726"/>
            <a:ext cx="7662232" cy="6484548"/>
          </a:xfrm>
          <a:prstGeom prst="rect">
            <a:avLst/>
          </a:prstGeom>
        </p:spPr>
      </p:pic>
    </p:spTree>
    <p:extLst>
      <p:ext uri="{BB962C8B-B14F-4D97-AF65-F5344CB8AC3E}">
        <p14:creationId xmlns:p14="http://schemas.microsoft.com/office/powerpoint/2010/main" val="63237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02FFC-2479-F21B-2D83-2602D95C3FB2}"/>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16E2F487-4234-6A35-64F2-D9151DDDB144}"/>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454DABF5-1984-C328-8207-7A632D2B0EA1}"/>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sym typeface="Helvetica Neue"/>
              </a:rPr>
              <a:t>Capítulo</a:t>
            </a:r>
            <a:r>
              <a:rPr kumimoji="0" lang="en-US"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rPr>
              <a:t> 1</a:t>
            </a:r>
            <a:endParaRPr kumimoji="0" lang="pt-BR"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C2FA2E0E-E594-4751-8CDD-53FB4F85BF06}"/>
              </a:ext>
            </a:extLst>
          </p:cNvPr>
          <p:cNvSpPr txBox="1"/>
          <p:nvPr/>
        </p:nvSpPr>
        <p:spPr>
          <a:xfrm>
            <a:off x="204278" y="564779"/>
            <a:ext cx="3945054" cy="307777"/>
          </a:xfrm>
          <a:prstGeom prst="rect">
            <a:avLst/>
          </a:prstGeom>
          <a:noFill/>
        </p:spPr>
        <p:txBody>
          <a:bodyPr wrap="none" rtlCol="0">
            <a:spAutoFit/>
          </a:bodyPr>
          <a:lstStyle/>
          <a:p>
            <a:r>
              <a:rPr lang="pt-BR" sz="1400" u="sng">
                <a:solidFill>
                  <a:srgbClr val="0070C0"/>
                </a:solidFill>
                <a:latin typeface="Arial" panose="020B0604020202020204" pitchFamily="34" charset="0"/>
                <a:cs typeface="Arial" panose="020B0604020202020204" pitchFamily="34" charset="0"/>
              </a:rPr>
              <a:t>Slide 1.1 - </a:t>
            </a:r>
            <a:r>
              <a:rPr lang="pt-BR" sz="1400" u="sng" err="1">
                <a:solidFill>
                  <a:srgbClr val="0070C0"/>
                </a:solidFill>
                <a:latin typeface="Arial" panose="020B0604020202020204" pitchFamily="34" charset="0"/>
                <a:cs typeface="Arial" panose="020B0604020202020204" pitchFamily="34" charset="0"/>
              </a:rPr>
              <a:t>Aircraft</a:t>
            </a:r>
            <a:r>
              <a:rPr lang="pt-BR" sz="1400" u="sng">
                <a:solidFill>
                  <a:srgbClr val="0070C0"/>
                </a:solidFill>
                <a:latin typeface="Arial" panose="020B0604020202020204" pitchFamily="34" charset="0"/>
                <a:cs typeface="Arial" panose="020B0604020202020204" pitchFamily="34" charset="0"/>
              </a:rPr>
              <a:t> </a:t>
            </a:r>
            <a:r>
              <a:rPr lang="pt-BR" sz="1400" u="sng" err="1">
                <a:solidFill>
                  <a:srgbClr val="0070C0"/>
                </a:solidFill>
                <a:latin typeface="Arial" panose="020B0604020202020204" pitchFamily="34" charset="0"/>
                <a:cs typeface="Arial" panose="020B0604020202020204" pitchFamily="34" charset="0"/>
              </a:rPr>
              <a:t>Maintenance</a:t>
            </a:r>
            <a:r>
              <a:rPr lang="pt-BR" sz="1400" u="sng">
                <a:solidFill>
                  <a:srgbClr val="0070C0"/>
                </a:solidFill>
                <a:latin typeface="Arial" panose="020B0604020202020204" pitchFamily="34" charset="0"/>
                <a:cs typeface="Arial" panose="020B0604020202020204" pitchFamily="34" charset="0"/>
              </a:rPr>
              <a:t> Manual (AMM)</a:t>
            </a:r>
          </a:p>
        </p:txBody>
      </p:sp>
      <p:sp>
        <p:nvSpPr>
          <p:cNvPr id="8" name="CaixaDeTexto 7">
            <a:extLst>
              <a:ext uri="{FF2B5EF4-FFF2-40B4-BE49-F238E27FC236}">
                <a16:creationId xmlns:a16="http://schemas.microsoft.com/office/drawing/2014/main" id="{2E0BEC99-5C62-4578-B83D-CED6B1C4FCEB}"/>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algn="ctr">
              <a:defRPr/>
            </a:pPr>
            <a:r>
              <a:rPr lang="pt-BR" u="sng" dirty="0">
                <a:solidFill>
                  <a:srgbClr val="0070C0"/>
                </a:solidFill>
                <a:latin typeface="Aptos" panose="02110004020202020204"/>
              </a:rPr>
              <a:t>Resp.: Willian Henrique</a:t>
            </a:r>
            <a:endParaRPr lang="pt-BR" u="sng" dirty="0">
              <a:solidFill>
                <a:srgbClr val="0070C0"/>
              </a:solidFill>
            </a:endParaRPr>
          </a:p>
        </p:txBody>
      </p:sp>
      <p:sp>
        <p:nvSpPr>
          <p:cNvPr id="9" name="CaixaDeTexto 8">
            <a:extLst>
              <a:ext uri="{FF2B5EF4-FFF2-40B4-BE49-F238E27FC236}">
                <a16:creationId xmlns:a16="http://schemas.microsoft.com/office/drawing/2014/main" id="{B7381407-2E89-446F-9A6D-AA9CC3B54AEB}"/>
              </a:ext>
            </a:extLst>
          </p:cNvPr>
          <p:cNvSpPr txBox="1"/>
          <p:nvPr/>
        </p:nvSpPr>
        <p:spPr>
          <a:xfrm>
            <a:off x="1608667" y="-18398"/>
            <a:ext cx="8669433" cy="738664"/>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a:ln>
                  <a:noFill/>
                </a:ln>
                <a:solidFill>
                  <a:schemeClr val="accent4">
                    <a:lumMod val="76000"/>
                  </a:schemeClr>
                </a:solidFill>
                <a:effectLst/>
                <a:uLnTx/>
                <a:uFillTx/>
                <a:latin typeface="Arial"/>
                <a:cs typeface="Arial"/>
              </a:rPr>
              <a:t>Publicações Técnicas: Discorra sobre as publicações de manutenção que foram consideradas na análise do acidente.</a:t>
            </a:r>
            <a:endParaRPr lang="pt-BR" sz="1400" b="0" i="0" u="none" strike="noStrike" kern="1200" cap="none" spc="0" normalizeH="0" baseline="0" noProof="0">
              <a:ln>
                <a:noFill/>
              </a:ln>
              <a:solidFill>
                <a:schemeClr val="accent4">
                  <a:lumMod val="76000"/>
                </a:schemeClr>
              </a:solidFill>
              <a:effectLst/>
              <a:uLnTx/>
              <a:uFillTx/>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6B026C9F-FF45-B4FE-FCC2-557D63B6E9F7}"/>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11" name="CaixaDeTexto 10">
            <a:extLst>
              <a:ext uri="{FF2B5EF4-FFF2-40B4-BE49-F238E27FC236}">
                <a16:creationId xmlns:a16="http://schemas.microsoft.com/office/drawing/2014/main" id="{C127744A-FE6A-2682-3FC6-30B1E7900A6C}"/>
              </a:ext>
            </a:extLst>
          </p:cNvPr>
          <p:cNvSpPr txBox="1"/>
          <p:nvPr/>
        </p:nvSpPr>
        <p:spPr>
          <a:xfrm>
            <a:off x="620974" y="1176703"/>
            <a:ext cx="6748328"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2800" b="1" dirty="0">
                <a:latin typeface="Arial"/>
                <a:ea typeface="+mn-lt"/>
                <a:cs typeface="Arial"/>
              </a:rPr>
              <a:t>Finalidade:</a:t>
            </a:r>
            <a:r>
              <a:rPr lang="pt-BR" sz="2800" dirty="0">
                <a:latin typeface="Arial"/>
                <a:ea typeface="+mn-lt"/>
                <a:cs typeface="Arial"/>
              </a:rPr>
              <a:t> Manual de manutenção da aeronave, descreve procedimentos técnicos.</a:t>
            </a:r>
          </a:p>
        </p:txBody>
      </p:sp>
      <p:sp>
        <p:nvSpPr>
          <p:cNvPr id="12" name="CaixaDeTexto 11">
            <a:extLst>
              <a:ext uri="{FF2B5EF4-FFF2-40B4-BE49-F238E27FC236}">
                <a16:creationId xmlns:a16="http://schemas.microsoft.com/office/drawing/2014/main" id="{01316034-4731-570D-D145-D8BDD75C988A}"/>
              </a:ext>
            </a:extLst>
          </p:cNvPr>
          <p:cNvSpPr txBox="1"/>
          <p:nvPr/>
        </p:nvSpPr>
        <p:spPr>
          <a:xfrm>
            <a:off x="616292" y="2652999"/>
            <a:ext cx="7405151" cy="1815882"/>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err="1">
                <a:latin typeface="Arial"/>
                <a:cs typeface="Arial"/>
              </a:rPr>
              <a:t>Descrição</a:t>
            </a:r>
            <a:r>
              <a:rPr lang="en-US" sz="2800" b="1" dirty="0">
                <a:latin typeface="Arial"/>
                <a:cs typeface="Arial"/>
              </a:rPr>
              <a:t>:</a:t>
            </a:r>
            <a:r>
              <a:rPr lang="en-US" sz="2800" dirty="0">
                <a:latin typeface="Arial"/>
                <a:cs typeface="Arial"/>
              </a:rPr>
              <a:t> O AMM </a:t>
            </a:r>
            <a:r>
              <a:rPr lang="en-US" sz="2800" dirty="0" err="1">
                <a:latin typeface="Arial"/>
                <a:cs typeface="Arial"/>
              </a:rPr>
              <a:t>contém</a:t>
            </a:r>
            <a:r>
              <a:rPr lang="en-US" sz="2800" dirty="0">
                <a:latin typeface="Arial"/>
                <a:cs typeface="Arial"/>
              </a:rPr>
              <a:t> </a:t>
            </a:r>
            <a:r>
              <a:rPr lang="en-US" sz="2800" dirty="0" err="1">
                <a:latin typeface="Arial"/>
                <a:cs typeface="Arial"/>
              </a:rPr>
              <a:t>os</a:t>
            </a:r>
            <a:r>
              <a:rPr lang="en-US" sz="2800" dirty="0">
                <a:latin typeface="Arial"/>
                <a:cs typeface="Arial"/>
              </a:rPr>
              <a:t> </a:t>
            </a:r>
            <a:r>
              <a:rPr lang="en-US" sz="2800" dirty="0" err="1">
                <a:latin typeface="Arial"/>
                <a:cs typeface="Arial"/>
              </a:rPr>
              <a:t>procedimentos</a:t>
            </a:r>
            <a:r>
              <a:rPr lang="en-US" sz="2800" dirty="0">
                <a:latin typeface="Arial"/>
                <a:cs typeface="Arial"/>
              </a:rPr>
              <a:t> de </a:t>
            </a:r>
            <a:r>
              <a:rPr lang="en-US" sz="2800" dirty="0" err="1">
                <a:latin typeface="Arial"/>
                <a:cs typeface="Arial"/>
              </a:rPr>
              <a:t>lubrificação</a:t>
            </a:r>
            <a:r>
              <a:rPr lang="en-US" sz="2800" dirty="0">
                <a:latin typeface="Arial"/>
                <a:cs typeface="Arial"/>
              </a:rPr>
              <a:t> do </a:t>
            </a:r>
            <a:r>
              <a:rPr lang="en-US" sz="2800" i="1" dirty="0">
                <a:latin typeface="Arial"/>
                <a:cs typeface="Arial"/>
              </a:rPr>
              <a:t>jackscrew</a:t>
            </a:r>
            <a:r>
              <a:rPr lang="en-US" sz="2800" dirty="0">
                <a:latin typeface="Arial"/>
                <a:cs typeface="Arial"/>
              </a:rPr>
              <a:t> (</a:t>
            </a:r>
            <a:r>
              <a:rPr lang="en-US" sz="2800" dirty="0" err="1">
                <a:latin typeface="Arial"/>
                <a:cs typeface="Arial"/>
              </a:rPr>
              <a:t>eixo</a:t>
            </a:r>
            <a:r>
              <a:rPr lang="en-US" sz="2800" dirty="0">
                <a:latin typeface="Arial"/>
                <a:cs typeface="Arial"/>
              </a:rPr>
              <a:t> trapezoidal do </a:t>
            </a:r>
            <a:r>
              <a:rPr lang="en-US" sz="2800" dirty="0" err="1">
                <a:latin typeface="Arial"/>
                <a:cs typeface="Arial"/>
              </a:rPr>
              <a:t>estabilizador</a:t>
            </a:r>
            <a:r>
              <a:rPr lang="en-US" sz="2800" dirty="0">
                <a:latin typeface="Arial"/>
                <a:cs typeface="Arial"/>
              </a:rPr>
              <a:t> horizontal) e </a:t>
            </a:r>
            <a:r>
              <a:rPr lang="en-US" sz="2800" dirty="0" err="1">
                <a:latin typeface="Arial"/>
                <a:cs typeface="Arial"/>
              </a:rPr>
              <a:t>também</a:t>
            </a:r>
            <a:r>
              <a:rPr lang="en-US" sz="2800" dirty="0">
                <a:latin typeface="Arial"/>
                <a:cs typeface="Arial"/>
              </a:rPr>
              <a:t> </a:t>
            </a:r>
            <a:r>
              <a:rPr lang="en-US" sz="2800" dirty="0" err="1">
                <a:latin typeface="Arial"/>
                <a:cs typeface="Arial"/>
              </a:rPr>
              <a:t>verificações</a:t>
            </a:r>
            <a:r>
              <a:rPr lang="en-US" sz="2800" dirty="0">
                <a:latin typeface="Arial"/>
                <a:cs typeface="Arial"/>
              </a:rPr>
              <a:t> de </a:t>
            </a:r>
            <a:r>
              <a:rPr lang="en-US" sz="2800" dirty="0" err="1">
                <a:latin typeface="Arial"/>
                <a:cs typeface="Arial"/>
              </a:rPr>
              <a:t>folga</a:t>
            </a:r>
            <a:r>
              <a:rPr lang="en-US" sz="2800" dirty="0">
                <a:latin typeface="Arial"/>
                <a:cs typeface="Arial"/>
              </a:rPr>
              <a:t>/</a:t>
            </a:r>
            <a:r>
              <a:rPr lang="en-US" sz="2800" dirty="0" err="1">
                <a:latin typeface="Arial"/>
                <a:cs typeface="Arial"/>
              </a:rPr>
              <a:t>desgaste</a:t>
            </a:r>
            <a:r>
              <a:rPr lang="en-US" sz="2800" dirty="0">
                <a:latin typeface="Arial"/>
                <a:cs typeface="Arial"/>
              </a:rPr>
              <a:t>. </a:t>
            </a:r>
            <a:endParaRPr lang="pt-BR" sz="2800">
              <a:latin typeface="Arial"/>
              <a:cs typeface="Arial"/>
            </a:endParaRPr>
          </a:p>
        </p:txBody>
      </p:sp>
      <p:pic>
        <p:nvPicPr>
          <p:cNvPr id="13" name="Imagem 12" descr="Uma imagem contendo ao ar livre, rua, homem, andando de&#10;&#10;O conteúdo gerado por IA pode estar incorreto.">
            <a:extLst>
              <a:ext uri="{FF2B5EF4-FFF2-40B4-BE49-F238E27FC236}">
                <a16:creationId xmlns:a16="http://schemas.microsoft.com/office/drawing/2014/main" id="{ED1DA856-CF17-0DE4-5D3E-9C69915DDBE7}"/>
              </a:ext>
            </a:extLst>
          </p:cNvPr>
          <p:cNvPicPr>
            <a:picLocks noChangeAspect="1"/>
          </p:cNvPicPr>
          <p:nvPr/>
        </p:nvPicPr>
        <p:blipFill>
          <a:blip r:embed="rId3"/>
          <a:stretch>
            <a:fillRect/>
          </a:stretch>
        </p:blipFill>
        <p:spPr>
          <a:xfrm>
            <a:off x="8667266" y="1397718"/>
            <a:ext cx="3201397" cy="4314769"/>
          </a:xfrm>
          <a:prstGeom prst="rect">
            <a:avLst/>
          </a:prstGeom>
          <a:ln>
            <a:solidFill>
              <a:schemeClr val="tx1"/>
            </a:solidFill>
          </a:ln>
        </p:spPr>
      </p:pic>
      <p:sp>
        <p:nvSpPr>
          <p:cNvPr id="14" name="CaixaDeTexto 13">
            <a:extLst>
              <a:ext uri="{FF2B5EF4-FFF2-40B4-BE49-F238E27FC236}">
                <a16:creationId xmlns:a16="http://schemas.microsoft.com/office/drawing/2014/main" id="{1D775940-C971-583F-89EF-EEBEBEDE8E17}"/>
              </a:ext>
            </a:extLst>
          </p:cNvPr>
          <p:cNvSpPr txBox="1"/>
          <p:nvPr/>
        </p:nvSpPr>
        <p:spPr>
          <a:xfrm>
            <a:off x="8604684" y="5716435"/>
            <a:ext cx="278789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1400" dirty="0">
                <a:latin typeface="Arial"/>
                <a:cs typeface="Arial"/>
              </a:rPr>
              <a:t>Fonte: Relatório NTSB</a:t>
            </a:r>
            <a:endParaRPr lang="pt-BR" sz="1400">
              <a:latin typeface="Arial"/>
              <a:ea typeface="Calibri"/>
              <a:cs typeface="Arial"/>
            </a:endParaRPr>
          </a:p>
        </p:txBody>
      </p:sp>
      <p:sp>
        <p:nvSpPr>
          <p:cNvPr id="15" name="CaixaDeTexto 14">
            <a:extLst>
              <a:ext uri="{FF2B5EF4-FFF2-40B4-BE49-F238E27FC236}">
                <a16:creationId xmlns:a16="http://schemas.microsoft.com/office/drawing/2014/main" id="{27B0F7AA-72B4-F7DD-8B6F-E42437330B56}"/>
              </a:ext>
            </a:extLst>
          </p:cNvPr>
          <p:cNvSpPr txBox="1"/>
          <p:nvPr/>
        </p:nvSpPr>
        <p:spPr>
          <a:xfrm>
            <a:off x="613684" y="4642122"/>
            <a:ext cx="8125551"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err="1">
                <a:latin typeface="Arial"/>
                <a:cs typeface="Arial"/>
              </a:rPr>
              <a:t>Envolvimento</a:t>
            </a:r>
            <a:r>
              <a:rPr lang="en-US" sz="2800" b="1" dirty="0">
                <a:latin typeface="Arial"/>
                <a:cs typeface="Arial"/>
              </a:rPr>
              <a:t>:</a:t>
            </a:r>
            <a:r>
              <a:rPr lang="en-US" sz="2800" dirty="0">
                <a:latin typeface="Arial"/>
                <a:cs typeface="Arial"/>
              </a:rPr>
              <a:t> A </a:t>
            </a:r>
            <a:r>
              <a:rPr lang="en-US" sz="2800" dirty="0" err="1">
                <a:latin typeface="Arial"/>
                <a:cs typeface="Arial"/>
              </a:rPr>
              <a:t>falha</a:t>
            </a:r>
            <a:r>
              <a:rPr lang="en-US" sz="2800" dirty="0">
                <a:latin typeface="Arial"/>
                <a:cs typeface="Arial"/>
              </a:rPr>
              <a:t> </a:t>
            </a:r>
            <a:r>
              <a:rPr lang="en-US" sz="2800" dirty="0" err="1">
                <a:latin typeface="Arial"/>
                <a:cs typeface="Arial"/>
              </a:rPr>
              <a:t>ocorreu</a:t>
            </a:r>
            <a:r>
              <a:rPr lang="en-US" sz="2800" dirty="0">
                <a:latin typeface="Arial"/>
                <a:cs typeface="Arial"/>
              </a:rPr>
              <a:t> </a:t>
            </a:r>
            <a:r>
              <a:rPr lang="en-US" sz="2800" dirty="0" err="1">
                <a:latin typeface="Arial"/>
                <a:cs typeface="Arial"/>
              </a:rPr>
              <a:t>porque</a:t>
            </a:r>
            <a:r>
              <a:rPr lang="en-US" sz="2800" dirty="0">
                <a:latin typeface="Arial"/>
                <a:cs typeface="Arial"/>
              </a:rPr>
              <a:t> a Alaska Airlines </a:t>
            </a:r>
            <a:r>
              <a:rPr lang="en-US" sz="2800" dirty="0" err="1">
                <a:latin typeface="Arial"/>
                <a:cs typeface="Arial"/>
              </a:rPr>
              <a:t>prorrogou</a:t>
            </a:r>
            <a:r>
              <a:rPr lang="en-US" sz="2800" dirty="0">
                <a:latin typeface="Arial"/>
                <a:cs typeface="Arial"/>
              </a:rPr>
              <a:t> </a:t>
            </a:r>
            <a:r>
              <a:rPr lang="en-US" sz="2800" dirty="0" err="1">
                <a:latin typeface="Arial"/>
                <a:cs typeface="Arial"/>
              </a:rPr>
              <a:t>os</a:t>
            </a:r>
            <a:r>
              <a:rPr lang="en-US" sz="2800" dirty="0">
                <a:latin typeface="Arial"/>
                <a:cs typeface="Arial"/>
              </a:rPr>
              <a:t> </a:t>
            </a:r>
            <a:r>
              <a:rPr lang="en-US" sz="2800" dirty="0" err="1">
                <a:latin typeface="Arial"/>
                <a:cs typeface="Arial"/>
              </a:rPr>
              <a:t>intervalos</a:t>
            </a:r>
            <a:r>
              <a:rPr lang="en-US" sz="2800" dirty="0">
                <a:latin typeface="Arial"/>
                <a:cs typeface="Arial"/>
              </a:rPr>
              <a:t> </a:t>
            </a:r>
            <a:r>
              <a:rPr lang="en-US" sz="2800" dirty="0" err="1">
                <a:latin typeface="Arial"/>
                <a:cs typeface="Arial"/>
              </a:rPr>
              <a:t>além</a:t>
            </a:r>
            <a:r>
              <a:rPr lang="en-US" sz="2800" dirty="0">
                <a:latin typeface="Arial"/>
                <a:cs typeface="Arial"/>
              </a:rPr>
              <a:t> do </a:t>
            </a:r>
            <a:r>
              <a:rPr lang="en-US" sz="2800" dirty="0" err="1">
                <a:latin typeface="Arial"/>
                <a:cs typeface="Arial"/>
              </a:rPr>
              <a:t>recomendado</a:t>
            </a:r>
            <a:r>
              <a:rPr lang="en-US" sz="2800" dirty="0">
                <a:latin typeface="Arial"/>
                <a:cs typeface="Arial"/>
              </a:rPr>
              <a:t> e a </a:t>
            </a:r>
            <a:r>
              <a:rPr lang="en-US" sz="2800" dirty="0" err="1">
                <a:latin typeface="Arial"/>
                <a:cs typeface="Arial"/>
              </a:rPr>
              <a:t>lubrificação</a:t>
            </a:r>
            <a:r>
              <a:rPr lang="en-US" sz="2800" dirty="0">
                <a:latin typeface="Arial"/>
                <a:cs typeface="Arial"/>
              </a:rPr>
              <a:t> </a:t>
            </a:r>
            <a:r>
              <a:rPr lang="en-US" sz="2800" dirty="0" err="1">
                <a:latin typeface="Arial"/>
                <a:cs typeface="Arial"/>
              </a:rPr>
              <a:t>foi</a:t>
            </a:r>
            <a:r>
              <a:rPr lang="en-US" sz="2800" dirty="0">
                <a:latin typeface="Arial"/>
                <a:cs typeface="Arial"/>
              </a:rPr>
              <a:t> mal </a:t>
            </a:r>
            <a:r>
              <a:rPr lang="en-US" sz="2800" dirty="0" err="1">
                <a:latin typeface="Arial"/>
                <a:cs typeface="Arial"/>
              </a:rPr>
              <a:t>executada</a:t>
            </a:r>
            <a:endParaRPr lang="en-US" sz="2800" dirty="0">
              <a:latin typeface="Arial"/>
              <a:cs typeface="Arial"/>
            </a:endParaRPr>
          </a:p>
        </p:txBody>
      </p:sp>
    </p:spTree>
    <p:extLst>
      <p:ext uri="{BB962C8B-B14F-4D97-AF65-F5344CB8AC3E}">
        <p14:creationId xmlns:p14="http://schemas.microsoft.com/office/powerpoint/2010/main" val="186962768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02FFC-2479-F21B-2D83-2602D95C3FB2}"/>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16E2F487-4234-6A35-64F2-D9151DDDB144}"/>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454DABF5-1984-C328-8207-7A632D2B0EA1}"/>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sym typeface="Helvetica Neue"/>
              </a:rPr>
              <a:t>Capítulo</a:t>
            </a:r>
            <a:r>
              <a:rPr kumimoji="0" lang="en-US"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rPr>
              <a:t> 1</a:t>
            </a:r>
            <a:endParaRPr kumimoji="0" lang="pt-BR"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3" name="CaixaDeTexto 2">
            <a:extLst>
              <a:ext uri="{FF2B5EF4-FFF2-40B4-BE49-F238E27FC236}">
                <a16:creationId xmlns:a16="http://schemas.microsoft.com/office/drawing/2014/main" id="{BD362954-B0DA-468D-A479-4FD0903137B5}"/>
              </a:ext>
            </a:extLst>
          </p:cNvPr>
          <p:cNvSpPr txBox="1"/>
          <p:nvPr/>
        </p:nvSpPr>
        <p:spPr>
          <a:xfrm>
            <a:off x="1608667" y="-18398"/>
            <a:ext cx="8669433"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Publicações Técnicas: Discorra sobre as publicações de manutenção que foram consideradas na análise do acidente.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sp>
        <p:nvSpPr>
          <p:cNvPr id="6" name="CaixaDeTexto 5">
            <a:extLst>
              <a:ext uri="{FF2B5EF4-FFF2-40B4-BE49-F238E27FC236}">
                <a16:creationId xmlns:a16="http://schemas.microsoft.com/office/drawing/2014/main" id="{C2FA2E0E-E594-4751-8CDD-53FB4F85BF06}"/>
              </a:ext>
            </a:extLst>
          </p:cNvPr>
          <p:cNvSpPr txBox="1"/>
          <p:nvPr/>
        </p:nvSpPr>
        <p:spPr>
          <a:xfrm>
            <a:off x="204278" y="564779"/>
            <a:ext cx="337945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0" i="0" u="sng"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Slide 1.2 - </a:t>
            </a:r>
            <a:r>
              <a:rPr kumimoji="0" lang="pt-BR" sz="1400" b="0" i="0" u="sng" strike="noStrike" kern="120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rPr>
              <a:t>Ilustrated</a:t>
            </a:r>
            <a:r>
              <a:rPr kumimoji="0" lang="pt-BR" sz="1400" b="0" i="0" u="sng"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 </a:t>
            </a:r>
            <a:r>
              <a:rPr kumimoji="0" lang="pt-BR" sz="1400" b="0" i="0" u="sng" strike="noStrike" kern="120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rPr>
              <a:t>Parts</a:t>
            </a:r>
            <a:r>
              <a:rPr kumimoji="0" lang="pt-BR" sz="1400" b="0" i="0" u="sng"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 </a:t>
            </a:r>
            <a:r>
              <a:rPr kumimoji="0" lang="pt-BR" sz="1400" b="0" i="0" u="sng" strike="noStrike" kern="120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rPr>
              <a:t>Catalog</a:t>
            </a:r>
            <a:r>
              <a:rPr kumimoji="0" lang="pt-BR" sz="1400" b="0" i="0" u="sng"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 (IPC)</a:t>
            </a:r>
          </a:p>
        </p:txBody>
      </p:sp>
      <p:sp>
        <p:nvSpPr>
          <p:cNvPr id="4" name="CaixaDeTexto 3">
            <a:extLst>
              <a:ext uri="{FF2B5EF4-FFF2-40B4-BE49-F238E27FC236}">
                <a16:creationId xmlns:a16="http://schemas.microsoft.com/office/drawing/2014/main" id="{A5F46BC9-F388-4635-B38B-0F3BFEB47F72}"/>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algn="ctr">
              <a:defRPr/>
            </a:pPr>
            <a:r>
              <a:rPr lang="pt-BR" u="sng" dirty="0">
                <a:solidFill>
                  <a:srgbClr val="0070C0"/>
                </a:solidFill>
                <a:latin typeface="Aptos" panose="02110004020202020204"/>
              </a:rPr>
              <a:t>Resp.: Willian Henrique </a:t>
            </a:r>
            <a:endParaRPr lang="pt-BR" dirty="0"/>
          </a:p>
        </p:txBody>
      </p:sp>
      <p:pic>
        <p:nvPicPr>
          <p:cNvPr id="9" name="Imagem 8" descr="Placa vermelha com letras brancas&#10;&#10;Descrição gerada automaticamente com confiança baixa">
            <a:extLst>
              <a:ext uri="{FF2B5EF4-FFF2-40B4-BE49-F238E27FC236}">
                <a16:creationId xmlns:a16="http://schemas.microsoft.com/office/drawing/2014/main" id="{C60871FE-1476-9926-2B5C-1131F1D4A310}"/>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2" name="CaixaDeTexto 1">
            <a:extLst>
              <a:ext uri="{FF2B5EF4-FFF2-40B4-BE49-F238E27FC236}">
                <a16:creationId xmlns:a16="http://schemas.microsoft.com/office/drawing/2014/main" id="{13167E33-B74D-A42C-4A16-E7F2D31DCDBE}"/>
              </a:ext>
            </a:extLst>
          </p:cNvPr>
          <p:cNvSpPr txBox="1"/>
          <p:nvPr/>
        </p:nvSpPr>
        <p:spPr>
          <a:xfrm>
            <a:off x="198783" y="1374782"/>
            <a:ext cx="6027087"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2800" b="1" dirty="0">
                <a:latin typeface="Arial"/>
                <a:ea typeface="+mn-lt"/>
                <a:cs typeface="Arial"/>
              </a:rPr>
              <a:t>Finalidade:</a:t>
            </a:r>
            <a:r>
              <a:rPr lang="pt-BR" sz="2800" dirty="0">
                <a:latin typeface="Arial"/>
                <a:ea typeface="+mn-lt"/>
                <a:cs typeface="Arial"/>
              </a:rPr>
              <a:t> Catálogo ilustrado de peças, com códigos e números de série.</a:t>
            </a:r>
            <a:endParaRPr lang="pt-BR" sz="2800" dirty="0">
              <a:latin typeface="Arial"/>
              <a:cs typeface="Arial"/>
            </a:endParaRPr>
          </a:p>
        </p:txBody>
      </p:sp>
      <p:sp>
        <p:nvSpPr>
          <p:cNvPr id="10" name="CaixaDeTexto 9">
            <a:extLst>
              <a:ext uri="{FF2B5EF4-FFF2-40B4-BE49-F238E27FC236}">
                <a16:creationId xmlns:a16="http://schemas.microsoft.com/office/drawing/2014/main" id="{4F55E50E-7ACF-A929-0160-135ED14297A6}"/>
              </a:ext>
            </a:extLst>
          </p:cNvPr>
          <p:cNvSpPr txBox="1"/>
          <p:nvPr/>
        </p:nvSpPr>
        <p:spPr>
          <a:xfrm>
            <a:off x="204063" y="2884033"/>
            <a:ext cx="6430397"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2800" b="1" dirty="0">
                <a:latin typeface="Arial"/>
                <a:ea typeface="+mn-lt"/>
                <a:cs typeface="Arial"/>
              </a:rPr>
              <a:t>Descrição:</a:t>
            </a:r>
            <a:r>
              <a:rPr lang="pt-BR" sz="2800" dirty="0">
                <a:latin typeface="Arial"/>
                <a:ea typeface="+mn-lt"/>
                <a:cs typeface="Arial"/>
              </a:rPr>
              <a:t> Importante para garantir que o componente correto (</a:t>
            </a:r>
            <a:r>
              <a:rPr lang="pt-BR" sz="2800" i="1" dirty="0" err="1">
                <a:latin typeface="Arial"/>
                <a:ea typeface="+mn-lt"/>
                <a:cs typeface="Arial"/>
              </a:rPr>
              <a:t>jackscrew</a:t>
            </a:r>
            <a:r>
              <a:rPr lang="pt-BR" sz="2800" dirty="0">
                <a:latin typeface="Arial"/>
                <a:ea typeface="+mn-lt"/>
                <a:cs typeface="Arial"/>
              </a:rPr>
              <a:t> e porca-trapezoidal) estivesse instalado.  </a:t>
            </a:r>
            <a:endParaRPr lang="pt-BR" sz="2800">
              <a:latin typeface="Arial"/>
              <a:cs typeface="Arial"/>
            </a:endParaRPr>
          </a:p>
          <a:p>
            <a:endParaRPr lang="pt-BR" sz="2800" dirty="0">
              <a:latin typeface="Arial"/>
              <a:ea typeface="+mn-lt"/>
              <a:cs typeface="Arial"/>
            </a:endParaRPr>
          </a:p>
          <a:p>
            <a:r>
              <a:rPr lang="pt-BR" sz="2800" b="1" dirty="0">
                <a:latin typeface="Arial"/>
                <a:ea typeface="+mn-lt"/>
                <a:cs typeface="Arial"/>
              </a:rPr>
              <a:t>Envolvimento: </a:t>
            </a:r>
            <a:r>
              <a:rPr lang="pt-BR" sz="2800" dirty="0">
                <a:ea typeface="+mn-lt"/>
                <a:cs typeface="+mn-lt"/>
              </a:rPr>
              <a:t>O IPC permitiu a equipe de manutenção identificar corretamente o </a:t>
            </a:r>
            <a:r>
              <a:rPr lang="pt-BR" sz="2800" i="1" dirty="0" err="1">
                <a:ea typeface="+mn-lt"/>
                <a:cs typeface="+mn-lt"/>
              </a:rPr>
              <a:t>jackscrew</a:t>
            </a:r>
            <a:r>
              <a:rPr lang="pt-BR" sz="2800" dirty="0">
                <a:ea typeface="+mn-lt"/>
                <a:cs typeface="+mn-lt"/>
              </a:rPr>
              <a:t> e suas peças  durante inspeções e revisões.</a:t>
            </a:r>
            <a:endParaRPr lang="pt-BR" sz="2800" b="1" dirty="0">
              <a:latin typeface="Arial"/>
              <a:cs typeface="Arial"/>
            </a:endParaRPr>
          </a:p>
        </p:txBody>
      </p:sp>
      <p:pic>
        <p:nvPicPr>
          <p:cNvPr id="11" name="Imagem 10" descr="Diagrama&#10;&#10;O conteúdo gerado por IA pode estar incorreto.">
            <a:extLst>
              <a:ext uri="{FF2B5EF4-FFF2-40B4-BE49-F238E27FC236}">
                <a16:creationId xmlns:a16="http://schemas.microsoft.com/office/drawing/2014/main" id="{361208DA-47D7-0A0A-E9AC-61FD2337B243}"/>
              </a:ext>
            </a:extLst>
          </p:cNvPr>
          <p:cNvPicPr>
            <a:picLocks noChangeAspect="1"/>
          </p:cNvPicPr>
          <p:nvPr/>
        </p:nvPicPr>
        <p:blipFill>
          <a:blip r:embed="rId3"/>
          <a:stretch>
            <a:fillRect/>
          </a:stretch>
        </p:blipFill>
        <p:spPr>
          <a:xfrm>
            <a:off x="6919072" y="1373841"/>
            <a:ext cx="4573120" cy="3774141"/>
          </a:xfrm>
          <a:prstGeom prst="rect">
            <a:avLst/>
          </a:prstGeom>
          <a:ln w="6350" cap="sq" cmpd="thickThin">
            <a:solidFill>
              <a:srgbClr val="000000"/>
            </a:solidFill>
            <a:prstDash val="solid"/>
            <a:miter lim="800000"/>
          </a:ln>
          <a:effectLst>
            <a:innerShdw blurRad="76200">
              <a:srgbClr val="000000"/>
            </a:innerShdw>
          </a:effectLst>
        </p:spPr>
      </p:pic>
      <p:sp>
        <p:nvSpPr>
          <p:cNvPr id="12" name="CaixaDeTexto 11">
            <a:extLst>
              <a:ext uri="{FF2B5EF4-FFF2-40B4-BE49-F238E27FC236}">
                <a16:creationId xmlns:a16="http://schemas.microsoft.com/office/drawing/2014/main" id="{48E2DE0F-E7B3-A94F-01B7-765956D85D58}"/>
              </a:ext>
            </a:extLst>
          </p:cNvPr>
          <p:cNvSpPr txBox="1"/>
          <p:nvPr/>
        </p:nvSpPr>
        <p:spPr>
          <a:xfrm>
            <a:off x="6227046" y="882057"/>
            <a:ext cx="603544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dirty="0">
                <a:latin typeface="Arial"/>
                <a:cs typeface="Arial"/>
              </a:rPr>
              <a:t>Estrutura do estabilizador horizontal e vertical do MD-20</a:t>
            </a:r>
          </a:p>
        </p:txBody>
      </p:sp>
      <p:sp>
        <p:nvSpPr>
          <p:cNvPr id="13" name="CaixaDeTexto 12">
            <a:extLst>
              <a:ext uri="{FF2B5EF4-FFF2-40B4-BE49-F238E27FC236}">
                <a16:creationId xmlns:a16="http://schemas.microsoft.com/office/drawing/2014/main" id="{79EF9798-CBCC-52E0-3B4F-82DBF0FF53AE}"/>
              </a:ext>
            </a:extLst>
          </p:cNvPr>
          <p:cNvSpPr txBox="1"/>
          <p:nvPr/>
        </p:nvSpPr>
        <p:spPr>
          <a:xfrm>
            <a:off x="6807136" y="5138284"/>
            <a:ext cx="238887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1400" dirty="0">
                <a:latin typeface="Arial"/>
                <a:cs typeface="Arial"/>
              </a:rPr>
              <a:t>Fonte: Relatório NTSB</a:t>
            </a:r>
          </a:p>
        </p:txBody>
      </p:sp>
      <p:pic>
        <p:nvPicPr>
          <p:cNvPr id="14" name="Imagem 13" descr="Diagrama&#10;&#10;O conteúdo gerado por IA pode estar incorreto.">
            <a:extLst>
              <a:ext uri="{FF2B5EF4-FFF2-40B4-BE49-F238E27FC236}">
                <a16:creationId xmlns:a16="http://schemas.microsoft.com/office/drawing/2014/main" id="{AA8AC3FF-D0DD-A46A-F254-F343CF6BD195}"/>
              </a:ext>
            </a:extLst>
          </p:cNvPr>
          <p:cNvPicPr>
            <a:picLocks noChangeAspect="1"/>
          </p:cNvPicPr>
          <p:nvPr/>
        </p:nvPicPr>
        <p:blipFill>
          <a:blip r:embed="rId4"/>
          <a:stretch>
            <a:fillRect/>
          </a:stretch>
        </p:blipFill>
        <p:spPr>
          <a:xfrm>
            <a:off x="7437624" y="1431271"/>
            <a:ext cx="3973046" cy="3648075"/>
          </a:xfrm>
          <a:prstGeom prst="rect">
            <a:avLst/>
          </a:prstGeom>
        </p:spPr>
      </p:pic>
    </p:spTree>
    <p:extLst>
      <p:ext uri="{BB962C8B-B14F-4D97-AF65-F5344CB8AC3E}">
        <p14:creationId xmlns:p14="http://schemas.microsoft.com/office/powerpoint/2010/main" val="2269017827"/>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02FFC-2479-F21B-2D83-2602D95C3FB2}"/>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16E2F487-4234-6A35-64F2-D9151DDDB144}"/>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454DABF5-1984-C328-8207-7A632D2B0EA1}"/>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sym typeface="Helvetica Neue"/>
              </a:rPr>
              <a:t>Capítulo</a:t>
            </a:r>
            <a:r>
              <a:rPr kumimoji="0" lang="en-US"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rPr>
              <a:t> 1</a:t>
            </a:r>
            <a:endParaRPr kumimoji="0" lang="pt-BR"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C2FA2E0E-E594-4751-8CDD-53FB4F85BF06}"/>
              </a:ext>
            </a:extLst>
          </p:cNvPr>
          <p:cNvSpPr txBox="1"/>
          <p:nvPr/>
        </p:nvSpPr>
        <p:spPr>
          <a:xfrm>
            <a:off x="204278" y="564779"/>
            <a:ext cx="4278031" cy="307777"/>
          </a:xfrm>
          <a:prstGeom prst="rect">
            <a:avLst/>
          </a:prstGeom>
          <a:noFill/>
        </p:spPr>
        <p:txBody>
          <a:bodyPr wrap="none" lIns="91440" tIns="45720" rIns="91440" bIns="45720" rtlCol="0" anchor="t">
            <a:spAutoFit/>
          </a:bodyPr>
          <a:lstStyle/>
          <a:p>
            <a:r>
              <a:rPr lang="pt-BR" sz="1400" u="sng">
                <a:solidFill>
                  <a:srgbClr val="0070C0"/>
                </a:solidFill>
                <a:latin typeface="Arial"/>
                <a:cs typeface="Arial"/>
              </a:rPr>
              <a:t>Slide 1.3 - Task Cards Manual (TCM) - [word cards]</a:t>
            </a:r>
            <a:endParaRPr lang="pt-BR"/>
          </a:p>
        </p:txBody>
      </p:sp>
      <p:sp>
        <p:nvSpPr>
          <p:cNvPr id="8" name="CaixaDeTexto 7">
            <a:extLst>
              <a:ext uri="{FF2B5EF4-FFF2-40B4-BE49-F238E27FC236}">
                <a16:creationId xmlns:a16="http://schemas.microsoft.com/office/drawing/2014/main" id="{2E0BEC99-5C62-4578-B83D-CED6B1C4FCEB}"/>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rPr>
              <a:t>Resp.: </a:t>
            </a:r>
            <a:r>
              <a:rPr lang="pt-BR" u="sng" dirty="0">
                <a:solidFill>
                  <a:srgbClr val="0070C0"/>
                </a:solidFill>
                <a:latin typeface="Aptos" panose="02110004020202020204"/>
              </a:rPr>
              <a:t>Willian Henrique</a:t>
            </a:r>
            <a:endParaRPr lang="pt-BR" dirty="0">
              <a:ea typeface="+mn-ea"/>
              <a:cs typeface="+mn-cs"/>
            </a:endParaRPr>
          </a:p>
        </p:txBody>
      </p:sp>
      <p:sp>
        <p:nvSpPr>
          <p:cNvPr id="9" name="CaixaDeTexto 8">
            <a:extLst>
              <a:ext uri="{FF2B5EF4-FFF2-40B4-BE49-F238E27FC236}">
                <a16:creationId xmlns:a16="http://schemas.microsoft.com/office/drawing/2014/main" id="{B7381407-2E89-446F-9A6D-AA9CC3B54AEB}"/>
              </a:ext>
            </a:extLst>
          </p:cNvPr>
          <p:cNvSpPr txBox="1"/>
          <p:nvPr/>
        </p:nvSpPr>
        <p:spPr>
          <a:xfrm>
            <a:off x="1608667" y="-18398"/>
            <a:ext cx="8669433" cy="738664"/>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a:ln>
                  <a:noFill/>
                </a:ln>
                <a:solidFill>
                  <a:schemeClr val="accent4">
                    <a:lumMod val="76000"/>
                  </a:schemeClr>
                </a:solidFill>
                <a:effectLst/>
                <a:uLnTx/>
                <a:uFillTx/>
                <a:latin typeface="Arial"/>
                <a:cs typeface="Arial"/>
              </a:rPr>
              <a:t>Publicações Técnicas: Discorra sobre as publicações de manutenção que foram consideradas na análise do acidente.</a:t>
            </a:r>
            <a:endParaRPr lang="pt-BR" sz="1400" b="0" i="0" u="none" strike="noStrike" kern="1200" cap="none" spc="0" normalizeH="0" baseline="0" noProof="0">
              <a:ln>
                <a:noFill/>
              </a:ln>
              <a:solidFill>
                <a:schemeClr val="accent4">
                  <a:lumMod val="76000"/>
                </a:schemeClr>
              </a:solidFill>
              <a:effectLst/>
              <a:uLnTx/>
              <a:uFillTx/>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6B026C9F-FF45-B4FE-FCC2-557D63B6E9F7}"/>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7" name="CaixaDeTexto 6">
            <a:extLst>
              <a:ext uri="{FF2B5EF4-FFF2-40B4-BE49-F238E27FC236}">
                <a16:creationId xmlns:a16="http://schemas.microsoft.com/office/drawing/2014/main" id="{FD927007-263B-D841-6CD6-1D90429896F6}"/>
              </a:ext>
            </a:extLst>
          </p:cNvPr>
          <p:cNvSpPr txBox="1"/>
          <p:nvPr/>
        </p:nvSpPr>
        <p:spPr>
          <a:xfrm>
            <a:off x="511756" y="1279895"/>
            <a:ext cx="7607473"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err="1">
                <a:latin typeface="Arial"/>
                <a:cs typeface="Arial"/>
              </a:rPr>
              <a:t>Finalidade</a:t>
            </a:r>
            <a:r>
              <a:rPr lang="en-US" sz="2800" b="1" dirty="0">
                <a:latin typeface="Arial"/>
                <a:cs typeface="Arial"/>
              </a:rPr>
              <a:t>: </a:t>
            </a:r>
            <a:r>
              <a:rPr lang="en-US" sz="2800" dirty="0">
                <a:latin typeface="Arial"/>
                <a:cs typeface="Arial"/>
              </a:rPr>
              <a:t>Controle de horas, </a:t>
            </a:r>
            <a:r>
              <a:rPr lang="en-US" sz="2800" dirty="0" err="1">
                <a:latin typeface="Arial"/>
                <a:cs typeface="Arial"/>
              </a:rPr>
              <a:t>ciclos</a:t>
            </a:r>
            <a:r>
              <a:rPr lang="en-US" sz="2800" dirty="0">
                <a:latin typeface="Arial"/>
                <a:cs typeface="Arial"/>
              </a:rPr>
              <a:t> e </a:t>
            </a:r>
            <a:r>
              <a:rPr lang="en-US" sz="2800" dirty="0" err="1">
                <a:latin typeface="Arial"/>
                <a:cs typeface="Arial"/>
              </a:rPr>
              <a:t>rastreabilidade</a:t>
            </a:r>
            <a:r>
              <a:rPr lang="en-US" sz="2800" dirty="0">
                <a:latin typeface="Arial"/>
                <a:cs typeface="Arial"/>
              </a:rPr>
              <a:t> de </a:t>
            </a:r>
            <a:r>
              <a:rPr lang="en-US" sz="2800" dirty="0" err="1">
                <a:latin typeface="Arial"/>
                <a:cs typeface="Arial"/>
              </a:rPr>
              <a:t>componentes</a:t>
            </a:r>
            <a:r>
              <a:rPr lang="en-US" sz="2800" dirty="0">
                <a:latin typeface="Arial"/>
                <a:cs typeface="Arial"/>
              </a:rPr>
              <a:t>. </a:t>
            </a:r>
            <a:r>
              <a:rPr lang="en-US" sz="2800" dirty="0">
                <a:latin typeface="Arial"/>
                <a:ea typeface="+mn-lt"/>
                <a:cs typeface="Arial"/>
              </a:rPr>
              <a:t>Ajuda a </a:t>
            </a:r>
            <a:r>
              <a:rPr lang="en-US" sz="2800" dirty="0" err="1">
                <a:latin typeface="Arial"/>
                <a:ea typeface="+mn-lt"/>
                <a:cs typeface="Arial"/>
              </a:rPr>
              <a:t>diagnosticar</a:t>
            </a:r>
            <a:r>
              <a:rPr lang="en-US" sz="2800" dirty="0">
                <a:latin typeface="Arial"/>
                <a:ea typeface="+mn-lt"/>
                <a:cs typeface="Arial"/>
              </a:rPr>
              <a:t> </a:t>
            </a:r>
            <a:r>
              <a:rPr lang="en-US" sz="2800" dirty="0" err="1">
                <a:latin typeface="Arial"/>
                <a:ea typeface="+mn-lt"/>
                <a:cs typeface="Arial"/>
              </a:rPr>
              <a:t>falhas</a:t>
            </a:r>
            <a:r>
              <a:rPr lang="en-US" sz="2800" dirty="0">
                <a:latin typeface="Arial"/>
                <a:ea typeface="+mn-lt"/>
                <a:cs typeface="Arial"/>
              </a:rPr>
              <a:t> a </a:t>
            </a:r>
            <a:r>
              <a:rPr lang="en-US" sz="2800" dirty="0" err="1">
                <a:latin typeface="Arial"/>
                <a:ea typeface="+mn-lt"/>
                <a:cs typeface="Arial"/>
              </a:rPr>
              <a:t>partir</a:t>
            </a:r>
            <a:r>
              <a:rPr lang="en-US" sz="2800" dirty="0">
                <a:latin typeface="Arial"/>
                <a:ea typeface="+mn-lt"/>
                <a:cs typeface="Arial"/>
              </a:rPr>
              <a:t> de </a:t>
            </a:r>
            <a:r>
              <a:rPr lang="en-US" sz="2800" dirty="0" err="1">
                <a:latin typeface="Arial"/>
                <a:ea typeface="+mn-lt"/>
                <a:cs typeface="Arial"/>
              </a:rPr>
              <a:t>sintomas</a:t>
            </a:r>
            <a:r>
              <a:rPr lang="en-US" sz="2800" dirty="0">
                <a:latin typeface="Arial"/>
                <a:ea typeface="+mn-lt"/>
                <a:cs typeface="Arial"/>
              </a:rPr>
              <a:t>.</a:t>
            </a:r>
            <a:endParaRPr lang="en-US" sz="2800" dirty="0">
              <a:latin typeface="Arial"/>
              <a:cs typeface="Arial"/>
            </a:endParaRPr>
          </a:p>
        </p:txBody>
      </p:sp>
      <p:sp>
        <p:nvSpPr>
          <p:cNvPr id="11" name="CaixaDeTexto 10">
            <a:extLst>
              <a:ext uri="{FF2B5EF4-FFF2-40B4-BE49-F238E27FC236}">
                <a16:creationId xmlns:a16="http://schemas.microsoft.com/office/drawing/2014/main" id="{148E7B81-9AD6-2690-333F-85C1B1ABC9EE}"/>
              </a:ext>
            </a:extLst>
          </p:cNvPr>
          <p:cNvSpPr txBox="1"/>
          <p:nvPr/>
        </p:nvSpPr>
        <p:spPr>
          <a:xfrm>
            <a:off x="511756" y="2740498"/>
            <a:ext cx="9366027"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err="1">
                <a:latin typeface="Arial"/>
                <a:cs typeface="Arial"/>
              </a:rPr>
              <a:t>Descrição</a:t>
            </a:r>
            <a:r>
              <a:rPr lang="en-US" sz="2800" b="1" dirty="0">
                <a:latin typeface="Arial"/>
                <a:cs typeface="Arial"/>
              </a:rPr>
              <a:t>:</a:t>
            </a:r>
            <a:r>
              <a:rPr lang="en-US" sz="2800" dirty="0">
                <a:latin typeface="Arial"/>
                <a:cs typeface="Arial"/>
              </a:rPr>
              <a:t> </a:t>
            </a:r>
            <a:r>
              <a:rPr lang="en-US" sz="2800" dirty="0" err="1">
                <a:latin typeface="Arial"/>
                <a:cs typeface="Arial"/>
              </a:rPr>
              <a:t>Garante</a:t>
            </a:r>
            <a:r>
              <a:rPr lang="en-US" sz="2800" dirty="0">
                <a:latin typeface="Arial"/>
                <a:cs typeface="Arial"/>
              </a:rPr>
              <a:t> que </a:t>
            </a:r>
            <a:r>
              <a:rPr lang="en-US" sz="2800" dirty="0" err="1">
                <a:latin typeface="Arial"/>
                <a:cs typeface="Arial"/>
              </a:rPr>
              <a:t>cada</a:t>
            </a:r>
            <a:r>
              <a:rPr lang="en-US" sz="2800" dirty="0">
                <a:latin typeface="Arial"/>
                <a:cs typeface="Arial"/>
              </a:rPr>
              <a:t> </a:t>
            </a:r>
            <a:r>
              <a:rPr lang="en-US" sz="2800" dirty="0" err="1">
                <a:latin typeface="Arial"/>
                <a:cs typeface="Arial"/>
              </a:rPr>
              <a:t>componente</a:t>
            </a:r>
            <a:r>
              <a:rPr lang="en-US" sz="2800" dirty="0">
                <a:latin typeface="Arial"/>
                <a:cs typeface="Arial"/>
              </a:rPr>
              <a:t> (</a:t>
            </a:r>
            <a:r>
              <a:rPr lang="en-US" sz="2800" dirty="0" err="1">
                <a:latin typeface="Arial"/>
                <a:cs typeface="Arial"/>
              </a:rPr>
              <a:t>como</a:t>
            </a:r>
            <a:r>
              <a:rPr lang="en-US" sz="2800" dirty="0">
                <a:latin typeface="Arial"/>
                <a:cs typeface="Arial"/>
              </a:rPr>
              <a:t> o </a:t>
            </a:r>
            <a:r>
              <a:rPr lang="en-US" sz="2800" i="1" dirty="0">
                <a:latin typeface="Arial"/>
                <a:cs typeface="Arial"/>
              </a:rPr>
              <a:t>jackscrew</a:t>
            </a:r>
            <a:r>
              <a:rPr lang="en-US" sz="2800" dirty="0">
                <a:latin typeface="Arial"/>
                <a:cs typeface="Arial"/>
              </a:rPr>
              <a:t> e a </a:t>
            </a:r>
            <a:r>
              <a:rPr lang="en-US" sz="2800" dirty="0" err="1">
                <a:latin typeface="Arial"/>
                <a:cs typeface="Arial"/>
              </a:rPr>
              <a:t>porca</a:t>
            </a:r>
            <a:r>
              <a:rPr lang="en-US" sz="2800" dirty="0">
                <a:latin typeface="Arial"/>
                <a:cs typeface="Arial"/>
              </a:rPr>
              <a:t> trapezoidal) </a:t>
            </a:r>
            <a:r>
              <a:rPr lang="en-US" sz="2800" dirty="0" err="1">
                <a:latin typeface="Arial"/>
                <a:cs typeface="Arial"/>
              </a:rPr>
              <a:t>tenha</a:t>
            </a:r>
            <a:r>
              <a:rPr lang="en-US" sz="2800" dirty="0">
                <a:latin typeface="Arial"/>
                <a:cs typeface="Arial"/>
              </a:rPr>
              <a:t> </a:t>
            </a:r>
            <a:r>
              <a:rPr lang="en-US" sz="2800" dirty="0" err="1">
                <a:latin typeface="Arial"/>
                <a:cs typeface="Arial"/>
              </a:rPr>
              <a:t>seu</a:t>
            </a:r>
            <a:r>
              <a:rPr lang="en-US" sz="2800" dirty="0">
                <a:latin typeface="Arial"/>
                <a:cs typeface="Arial"/>
              </a:rPr>
              <a:t> histórico de horas de </a:t>
            </a:r>
            <a:r>
              <a:rPr lang="en-US" sz="2800" dirty="0" err="1">
                <a:latin typeface="Arial"/>
                <a:cs typeface="Arial"/>
              </a:rPr>
              <a:t>voo</a:t>
            </a:r>
            <a:r>
              <a:rPr lang="en-US" sz="2800" dirty="0">
                <a:latin typeface="Arial"/>
                <a:cs typeface="Arial"/>
              </a:rPr>
              <a:t>, </a:t>
            </a:r>
            <a:r>
              <a:rPr lang="en-US" sz="2800" dirty="0" err="1">
                <a:latin typeface="Arial"/>
                <a:cs typeface="Arial"/>
              </a:rPr>
              <a:t>ciclos</a:t>
            </a:r>
            <a:r>
              <a:rPr lang="en-US" sz="2800" dirty="0">
                <a:latin typeface="Arial"/>
                <a:cs typeface="Arial"/>
              </a:rPr>
              <a:t> e </a:t>
            </a:r>
            <a:r>
              <a:rPr lang="en-US" sz="2800" dirty="0" err="1">
                <a:latin typeface="Arial"/>
                <a:cs typeface="Arial"/>
              </a:rPr>
              <a:t>revisões</a:t>
            </a:r>
            <a:r>
              <a:rPr lang="en-US" sz="2800" dirty="0">
                <a:latin typeface="Arial"/>
                <a:cs typeface="Arial"/>
              </a:rPr>
              <a:t> </a:t>
            </a:r>
            <a:r>
              <a:rPr lang="en-US" sz="2800" dirty="0" err="1">
                <a:latin typeface="Arial"/>
                <a:cs typeface="Arial"/>
              </a:rPr>
              <a:t>corretamente</a:t>
            </a:r>
            <a:r>
              <a:rPr lang="en-US" sz="2800" dirty="0">
                <a:latin typeface="Arial"/>
                <a:cs typeface="Arial"/>
              </a:rPr>
              <a:t> </a:t>
            </a:r>
            <a:r>
              <a:rPr lang="en-US" sz="2800" dirty="0" err="1">
                <a:latin typeface="Arial"/>
                <a:cs typeface="Arial"/>
              </a:rPr>
              <a:t>documentado</a:t>
            </a:r>
            <a:r>
              <a:rPr lang="en-US" sz="2800" dirty="0">
                <a:latin typeface="Arial"/>
                <a:cs typeface="Arial"/>
              </a:rPr>
              <a:t>.</a:t>
            </a:r>
            <a:endParaRPr lang="pt-BR" sz="2800">
              <a:latin typeface="Arial"/>
              <a:cs typeface="Arial"/>
            </a:endParaRPr>
          </a:p>
          <a:p>
            <a:pPr marL="228600" indent="-228600">
              <a:buFont typeface=""/>
              <a:buChar char="•"/>
            </a:pPr>
            <a:endParaRPr lang="pt-BR" sz="2800">
              <a:latin typeface="Arial"/>
              <a:cs typeface="Arial"/>
            </a:endParaRPr>
          </a:p>
          <a:p>
            <a:endParaRPr lang="en-US" sz="2800" dirty="0">
              <a:latin typeface="Arial"/>
              <a:cs typeface="Arial"/>
            </a:endParaRPr>
          </a:p>
        </p:txBody>
      </p:sp>
      <p:sp>
        <p:nvSpPr>
          <p:cNvPr id="2" name="CaixaDeTexto 1">
            <a:extLst>
              <a:ext uri="{FF2B5EF4-FFF2-40B4-BE49-F238E27FC236}">
                <a16:creationId xmlns:a16="http://schemas.microsoft.com/office/drawing/2014/main" id="{C52691F3-0D42-A83C-1384-ACEBE5F1DC47}"/>
              </a:ext>
            </a:extLst>
          </p:cNvPr>
          <p:cNvSpPr txBox="1"/>
          <p:nvPr/>
        </p:nvSpPr>
        <p:spPr>
          <a:xfrm>
            <a:off x="510989" y="4545106"/>
            <a:ext cx="8245287"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latin typeface="Arial"/>
              </a:rPr>
              <a:t>Envolvimento:</a:t>
            </a:r>
            <a:r>
              <a:rPr lang="en-US" sz="2800">
                <a:latin typeface="Arial"/>
              </a:rPr>
              <a:t> No caso do voo 261, havia falhas no</a:t>
            </a:r>
            <a:r>
              <a:rPr lang="en-US" sz="2800" b="1">
                <a:latin typeface="Arial"/>
              </a:rPr>
              <a:t> </a:t>
            </a:r>
            <a:r>
              <a:rPr lang="en-US" sz="2800">
                <a:latin typeface="Arial"/>
              </a:rPr>
              <a:t>rastreamento desses componentes, dificultando para identificar o desgaste progressivo e confirmar se as revisões estavam dentro dos limites.</a:t>
            </a:r>
            <a:endParaRPr lang="pt-BR"/>
          </a:p>
        </p:txBody>
      </p:sp>
    </p:spTree>
    <p:extLst>
      <p:ext uri="{BB962C8B-B14F-4D97-AF65-F5344CB8AC3E}">
        <p14:creationId xmlns:p14="http://schemas.microsoft.com/office/powerpoint/2010/main" val="8145788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442AE-B4C8-8808-C0B3-510CEFCFD453}"/>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BF7C10D1-604F-4AF7-1B59-1D42BD1D7A3A}"/>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4E81E057-27D0-F92C-FA24-C2391424BAD5}"/>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sym typeface="Helvetica Neue"/>
              </a:rPr>
              <a:t>Capítulo</a:t>
            </a:r>
            <a:r>
              <a:rPr kumimoji="0" lang="en-US"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rPr>
              <a:t> 1</a:t>
            </a:r>
            <a:endParaRPr kumimoji="0" lang="pt-BR"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41A574B2-D1BD-732E-C560-863E3E546CF0}"/>
              </a:ext>
            </a:extLst>
          </p:cNvPr>
          <p:cNvSpPr txBox="1"/>
          <p:nvPr/>
        </p:nvSpPr>
        <p:spPr>
          <a:xfrm>
            <a:off x="204278" y="564779"/>
            <a:ext cx="5575565" cy="307777"/>
          </a:xfrm>
          <a:prstGeom prst="rect">
            <a:avLst/>
          </a:prstGeom>
          <a:noFill/>
        </p:spPr>
        <p:txBody>
          <a:bodyPr wrap="none" lIns="91440" tIns="45720" rIns="91440" bIns="45720" rtlCol="0" anchor="t">
            <a:spAutoFit/>
          </a:bodyPr>
          <a:lstStyle/>
          <a:p>
            <a:r>
              <a:rPr lang="pt-BR" sz="1400" u="sng" dirty="0">
                <a:solidFill>
                  <a:srgbClr val="0070C0"/>
                </a:solidFill>
                <a:latin typeface="Arial"/>
                <a:cs typeface="Arial"/>
              </a:rPr>
              <a:t>Slide 1.4 - </a:t>
            </a:r>
            <a:r>
              <a:rPr lang="pt-BR" sz="1400" u="sng" dirty="0" err="1">
                <a:solidFill>
                  <a:srgbClr val="0070C0"/>
                </a:solidFill>
                <a:latin typeface="Arial"/>
                <a:cs typeface="Arial"/>
              </a:rPr>
              <a:t>Component</a:t>
            </a:r>
            <a:r>
              <a:rPr lang="pt-BR" sz="1400" u="sng" dirty="0">
                <a:solidFill>
                  <a:srgbClr val="0070C0"/>
                </a:solidFill>
                <a:latin typeface="Arial"/>
                <a:cs typeface="Arial"/>
              </a:rPr>
              <a:t> </a:t>
            </a:r>
            <a:r>
              <a:rPr lang="pt-BR" sz="1400" u="sng" dirty="0" err="1">
                <a:solidFill>
                  <a:srgbClr val="0070C0"/>
                </a:solidFill>
                <a:latin typeface="Arial"/>
                <a:cs typeface="Arial"/>
              </a:rPr>
              <a:t>Maintenance</a:t>
            </a:r>
            <a:r>
              <a:rPr lang="pt-BR" sz="1400" u="sng" dirty="0">
                <a:solidFill>
                  <a:srgbClr val="0070C0"/>
                </a:solidFill>
                <a:latin typeface="Arial"/>
                <a:cs typeface="Arial"/>
              </a:rPr>
              <a:t> Manual (CMM) (Revisão Geral)</a:t>
            </a:r>
            <a:endParaRPr lang="pt-BR" dirty="0">
              <a:solidFill>
                <a:srgbClr val="000000"/>
              </a:solidFill>
              <a:latin typeface="Aptos" panose="02110004020202020204"/>
            </a:endParaRPr>
          </a:p>
        </p:txBody>
      </p:sp>
      <p:sp>
        <p:nvSpPr>
          <p:cNvPr id="8" name="CaixaDeTexto 7">
            <a:extLst>
              <a:ext uri="{FF2B5EF4-FFF2-40B4-BE49-F238E27FC236}">
                <a16:creationId xmlns:a16="http://schemas.microsoft.com/office/drawing/2014/main" id="{8EC4D18E-8607-1C7D-FD66-6E915FC071FB}"/>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rPr>
              <a:t>Resp.: </a:t>
            </a:r>
            <a:r>
              <a:rPr lang="pt-BR" u="sng" dirty="0">
                <a:solidFill>
                  <a:srgbClr val="0070C0"/>
                </a:solidFill>
                <a:latin typeface="Aptos" panose="02110004020202020204"/>
              </a:rPr>
              <a:t>Willian Henrique</a:t>
            </a:r>
            <a:endParaRPr lang="pt-BR" dirty="0"/>
          </a:p>
        </p:txBody>
      </p:sp>
      <p:sp>
        <p:nvSpPr>
          <p:cNvPr id="9" name="CaixaDeTexto 8">
            <a:extLst>
              <a:ext uri="{FF2B5EF4-FFF2-40B4-BE49-F238E27FC236}">
                <a16:creationId xmlns:a16="http://schemas.microsoft.com/office/drawing/2014/main" id="{8E039F0A-E837-E87A-EBA5-96ECF7897F66}"/>
              </a:ext>
            </a:extLst>
          </p:cNvPr>
          <p:cNvSpPr txBox="1"/>
          <p:nvPr/>
        </p:nvSpPr>
        <p:spPr>
          <a:xfrm>
            <a:off x="1608667" y="-18398"/>
            <a:ext cx="8669433" cy="738664"/>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a:ln>
                  <a:noFill/>
                </a:ln>
                <a:solidFill>
                  <a:schemeClr val="accent4">
                    <a:lumMod val="76000"/>
                  </a:schemeClr>
                </a:solidFill>
                <a:effectLst/>
                <a:uLnTx/>
                <a:uFillTx/>
                <a:latin typeface="Arial"/>
                <a:cs typeface="Arial"/>
              </a:rPr>
              <a:t>Publicações Técnicas: Discorra sobre as publicações de manutenção que foram consideradas na análise do acidente.</a:t>
            </a:r>
            <a:endParaRPr lang="pt-BR" sz="1400" b="0" i="0" u="none" strike="noStrike" kern="1200" cap="none" spc="0" normalizeH="0" baseline="0" noProof="0">
              <a:ln>
                <a:noFill/>
              </a:ln>
              <a:solidFill>
                <a:schemeClr val="accent4">
                  <a:lumMod val="76000"/>
                </a:schemeClr>
              </a:solidFill>
              <a:effectLst/>
              <a:uLnTx/>
              <a:uFillTx/>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FFD7465C-4D30-F17E-1978-DE097FF4935A}"/>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10" name="CaixaDeTexto 9">
            <a:extLst>
              <a:ext uri="{FF2B5EF4-FFF2-40B4-BE49-F238E27FC236}">
                <a16:creationId xmlns:a16="http://schemas.microsoft.com/office/drawing/2014/main" id="{0D795EC1-86D3-0662-2302-11C1DE0C9B61}"/>
              </a:ext>
            </a:extLst>
          </p:cNvPr>
          <p:cNvSpPr txBox="1"/>
          <p:nvPr/>
        </p:nvSpPr>
        <p:spPr>
          <a:xfrm>
            <a:off x="253253" y="1541930"/>
            <a:ext cx="10027022"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err="1">
                <a:latin typeface="Arial"/>
                <a:cs typeface="Arial"/>
              </a:rPr>
              <a:t>Finalidade</a:t>
            </a:r>
            <a:r>
              <a:rPr lang="en-US" sz="2800" b="1" dirty="0">
                <a:latin typeface="Arial"/>
                <a:cs typeface="Arial"/>
              </a:rPr>
              <a:t>:</a:t>
            </a:r>
            <a:r>
              <a:rPr lang="en-US" sz="2800" dirty="0">
                <a:latin typeface="Arial"/>
                <a:cs typeface="Arial"/>
              </a:rPr>
              <a:t> Manual para </a:t>
            </a:r>
            <a:r>
              <a:rPr lang="en-US" sz="2800" dirty="0" err="1">
                <a:latin typeface="Arial"/>
                <a:cs typeface="Arial"/>
              </a:rPr>
              <a:t>manutenção</a:t>
            </a:r>
            <a:r>
              <a:rPr lang="en-US" sz="2800" dirty="0">
                <a:latin typeface="Arial"/>
                <a:cs typeface="Arial"/>
              </a:rPr>
              <a:t> de </a:t>
            </a:r>
            <a:r>
              <a:rPr lang="en-US" sz="2800" dirty="0" err="1">
                <a:latin typeface="Arial"/>
                <a:cs typeface="Arial"/>
              </a:rPr>
              <a:t>componentes</a:t>
            </a:r>
            <a:r>
              <a:rPr lang="en-US" sz="2800" dirty="0">
                <a:latin typeface="Arial"/>
                <a:cs typeface="Arial"/>
              </a:rPr>
              <a:t> </a:t>
            </a:r>
            <a:r>
              <a:rPr lang="en-US" sz="2800" dirty="0" err="1">
                <a:latin typeface="Arial"/>
                <a:cs typeface="Arial"/>
              </a:rPr>
              <a:t>específicos</a:t>
            </a:r>
            <a:r>
              <a:rPr lang="en-US" sz="2800" dirty="0">
                <a:latin typeface="Arial"/>
                <a:cs typeface="Arial"/>
              </a:rPr>
              <a:t>.</a:t>
            </a:r>
            <a:endParaRPr lang="pt-BR"/>
          </a:p>
          <a:p>
            <a:endParaRPr lang="en-US" sz="2800" dirty="0">
              <a:latin typeface="Arial"/>
              <a:cs typeface="Arial"/>
            </a:endParaRPr>
          </a:p>
          <a:p>
            <a:r>
              <a:rPr lang="en-US" sz="2800" b="1" dirty="0" err="1">
                <a:latin typeface="Arial"/>
                <a:cs typeface="Arial"/>
              </a:rPr>
              <a:t>Descrição</a:t>
            </a:r>
            <a:r>
              <a:rPr lang="en-US" sz="2800" b="1" dirty="0">
                <a:latin typeface="Arial"/>
                <a:cs typeface="Arial"/>
              </a:rPr>
              <a:t>:</a:t>
            </a:r>
            <a:r>
              <a:rPr lang="en-US" sz="2800" dirty="0">
                <a:latin typeface="Arial"/>
                <a:cs typeface="Arial"/>
              </a:rPr>
              <a:t> Define </a:t>
            </a:r>
            <a:r>
              <a:rPr lang="en-US" sz="2800" dirty="0" err="1">
                <a:latin typeface="Arial"/>
                <a:cs typeface="Arial"/>
              </a:rPr>
              <a:t>desmontagem</a:t>
            </a:r>
            <a:r>
              <a:rPr lang="en-US" sz="2800" dirty="0">
                <a:latin typeface="Arial"/>
                <a:cs typeface="Arial"/>
              </a:rPr>
              <a:t>, </a:t>
            </a:r>
            <a:r>
              <a:rPr lang="en-US" sz="2800" dirty="0" err="1">
                <a:latin typeface="Arial"/>
                <a:cs typeface="Arial"/>
              </a:rPr>
              <a:t>inspeção</a:t>
            </a:r>
            <a:r>
              <a:rPr lang="en-US" sz="2800" dirty="0">
                <a:latin typeface="Arial"/>
                <a:cs typeface="Arial"/>
              </a:rPr>
              <a:t>, </a:t>
            </a:r>
            <a:r>
              <a:rPr lang="en-US" sz="2800" dirty="0" err="1">
                <a:latin typeface="Arial"/>
                <a:cs typeface="Arial"/>
              </a:rPr>
              <a:t>critérios</a:t>
            </a:r>
            <a:r>
              <a:rPr lang="en-US" sz="2800" dirty="0">
                <a:latin typeface="Arial"/>
                <a:cs typeface="Arial"/>
              </a:rPr>
              <a:t> de </a:t>
            </a:r>
            <a:r>
              <a:rPr lang="en-US" sz="2800" dirty="0" err="1">
                <a:latin typeface="Arial"/>
                <a:cs typeface="Arial"/>
              </a:rPr>
              <a:t>desgaste</a:t>
            </a:r>
            <a:r>
              <a:rPr lang="en-US" sz="2800" dirty="0">
                <a:latin typeface="Arial"/>
                <a:cs typeface="Arial"/>
              </a:rPr>
              <a:t>, </a:t>
            </a:r>
            <a:r>
              <a:rPr lang="en-US" sz="2800" dirty="0" err="1">
                <a:latin typeface="Arial"/>
                <a:cs typeface="Arial"/>
              </a:rPr>
              <a:t>limites</a:t>
            </a:r>
            <a:r>
              <a:rPr lang="en-US" sz="2800" dirty="0">
                <a:latin typeface="Arial"/>
                <a:cs typeface="Arial"/>
              </a:rPr>
              <a:t> de </a:t>
            </a:r>
            <a:r>
              <a:rPr lang="en-US" sz="2800" dirty="0" err="1">
                <a:latin typeface="Arial"/>
                <a:cs typeface="Arial"/>
              </a:rPr>
              <a:t>folga</a:t>
            </a:r>
            <a:r>
              <a:rPr lang="en-US" sz="2800" dirty="0">
                <a:latin typeface="Arial"/>
                <a:cs typeface="Arial"/>
              </a:rPr>
              <a:t> e </a:t>
            </a:r>
            <a:r>
              <a:rPr lang="en-US" sz="2800" dirty="0" err="1">
                <a:latin typeface="Arial"/>
                <a:cs typeface="Arial"/>
              </a:rPr>
              <a:t>remontagem</a:t>
            </a:r>
            <a:r>
              <a:rPr lang="en-US" sz="2800" dirty="0">
                <a:latin typeface="Arial"/>
                <a:cs typeface="Arial"/>
              </a:rPr>
              <a:t> de </a:t>
            </a:r>
            <a:r>
              <a:rPr lang="en-US" sz="2800" dirty="0" err="1">
                <a:latin typeface="Arial"/>
                <a:cs typeface="Arial"/>
              </a:rPr>
              <a:t>peças</a:t>
            </a:r>
            <a:r>
              <a:rPr lang="en-US" sz="2800" dirty="0">
                <a:latin typeface="Arial"/>
                <a:cs typeface="Arial"/>
              </a:rPr>
              <a:t> </a:t>
            </a:r>
            <a:r>
              <a:rPr lang="en-US" sz="2800" dirty="0" err="1">
                <a:latin typeface="Arial"/>
                <a:cs typeface="Arial"/>
              </a:rPr>
              <a:t>como</a:t>
            </a:r>
            <a:r>
              <a:rPr lang="en-US" sz="2800" dirty="0">
                <a:latin typeface="Arial"/>
                <a:cs typeface="Arial"/>
              </a:rPr>
              <a:t> o conjunto </a:t>
            </a:r>
            <a:r>
              <a:rPr lang="en-US" sz="2800" i="1" dirty="0">
                <a:latin typeface="Arial"/>
                <a:cs typeface="Arial"/>
              </a:rPr>
              <a:t>jackscrew</a:t>
            </a:r>
            <a:r>
              <a:rPr lang="en-US" sz="2800" dirty="0">
                <a:latin typeface="Arial"/>
                <a:cs typeface="Arial"/>
              </a:rPr>
              <a:t>/</a:t>
            </a:r>
            <a:r>
              <a:rPr lang="en-US" sz="2800" dirty="0" err="1">
                <a:latin typeface="Arial"/>
                <a:cs typeface="Arial"/>
              </a:rPr>
              <a:t>porca</a:t>
            </a:r>
            <a:r>
              <a:rPr lang="en-US" sz="2800" dirty="0">
                <a:latin typeface="Arial"/>
                <a:cs typeface="Arial"/>
              </a:rPr>
              <a:t> trapezoidal.</a:t>
            </a:r>
          </a:p>
          <a:p>
            <a:endParaRPr lang="en-US" sz="2800" dirty="0">
              <a:latin typeface="Arial"/>
              <a:cs typeface="Arial"/>
            </a:endParaRPr>
          </a:p>
          <a:p>
            <a:r>
              <a:rPr lang="en-US" sz="2800" b="1" dirty="0" err="1">
                <a:latin typeface="Arial"/>
                <a:cs typeface="Arial"/>
              </a:rPr>
              <a:t>Envolvimento</a:t>
            </a:r>
            <a:r>
              <a:rPr lang="en-US" sz="2800" b="1" dirty="0">
                <a:latin typeface="Arial"/>
                <a:cs typeface="Arial"/>
              </a:rPr>
              <a:t>:</a:t>
            </a:r>
            <a:r>
              <a:rPr lang="en-US" sz="2800" dirty="0">
                <a:latin typeface="Arial"/>
                <a:cs typeface="Arial"/>
              </a:rPr>
              <a:t> </a:t>
            </a:r>
            <a:r>
              <a:rPr lang="en-US" sz="2800" dirty="0" err="1">
                <a:latin typeface="Arial"/>
                <a:cs typeface="Arial"/>
              </a:rPr>
              <a:t>Apesar</a:t>
            </a:r>
            <a:r>
              <a:rPr lang="en-US" sz="2800" dirty="0">
                <a:latin typeface="Arial"/>
                <a:cs typeface="Arial"/>
              </a:rPr>
              <a:t> de </a:t>
            </a:r>
            <a:r>
              <a:rPr lang="en-US" sz="2800" dirty="0" err="1">
                <a:latin typeface="Arial"/>
                <a:cs typeface="Arial"/>
              </a:rPr>
              <a:t>existir</a:t>
            </a:r>
            <a:r>
              <a:rPr lang="en-US" sz="2800" dirty="0">
                <a:latin typeface="Arial"/>
                <a:cs typeface="Arial"/>
              </a:rPr>
              <a:t>, </a:t>
            </a:r>
            <a:r>
              <a:rPr lang="en-US" sz="2800" dirty="0" err="1">
                <a:latin typeface="Arial"/>
                <a:cs typeface="Arial"/>
              </a:rPr>
              <a:t>os</a:t>
            </a:r>
            <a:r>
              <a:rPr lang="en-US" sz="2800" dirty="0">
                <a:latin typeface="Arial"/>
                <a:cs typeface="Arial"/>
              </a:rPr>
              <a:t> </a:t>
            </a:r>
            <a:r>
              <a:rPr lang="en-US" sz="2800" dirty="0" err="1">
                <a:latin typeface="Arial"/>
                <a:cs typeface="Arial"/>
              </a:rPr>
              <a:t>procedimentos</a:t>
            </a:r>
            <a:r>
              <a:rPr lang="en-US" sz="2800" dirty="0">
                <a:latin typeface="Arial"/>
                <a:cs typeface="Arial"/>
              </a:rPr>
              <a:t> do CMM </a:t>
            </a:r>
            <a:r>
              <a:rPr lang="en-US" sz="2800" dirty="0" err="1">
                <a:latin typeface="Arial"/>
                <a:cs typeface="Arial"/>
              </a:rPr>
              <a:t>não</a:t>
            </a:r>
            <a:r>
              <a:rPr lang="en-US" sz="2800" dirty="0">
                <a:latin typeface="Arial"/>
                <a:cs typeface="Arial"/>
              </a:rPr>
              <a:t> </a:t>
            </a:r>
            <a:r>
              <a:rPr lang="en-US" sz="2800" dirty="0" err="1">
                <a:latin typeface="Arial"/>
                <a:cs typeface="Arial"/>
              </a:rPr>
              <a:t>foram</a:t>
            </a:r>
            <a:r>
              <a:rPr lang="en-US" sz="2800" dirty="0">
                <a:latin typeface="Arial"/>
                <a:cs typeface="Arial"/>
              </a:rPr>
              <a:t> </a:t>
            </a:r>
            <a:r>
              <a:rPr lang="en-US" sz="2800" dirty="0" err="1">
                <a:latin typeface="Arial"/>
                <a:cs typeface="Arial"/>
              </a:rPr>
              <a:t>suficientes</a:t>
            </a:r>
            <a:r>
              <a:rPr lang="en-US" sz="2800" dirty="0">
                <a:latin typeface="Arial"/>
                <a:cs typeface="Arial"/>
              </a:rPr>
              <a:t> para </a:t>
            </a:r>
            <a:r>
              <a:rPr lang="en-US" sz="2800" dirty="0" err="1">
                <a:latin typeface="Arial"/>
                <a:cs typeface="Arial"/>
              </a:rPr>
              <a:t>detectar</a:t>
            </a:r>
            <a:r>
              <a:rPr lang="en-US" sz="2800" dirty="0">
                <a:latin typeface="Arial"/>
                <a:cs typeface="Arial"/>
              </a:rPr>
              <a:t> o </a:t>
            </a:r>
            <a:r>
              <a:rPr lang="en-US" sz="2800" dirty="0" err="1">
                <a:latin typeface="Arial"/>
                <a:cs typeface="Arial"/>
              </a:rPr>
              <a:t>desgaste</a:t>
            </a:r>
            <a:r>
              <a:rPr lang="en-US" sz="2800" dirty="0">
                <a:latin typeface="Arial"/>
                <a:cs typeface="Arial"/>
              </a:rPr>
              <a:t> </a:t>
            </a:r>
            <a:r>
              <a:rPr lang="en-US" sz="2800" dirty="0" err="1">
                <a:latin typeface="Arial"/>
                <a:cs typeface="Arial"/>
              </a:rPr>
              <a:t>crítico</a:t>
            </a:r>
            <a:r>
              <a:rPr lang="en-US" sz="2800" dirty="0">
                <a:latin typeface="Arial"/>
                <a:cs typeface="Arial"/>
              </a:rPr>
              <a:t>, </a:t>
            </a:r>
            <a:r>
              <a:rPr lang="en-US" sz="2800" dirty="0" err="1">
                <a:latin typeface="Arial"/>
                <a:cs typeface="Arial"/>
              </a:rPr>
              <a:t>evidenciando</a:t>
            </a:r>
            <a:r>
              <a:rPr lang="en-US" sz="2800" dirty="0">
                <a:latin typeface="Arial"/>
                <a:cs typeface="Arial"/>
              </a:rPr>
              <a:t> </a:t>
            </a:r>
            <a:r>
              <a:rPr lang="en-US" sz="2800" dirty="0" err="1">
                <a:latin typeface="Arial"/>
                <a:cs typeface="Arial"/>
              </a:rPr>
              <a:t>falhas</a:t>
            </a:r>
            <a:r>
              <a:rPr lang="en-US" sz="2800" dirty="0">
                <a:latin typeface="Arial"/>
                <a:cs typeface="Arial"/>
              </a:rPr>
              <a:t> </a:t>
            </a:r>
            <a:r>
              <a:rPr lang="en-US" sz="2800" dirty="0" err="1">
                <a:latin typeface="Arial"/>
                <a:cs typeface="Arial"/>
              </a:rPr>
              <a:t>na</a:t>
            </a:r>
            <a:r>
              <a:rPr lang="en-US" sz="2800" dirty="0">
                <a:latin typeface="Arial"/>
                <a:cs typeface="Arial"/>
              </a:rPr>
              <a:t> </a:t>
            </a:r>
            <a:r>
              <a:rPr lang="en-US" sz="2800" dirty="0" err="1">
                <a:latin typeface="Arial"/>
                <a:cs typeface="Arial"/>
              </a:rPr>
              <a:t>execução</a:t>
            </a:r>
            <a:r>
              <a:rPr lang="en-US" sz="2800" dirty="0">
                <a:latin typeface="Arial"/>
                <a:cs typeface="Arial"/>
              </a:rPr>
              <a:t> e </a:t>
            </a:r>
            <a:r>
              <a:rPr lang="en-US" sz="2800" dirty="0" err="1">
                <a:latin typeface="Arial"/>
                <a:cs typeface="Arial"/>
              </a:rPr>
              <a:t>supervisão</a:t>
            </a:r>
            <a:r>
              <a:rPr lang="en-US" sz="2800" dirty="0">
                <a:latin typeface="Arial"/>
                <a:cs typeface="Arial"/>
              </a:rPr>
              <a:t> das </a:t>
            </a:r>
            <a:r>
              <a:rPr lang="en-US" sz="2800" dirty="0" err="1">
                <a:latin typeface="Arial"/>
                <a:cs typeface="Arial"/>
              </a:rPr>
              <a:t>revisões</a:t>
            </a:r>
            <a:r>
              <a:rPr lang="en-US" sz="2800" dirty="0">
                <a:latin typeface="Arial"/>
                <a:cs typeface="Arial"/>
              </a:rPr>
              <a:t>.</a:t>
            </a:r>
          </a:p>
        </p:txBody>
      </p:sp>
    </p:spTree>
    <p:extLst>
      <p:ext uri="{BB962C8B-B14F-4D97-AF65-F5344CB8AC3E}">
        <p14:creationId xmlns:p14="http://schemas.microsoft.com/office/powerpoint/2010/main" val="34898656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02FFC-2479-F21B-2D83-2602D95C3FB2}"/>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16E2F487-4234-6A35-64F2-D9151DDDB144}"/>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454DABF5-1984-C328-8207-7A632D2B0EA1}"/>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a:ln>
                  <a:noFill/>
                </a:ln>
                <a:solidFill>
                  <a:srgbClr val="0070C0"/>
                </a:solidFill>
                <a:effectLst/>
                <a:uLnTx/>
                <a:uFillTx/>
                <a:latin typeface="Arial"/>
                <a:cs typeface="Arial"/>
                <a:sym typeface="Helvetica Neue"/>
              </a:rPr>
              <a:t> </a:t>
            </a:r>
            <a:r>
              <a:rPr lang="en-US" sz="2000" b="1">
                <a:solidFill>
                  <a:srgbClr val="0070C0"/>
                </a:solidFill>
                <a:latin typeface="Arial"/>
                <a:cs typeface="Arial"/>
                <a:sym typeface="Helvetica Neue"/>
              </a:rPr>
              <a:t>1</a:t>
            </a:r>
            <a:endParaRPr kumimoji="0" lang="pt-BR"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3" name="CaixaDeTexto 2">
            <a:extLst>
              <a:ext uri="{FF2B5EF4-FFF2-40B4-BE49-F238E27FC236}">
                <a16:creationId xmlns:a16="http://schemas.microsoft.com/office/drawing/2014/main" id="{BD362954-B0DA-468D-A479-4FD0903137B5}"/>
              </a:ext>
            </a:extLst>
          </p:cNvPr>
          <p:cNvSpPr txBox="1"/>
          <p:nvPr/>
        </p:nvSpPr>
        <p:spPr>
          <a:xfrm>
            <a:off x="1608667" y="-18398"/>
            <a:ext cx="8669433" cy="523220"/>
          </a:xfrm>
          <a:prstGeom prst="rect">
            <a:avLst/>
          </a:prstGeom>
          <a:noFill/>
        </p:spPr>
        <p:txBody>
          <a:bodyPr wrap="square" lIns="91440" tIns="45720" rIns="91440" bIns="45720" rtlCol="0" anchor="t">
            <a:spAutoFit/>
          </a:bodyPr>
          <a:lstStyle/>
          <a:p>
            <a:pPr>
              <a:defRPr/>
            </a:pPr>
            <a:r>
              <a:rPr lang="pt-BR" sz="1400">
                <a:solidFill>
                  <a:srgbClr val="0070C0"/>
                </a:solidFill>
                <a:latin typeface="Arial"/>
                <a:cs typeface="Arial"/>
              </a:rPr>
              <a:t>Publicações Técnicas: Discorra sobre as publicações de manutenção que foram consideradas na análise do acidente.</a:t>
            </a:r>
            <a:endParaRPr lang="en-US">
              <a:latin typeface="Arial"/>
              <a:cs typeface="Arial"/>
            </a:endParaRPr>
          </a:p>
        </p:txBody>
      </p:sp>
      <p:sp>
        <p:nvSpPr>
          <p:cNvPr id="6" name="CaixaDeTexto 5">
            <a:extLst>
              <a:ext uri="{FF2B5EF4-FFF2-40B4-BE49-F238E27FC236}">
                <a16:creationId xmlns:a16="http://schemas.microsoft.com/office/drawing/2014/main" id="{C2FA2E0E-E594-4751-8CDD-53FB4F85BF06}"/>
              </a:ext>
            </a:extLst>
          </p:cNvPr>
          <p:cNvSpPr txBox="1"/>
          <p:nvPr/>
        </p:nvSpPr>
        <p:spPr>
          <a:xfrm>
            <a:off x="204278" y="564779"/>
            <a:ext cx="4514377" cy="307777"/>
          </a:xfrm>
          <a:prstGeom prst="rect">
            <a:avLst/>
          </a:prstGeom>
          <a:noFill/>
        </p:spPr>
        <p:txBody>
          <a:bodyPr wrap="none" lIns="91440" tIns="45720" rIns="91440" bIns="45720" rtlCol="0" anchor="t">
            <a:spAutoFit/>
          </a:bodyPr>
          <a:lstStyle/>
          <a:p>
            <a:pPr>
              <a:defRPr/>
            </a:pPr>
            <a:r>
              <a:rPr kumimoji="0" lang="pt-BR" sz="1400" b="0" i="0" u="sng" strike="noStrike" kern="1200" cap="none" spc="0" normalizeH="0" baseline="0" noProof="0">
                <a:ln>
                  <a:noFill/>
                </a:ln>
                <a:solidFill>
                  <a:srgbClr val="0070C0"/>
                </a:solidFill>
                <a:effectLst/>
                <a:uLnTx/>
                <a:uFillTx/>
                <a:latin typeface="Arial"/>
                <a:cs typeface="Arial"/>
              </a:rPr>
              <a:t>Slide </a:t>
            </a:r>
            <a:r>
              <a:rPr lang="pt-BR" sz="1400" u="sng">
                <a:solidFill>
                  <a:srgbClr val="0070C0"/>
                </a:solidFill>
                <a:latin typeface="Arial"/>
                <a:cs typeface="Arial"/>
              </a:rPr>
              <a:t>1.5 - </a:t>
            </a:r>
            <a:r>
              <a:rPr lang="pt-BR" sz="1400" u="sng" err="1">
                <a:solidFill>
                  <a:srgbClr val="0070C0"/>
                </a:solidFill>
                <a:latin typeface="Arial"/>
                <a:cs typeface="Arial"/>
              </a:rPr>
              <a:t>Maintenance</a:t>
            </a:r>
            <a:r>
              <a:rPr lang="pt-BR" sz="1400" u="sng">
                <a:solidFill>
                  <a:srgbClr val="0070C0"/>
                </a:solidFill>
                <a:latin typeface="Arial"/>
                <a:cs typeface="Arial"/>
              </a:rPr>
              <a:t> Review Board Report (MRBR)</a:t>
            </a:r>
            <a:endParaRPr lang="pt-BR" sz="1400" b="0" i="0" u="sng" strike="noStrike" kern="1200" cap="none" spc="0" normalizeH="0" baseline="0" noProof="0">
              <a:ln>
                <a:noFill/>
              </a:ln>
              <a:solidFill>
                <a:srgbClr val="0070C0"/>
              </a:solidFill>
              <a:effectLst/>
              <a:uLnTx/>
              <a:uFillTx/>
              <a:latin typeface="Arial" panose="020B0604020202020204" pitchFamily="34" charset="0"/>
              <a:cs typeface="Arial" panose="020B0604020202020204" pitchFamily="34" charset="0"/>
            </a:endParaRPr>
          </a:p>
        </p:txBody>
      </p:sp>
      <p:sp>
        <p:nvSpPr>
          <p:cNvPr id="4" name="CaixaDeTexto 3">
            <a:extLst>
              <a:ext uri="{FF2B5EF4-FFF2-40B4-BE49-F238E27FC236}">
                <a16:creationId xmlns:a16="http://schemas.microsoft.com/office/drawing/2014/main" id="{A5F46BC9-F388-4635-B38B-0F3BFEB47F72}"/>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algn="ctr">
              <a:defRPr/>
            </a:pPr>
            <a:r>
              <a:rPr lang="pt-BR" u="sng" dirty="0">
                <a:solidFill>
                  <a:srgbClr val="0070C0"/>
                </a:solidFill>
                <a:latin typeface="Aptos" panose="02110004020202020204"/>
              </a:rPr>
              <a:t>Resp.: Willian Henrique</a:t>
            </a:r>
            <a:endParaRPr lang="pt-BR" dirty="0">
              <a:ea typeface="+mn-ea"/>
              <a:cs typeface="+mn-cs"/>
            </a:endParaRPr>
          </a:p>
        </p:txBody>
      </p:sp>
      <p:pic>
        <p:nvPicPr>
          <p:cNvPr id="7" name="Imagem 6" descr="Placa vermelha com letras brancas&#10;&#10;Descrição gerada automaticamente com confiança baixa">
            <a:extLst>
              <a:ext uri="{FF2B5EF4-FFF2-40B4-BE49-F238E27FC236}">
                <a16:creationId xmlns:a16="http://schemas.microsoft.com/office/drawing/2014/main" id="{69332BD4-EFC1-5748-28E1-3765A0D41126}"/>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2" name="TextBox 1">
            <a:extLst>
              <a:ext uri="{FF2B5EF4-FFF2-40B4-BE49-F238E27FC236}">
                <a16:creationId xmlns:a16="http://schemas.microsoft.com/office/drawing/2014/main" id="{233B6B0C-2426-1F80-5138-8B9A8FBB4BDB}"/>
              </a:ext>
            </a:extLst>
          </p:cNvPr>
          <p:cNvSpPr txBox="1"/>
          <p:nvPr/>
        </p:nvSpPr>
        <p:spPr>
          <a:xfrm>
            <a:off x="1231640" y="2015412"/>
            <a:ext cx="174171" cy="37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8" name="CaixaDeTexto 7">
            <a:extLst>
              <a:ext uri="{FF2B5EF4-FFF2-40B4-BE49-F238E27FC236}">
                <a16:creationId xmlns:a16="http://schemas.microsoft.com/office/drawing/2014/main" id="{1E5073B6-2862-39FC-7DA5-B571A560FD84}"/>
              </a:ext>
            </a:extLst>
          </p:cNvPr>
          <p:cNvSpPr txBox="1"/>
          <p:nvPr/>
        </p:nvSpPr>
        <p:spPr>
          <a:xfrm>
            <a:off x="208431" y="1228165"/>
            <a:ext cx="9903756"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err="1">
                <a:latin typeface="Arial"/>
                <a:cs typeface="Arial"/>
              </a:rPr>
              <a:t>Finalidade</a:t>
            </a:r>
            <a:r>
              <a:rPr lang="en-US" sz="2400" b="1" dirty="0">
                <a:latin typeface="Arial"/>
                <a:cs typeface="Arial"/>
              </a:rPr>
              <a:t>:</a:t>
            </a:r>
            <a:r>
              <a:rPr lang="en-US" sz="2400" dirty="0">
                <a:latin typeface="Arial"/>
                <a:cs typeface="Arial"/>
              </a:rPr>
              <a:t> </a:t>
            </a:r>
            <a:r>
              <a:rPr lang="en-US" sz="2400" dirty="0" err="1">
                <a:latin typeface="Arial"/>
                <a:cs typeface="Arial"/>
              </a:rPr>
              <a:t>Documento</a:t>
            </a:r>
            <a:r>
              <a:rPr lang="en-US" sz="2400" dirty="0">
                <a:latin typeface="Arial"/>
                <a:cs typeface="Arial"/>
              </a:rPr>
              <a:t>-base que </a:t>
            </a:r>
            <a:r>
              <a:rPr lang="en-US" sz="2400" dirty="0" err="1">
                <a:latin typeface="Arial"/>
                <a:cs typeface="Arial"/>
              </a:rPr>
              <a:t>estabelece</a:t>
            </a:r>
            <a:r>
              <a:rPr lang="en-US" sz="2400" dirty="0">
                <a:latin typeface="Arial"/>
                <a:cs typeface="Arial"/>
              </a:rPr>
              <a:t> as </a:t>
            </a:r>
            <a:r>
              <a:rPr lang="en-US" sz="2400" dirty="0" err="1">
                <a:latin typeface="Arial"/>
                <a:cs typeface="Arial"/>
              </a:rPr>
              <a:t>tarefas</a:t>
            </a:r>
            <a:r>
              <a:rPr lang="en-US" sz="2400" dirty="0">
                <a:latin typeface="Arial"/>
                <a:cs typeface="Arial"/>
              </a:rPr>
              <a:t> </a:t>
            </a:r>
            <a:r>
              <a:rPr lang="en-US" sz="2400" dirty="0" err="1">
                <a:latin typeface="Arial"/>
                <a:cs typeface="Arial"/>
              </a:rPr>
              <a:t>mínimas</a:t>
            </a:r>
            <a:r>
              <a:rPr lang="en-US" sz="2400" dirty="0">
                <a:latin typeface="Arial"/>
                <a:cs typeface="Arial"/>
              </a:rPr>
              <a:t> e </a:t>
            </a:r>
            <a:r>
              <a:rPr lang="en-US" sz="2400" dirty="0" err="1">
                <a:latin typeface="Arial"/>
                <a:cs typeface="Arial"/>
              </a:rPr>
              <a:t>intervalos</a:t>
            </a:r>
            <a:r>
              <a:rPr lang="en-US" sz="2400" dirty="0">
                <a:latin typeface="Arial"/>
                <a:cs typeface="Arial"/>
              </a:rPr>
              <a:t> de </a:t>
            </a:r>
            <a:r>
              <a:rPr lang="en-US" sz="2400" dirty="0" err="1">
                <a:latin typeface="Arial"/>
                <a:cs typeface="Arial"/>
              </a:rPr>
              <a:t>manutenção</a:t>
            </a:r>
            <a:r>
              <a:rPr lang="en-US" sz="2400" dirty="0">
                <a:latin typeface="Arial"/>
                <a:cs typeface="Arial"/>
              </a:rPr>
              <a:t> de </a:t>
            </a:r>
            <a:r>
              <a:rPr lang="en-US" sz="2400" dirty="0" err="1">
                <a:latin typeface="Arial"/>
                <a:cs typeface="Arial"/>
              </a:rPr>
              <a:t>cada</a:t>
            </a:r>
            <a:r>
              <a:rPr lang="en-US" sz="2400" dirty="0">
                <a:latin typeface="Arial"/>
                <a:cs typeface="Arial"/>
              </a:rPr>
              <a:t> </a:t>
            </a:r>
            <a:r>
              <a:rPr lang="en-US" sz="2400" dirty="0" err="1">
                <a:latin typeface="Arial"/>
                <a:cs typeface="Arial"/>
              </a:rPr>
              <a:t>sistema</a:t>
            </a:r>
            <a:r>
              <a:rPr lang="en-US" sz="2400" dirty="0">
                <a:latin typeface="Arial"/>
                <a:cs typeface="Arial"/>
              </a:rPr>
              <a:t>, </a:t>
            </a:r>
            <a:r>
              <a:rPr lang="en-US" sz="2400" dirty="0" err="1">
                <a:latin typeface="Arial"/>
                <a:cs typeface="Arial"/>
              </a:rPr>
              <a:t>aprovado</a:t>
            </a:r>
            <a:r>
              <a:rPr lang="en-US" sz="2400" dirty="0">
                <a:latin typeface="Arial"/>
                <a:cs typeface="Arial"/>
              </a:rPr>
              <a:t> pela FAA, ANAC, EASA junto com o </a:t>
            </a:r>
            <a:r>
              <a:rPr lang="en-US" sz="2400" dirty="0" err="1">
                <a:latin typeface="Arial"/>
                <a:cs typeface="Arial"/>
              </a:rPr>
              <a:t>fabricante</a:t>
            </a:r>
            <a:r>
              <a:rPr lang="en-US" sz="2400" dirty="0">
                <a:latin typeface="Arial"/>
                <a:cs typeface="Arial"/>
              </a:rPr>
              <a:t>.</a:t>
            </a:r>
            <a:endParaRPr lang="pt-BR"/>
          </a:p>
          <a:p>
            <a:endParaRPr lang="en-US" sz="2400" dirty="0">
              <a:latin typeface="Arial"/>
              <a:cs typeface="Arial"/>
            </a:endParaRPr>
          </a:p>
          <a:p>
            <a:r>
              <a:rPr lang="en-US" sz="2400" b="1" dirty="0" err="1">
                <a:latin typeface="Arial"/>
                <a:cs typeface="Arial"/>
              </a:rPr>
              <a:t>Descrição</a:t>
            </a:r>
            <a:r>
              <a:rPr lang="en-US" sz="2400" b="1" dirty="0">
                <a:latin typeface="Arial"/>
                <a:cs typeface="Arial"/>
              </a:rPr>
              <a:t>:</a:t>
            </a:r>
            <a:r>
              <a:rPr lang="en-US" sz="2400" dirty="0">
                <a:latin typeface="Arial"/>
                <a:cs typeface="Arial"/>
              </a:rPr>
              <a:t> </a:t>
            </a:r>
            <a:r>
              <a:rPr lang="en-US" sz="2400" dirty="0" err="1">
                <a:latin typeface="Arial"/>
                <a:cs typeface="Arial"/>
              </a:rPr>
              <a:t>Elaborado</a:t>
            </a:r>
            <a:r>
              <a:rPr lang="en-US" sz="2400" dirty="0">
                <a:latin typeface="Arial"/>
                <a:cs typeface="Arial"/>
              </a:rPr>
              <a:t> a </a:t>
            </a:r>
            <a:r>
              <a:rPr lang="en-US" sz="2400" dirty="0" err="1">
                <a:latin typeface="Arial"/>
                <a:cs typeface="Arial"/>
              </a:rPr>
              <a:t>partir</a:t>
            </a:r>
            <a:r>
              <a:rPr lang="en-US" sz="2400" dirty="0">
                <a:latin typeface="Arial"/>
                <a:cs typeface="Arial"/>
              </a:rPr>
              <a:t> da </a:t>
            </a:r>
            <a:r>
              <a:rPr lang="en-US" sz="2400" dirty="0" err="1">
                <a:latin typeface="Arial"/>
                <a:cs typeface="Arial"/>
              </a:rPr>
              <a:t>metodologia</a:t>
            </a:r>
            <a:r>
              <a:rPr lang="en-US" sz="2400" dirty="0">
                <a:latin typeface="Arial"/>
                <a:cs typeface="Arial"/>
              </a:rPr>
              <a:t> MSG-2 e MSG-3, </a:t>
            </a:r>
            <a:r>
              <a:rPr lang="en-US" sz="2400" dirty="0" err="1">
                <a:latin typeface="Arial"/>
                <a:cs typeface="Arial"/>
              </a:rPr>
              <a:t>organiza</a:t>
            </a:r>
            <a:r>
              <a:rPr lang="en-US" sz="2400" dirty="0">
                <a:latin typeface="Arial"/>
                <a:cs typeface="Arial"/>
              </a:rPr>
              <a:t> quais </a:t>
            </a:r>
            <a:r>
              <a:rPr lang="en-US" sz="2400" dirty="0" err="1">
                <a:latin typeface="Arial"/>
                <a:cs typeface="Arial"/>
              </a:rPr>
              <a:t>inspeções</a:t>
            </a:r>
            <a:r>
              <a:rPr lang="en-US" sz="2400" dirty="0">
                <a:latin typeface="Arial"/>
                <a:cs typeface="Arial"/>
              </a:rPr>
              <a:t> e </a:t>
            </a:r>
            <a:r>
              <a:rPr lang="en-US" sz="2400" dirty="0" err="1">
                <a:latin typeface="Arial"/>
                <a:cs typeface="Arial"/>
              </a:rPr>
              <a:t>lubrificações</a:t>
            </a:r>
            <a:r>
              <a:rPr lang="en-US" sz="2400" dirty="0">
                <a:latin typeface="Arial"/>
                <a:cs typeface="Arial"/>
              </a:rPr>
              <a:t> </a:t>
            </a:r>
            <a:r>
              <a:rPr lang="en-US" sz="2400" dirty="0" err="1">
                <a:latin typeface="Arial"/>
                <a:cs typeface="Arial"/>
              </a:rPr>
              <a:t>devem</a:t>
            </a:r>
            <a:r>
              <a:rPr lang="en-US" sz="2400" dirty="0">
                <a:latin typeface="Arial"/>
                <a:cs typeface="Arial"/>
              </a:rPr>
              <a:t> ser </a:t>
            </a:r>
            <a:r>
              <a:rPr lang="en-US" sz="2400" dirty="0" err="1">
                <a:latin typeface="Arial"/>
                <a:cs typeface="Arial"/>
              </a:rPr>
              <a:t>feitas</a:t>
            </a:r>
            <a:r>
              <a:rPr lang="en-US" sz="2400" dirty="0">
                <a:latin typeface="Arial"/>
                <a:cs typeface="Arial"/>
              </a:rPr>
              <a:t> e </a:t>
            </a:r>
            <a:r>
              <a:rPr lang="en-US" sz="2400" dirty="0" err="1">
                <a:latin typeface="Arial"/>
                <a:cs typeface="Arial"/>
              </a:rPr>
              <a:t>em</a:t>
            </a:r>
            <a:r>
              <a:rPr lang="en-US" sz="2400" dirty="0">
                <a:latin typeface="Arial"/>
                <a:cs typeface="Arial"/>
              </a:rPr>
              <a:t> que </a:t>
            </a:r>
            <a:r>
              <a:rPr lang="en-US" sz="2400" dirty="0" err="1">
                <a:latin typeface="Arial"/>
                <a:cs typeface="Arial"/>
              </a:rPr>
              <a:t>periodicidade</a:t>
            </a:r>
            <a:r>
              <a:rPr lang="en-US" sz="2400" dirty="0">
                <a:latin typeface="Arial"/>
                <a:cs typeface="Arial"/>
              </a:rPr>
              <a:t>. Serve </a:t>
            </a:r>
            <a:r>
              <a:rPr lang="en-US" sz="2400" dirty="0" err="1">
                <a:latin typeface="Arial"/>
                <a:cs typeface="Arial"/>
              </a:rPr>
              <a:t>como</a:t>
            </a:r>
            <a:r>
              <a:rPr lang="en-US" sz="2400" dirty="0">
                <a:latin typeface="Arial"/>
                <a:cs typeface="Arial"/>
              </a:rPr>
              <a:t> </a:t>
            </a:r>
            <a:r>
              <a:rPr lang="en-US" sz="2400" dirty="0" err="1">
                <a:latin typeface="Arial"/>
                <a:cs typeface="Arial"/>
              </a:rPr>
              <a:t>referência</a:t>
            </a:r>
            <a:r>
              <a:rPr lang="en-US" sz="2400" dirty="0">
                <a:latin typeface="Arial"/>
                <a:cs typeface="Arial"/>
              </a:rPr>
              <a:t> para </a:t>
            </a:r>
            <a:r>
              <a:rPr lang="en-US" sz="2400" dirty="0" err="1">
                <a:latin typeface="Arial"/>
                <a:cs typeface="Arial"/>
              </a:rPr>
              <a:t>os</a:t>
            </a:r>
            <a:r>
              <a:rPr lang="en-US" sz="2400" dirty="0">
                <a:latin typeface="Arial"/>
                <a:cs typeface="Arial"/>
              </a:rPr>
              <a:t> </a:t>
            </a:r>
            <a:r>
              <a:rPr lang="en-US" sz="2400" dirty="0" err="1">
                <a:latin typeface="Arial"/>
                <a:cs typeface="Arial"/>
              </a:rPr>
              <a:t>operadores</a:t>
            </a:r>
            <a:r>
              <a:rPr lang="en-US" sz="2400" dirty="0">
                <a:latin typeface="Arial"/>
                <a:cs typeface="Arial"/>
              </a:rPr>
              <a:t> </a:t>
            </a:r>
            <a:r>
              <a:rPr lang="en-US" sz="2400" dirty="0" err="1">
                <a:latin typeface="Arial"/>
                <a:cs typeface="Arial"/>
              </a:rPr>
              <a:t>montarem</a:t>
            </a:r>
            <a:r>
              <a:rPr lang="en-US" sz="2400" dirty="0">
                <a:latin typeface="Arial"/>
                <a:cs typeface="Arial"/>
              </a:rPr>
              <a:t> </a:t>
            </a:r>
            <a:r>
              <a:rPr lang="en-US" sz="2400" dirty="0" err="1">
                <a:latin typeface="Arial"/>
                <a:cs typeface="Arial"/>
              </a:rPr>
              <a:t>seus</a:t>
            </a:r>
            <a:r>
              <a:rPr lang="en-US" sz="2400" dirty="0">
                <a:latin typeface="Arial"/>
                <a:cs typeface="Arial"/>
              </a:rPr>
              <a:t> </a:t>
            </a:r>
            <a:r>
              <a:rPr lang="en-US" sz="2400" dirty="0" err="1">
                <a:latin typeface="Arial"/>
                <a:cs typeface="Arial"/>
              </a:rPr>
              <a:t>Programas</a:t>
            </a:r>
            <a:r>
              <a:rPr lang="en-US" sz="2400" dirty="0">
                <a:latin typeface="Arial"/>
                <a:cs typeface="Arial"/>
              </a:rPr>
              <a:t> de </a:t>
            </a:r>
            <a:r>
              <a:rPr lang="en-US" sz="2400" dirty="0" err="1">
                <a:latin typeface="Arial"/>
                <a:cs typeface="Arial"/>
              </a:rPr>
              <a:t>Manutenção</a:t>
            </a:r>
            <a:r>
              <a:rPr lang="en-US" sz="2400" dirty="0">
                <a:latin typeface="Arial"/>
                <a:cs typeface="Arial"/>
              </a:rPr>
              <a:t>.</a:t>
            </a:r>
          </a:p>
          <a:p>
            <a:endParaRPr lang="en-US" sz="2400" dirty="0">
              <a:latin typeface="Arial"/>
              <a:cs typeface="Arial"/>
            </a:endParaRPr>
          </a:p>
          <a:p>
            <a:r>
              <a:rPr lang="en-US" sz="2400" b="1" err="1">
                <a:latin typeface="Arial"/>
                <a:cs typeface="Arial"/>
              </a:rPr>
              <a:t>Envolvimento</a:t>
            </a:r>
            <a:r>
              <a:rPr lang="en-US" sz="2400" b="1" dirty="0">
                <a:latin typeface="Arial"/>
                <a:cs typeface="Arial"/>
              </a:rPr>
              <a:t>:</a:t>
            </a:r>
            <a:r>
              <a:rPr lang="en-US" sz="2400" dirty="0">
                <a:latin typeface="Arial"/>
                <a:cs typeface="Arial"/>
              </a:rPr>
              <a:t> A Alaska Airlines </a:t>
            </a:r>
            <a:r>
              <a:rPr lang="en-US" sz="2400" err="1">
                <a:latin typeface="Arial"/>
                <a:cs typeface="Arial"/>
              </a:rPr>
              <a:t>usou</a:t>
            </a:r>
            <a:r>
              <a:rPr lang="en-US" sz="2400" dirty="0">
                <a:latin typeface="Arial"/>
                <a:cs typeface="Arial"/>
              </a:rPr>
              <a:t> o MRBR </a:t>
            </a:r>
            <a:r>
              <a:rPr lang="en-US" sz="2400" err="1">
                <a:latin typeface="Arial"/>
                <a:cs typeface="Arial"/>
              </a:rPr>
              <a:t>baseado</a:t>
            </a:r>
            <a:r>
              <a:rPr lang="en-US" sz="2400" dirty="0">
                <a:latin typeface="Arial"/>
                <a:cs typeface="Arial"/>
              </a:rPr>
              <a:t> no MSG-3 para </a:t>
            </a:r>
            <a:r>
              <a:rPr lang="en-US" sz="2400" err="1">
                <a:latin typeface="Arial"/>
                <a:cs typeface="Arial"/>
              </a:rPr>
              <a:t>solicitar</a:t>
            </a:r>
            <a:r>
              <a:rPr lang="en-US" sz="2400" dirty="0">
                <a:latin typeface="Arial"/>
                <a:cs typeface="Arial"/>
              </a:rPr>
              <a:t> à FAA a </a:t>
            </a:r>
            <a:r>
              <a:rPr lang="en-US" sz="2400" err="1">
                <a:latin typeface="Arial"/>
                <a:cs typeface="Arial"/>
              </a:rPr>
              <a:t>extensão</a:t>
            </a:r>
            <a:r>
              <a:rPr lang="en-US" sz="2400" dirty="0">
                <a:latin typeface="Arial"/>
                <a:cs typeface="Arial"/>
              </a:rPr>
              <a:t> do </a:t>
            </a:r>
            <a:r>
              <a:rPr lang="en-US" sz="2400" err="1">
                <a:latin typeface="Arial"/>
                <a:cs typeface="Arial"/>
              </a:rPr>
              <a:t>intervalo</a:t>
            </a:r>
            <a:r>
              <a:rPr lang="en-US" sz="2400" dirty="0">
                <a:latin typeface="Arial"/>
                <a:cs typeface="Arial"/>
              </a:rPr>
              <a:t> de </a:t>
            </a:r>
            <a:r>
              <a:rPr lang="en-US" sz="2400" err="1">
                <a:latin typeface="Arial"/>
                <a:cs typeface="Arial"/>
              </a:rPr>
              <a:t>lubrificação</a:t>
            </a:r>
            <a:r>
              <a:rPr lang="en-US" sz="2400" dirty="0">
                <a:latin typeface="Arial"/>
                <a:cs typeface="Arial"/>
              </a:rPr>
              <a:t> do jackscrew de 650 para </a:t>
            </a:r>
            <a:r>
              <a:rPr lang="en-US" sz="2400" err="1">
                <a:latin typeface="Arial"/>
                <a:cs typeface="Arial"/>
              </a:rPr>
              <a:t>até</a:t>
            </a:r>
            <a:r>
              <a:rPr lang="en-US" sz="2400" dirty="0">
                <a:latin typeface="Arial"/>
                <a:cs typeface="Arial"/>
              </a:rPr>
              <a:t> 3.600 horas. Essa </a:t>
            </a:r>
            <a:r>
              <a:rPr lang="en-US" sz="2400" err="1">
                <a:latin typeface="Arial"/>
                <a:cs typeface="Arial"/>
              </a:rPr>
              <a:t>ampliação</a:t>
            </a:r>
            <a:r>
              <a:rPr lang="en-US" sz="2400" dirty="0">
                <a:latin typeface="Arial"/>
                <a:cs typeface="Arial"/>
              </a:rPr>
              <a:t>, </a:t>
            </a:r>
            <a:r>
              <a:rPr lang="en-US" sz="2400" err="1">
                <a:latin typeface="Arial"/>
                <a:cs typeface="Arial"/>
              </a:rPr>
              <a:t>aprovada</a:t>
            </a:r>
            <a:r>
              <a:rPr lang="en-US" sz="2400" dirty="0">
                <a:latin typeface="Arial"/>
                <a:cs typeface="Arial"/>
              </a:rPr>
              <a:t>, </a:t>
            </a:r>
            <a:r>
              <a:rPr lang="en-US" sz="2400" err="1">
                <a:latin typeface="Arial"/>
                <a:cs typeface="Arial"/>
              </a:rPr>
              <a:t>permitiu</a:t>
            </a:r>
            <a:r>
              <a:rPr lang="en-US" sz="2400" dirty="0">
                <a:latin typeface="Arial"/>
                <a:cs typeface="Arial"/>
              </a:rPr>
              <a:t> que </a:t>
            </a:r>
            <a:r>
              <a:rPr lang="en-US" sz="2400" err="1">
                <a:latin typeface="Arial"/>
                <a:cs typeface="Arial"/>
              </a:rPr>
              <a:t>o</a:t>
            </a:r>
            <a:r>
              <a:rPr lang="en-US" sz="2400" dirty="0">
                <a:latin typeface="Arial"/>
                <a:cs typeface="Arial"/>
              </a:rPr>
              <a:t> </a:t>
            </a:r>
            <a:r>
              <a:rPr lang="en-US" sz="2400" err="1">
                <a:latin typeface="Arial"/>
                <a:cs typeface="Arial"/>
              </a:rPr>
              <a:t>desgaste</a:t>
            </a:r>
            <a:r>
              <a:rPr lang="en-US" sz="2400" dirty="0">
                <a:latin typeface="Arial"/>
                <a:cs typeface="Arial"/>
              </a:rPr>
              <a:t> da </a:t>
            </a:r>
            <a:r>
              <a:rPr lang="en-US" sz="2400" err="1">
                <a:latin typeface="Arial"/>
                <a:cs typeface="Arial"/>
              </a:rPr>
              <a:t>porca</a:t>
            </a:r>
            <a:r>
              <a:rPr lang="en-US" sz="2400" dirty="0">
                <a:latin typeface="Arial"/>
                <a:cs typeface="Arial"/>
              </a:rPr>
              <a:t> trapezoidal </a:t>
            </a:r>
            <a:r>
              <a:rPr lang="en-US" sz="2400" err="1">
                <a:latin typeface="Arial"/>
                <a:cs typeface="Arial"/>
              </a:rPr>
              <a:t>avançasse</a:t>
            </a:r>
            <a:r>
              <a:rPr lang="en-US" sz="2400" dirty="0">
                <a:latin typeface="Arial"/>
                <a:cs typeface="Arial"/>
              </a:rPr>
              <a:t> </a:t>
            </a:r>
            <a:r>
              <a:rPr lang="en-US" sz="2400" err="1">
                <a:latin typeface="Arial"/>
                <a:cs typeface="Arial"/>
              </a:rPr>
              <a:t>sem</a:t>
            </a:r>
            <a:r>
              <a:rPr lang="en-US" sz="2400" dirty="0">
                <a:latin typeface="Arial"/>
                <a:cs typeface="Arial"/>
              </a:rPr>
              <a:t> ser </a:t>
            </a:r>
            <a:r>
              <a:rPr lang="en-US" sz="2400" err="1">
                <a:latin typeface="Arial"/>
                <a:cs typeface="Arial"/>
              </a:rPr>
              <a:t>identificado</a:t>
            </a:r>
            <a:r>
              <a:rPr lang="en-US" sz="2400" dirty="0">
                <a:latin typeface="Arial"/>
                <a:cs typeface="Arial"/>
              </a:rPr>
              <a:t>, </a:t>
            </a:r>
            <a:r>
              <a:rPr lang="en-US" sz="2400" err="1">
                <a:latin typeface="Arial"/>
                <a:cs typeface="Arial"/>
              </a:rPr>
              <a:t>sendo</a:t>
            </a:r>
            <a:r>
              <a:rPr lang="en-US" sz="2400" dirty="0">
                <a:latin typeface="Arial"/>
                <a:cs typeface="Arial"/>
              </a:rPr>
              <a:t> um </a:t>
            </a:r>
            <a:r>
              <a:rPr lang="en-US" sz="2400" err="1">
                <a:latin typeface="Arial"/>
                <a:cs typeface="Arial"/>
              </a:rPr>
              <a:t>fator</a:t>
            </a:r>
            <a:r>
              <a:rPr lang="en-US" sz="2400" dirty="0">
                <a:latin typeface="Arial"/>
                <a:cs typeface="Arial"/>
              </a:rPr>
              <a:t> </a:t>
            </a:r>
            <a:r>
              <a:rPr lang="en-US" sz="2400" err="1">
                <a:latin typeface="Arial"/>
                <a:cs typeface="Arial"/>
              </a:rPr>
              <a:t>direto</a:t>
            </a:r>
            <a:r>
              <a:rPr lang="en-US" sz="2400" dirty="0">
                <a:latin typeface="Arial"/>
                <a:cs typeface="Arial"/>
              </a:rPr>
              <a:t> no </a:t>
            </a:r>
            <a:r>
              <a:rPr lang="en-US" sz="2400" err="1">
                <a:latin typeface="Arial"/>
                <a:cs typeface="Arial"/>
              </a:rPr>
              <a:t>acidente</a:t>
            </a:r>
            <a:r>
              <a:rPr lang="en-US" sz="2400" dirty="0">
                <a:latin typeface="Arial"/>
                <a:cs typeface="Arial"/>
              </a:rPr>
              <a:t>.</a:t>
            </a:r>
          </a:p>
        </p:txBody>
      </p:sp>
    </p:spTree>
    <p:extLst>
      <p:ext uri="{BB962C8B-B14F-4D97-AF65-F5344CB8AC3E}">
        <p14:creationId xmlns:p14="http://schemas.microsoft.com/office/powerpoint/2010/main" val="260432838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44046-FBA1-C0A7-B7C7-55FF851046F0}"/>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3E9F8DF1-0431-62FE-0259-DDBC29595066}"/>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BC721056-3D2C-0666-CA55-3CDD5AD6B67A}"/>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sym typeface="Helvetica Neue"/>
              </a:rPr>
              <a:t>Capítulo</a:t>
            </a:r>
            <a:r>
              <a:rPr kumimoji="0" lang="en-US"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rPr>
              <a:t> 1</a:t>
            </a:r>
            <a:endParaRPr kumimoji="0" lang="pt-BR"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1F0FAEA4-C1CB-9EA8-885E-3CF38B160834}"/>
              </a:ext>
            </a:extLst>
          </p:cNvPr>
          <p:cNvSpPr txBox="1"/>
          <p:nvPr/>
        </p:nvSpPr>
        <p:spPr>
          <a:xfrm>
            <a:off x="204278" y="564779"/>
            <a:ext cx="3926075" cy="307777"/>
          </a:xfrm>
          <a:prstGeom prst="rect">
            <a:avLst/>
          </a:prstGeom>
          <a:noFill/>
        </p:spPr>
        <p:txBody>
          <a:bodyPr wrap="none" lIns="91440" tIns="45720" rIns="91440" bIns="45720" rtlCol="0" anchor="t">
            <a:spAutoFit/>
          </a:bodyPr>
          <a:lstStyle/>
          <a:p>
            <a:r>
              <a:rPr lang="pt-BR" sz="1400" u="sng" dirty="0">
                <a:solidFill>
                  <a:srgbClr val="0070C0"/>
                </a:solidFill>
                <a:latin typeface="Arial"/>
                <a:cs typeface="Arial"/>
              </a:rPr>
              <a:t>Slide 1.6 - </a:t>
            </a:r>
            <a:r>
              <a:rPr lang="pt-BR" sz="1400" u="sng" dirty="0" err="1">
                <a:solidFill>
                  <a:srgbClr val="0070C0"/>
                </a:solidFill>
                <a:latin typeface="Arial"/>
                <a:cs typeface="Arial"/>
              </a:rPr>
              <a:t>Corrosion</a:t>
            </a:r>
            <a:r>
              <a:rPr lang="pt-BR" sz="1400" u="sng" dirty="0">
                <a:solidFill>
                  <a:srgbClr val="0070C0"/>
                </a:solidFill>
                <a:latin typeface="Arial"/>
                <a:cs typeface="Arial"/>
              </a:rPr>
              <a:t> </a:t>
            </a:r>
            <a:r>
              <a:rPr lang="pt-BR" sz="1400" u="sng" dirty="0" err="1">
                <a:solidFill>
                  <a:srgbClr val="0070C0"/>
                </a:solidFill>
                <a:latin typeface="Arial"/>
                <a:cs typeface="Arial"/>
              </a:rPr>
              <a:t>Prevention</a:t>
            </a:r>
            <a:r>
              <a:rPr lang="pt-BR" sz="1400" u="sng" dirty="0">
                <a:solidFill>
                  <a:srgbClr val="0070C0"/>
                </a:solidFill>
                <a:latin typeface="Arial"/>
                <a:cs typeface="Arial"/>
              </a:rPr>
              <a:t> Manual (CPM)</a:t>
            </a:r>
          </a:p>
        </p:txBody>
      </p:sp>
      <p:sp>
        <p:nvSpPr>
          <p:cNvPr id="8" name="CaixaDeTexto 7">
            <a:extLst>
              <a:ext uri="{FF2B5EF4-FFF2-40B4-BE49-F238E27FC236}">
                <a16:creationId xmlns:a16="http://schemas.microsoft.com/office/drawing/2014/main" id="{A0D493ED-C960-B112-FFF8-4757A9B2A649}"/>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rPr>
              <a:t>Resp.: </a:t>
            </a:r>
            <a:r>
              <a:rPr lang="pt-BR" u="sng" dirty="0">
                <a:solidFill>
                  <a:srgbClr val="0070C0"/>
                </a:solidFill>
                <a:latin typeface="Aptos" panose="02110004020202020204"/>
              </a:rPr>
              <a:t>Willian Henrique</a:t>
            </a:r>
            <a:endParaRPr lang="pt-BR" dirty="0"/>
          </a:p>
        </p:txBody>
      </p:sp>
      <p:sp>
        <p:nvSpPr>
          <p:cNvPr id="9" name="CaixaDeTexto 8">
            <a:extLst>
              <a:ext uri="{FF2B5EF4-FFF2-40B4-BE49-F238E27FC236}">
                <a16:creationId xmlns:a16="http://schemas.microsoft.com/office/drawing/2014/main" id="{3985B4A3-7505-8A5C-0B38-89723FFC5DD1}"/>
              </a:ext>
            </a:extLst>
          </p:cNvPr>
          <p:cNvSpPr txBox="1"/>
          <p:nvPr/>
        </p:nvSpPr>
        <p:spPr>
          <a:xfrm>
            <a:off x="1608667" y="-18398"/>
            <a:ext cx="8669433" cy="738664"/>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a:ln>
                  <a:noFill/>
                </a:ln>
                <a:solidFill>
                  <a:schemeClr val="accent4">
                    <a:lumMod val="76000"/>
                  </a:schemeClr>
                </a:solidFill>
                <a:effectLst/>
                <a:uLnTx/>
                <a:uFillTx/>
                <a:latin typeface="Arial"/>
                <a:cs typeface="Arial"/>
              </a:rPr>
              <a:t>Publicações Técnicas: Discorra sobre as publicações de manutenção que foram consideradas na análise do acidente.</a:t>
            </a:r>
            <a:endParaRPr lang="pt-BR" sz="1400" b="0" i="0" u="none" strike="noStrike" kern="1200" cap="none" spc="0" normalizeH="0" baseline="0" noProof="0">
              <a:ln>
                <a:noFill/>
              </a:ln>
              <a:solidFill>
                <a:schemeClr val="accent4">
                  <a:lumMod val="76000"/>
                </a:schemeClr>
              </a:solidFill>
              <a:effectLst/>
              <a:uLnTx/>
              <a:uFillTx/>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27AA6CE4-C405-5365-5ECE-006F2C91AD5D}"/>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4" name="CaixaDeTexto 3">
            <a:extLst>
              <a:ext uri="{FF2B5EF4-FFF2-40B4-BE49-F238E27FC236}">
                <a16:creationId xmlns:a16="http://schemas.microsoft.com/office/drawing/2014/main" id="{3CA40ECC-5BA9-8DB2-5F41-6BAC167E6600}"/>
              </a:ext>
            </a:extLst>
          </p:cNvPr>
          <p:cNvSpPr txBox="1"/>
          <p:nvPr/>
        </p:nvSpPr>
        <p:spPr>
          <a:xfrm>
            <a:off x="559496" y="1812099"/>
            <a:ext cx="8557363"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err="1">
                <a:latin typeface="Arial"/>
                <a:cs typeface="Arial"/>
              </a:rPr>
              <a:t>Finalidade</a:t>
            </a:r>
            <a:r>
              <a:rPr lang="en-US" sz="2800" b="1" dirty="0">
                <a:latin typeface="Arial"/>
                <a:cs typeface="Arial"/>
              </a:rPr>
              <a:t>:</a:t>
            </a:r>
            <a:r>
              <a:rPr lang="en-US" sz="2800" dirty="0">
                <a:latin typeface="Arial"/>
                <a:cs typeface="Arial"/>
              </a:rPr>
              <a:t> </a:t>
            </a:r>
            <a:r>
              <a:rPr lang="en-US" sz="2800" dirty="0" err="1">
                <a:latin typeface="Arial"/>
                <a:cs typeface="Arial"/>
              </a:rPr>
              <a:t>Controlar</a:t>
            </a:r>
            <a:r>
              <a:rPr lang="en-US" sz="2800" dirty="0">
                <a:latin typeface="Arial"/>
                <a:cs typeface="Arial"/>
              </a:rPr>
              <a:t> </a:t>
            </a:r>
            <a:r>
              <a:rPr lang="en-US" sz="2800" dirty="0" err="1">
                <a:latin typeface="Arial"/>
                <a:cs typeface="Arial"/>
              </a:rPr>
              <a:t>mudanças</a:t>
            </a:r>
            <a:r>
              <a:rPr lang="en-US" sz="2800" dirty="0">
                <a:latin typeface="Arial"/>
                <a:cs typeface="Arial"/>
              </a:rPr>
              <a:t> no </a:t>
            </a:r>
            <a:r>
              <a:rPr lang="en-US" sz="2800" dirty="0" err="1">
                <a:latin typeface="Arial"/>
                <a:cs typeface="Arial"/>
              </a:rPr>
              <a:t>programa</a:t>
            </a:r>
            <a:r>
              <a:rPr lang="en-US" sz="2800" dirty="0">
                <a:latin typeface="Arial"/>
                <a:cs typeface="Arial"/>
              </a:rPr>
              <a:t> de </a:t>
            </a:r>
            <a:r>
              <a:rPr lang="en-US" sz="2800" dirty="0" err="1">
                <a:latin typeface="Arial"/>
                <a:cs typeface="Arial"/>
              </a:rPr>
              <a:t>manutenção</a:t>
            </a:r>
            <a:r>
              <a:rPr lang="en-US" sz="2800" dirty="0">
                <a:latin typeface="Arial"/>
                <a:cs typeface="Arial"/>
              </a:rPr>
              <a:t> do </a:t>
            </a:r>
            <a:r>
              <a:rPr lang="en-US" sz="2800" dirty="0" err="1">
                <a:latin typeface="Arial"/>
                <a:cs typeface="Arial"/>
              </a:rPr>
              <a:t>operador</a:t>
            </a:r>
            <a:r>
              <a:rPr lang="en-US" sz="2800" dirty="0">
                <a:latin typeface="Arial"/>
                <a:cs typeface="Arial"/>
              </a:rPr>
              <a:t>.</a:t>
            </a:r>
            <a:endParaRPr lang="pt-BR"/>
          </a:p>
          <a:p>
            <a:endParaRPr lang="en-US" sz="2800" dirty="0">
              <a:latin typeface="Arial"/>
              <a:cs typeface="Arial"/>
            </a:endParaRPr>
          </a:p>
          <a:p>
            <a:r>
              <a:rPr lang="en-US" sz="2800" b="1" dirty="0" err="1">
                <a:latin typeface="Arial"/>
                <a:cs typeface="Arial"/>
              </a:rPr>
              <a:t>Descrição</a:t>
            </a:r>
            <a:r>
              <a:rPr lang="en-US" sz="2800" b="1" dirty="0">
                <a:latin typeface="Arial"/>
                <a:cs typeface="Arial"/>
              </a:rPr>
              <a:t>:</a:t>
            </a:r>
            <a:r>
              <a:rPr lang="en-US" sz="2800" dirty="0">
                <a:latin typeface="Arial"/>
                <a:cs typeface="Arial"/>
              </a:rPr>
              <a:t> </a:t>
            </a:r>
            <a:r>
              <a:rPr lang="en-US" sz="2800" dirty="0" err="1">
                <a:latin typeface="Arial"/>
                <a:cs typeface="Arial"/>
              </a:rPr>
              <a:t>Formaliza</a:t>
            </a:r>
            <a:r>
              <a:rPr lang="en-US" sz="2800" dirty="0">
                <a:latin typeface="Arial"/>
                <a:cs typeface="Arial"/>
              </a:rPr>
              <a:t> </a:t>
            </a:r>
            <a:r>
              <a:rPr lang="en-US" sz="2800" dirty="0" err="1">
                <a:latin typeface="Arial"/>
                <a:cs typeface="Arial"/>
              </a:rPr>
              <a:t>aprovações</a:t>
            </a:r>
            <a:r>
              <a:rPr lang="en-US" sz="2800" dirty="0">
                <a:latin typeface="Arial"/>
                <a:cs typeface="Arial"/>
              </a:rPr>
              <a:t> </a:t>
            </a:r>
            <a:r>
              <a:rPr lang="en-US" sz="2800" dirty="0" err="1">
                <a:latin typeface="Arial"/>
                <a:cs typeface="Arial"/>
              </a:rPr>
              <a:t>internas</a:t>
            </a:r>
            <a:r>
              <a:rPr lang="en-US" sz="2800" dirty="0">
                <a:latin typeface="Arial"/>
                <a:cs typeface="Arial"/>
              </a:rPr>
              <a:t>, </a:t>
            </a:r>
            <a:r>
              <a:rPr lang="en-US" sz="2800" dirty="0" err="1">
                <a:latin typeface="Arial"/>
                <a:cs typeface="Arial"/>
              </a:rPr>
              <a:t>como</a:t>
            </a:r>
            <a:r>
              <a:rPr lang="en-US" sz="2800" dirty="0">
                <a:latin typeface="Arial"/>
                <a:cs typeface="Arial"/>
              </a:rPr>
              <a:t> </a:t>
            </a:r>
            <a:r>
              <a:rPr lang="en-US" sz="2800" dirty="0" err="1">
                <a:latin typeface="Arial"/>
                <a:cs typeface="Arial"/>
              </a:rPr>
              <a:t>alterações</a:t>
            </a:r>
            <a:r>
              <a:rPr lang="en-US" sz="2800" dirty="0">
                <a:latin typeface="Arial"/>
                <a:cs typeface="Arial"/>
              </a:rPr>
              <a:t> de </a:t>
            </a:r>
            <a:r>
              <a:rPr lang="en-US" sz="2800" dirty="0" err="1">
                <a:latin typeface="Arial"/>
                <a:cs typeface="Arial"/>
              </a:rPr>
              <a:t>intervalos</a:t>
            </a:r>
            <a:r>
              <a:rPr lang="en-US" sz="2800" dirty="0">
                <a:latin typeface="Arial"/>
                <a:cs typeface="Arial"/>
              </a:rPr>
              <a:t> e </a:t>
            </a:r>
            <a:r>
              <a:rPr lang="en-US" sz="2800" dirty="0" err="1">
                <a:latin typeface="Arial"/>
                <a:cs typeface="Arial"/>
              </a:rPr>
              <a:t>procedimentos</a:t>
            </a:r>
            <a:r>
              <a:rPr lang="en-US" sz="2800" dirty="0">
                <a:latin typeface="Arial"/>
                <a:cs typeface="Arial"/>
              </a:rPr>
              <a:t>, </a:t>
            </a:r>
            <a:r>
              <a:rPr lang="en-US" sz="2800" dirty="0" err="1">
                <a:latin typeface="Arial"/>
                <a:cs typeface="Arial"/>
              </a:rPr>
              <a:t>através</a:t>
            </a:r>
            <a:r>
              <a:rPr lang="en-US" sz="2800" dirty="0">
                <a:latin typeface="Arial"/>
                <a:cs typeface="Arial"/>
              </a:rPr>
              <a:t> de </a:t>
            </a:r>
            <a:r>
              <a:rPr lang="en-US" sz="2800" dirty="0" err="1">
                <a:latin typeface="Arial"/>
                <a:cs typeface="Arial"/>
              </a:rPr>
              <a:t>formulários</a:t>
            </a:r>
            <a:r>
              <a:rPr lang="en-US" sz="2800" dirty="0">
                <a:latin typeface="Arial"/>
                <a:cs typeface="Arial"/>
              </a:rPr>
              <a:t>.</a:t>
            </a:r>
          </a:p>
          <a:p>
            <a:endParaRPr lang="en-US" sz="2800" dirty="0">
              <a:latin typeface="Arial"/>
              <a:cs typeface="Arial"/>
            </a:endParaRPr>
          </a:p>
          <a:p>
            <a:r>
              <a:rPr lang="en-US" sz="2800" b="1" dirty="0" err="1">
                <a:latin typeface="Arial"/>
                <a:cs typeface="Arial"/>
              </a:rPr>
              <a:t>Envolvimento</a:t>
            </a:r>
            <a:r>
              <a:rPr lang="en-US" sz="2800" b="1" dirty="0">
                <a:latin typeface="Arial"/>
                <a:cs typeface="Arial"/>
              </a:rPr>
              <a:t>:</a:t>
            </a:r>
            <a:r>
              <a:rPr lang="en-US" sz="2800" dirty="0">
                <a:latin typeface="Arial"/>
                <a:cs typeface="Arial"/>
              </a:rPr>
              <a:t> </a:t>
            </a:r>
            <a:r>
              <a:rPr lang="en-US" sz="2800" dirty="0" err="1">
                <a:latin typeface="Arial"/>
                <a:cs typeface="Arial"/>
              </a:rPr>
              <a:t>Foi</a:t>
            </a:r>
            <a:r>
              <a:rPr lang="en-US" sz="2800" dirty="0">
                <a:latin typeface="Arial"/>
                <a:cs typeface="Arial"/>
              </a:rPr>
              <a:t> </a:t>
            </a:r>
            <a:r>
              <a:rPr lang="en-US" sz="2800" dirty="0" err="1">
                <a:latin typeface="Arial"/>
                <a:cs typeface="Arial"/>
              </a:rPr>
              <a:t>utilizado</a:t>
            </a:r>
            <a:r>
              <a:rPr lang="en-US" sz="2800" dirty="0">
                <a:latin typeface="Arial"/>
                <a:cs typeface="Arial"/>
              </a:rPr>
              <a:t> pela Alaska para </a:t>
            </a:r>
            <a:r>
              <a:rPr lang="en-US" sz="2800" dirty="0" err="1">
                <a:latin typeface="Arial"/>
                <a:cs typeface="Arial"/>
              </a:rPr>
              <a:t>alterar</a:t>
            </a:r>
            <a:r>
              <a:rPr lang="en-US" sz="2800" dirty="0">
                <a:latin typeface="Arial"/>
                <a:cs typeface="Arial"/>
              </a:rPr>
              <a:t> </a:t>
            </a:r>
            <a:r>
              <a:rPr lang="en-US" sz="2800" dirty="0" err="1">
                <a:latin typeface="Arial"/>
                <a:cs typeface="Arial"/>
              </a:rPr>
              <a:t>intervalos</a:t>
            </a:r>
            <a:r>
              <a:rPr lang="en-US" sz="2800" dirty="0">
                <a:latin typeface="Arial"/>
                <a:cs typeface="Arial"/>
              </a:rPr>
              <a:t> e </a:t>
            </a:r>
            <a:r>
              <a:rPr lang="en-US" sz="2800" dirty="0" err="1">
                <a:latin typeface="Arial"/>
                <a:cs typeface="Arial"/>
              </a:rPr>
              <a:t>padronizar</a:t>
            </a:r>
            <a:r>
              <a:rPr lang="en-US" sz="2800" dirty="0">
                <a:latin typeface="Arial"/>
                <a:cs typeface="Arial"/>
              </a:rPr>
              <a:t> o </a:t>
            </a:r>
            <a:r>
              <a:rPr lang="en-US" sz="2800" dirty="0" err="1">
                <a:latin typeface="Arial"/>
                <a:cs typeface="Arial"/>
              </a:rPr>
              <a:t>uso</a:t>
            </a:r>
            <a:r>
              <a:rPr lang="en-US" sz="2800" dirty="0">
                <a:latin typeface="Arial"/>
                <a:cs typeface="Arial"/>
              </a:rPr>
              <a:t> de </a:t>
            </a:r>
            <a:r>
              <a:rPr lang="en-US" sz="2800" dirty="0" err="1">
                <a:latin typeface="Arial"/>
                <a:cs typeface="Arial"/>
              </a:rPr>
              <a:t>graxas</a:t>
            </a:r>
            <a:r>
              <a:rPr lang="en-US" sz="2800" dirty="0">
                <a:latin typeface="Arial"/>
                <a:cs typeface="Arial"/>
              </a:rPr>
              <a:t>, </a:t>
            </a:r>
            <a:r>
              <a:rPr lang="en-US" sz="2800" dirty="0" err="1">
                <a:latin typeface="Arial"/>
                <a:cs typeface="Arial"/>
              </a:rPr>
              <a:t>mudanças</a:t>
            </a:r>
            <a:r>
              <a:rPr lang="en-US" sz="2800" dirty="0">
                <a:latin typeface="Arial"/>
                <a:cs typeface="Arial"/>
              </a:rPr>
              <a:t> que se </a:t>
            </a:r>
            <a:r>
              <a:rPr lang="en-US" sz="2800" dirty="0" err="1">
                <a:latin typeface="Arial"/>
                <a:cs typeface="Arial"/>
              </a:rPr>
              <a:t>mostraram</a:t>
            </a:r>
            <a:r>
              <a:rPr lang="en-US" sz="2800" dirty="0">
                <a:latin typeface="Arial"/>
                <a:cs typeface="Arial"/>
              </a:rPr>
              <a:t> </a:t>
            </a:r>
            <a:r>
              <a:rPr lang="en-US" sz="2800" dirty="0" err="1">
                <a:latin typeface="Arial"/>
                <a:cs typeface="Arial"/>
              </a:rPr>
              <a:t>inadequadas</a:t>
            </a:r>
            <a:r>
              <a:rPr lang="en-US" sz="2800" dirty="0">
                <a:latin typeface="Arial"/>
                <a:cs typeface="Arial"/>
              </a:rPr>
              <a:t>.</a:t>
            </a:r>
          </a:p>
        </p:txBody>
      </p:sp>
    </p:spTree>
    <p:extLst>
      <p:ext uri="{BB962C8B-B14F-4D97-AF65-F5344CB8AC3E}">
        <p14:creationId xmlns:p14="http://schemas.microsoft.com/office/powerpoint/2010/main" val="4976108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0E81D-E756-3776-4D11-2E4F15829D43}"/>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3F2354DA-4E53-3F8E-752C-DA62B1FFD81E}"/>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62AAD418-40EE-800F-4183-7C1382F973D8}"/>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sym typeface="Helvetica Neue"/>
              </a:rPr>
              <a:t>Capítulo</a:t>
            </a:r>
            <a:r>
              <a:rPr kumimoji="0" lang="en-US"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rPr>
              <a:t> 1</a:t>
            </a:r>
            <a:endParaRPr kumimoji="0" lang="pt-BR"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5AC37846-4255-9B8A-FB56-43CAB02CE9DC}"/>
              </a:ext>
            </a:extLst>
          </p:cNvPr>
          <p:cNvSpPr txBox="1"/>
          <p:nvPr/>
        </p:nvSpPr>
        <p:spPr>
          <a:xfrm>
            <a:off x="204278" y="564779"/>
            <a:ext cx="3528530" cy="307777"/>
          </a:xfrm>
          <a:prstGeom prst="rect">
            <a:avLst/>
          </a:prstGeom>
          <a:noFill/>
        </p:spPr>
        <p:txBody>
          <a:bodyPr wrap="none" lIns="91440" tIns="45720" rIns="91440" bIns="45720" rtlCol="0" anchor="t">
            <a:spAutoFit/>
          </a:bodyPr>
          <a:lstStyle/>
          <a:p>
            <a:r>
              <a:rPr lang="pt-BR" sz="1400" u="sng" dirty="0">
                <a:solidFill>
                  <a:srgbClr val="0070C0"/>
                </a:solidFill>
                <a:latin typeface="Arial"/>
                <a:cs typeface="Arial"/>
              </a:rPr>
              <a:t>Slide 1.7 - </a:t>
            </a:r>
            <a:r>
              <a:rPr lang="pt-BR" sz="1400" u="sng" dirty="0" err="1">
                <a:solidFill>
                  <a:srgbClr val="0070C0"/>
                </a:solidFill>
                <a:latin typeface="Arial"/>
                <a:cs typeface="Arial"/>
              </a:rPr>
              <a:t>Wiring</a:t>
            </a:r>
            <a:r>
              <a:rPr lang="pt-BR" sz="1400" u="sng" dirty="0">
                <a:solidFill>
                  <a:srgbClr val="0070C0"/>
                </a:solidFill>
                <a:latin typeface="Arial"/>
                <a:cs typeface="Arial"/>
              </a:rPr>
              <a:t> </a:t>
            </a:r>
            <a:r>
              <a:rPr lang="pt-BR" sz="1400" u="sng" dirty="0" err="1">
                <a:solidFill>
                  <a:srgbClr val="0070C0"/>
                </a:solidFill>
                <a:latin typeface="Arial"/>
                <a:cs typeface="Arial"/>
              </a:rPr>
              <a:t>Diagram</a:t>
            </a:r>
            <a:r>
              <a:rPr lang="pt-BR" sz="1400" u="sng" dirty="0">
                <a:solidFill>
                  <a:srgbClr val="0070C0"/>
                </a:solidFill>
                <a:latin typeface="Arial"/>
                <a:cs typeface="Arial"/>
              </a:rPr>
              <a:t> Manual (WDM)</a:t>
            </a:r>
          </a:p>
        </p:txBody>
      </p:sp>
      <p:sp>
        <p:nvSpPr>
          <p:cNvPr id="8" name="CaixaDeTexto 7">
            <a:extLst>
              <a:ext uri="{FF2B5EF4-FFF2-40B4-BE49-F238E27FC236}">
                <a16:creationId xmlns:a16="http://schemas.microsoft.com/office/drawing/2014/main" id="{2254B1CE-2345-3CB5-D1E8-17EE9C783207}"/>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rPr>
              <a:t>Resp.: </a:t>
            </a:r>
            <a:r>
              <a:rPr lang="pt-BR" u="sng" dirty="0">
                <a:solidFill>
                  <a:srgbClr val="0070C0"/>
                </a:solidFill>
                <a:latin typeface="Aptos" panose="02110004020202020204"/>
              </a:rPr>
              <a:t>Willian Henrique</a:t>
            </a:r>
            <a:endParaRPr lang="pt-BR" dirty="0"/>
          </a:p>
        </p:txBody>
      </p:sp>
      <p:sp>
        <p:nvSpPr>
          <p:cNvPr id="9" name="CaixaDeTexto 8">
            <a:extLst>
              <a:ext uri="{FF2B5EF4-FFF2-40B4-BE49-F238E27FC236}">
                <a16:creationId xmlns:a16="http://schemas.microsoft.com/office/drawing/2014/main" id="{75DD1B5C-F834-0446-6661-9DC73F33AA9D}"/>
              </a:ext>
            </a:extLst>
          </p:cNvPr>
          <p:cNvSpPr txBox="1"/>
          <p:nvPr/>
        </p:nvSpPr>
        <p:spPr>
          <a:xfrm>
            <a:off x="1608667" y="-18398"/>
            <a:ext cx="8669433" cy="738664"/>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a:ln>
                  <a:noFill/>
                </a:ln>
                <a:solidFill>
                  <a:schemeClr val="accent4">
                    <a:lumMod val="76000"/>
                  </a:schemeClr>
                </a:solidFill>
                <a:effectLst/>
                <a:uLnTx/>
                <a:uFillTx/>
                <a:latin typeface="Arial"/>
                <a:cs typeface="Arial"/>
              </a:rPr>
              <a:t>Publicações Técnicas: Discorra sobre as publicações de manutenção que foram consideradas na análise do acidente.</a:t>
            </a:r>
            <a:endParaRPr lang="pt-BR" sz="1400" b="0" i="0" u="none" strike="noStrike" kern="1200" cap="none" spc="0" normalizeH="0" baseline="0" noProof="0">
              <a:ln>
                <a:noFill/>
              </a:ln>
              <a:solidFill>
                <a:schemeClr val="accent4">
                  <a:lumMod val="76000"/>
                </a:schemeClr>
              </a:solidFill>
              <a:effectLst/>
              <a:uLnTx/>
              <a:uFillTx/>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946436B9-C622-E5CE-3E82-3BEDB1641E27}"/>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4" name="CaixaDeTexto 3">
            <a:extLst>
              <a:ext uri="{FF2B5EF4-FFF2-40B4-BE49-F238E27FC236}">
                <a16:creationId xmlns:a16="http://schemas.microsoft.com/office/drawing/2014/main" id="{B9100BAC-E8C5-D434-F3F5-30BFC85E27F1}"/>
              </a:ext>
            </a:extLst>
          </p:cNvPr>
          <p:cNvSpPr txBox="1"/>
          <p:nvPr/>
        </p:nvSpPr>
        <p:spPr>
          <a:xfrm>
            <a:off x="255666" y="1714586"/>
            <a:ext cx="9487862"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pt-BR" sz="2800" b="1" dirty="0">
                <a:latin typeface="Arial"/>
                <a:ea typeface="+mn-lt"/>
                <a:cs typeface="Arial"/>
              </a:rPr>
              <a:t>Finalidade:</a:t>
            </a:r>
            <a:r>
              <a:rPr lang="pt-BR" sz="2800" dirty="0">
                <a:latin typeface="Arial"/>
                <a:ea typeface="+mn-lt"/>
                <a:cs typeface="Arial"/>
              </a:rPr>
              <a:t> Fornecer diagramas elétricos da aeronave.</a:t>
            </a:r>
          </a:p>
          <a:p>
            <a:pPr marL="285750" indent="-285750">
              <a:buFont typeface="Arial"/>
              <a:buChar char="•"/>
            </a:pPr>
            <a:endParaRPr lang="pt-BR" sz="2800" dirty="0">
              <a:latin typeface="Arial"/>
              <a:ea typeface="+mn-lt"/>
              <a:cs typeface="Arial"/>
            </a:endParaRPr>
          </a:p>
          <a:p>
            <a:pPr marL="285750" indent="-285750">
              <a:buFont typeface="Arial"/>
              <a:buChar char="•"/>
            </a:pPr>
            <a:r>
              <a:rPr lang="pt-BR" sz="2800" b="1" dirty="0">
                <a:latin typeface="Arial"/>
                <a:ea typeface="+mn-lt"/>
                <a:cs typeface="Arial"/>
              </a:rPr>
              <a:t>Descrição:</a:t>
            </a:r>
            <a:r>
              <a:rPr lang="pt-BR" sz="2800" dirty="0">
                <a:latin typeface="Arial"/>
                <a:ea typeface="+mn-lt"/>
                <a:cs typeface="Arial"/>
              </a:rPr>
              <a:t> Mostra conexões e funcionamento de sistemas elétricos, incluindo motores do trim.</a:t>
            </a:r>
            <a:endParaRPr lang="pt-BR" sz="2800">
              <a:latin typeface="Arial"/>
              <a:ea typeface="+mn-lt"/>
              <a:cs typeface="Arial"/>
            </a:endParaRPr>
          </a:p>
          <a:p>
            <a:pPr marL="285750" indent="-285750">
              <a:buFont typeface="Arial"/>
              <a:buChar char="•"/>
            </a:pPr>
            <a:endParaRPr lang="pt-BR" sz="2800" dirty="0">
              <a:latin typeface="Arial"/>
              <a:ea typeface="+mn-lt"/>
              <a:cs typeface="Arial"/>
            </a:endParaRPr>
          </a:p>
          <a:p>
            <a:pPr marL="285750" indent="-285750">
              <a:buFont typeface="Arial"/>
              <a:buChar char="•"/>
            </a:pPr>
            <a:r>
              <a:rPr lang="pt-BR" sz="2800" b="1" dirty="0">
                <a:latin typeface="Arial"/>
                <a:ea typeface="+mn-lt"/>
                <a:cs typeface="Arial"/>
              </a:rPr>
              <a:t>Envolvimento:</a:t>
            </a:r>
            <a:r>
              <a:rPr lang="pt-BR" sz="2800" dirty="0">
                <a:latin typeface="Arial"/>
                <a:ea typeface="+mn-lt"/>
                <a:cs typeface="Arial"/>
              </a:rPr>
              <a:t> Não teve impacto direto, pois a falha foi mecânica, mas está relacionado ao sistema elétrico de acionamento do estabilizador.</a:t>
            </a:r>
            <a:endParaRPr lang="pt-BR" sz="2800">
              <a:latin typeface="Arial"/>
              <a:ea typeface="+mn-lt"/>
              <a:cs typeface="Arial"/>
            </a:endParaRPr>
          </a:p>
          <a:p>
            <a:endParaRPr lang="pt-BR" sz="2800" dirty="0">
              <a:latin typeface="Arial"/>
              <a:cs typeface="Arial"/>
            </a:endParaRPr>
          </a:p>
        </p:txBody>
      </p:sp>
    </p:spTree>
    <p:extLst>
      <p:ext uri="{BB962C8B-B14F-4D97-AF65-F5344CB8AC3E}">
        <p14:creationId xmlns:p14="http://schemas.microsoft.com/office/powerpoint/2010/main" val="16711812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7A2F4-1391-7DDB-F267-7872A6706A89}"/>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395A3941-A526-E833-5891-F1863F741BD0}"/>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C1C6D2C2-AB79-8B2F-5210-5D7F838DC36F}"/>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sym typeface="Helvetica Neue"/>
              </a:rPr>
              <a:t>Capítulo</a:t>
            </a:r>
            <a:r>
              <a:rPr kumimoji="0" lang="en-US"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rPr>
              <a:t> 1</a:t>
            </a:r>
            <a:endParaRPr kumimoji="0" lang="pt-BR"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122B1834-0A30-5494-51E9-9C965C057EB6}"/>
              </a:ext>
            </a:extLst>
          </p:cNvPr>
          <p:cNvSpPr txBox="1"/>
          <p:nvPr/>
        </p:nvSpPr>
        <p:spPr>
          <a:xfrm>
            <a:off x="204278" y="564779"/>
            <a:ext cx="4214615" cy="307777"/>
          </a:xfrm>
          <a:prstGeom prst="rect">
            <a:avLst/>
          </a:prstGeom>
          <a:noFill/>
        </p:spPr>
        <p:txBody>
          <a:bodyPr wrap="none" lIns="91440" tIns="45720" rIns="91440" bIns="45720" rtlCol="0" anchor="t">
            <a:spAutoFit/>
          </a:bodyPr>
          <a:lstStyle/>
          <a:p>
            <a:r>
              <a:rPr lang="pt-BR" sz="1400" u="sng" dirty="0">
                <a:solidFill>
                  <a:srgbClr val="0070C0"/>
                </a:solidFill>
                <a:latin typeface="Arial"/>
                <a:cs typeface="Arial"/>
              </a:rPr>
              <a:t>Slide 1.8 - Non-</a:t>
            </a:r>
            <a:r>
              <a:rPr lang="pt-BR" sz="1400" u="sng" dirty="0" err="1">
                <a:solidFill>
                  <a:srgbClr val="0070C0"/>
                </a:solidFill>
                <a:latin typeface="Arial"/>
                <a:cs typeface="Arial"/>
              </a:rPr>
              <a:t>Destrutive</a:t>
            </a:r>
            <a:r>
              <a:rPr lang="pt-BR" sz="1400" u="sng" dirty="0">
                <a:solidFill>
                  <a:srgbClr val="0070C0"/>
                </a:solidFill>
                <a:latin typeface="Arial"/>
                <a:cs typeface="Arial"/>
              </a:rPr>
              <a:t> </a:t>
            </a:r>
            <a:r>
              <a:rPr lang="pt-BR" sz="1400" u="sng" dirty="0" err="1">
                <a:solidFill>
                  <a:srgbClr val="0070C0"/>
                </a:solidFill>
                <a:latin typeface="Arial"/>
                <a:cs typeface="Arial"/>
              </a:rPr>
              <a:t>Inspection</a:t>
            </a:r>
            <a:r>
              <a:rPr lang="pt-BR" sz="1400" u="sng" dirty="0">
                <a:solidFill>
                  <a:srgbClr val="0070C0"/>
                </a:solidFill>
                <a:latin typeface="Arial"/>
                <a:cs typeface="Arial"/>
              </a:rPr>
              <a:t> Manual (NDI)</a:t>
            </a:r>
          </a:p>
        </p:txBody>
      </p:sp>
      <p:sp>
        <p:nvSpPr>
          <p:cNvPr id="8" name="CaixaDeTexto 7">
            <a:extLst>
              <a:ext uri="{FF2B5EF4-FFF2-40B4-BE49-F238E27FC236}">
                <a16:creationId xmlns:a16="http://schemas.microsoft.com/office/drawing/2014/main" id="{AAAE77B0-8F60-F928-920A-58529D603706}"/>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rPr>
              <a:t>Resp.: </a:t>
            </a:r>
            <a:r>
              <a:rPr lang="pt-BR" u="sng" dirty="0">
                <a:solidFill>
                  <a:srgbClr val="0070C0"/>
                </a:solidFill>
                <a:latin typeface="Aptos" panose="02110004020202020204"/>
              </a:rPr>
              <a:t>Willian Henrique</a:t>
            </a:r>
            <a:endParaRPr lang="pt-BR"/>
          </a:p>
        </p:txBody>
      </p:sp>
      <p:sp>
        <p:nvSpPr>
          <p:cNvPr id="9" name="CaixaDeTexto 8">
            <a:extLst>
              <a:ext uri="{FF2B5EF4-FFF2-40B4-BE49-F238E27FC236}">
                <a16:creationId xmlns:a16="http://schemas.microsoft.com/office/drawing/2014/main" id="{F4F6896F-A913-A7FF-B493-69A2113B1FB2}"/>
              </a:ext>
            </a:extLst>
          </p:cNvPr>
          <p:cNvSpPr txBox="1"/>
          <p:nvPr/>
        </p:nvSpPr>
        <p:spPr>
          <a:xfrm>
            <a:off x="1608667" y="-18398"/>
            <a:ext cx="8669433" cy="738664"/>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a:ln>
                  <a:noFill/>
                </a:ln>
                <a:solidFill>
                  <a:schemeClr val="accent4">
                    <a:lumMod val="76000"/>
                  </a:schemeClr>
                </a:solidFill>
                <a:effectLst/>
                <a:uLnTx/>
                <a:uFillTx/>
                <a:latin typeface="Arial"/>
                <a:cs typeface="Arial"/>
              </a:rPr>
              <a:t>Publicações Técnicas: Discorra sobre as publicações de manutenção que foram consideradas na análise do acidente.</a:t>
            </a:r>
            <a:endParaRPr lang="pt-BR" sz="1400" b="0" i="0" u="none" strike="noStrike" kern="1200" cap="none" spc="0" normalizeH="0" baseline="0" noProof="0">
              <a:ln>
                <a:noFill/>
              </a:ln>
              <a:solidFill>
                <a:schemeClr val="accent4">
                  <a:lumMod val="76000"/>
                </a:schemeClr>
              </a:solidFill>
              <a:effectLst/>
              <a:uLnTx/>
              <a:uFillTx/>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BEC032DA-7009-215F-6463-231903E0C5F1}"/>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4" name="CaixaDeTexto 3">
            <a:extLst>
              <a:ext uri="{FF2B5EF4-FFF2-40B4-BE49-F238E27FC236}">
                <a16:creationId xmlns:a16="http://schemas.microsoft.com/office/drawing/2014/main" id="{F9E33B5E-3416-037F-0DA8-4B449E79569A}"/>
              </a:ext>
            </a:extLst>
          </p:cNvPr>
          <p:cNvSpPr txBox="1"/>
          <p:nvPr/>
        </p:nvSpPr>
        <p:spPr>
          <a:xfrm>
            <a:off x="172159" y="1585183"/>
            <a:ext cx="11841096"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pt-BR" sz="2400" b="1" dirty="0">
                <a:latin typeface="Arial"/>
                <a:ea typeface="+mn-lt"/>
                <a:cs typeface="Arial"/>
              </a:rPr>
              <a:t>Finalidade:</a:t>
            </a:r>
            <a:r>
              <a:rPr lang="pt-BR" sz="2400" dirty="0">
                <a:latin typeface="Arial"/>
                <a:ea typeface="+mn-lt"/>
                <a:cs typeface="Arial"/>
              </a:rPr>
              <a:t> Detectar desgaste, trincas ou falhas em componentes sem desmontagem destrutiva.</a:t>
            </a:r>
          </a:p>
          <a:p>
            <a:pPr marL="285750" indent="-285750">
              <a:buFont typeface="Arial"/>
              <a:buChar char="•"/>
            </a:pPr>
            <a:endParaRPr lang="pt-BR" sz="2400" dirty="0">
              <a:latin typeface="Arial"/>
              <a:ea typeface="+mn-lt"/>
              <a:cs typeface="Arial"/>
            </a:endParaRPr>
          </a:p>
          <a:p>
            <a:pPr marL="285750" indent="-285750">
              <a:buFont typeface="Arial"/>
              <a:buChar char="•"/>
            </a:pPr>
            <a:r>
              <a:rPr lang="pt-BR" sz="2400" b="1" dirty="0">
                <a:latin typeface="Arial"/>
                <a:ea typeface="+mn-lt"/>
                <a:cs typeface="Arial"/>
              </a:rPr>
              <a:t>Descrição:</a:t>
            </a:r>
            <a:r>
              <a:rPr lang="pt-BR" sz="2400" dirty="0">
                <a:latin typeface="Arial"/>
                <a:ea typeface="+mn-lt"/>
                <a:cs typeface="Arial"/>
              </a:rPr>
              <a:t> Inclui métodos como ultrassom, partículas magnéticas, líquidos penetrantes e inspeções dimensionais. No caso do </a:t>
            </a:r>
            <a:r>
              <a:rPr lang="pt-BR" sz="2400" i="1" dirty="0" err="1">
                <a:latin typeface="Arial"/>
                <a:ea typeface="+mn-lt"/>
                <a:cs typeface="Arial"/>
              </a:rPr>
              <a:t>jackscrew</a:t>
            </a:r>
            <a:r>
              <a:rPr lang="pt-BR" sz="2400" dirty="0">
                <a:latin typeface="Arial"/>
                <a:ea typeface="+mn-lt"/>
                <a:cs typeface="Arial"/>
              </a:rPr>
              <a:t>, a técnica principal era a medição da folga axial entre o fuso e a porca trapezoidal. Essa medida deveria indicar o desgaste acumulado da rosca.</a:t>
            </a:r>
          </a:p>
          <a:p>
            <a:pPr marL="285750" indent="-285750">
              <a:buFont typeface="Arial"/>
              <a:buChar char="•"/>
            </a:pPr>
            <a:endParaRPr lang="pt-BR" sz="2400" dirty="0">
              <a:latin typeface="Arial"/>
              <a:ea typeface="+mn-lt"/>
              <a:cs typeface="Arial"/>
            </a:endParaRPr>
          </a:p>
          <a:p>
            <a:pPr marL="285750" indent="-285750">
              <a:buFont typeface="Arial"/>
              <a:buChar char="•"/>
            </a:pPr>
            <a:r>
              <a:rPr lang="pt-BR" sz="2400" b="1" dirty="0">
                <a:latin typeface="Arial"/>
                <a:ea typeface="+mn-lt"/>
                <a:cs typeface="Arial"/>
              </a:rPr>
              <a:t>Envolvimento:</a:t>
            </a:r>
            <a:r>
              <a:rPr lang="pt-BR" sz="2400" dirty="0">
                <a:latin typeface="Arial"/>
                <a:ea typeface="+mn-lt"/>
                <a:cs typeface="Arial"/>
              </a:rPr>
              <a:t> A tarefa crítica de inspeção de folga axial estava prevista, mas os intervalos foram estendidos e a execução foi deficiente. Assim, o desgaste avançou sem ser detectado, até que a porca trapezoidal falhou em voo.</a:t>
            </a:r>
          </a:p>
          <a:p>
            <a:endParaRPr lang="pt-BR" sz="2400" dirty="0">
              <a:latin typeface="Arial"/>
              <a:cs typeface="Arial"/>
            </a:endParaRPr>
          </a:p>
        </p:txBody>
      </p:sp>
    </p:spTree>
    <p:extLst>
      <p:ext uri="{BB962C8B-B14F-4D97-AF65-F5344CB8AC3E}">
        <p14:creationId xmlns:p14="http://schemas.microsoft.com/office/powerpoint/2010/main" val="37036841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65545-CAE6-0F95-E720-09788BEC9529}"/>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08C17BEF-EB0F-2819-51F4-0A8EDCCD2A90}"/>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61BDC387-00BD-105C-7FEF-F234513EDB2E}"/>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sym typeface="Helvetica Neue"/>
              </a:rPr>
              <a:t>Capítulo</a:t>
            </a:r>
            <a:r>
              <a:rPr kumimoji="0" lang="en-US"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rPr>
              <a:t> 1</a:t>
            </a:r>
            <a:endParaRPr kumimoji="0" lang="pt-BR"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C1381EF7-56AC-E061-FED4-BF747C17C779}"/>
              </a:ext>
            </a:extLst>
          </p:cNvPr>
          <p:cNvSpPr txBox="1"/>
          <p:nvPr/>
        </p:nvSpPr>
        <p:spPr>
          <a:xfrm>
            <a:off x="204278" y="564779"/>
            <a:ext cx="8250913" cy="307777"/>
          </a:xfrm>
          <a:prstGeom prst="rect">
            <a:avLst/>
          </a:prstGeom>
          <a:noFill/>
        </p:spPr>
        <p:txBody>
          <a:bodyPr wrap="none" lIns="91440" tIns="45720" rIns="91440" bIns="45720" rtlCol="0" anchor="t">
            <a:spAutoFit/>
          </a:bodyPr>
          <a:lstStyle/>
          <a:p>
            <a:r>
              <a:rPr lang="pt-BR" sz="1400" u="sng">
                <a:solidFill>
                  <a:srgbClr val="0070C0"/>
                </a:solidFill>
                <a:latin typeface="Arial"/>
                <a:cs typeface="Arial"/>
              </a:rPr>
              <a:t>Slide 1.9 - OAMP – </a:t>
            </a:r>
            <a:r>
              <a:rPr lang="pt-BR" sz="1400" u="sng" err="1">
                <a:solidFill>
                  <a:srgbClr val="0070C0"/>
                </a:solidFill>
                <a:latin typeface="Arial"/>
                <a:cs typeface="Arial"/>
              </a:rPr>
              <a:t>On-Aircraft</a:t>
            </a:r>
            <a:r>
              <a:rPr lang="pt-BR" sz="1400" u="sng">
                <a:solidFill>
                  <a:srgbClr val="0070C0"/>
                </a:solidFill>
                <a:latin typeface="Arial"/>
                <a:cs typeface="Arial"/>
              </a:rPr>
              <a:t> </a:t>
            </a:r>
            <a:r>
              <a:rPr lang="pt-BR" sz="1400" u="sng" err="1">
                <a:solidFill>
                  <a:srgbClr val="0070C0"/>
                </a:solidFill>
                <a:latin typeface="Arial"/>
                <a:cs typeface="Arial"/>
              </a:rPr>
              <a:t>Maintenance</a:t>
            </a:r>
            <a:r>
              <a:rPr lang="pt-BR" sz="1400" u="sng">
                <a:solidFill>
                  <a:srgbClr val="0070C0"/>
                </a:solidFill>
                <a:latin typeface="Arial"/>
                <a:cs typeface="Arial"/>
              </a:rPr>
              <a:t> Planning (OAMP) </a:t>
            </a:r>
            <a:r>
              <a:rPr lang="pt-BR" sz="1400" u="sng">
                <a:solidFill>
                  <a:srgbClr val="0070C0"/>
                </a:solidFill>
                <a:latin typeface="Arial"/>
                <a:ea typeface="+mn-lt"/>
                <a:cs typeface="Arial"/>
              </a:rPr>
              <a:t>[Manual Geral de Manutenção - MGM]</a:t>
            </a:r>
            <a:endParaRPr lang="pt-BR" sz="1400" u="sng">
              <a:solidFill>
                <a:srgbClr val="0070C0"/>
              </a:solidFill>
              <a:latin typeface="Arial"/>
              <a:cs typeface="Arial"/>
            </a:endParaRPr>
          </a:p>
        </p:txBody>
      </p:sp>
      <p:sp>
        <p:nvSpPr>
          <p:cNvPr id="8" name="CaixaDeTexto 7">
            <a:extLst>
              <a:ext uri="{FF2B5EF4-FFF2-40B4-BE49-F238E27FC236}">
                <a16:creationId xmlns:a16="http://schemas.microsoft.com/office/drawing/2014/main" id="{13097E42-1230-7BD3-92A8-9B9F634646CE}"/>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rPr>
              <a:t>Resp.: </a:t>
            </a:r>
            <a:r>
              <a:rPr lang="pt-BR" u="sng" dirty="0">
                <a:solidFill>
                  <a:srgbClr val="0070C0"/>
                </a:solidFill>
                <a:latin typeface="Aptos" panose="02110004020202020204"/>
              </a:rPr>
              <a:t>Willian Henrique</a:t>
            </a:r>
            <a:endParaRPr lang="pt-BR" dirty="0">
              <a:ea typeface="+mn-ea"/>
              <a:cs typeface="+mn-cs"/>
            </a:endParaRPr>
          </a:p>
        </p:txBody>
      </p:sp>
      <p:sp>
        <p:nvSpPr>
          <p:cNvPr id="9" name="CaixaDeTexto 8">
            <a:extLst>
              <a:ext uri="{FF2B5EF4-FFF2-40B4-BE49-F238E27FC236}">
                <a16:creationId xmlns:a16="http://schemas.microsoft.com/office/drawing/2014/main" id="{90B8E0BD-16B0-410C-5B7A-4477271D677F}"/>
              </a:ext>
            </a:extLst>
          </p:cNvPr>
          <p:cNvSpPr txBox="1"/>
          <p:nvPr/>
        </p:nvSpPr>
        <p:spPr>
          <a:xfrm>
            <a:off x="1608667" y="-18398"/>
            <a:ext cx="8669433" cy="738664"/>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a:ln>
                  <a:noFill/>
                </a:ln>
                <a:solidFill>
                  <a:schemeClr val="accent4">
                    <a:lumMod val="76000"/>
                  </a:schemeClr>
                </a:solidFill>
                <a:effectLst/>
                <a:uLnTx/>
                <a:uFillTx/>
                <a:latin typeface="Arial"/>
                <a:cs typeface="Arial"/>
              </a:rPr>
              <a:t>Publicações Técnicas: Discorra sobre as publicações de manutenção que foram consideradas na análise do acidente.</a:t>
            </a:r>
            <a:endParaRPr lang="pt-BR" sz="1400" b="0" i="0" u="none" strike="noStrike" kern="1200" cap="none" spc="0" normalizeH="0" baseline="0" noProof="0">
              <a:ln>
                <a:noFill/>
              </a:ln>
              <a:solidFill>
                <a:schemeClr val="accent4">
                  <a:lumMod val="76000"/>
                </a:schemeClr>
              </a:solidFill>
              <a:effectLst/>
              <a:uLnTx/>
              <a:uFillTx/>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897D430E-8C41-1AB6-6969-42C60D6ACAD1}"/>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4" name="CaixaDeTexto 3">
            <a:extLst>
              <a:ext uri="{FF2B5EF4-FFF2-40B4-BE49-F238E27FC236}">
                <a16:creationId xmlns:a16="http://schemas.microsoft.com/office/drawing/2014/main" id="{79289D22-B0D7-7A70-1E64-81AC1ECF60A6}"/>
              </a:ext>
            </a:extLst>
          </p:cNvPr>
          <p:cNvSpPr txBox="1"/>
          <p:nvPr/>
        </p:nvSpPr>
        <p:spPr>
          <a:xfrm>
            <a:off x="255665" y="1204050"/>
            <a:ext cx="11202363"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2800" b="1" dirty="0">
                <a:ea typeface="+mn-lt"/>
                <a:cs typeface="+mn-lt"/>
              </a:rPr>
              <a:t>Finalidade:</a:t>
            </a:r>
            <a:r>
              <a:rPr lang="pt-BR" sz="2800" dirty="0">
                <a:ea typeface="+mn-lt"/>
                <a:cs typeface="+mn-lt"/>
              </a:rPr>
              <a:t> Definir, organizar e </a:t>
            </a:r>
            <a:r>
              <a:rPr lang="pt-BR" sz="2400" dirty="0">
                <a:latin typeface="Arial"/>
                <a:ea typeface="+mn-lt"/>
                <a:cs typeface="+mn-lt"/>
              </a:rPr>
              <a:t>supervisionar</a:t>
            </a:r>
            <a:r>
              <a:rPr lang="pt-BR" sz="2800" dirty="0">
                <a:ea typeface="+mn-lt"/>
                <a:cs typeface="+mn-lt"/>
              </a:rPr>
              <a:t> o programa de manutenção da empresa, garantindo conformidade com regulamentos e padrões de segurança.</a:t>
            </a:r>
            <a:endParaRPr lang="pt-BR">
              <a:ea typeface="+mn-lt"/>
              <a:cs typeface="+mn-lt"/>
            </a:endParaRPr>
          </a:p>
          <a:p>
            <a:endParaRPr lang="pt-BR" sz="2800" dirty="0">
              <a:ea typeface="+mn-lt"/>
              <a:cs typeface="+mn-lt"/>
            </a:endParaRPr>
          </a:p>
          <a:p>
            <a:r>
              <a:rPr lang="pt-BR" sz="2800" b="1" dirty="0">
                <a:ea typeface="+mn-lt"/>
                <a:cs typeface="+mn-lt"/>
              </a:rPr>
              <a:t>Descrição:</a:t>
            </a:r>
            <a:r>
              <a:rPr lang="pt-BR" sz="2800" dirty="0">
                <a:ea typeface="+mn-lt"/>
                <a:cs typeface="+mn-lt"/>
              </a:rPr>
              <a:t> Estabelece responsabilidades da equipe de manutenção, processos de aprovação de alterações, gestão de intervalos, padronização de materiais e supervisão da execução.</a:t>
            </a:r>
          </a:p>
          <a:p>
            <a:endParaRPr lang="pt-BR" sz="2800" dirty="0">
              <a:ea typeface="+mn-lt"/>
              <a:cs typeface="+mn-lt"/>
            </a:endParaRPr>
          </a:p>
          <a:p>
            <a:r>
              <a:rPr lang="pt-BR" sz="2800" b="1" dirty="0">
                <a:ea typeface="+mn-lt"/>
                <a:cs typeface="+mn-lt"/>
              </a:rPr>
              <a:t>Envolvimento:</a:t>
            </a:r>
            <a:r>
              <a:rPr lang="pt-BR" sz="2800" dirty="0">
                <a:ea typeface="+mn-lt"/>
                <a:cs typeface="+mn-lt"/>
              </a:rPr>
              <a:t> A Alaska Airlines falhou na gestão e supervisão de manutenção. Houve extensão indevida de intervalos de lubrificação e inspeção do </a:t>
            </a:r>
            <a:r>
              <a:rPr lang="pt-BR" sz="2800" dirty="0" err="1">
                <a:ea typeface="+mn-lt"/>
                <a:cs typeface="+mn-lt"/>
              </a:rPr>
              <a:t>jackscrew</a:t>
            </a:r>
            <a:r>
              <a:rPr lang="pt-BR" sz="2800" dirty="0">
                <a:ea typeface="+mn-lt"/>
                <a:cs typeface="+mn-lt"/>
              </a:rPr>
              <a:t>. A Companhia alterou o tipo de graxa (MIL-G-81322) para </a:t>
            </a:r>
            <a:r>
              <a:rPr lang="pt-BR" sz="2800" dirty="0" err="1">
                <a:ea typeface="+mn-lt"/>
                <a:cs typeface="+mn-lt"/>
              </a:rPr>
              <a:t>Aeroshel</a:t>
            </a:r>
            <a:r>
              <a:rPr lang="pt-BR" sz="2800" dirty="0">
                <a:ea typeface="+mn-lt"/>
                <a:cs typeface="+mn-lt"/>
              </a:rPr>
              <a:t> 33, porém essa graxa não era compatível.</a:t>
            </a:r>
          </a:p>
        </p:txBody>
      </p:sp>
    </p:spTree>
    <p:extLst>
      <p:ext uri="{BB962C8B-B14F-4D97-AF65-F5344CB8AC3E}">
        <p14:creationId xmlns:p14="http://schemas.microsoft.com/office/powerpoint/2010/main" val="18525439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ED67E-2861-85CD-9B72-C5F7BF2EE7E7}"/>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0360760D-19D6-A561-F34A-29C1E8805814}"/>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38A6588B-E72C-FA67-EC39-4FA4C79D8AD1}"/>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sym typeface="Helvetica Neue"/>
              </a:rPr>
              <a:t>Capítulo</a:t>
            </a:r>
            <a:r>
              <a:rPr kumimoji="0" lang="en-US"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rPr>
              <a:t> 1</a:t>
            </a:r>
            <a:endParaRPr kumimoji="0" lang="pt-BR"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80FB5F92-65E0-EC2C-1C9F-07F145C73DFB}"/>
              </a:ext>
            </a:extLst>
          </p:cNvPr>
          <p:cNvSpPr txBox="1"/>
          <p:nvPr/>
        </p:nvSpPr>
        <p:spPr>
          <a:xfrm>
            <a:off x="204278" y="564779"/>
            <a:ext cx="2834430" cy="307777"/>
          </a:xfrm>
          <a:prstGeom prst="rect">
            <a:avLst/>
          </a:prstGeom>
          <a:noFill/>
        </p:spPr>
        <p:txBody>
          <a:bodyPr wrap="none" lIns="91440" tIns="45720" rIns="91440" bIns="45720" rtlCol="0" anchor="t">
            <a:spAutoFit/>
          </a:bodyPr>
          <a:lstStyle/>
          <a:p>
            <a:r>
              <a:rPr lang="pt-BR" sz="1400" u="sng">
                <a:solidFill>
                  <a:srgbClr val="0070C0"/>
                </a:solidFill>
                <a:latin typeface="Arial"/>
                <a:cs typeface="Arial"/>
              </a:rPr>
              <a:t>Slide 1.10 - Service Bulletin (SB) </a:t>
            </a:r>
          </a:p>
        </p:txBody>
      </p:sp>
      <p:sp>
        <p:nvSpPr>
          <p:cNvPr id="8" name="CaixaDeTexto 7">
            <a:extLst>
              <a:ext uri="{FF2B5EF4-FFF2-40B4-BE49-F238E27FC236}">
                <a16:creationId xmlns:a16="http://schemas.microsoft.com/office/drawing/2014/main" id="{D6324AD4-F8AE-95A2-4181-B86371E5C397}"/>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rPr>
              <a:t>Resp.: </a:t>
            </a:r>
            <a:r>
              <a:rPr lang="pt-BR" u="sng" dirty="0">
                <a:solidFill>
                  <a:srgbClr val="0070C0"/>
                </a:solidFill>
                <a:latin typeface="Aptos" panose="02110004020202020204"/>
              </a:rPr>
              <a:t>Willian Henrique</a:t>
            </a:r>
            <a:endParaRPr lang="pt-BR" dirty="0">
              <a:ea typeface="+mn-ea"/>
              <a:cs typeface="+mn-cs"/>
            </a:endParaRPr>
          </a:p>
        </p:txBody>
      </p:sp>
      <p:sp>
        <p:nvSpPr>
          <p:cNvPr id="9" name="CaixaDeTexto 8">
            <a:extLst>
              <a:ext uri="{FF2B5EF4-FFF2-40B4-BE49-F238E27FC236}">
                <a16:creationId xmlns:a16="http://schemas.microsoft.com/office/drawing/2014/main" id="{79DB4A1C-865F-3980-E07A-319DD3DE1EEC}"/>
              </a:ext>
            </a:extLst>
          </p:cNvPr>
          <p:cNvSpPr txBox="1"/>
          <p:nvPr/>
        </p:nvSpPr>
        <p:spPr>
          <a:xfrm>
            <a:off x="1608667" y="-18398"/>
            <a:ext cx="8669433" cy="738664"/>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a:ln>
                  <a:noFill/>
                </a:ln>
                <a:solidFill>
                  <a:schemeClr val="accent4">
                    <a:lumMod val="76000"/>
                  </a:schemeClr>
                </a:solidFill>
                <a:effectLst/>
                <a:uLnTx/>
                <a:uFillTx/>
                <a:latin typeface="Arial"/>
                <a:cs typeface="Arial"/>
              </a:rPr>
              <a:t>Publicações Técnicas: Discorra sobre as publicações de manutenção que foram consideradas na análise do acidente.</a:t>
            </a:r>
            <a:endParaRPr lang="pt-BR" sz="1400" b="0" i="0" u="none" strike="noStrike" kern="1200" cap="none" spc="0" normalizeH="0" baseline="0" noProof="0">
              <a:ln>
                <a:noFill/>
              </a:ln>
              <a:solidFill>
                <a:schemeClr val="accent4">
                  <a:lumMod val="76000"/>
                </a:schemeClr>
              </a:solidFill>
              <a:effectLst/>
              <a:uLnTx/>
              <a:uFillTx/>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E88FE3A0-39FE-BB56-CB8A-CA0DB386F226}"/>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7" name="CaixaDeTexto 6">
            <a:extLst>
              <a:ext uri="{FF2B5EF4-FFF2-40B4-BE49-F238E27FC236}">
                <a16:creationId xmlns:a16="http://schemas.microsoft.com/office/drawing/2014/main" id="{8F866985-3B16-19C8-822A-2CFCFF81EBA1}"/>
              </a:ext>
            </a:extLst>
          </p:cNvPr>
          <p:cNvSpPr txBox="1"/>
          <p:nvPr/>
        </p:nvSpPr>
        <p:spPr>
          <a:xfrm>
            <a:off x="466165" y="1609164"/>
            <a:ext cx="9814110"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err="1">
                <a:latin typeface="Arial"/>
                <a:ea typeface="+mn-lt"/>
                <a:cs typeface="Arial"/>
              </a:rPr>
              <a:t>Finalidade</a:t>
            </a:r>
            <a:r>
              <a:rPr lang="en-US" sz="2400" b="1" dirty="0">
                <a:latin typeface="Arial"/>
                <a:ea typeface="+mn-lt"/>
                <a:cs typeface="Arial"/>
              </a:rPr>
              <a:t>:</a:t>
            </a:r>
            <a:r>
              <a:rPr lang="en-US" sz="2400" dirty="0">
                <a:latin typeface="Arial"/>
                <a:ea typeface="+mn-lt"/>
                <a:cs typeface="Arial"/>
              </a:rPr>
              <a:t> </a:t>
            </a:r>
            <a:r>
              <a:rPr lang="en-US" sz="2400" dirty="0" err="1">
                <a:latin typeface="Arial"/>
                <a:ea typeface="+mn-lt"/>
                <a:cs typeface="Arial"/>
              </a:rPr>
              <a:t>Documento</a:t>
            </a:r>
            <a:r>
              <a:rPr lang="en-US" sz="2400" dirty="0">
                <a:latin typeface="Arial"/>
                <a:ea typeface="+mn-lt"/>
                <a:cs typeface="Arial"/>
              </a:rPr>
              <a:t> </a:t>
            </a:r>
            <a:r>
              <a:rPr lang="en-US" sz="2400" dirty="0" err="1">
                <a:latin typeface="Arial"/>
                <a:ea typeface="+mn-lt"/>
                <a:cs typeface="Arial"/>
              </a:rPr>
              <a:t>emitido</a:t>
            </a:r>
            <a:r>
              <a:rPr lang="en-US" sz="2400" dirty="0">
                <a:latin typeface="Arial"/>
                <a:ea typeface="+mn-lt"/>
                <a:cs typeface="Arial"/>
              </a:rPr>
              <a:t> </a:t>
            </a:r>
            <a:r>
              <a:rPr lang="en-US" sz="2400" dirty="0" err="1">
                <a:latin typeface="Arial"/>
                <a:ea typeface="+mn-lt"/>
                <a:cs typeface="Arial"/>
              </a:rPr>
              <a:t>pelo</a:t>
            </a:r>
            <a:r>
              <a:rPr lang="en-US" sz="2400" dirty="0">
                <a:latin typeface="Arial"/>
                <a:ea typeface="+mn-lt"/>
                <a:cs typeface="Arial"/>
              </a:rPr>
              <a:t> </a:t>
            </a:r>
            <a:r>
              <a:rPr lang="en-US" sz="2400" dirty="0" err="1">
                <a:latin typeface="Arial"/>
                <a:ea typeface="+mn-lt"/>
                <a:cs typeface="Arial"/>
              </a:rPr>
              <a:t>fabricante</a:t>
            </a:r>
            <a:r>
              <a:rPr lang="en-US" sz="2400" dirty="0">
                <a:latin typeface="Arial"/>
                <a:ea typeface="+mn-lt"/>
                <a:cs typeface="Arial"/>
              </a:rPr>
              <a:t> da </a:t>
            </a:r>
            <a:r>
              <a:rPr lang="en-US" sz="2400" dirty="0" err="1">
                <a:latin typeface="Arial"/>
                <a:ea typeface="+mn-lt"/>
                <a:cs typeface="Arial"/>
              </a:rPr>
              <a:t>aeronave</a:t>
            </a:r>
            <a:r>
              <a:rPr lang="en-US" sz="2400" dirty="0">
                <a:latin typeface="Arial"/>
                <a:ea typeface="+mn-lt"/>
                <a:cs typeface="Arial"/>
              </a:rPr>
              <a:t> </a:t>
            </a:r>
            <a:r>
              <a:rPr lang="en-US" sz="2400" dirty="0" err="1">
                <a:latin typeface="Arial"/>
                <a:ea typeface="+mn-lt"/>
                <a:cs typeface="Arial"/>
              </a:rPr>
              <a:t>ou</a:t>
            </a:r>
            <a:r>
              <a:rPr lang="en-US" sz="2400" dirty="0">
                <a:latin typeface="Arial"/>
                <a:ea typeface="+mn-lt"/>
                <a:cs typeface="Arial"/>
              </a:rPr>
              <a:t> </a:t>
            </a:r>
            <a:r>
              <a:rPr lang="en-US" sz="2400" dirty="0" err="1">
                <a:latin typeface="Arial"/>
                <a:ea typeface="+mn-lt"/>
                <a:cs typeface="Arial"/>
              </a:rPr>
              <a:t>componente</a:t>
            </a:r>
            <a:r>
              <a:rPr lang="en-US" sz="2400" dirty="0">
                <a:latin typeface="Arial"/>
                <a:ea typeface="+mn-lt"/>
                <a:cs typeface="Arial"/>
              </a:rPr>
              <a:t>. </a:t>
            </a:r>
            <a:r>
              <a:rPr lang="en-US" sz="2400" dirty="0" err="1">
                <a:latin typeface="Arial"/>
                <a:ea typeface="+mn-lt"/>
                <a:cs typeface="Arial"/>
              </a:rPr>
              <a:t>Propõe</a:t>
            </a:r>
            <a:r>
              <a:rPr lang="en-US" sz="2400" dirty="0">
                <a:latin typeface="Arial"/>
                <a:ea typeface="+mn-lt"/>
                <a:cs typeface="Arial"/>
              </a:rPr>
              <a:t> </a:t>
            </a:r>
            <a:r>
              <a:rPr lang="en-US" sz="2400" dirty="0" err="1">
                <a:latin typeface="Arial"/>
                <a:ea typeface="+mn-lt"/>
                <a:cs typeface="Arial"/>
              </a:rPr>
              <a:t>inspeções</a:t>
            </a:r>
            <a:r>
              <a:rPr lang="en-US" sz="2400" dirty="0">
                <a:latin typeface="Arial"/>
                <a:ea typeface="+mn-lt"/>
                <a:cs typeface="Arial"/>
              </a:rPr>
              <a:t>, </a:t>
            </a:r>
            <a:r>
              <a:rPr lang="en-US" sz="2400" dirty="0" err="1">
                <a:latin typeface="Arial"/>
                <a:ea typeface="+mn-lt"/>
                <a:cs typeface="Arial"/>
              </a:rPr>
              <a:t>modificações</a:t>
            </a:r>
            <a:r>
              <a:rPr lang="en-US" sz="2400" dirty="0">
                <a:latin typeface="Arial"/>
                <a:ea typeface="+mn-lt"/>
                <a:cs typeface="Arial"/>
              </a:rPr>
              <a:t> </a:t>
            </a:r>
            <a:r>
              <a:rPr lang="en-US" sz="2400" dirty="0" err="1">
                <a:latin typeface="Arial"/>
                <a:ea typeface="+mn-lt"/>
                <a:cs typeface="Arial"/>
              </a:rPr>
              <a:t>ou</a:t>
            </a:r>
            <a:r>
              <a:rPr lang="en-US" sz="2400" dirty="0">
                <a:latin typeface="Arial"/>
                <a:ea typeface="+mn-lt"/>
                <a:cs typeface="Arial"/>
              </a:rPr>
              <a:t> </a:t>
            </a:r>
            <a:r>
              <a:rPr lang="en-US" sz="2400" dirty="0" err="1">
                <a:latin typeface="Arial"/>
                <a:ea typeface="+mn-lt"/>
                <a:cs typeface="Arial"/>
              </a:rPr>
              <a:t>substituições</a:t>
            </a:r>
            <a:r>
              <a:rPr lang="en-US" sz="2400" dirty="0">
                <a:latin typeface="Arial"/>
                <a:ea typeface="+mn-lt"/>
                <a:cs typeface="Arial"/>
              </a:rPr>
              <a:t> para </a:t>
            </a:r>
            <a:r>
              <a:rPr lang="en-US" sz="2400" dirty="0" err="1">
                <a:latin typeface="Arial"/>
                <a:ea typeface="+mn-lt"/>
                <a:cs typeface="Arial"/>
              </a:rPr>
              <a:t>melhorar</a:t>
            </a:r>
            <a:r>
              <a:rPr lang="en-US" sz="2400" dirty="0">
                <a:latin typeface="Arial"/>
                <a:ea typeface="+mn-lt"/>
                <a:cs typeface="Arial"/>
              </a:rPr>
              <a:t> </a:t>
            </a:r>
            <a:r>
              <a:rPr lang="en-US" sz="2400" dirty="0" err="1">
                <a:latin typeface="Arial"/>
                <a:ea typeface="+mn-lt"/>
                <a:cs typeface="Arial"/>
              </a:rPr>
              <a:t>segurança</a:t>
            </a:r>
            <a:r>
              <a:rPr lang="en-US" sz="2400" dirty="0">
                <a:latin typeface="Arial"/>
                <a:ea typeface="+mn-lt"/>
                <a:cs typeface="Arial"/>
              </a:rPr>
              <a:t>, </a:t>
            </a:r>
            <a:r>
              <a:rPr lang="en-US" sz="2400" dirty="0" err="1">
                <a:latin typeface="Arial"/>
                <a:ea typeface="+mn-lt"/>
                <a:cs typeface="Arial"/>
              </a:rPr>
              <a:t>confiabilidade</a:t>
            </a:r>
            <a:r>
              <a:rPr lang="en-US" sz="2400" dirty="0">
                <a:latin typeface="Arial"/>
                <a:ea typeface="+mn-lt"/>
                <a:cs typeface="Arial"/>
              </a:rPr>
              <a:t> </a:t>
            </a:r>
            <a:r>
              <a:rPr lang="en-US" sz="2400" dirty="0" err="1">
                <a:latin typeface="Arial"/>
                <a:ea typeface="+mn-lt"/>
                <a:cs typeface="Arial"/>
              </a:rPr>
              <a:t>ou</a:t>
            </a:r>
            <a:r>
              <a:rPr lang="en-US" sz="2400" dirty="0">
                <a:latin typeface="Arial"/>
                <a:ea typeface="+mn-lt"/>
                <a:cs typeface="Arial"/>
              </a:rPr>
              <a:t> performance.</a:t>
            </a:r>
            <a:endParaRPr lang="pt-BR" sz="2400" dirty="0">
              <a:latin typeface="Arial"/>
              <a:ea typeface="+mn-lt"/>
              <a:cs typeface="Arial"/>
            </a:endParaRPr>
          </a:p>
          <a:p>
            <a:endParaRPr lang="en-US" sz="2400" dirty="0">
              <a:latin typeface="Arial"/>
              <a:ea typeface="+mn-lt"/>
              <a:cs typeface="Arial"/>
            </a:endParaRPr>
          </a:p>
          <a:p>
            <a:r>
              <a:rPr lang="en-US" sz="2400" b="1" dirty="0" err="1">
                <a:latin typeface="Arial"/>
                <a:ea typeface="+mn-lt"/>
                <a:cs typeface="Arial"/>
              </a:rPr>
              <a:t>Descrição</a:t>
            </a:r>
            <a:r>
              <a:rPr lang="en-US" sz="2400" b="1" dirty="0">
                <a:latin typeface="Arial"/>
                <a:ea typeface="+mn-lt"/>
                <a:cs typeface="Arial"/>
              </a:rPr>
              <a:t>: </a:t>
            </a:r>
            <a:r>
              <a:rPr lang="en-US" sz="2400" dirty="0">
                <a:latin typeface="Arial"/>
                <a:ea typeface="+mn-lt"/>
                <a:cs typeface="Arial"/>
              </a:rPr>
              <a:t>Em </a:t>
            </a:r>
            <a:r>
              <a:rPr lang="en-US" sz="2400" dirty="0" err="1">
                <a:latin typeface="Arial"/>
                <a:ea typeface="+mn-lt"/>
                <a:cs typeface="Arial"/>
              </a:rPr>
              <a:t>geral</a:t>
            </a:r>
            <a:r>
              <a:rPr lang="en-US" sz="2400" dirty="0">
                <a:latin typeface="Arial"/>
                <a:ea typeface="+mn-lt"/>
                <a:cs typeface="Arial"/>
              </a:rPr>
              <a:t>, </a:t>
            </a:r>
            <a:r>
              <a:rPr lang="en-US" sz="2400" dirty="0" err="1">
                <a:latin typeface="Arial"/>
                <a:ea typeface="+mn-lt"/>
                <a:cs typeface="Arial"/>
              </a:rPr>
              <a:t>não</a:t>
            </a:r>
            <a:r>
              <a:rPr lang="en-US" sz="2400" dirty="0">
                <a:latin typeface="Arial"/>
                <a:ea typeface="+mn-lt"/>
                <a:cs typeface="Arial"/>
              </a:rPr>
              <a:t> é </a:t>
            </a:r>
            <a:r>
              <a:rPr lang="en-US" sz="2400" dirty="0" err="1">
                <a:latin typeface="Arial"/>
                <a:ea typeface="+mn-lt"/>
                <a:cs typeface="Arial"/>
              </a:rPr>
              <a:t>obrigatório</a:t>
            </a:r>
            <a:r>
              <a:rPr lang="en-US" sz="2400" dirty="0">
                <a:latin typeface="Arial"/>
                <a:ea typeface="+mn-lt"/>
                <a:cs typeface="Arial"/>
              </a:rPr>
              <a:t>, mas fortemente </a:t>
            </a:r>
            <a:r>
              <a:rPr lang="en-US" sz="2400" dirty="0" err="1">
                <a:latin typeface="Arial"/>
                <a:ea typeface="+mn-lt"/>
                <a:cs typeface="Arial"/>
              </a:rPr>
              <a:t>recomendado</a:t>
            </a:r>
            <a:r>
              <a:rPr lang="en-US" sz="2400" dirty="0">
                <a:latin typeface="Arial"/>
                <a:ea typeface="+mn-lt"/>
                <a:cs typeface="Arial"/>
              </a:rPr>
              <a:t>. Pode se </a:t>
            </a:r>
            <a:r>
              <a:rPr lang="en-US" sz="2400" dirty="0" err="1">
                <a:latin typeface="Arial"/>
                <a:ea typeface="+mn-lt"/>
                <a:cs typeface="Arial"/>
              </a:rPr>
              <a:t>tornar</a:t>
            </a:r>
            <a:r>
              <a:rPr lang="en-US" sz="2400" dirty="0">
                <a:latin typeface="Arial"/>
                <a:ea typeface="+mn-lt"/>
                <a:cs typeface="Arial"/>
              </a:rPr>
              <a:t> </a:t>
            </a:r>
            <a:r>
              <a:rPr lang="en-US" sz="2400" dirty="0" err="1">
                <a:latin typeface="Arial"/>
                <a:ea typeface="+mn-lt"/>
                <a:cs typeface="Arial"/>
              </a:rPr>
              <a:t>obrigatório</a:t>
            </a:r>
            <a:r>
              <a:rPr lang="en-US" sz="2400" dirty="0">
                <a:latin typeface="Arial"/>
                <a:ea typeface="+mn-lt"/>
                <a:cs typeface="Arial"/>
              </a:rPr>
              <a:t> se a </a:t>
            </a:r>
            <a:r>
              <a:rPr lang="en-US" sz="2400" dirty="0" err="1">
                <a:latin typeface="Arial"/>
                <a:ea typeface="+mn-lt"/>
                <a:cs typeface="Arial"/>
              </a:rPr>
              <a:t>autoridade</a:t>
            </a:r>
            <a:r>
              <a:rPr lang="en-US" sz="2400" dirty="0">
                <a:latin typeface="Arial"/>
                <a:ea typeface="+mn-lt"/>
                <a:cs typeface="Arial"/>
              </a:rPr>
              <a:t> (FAA, ANAC, EASA etc.) </a:t>
            </a:r>
            <a:r>
              <a:rPr lang="en-US" sz="2400" dirty="0" err="1">
                <a:latin typeface="Arial"/>
                <a:ea typeface="+mn-lt"/>
                <a:cs typeface="Arial"/>
              </a:rPr>
              <a:t>emitir</a:t>
            </a:r>
            <a:r>
              <a:rPr lang="en-US" sz="2400" dirty="0">
                <a:latin typeface="Arial"/>
                <a:ea typeface="+mn-lt"/>
                <a:cs typeface="Arial"/>
              </a:rPr>
              <a:t> </a:t>
            </a:r>
            <a:r>
              <a:rPr lang="en-US" sz="2400" dirty="0" err="1">
                <a:latin typeface="Arial"/>
                <a:ea typeface="+mn-lt"/>
                <a:cs typeface="Arial"/>
              </a:rPr>
              <a:t>uma</a:t>
            </a:r>
            <a:r>
              <a:rPr lang="en-US" sz="2400" dirty="0">
                <a:latin typeface="Arial"/>
                <a:ea typeface="+mn-lt"/>
                <a:cs typeface="Arial"/>
              </a:rPr>
              <a:t> AD </a:t>
            </a:r>
            <a:r>
              <a:rPr lang="en-US" sz="2400" dirty="0" err="1">
                <a:latin typeface="Arial"/>
                <a:ea typeface="+mn-lt"/>
                <a:cs typeface="Arial"/>
              </a:rPr>
              <a:t>baseada</a:t>
            </a:r>
            <a:r>
              <a:rPr lang="en-US" sz="2400" dirty="0">
                <a:latin typeface="Arial"/>
                <a:ea typeface="+mn-lt"/>
                <a:cs typeface="Arial"/>
              </a:rPr>
              <a:t> </a:t>
            </a:r>
            <a:r>
              <a:rPr lang="en-US" sz="2400" dirty="0" err="1">
                <a:latin typeface="Arial"/>
                <a:ea typeface="+mn-lt"/>
                <a:cs typeface="Arial"/>
              </a:rPr>
              <a:t>nele</a:t>
            </a:r>
            <a:r>
              <a:rPr lang="en-US" sz="2400" dirty="0">
                <a:latin typeface="Arial"/>
                <a:ea typeface="+mn-lt"/>
                <a:cs typeface="Arial"/>
              </a:rPr>
              <a:t>.</a:t>
            </a:r>
            <a:endParaRPr lang="en-US" sz="2400" dirty="0">
              <a:latin typeface="Arial"/>
              <a:cs typeface="Arial"/>
            </a:endParaRPr>
          </a:p>
          <a:p>
            <a:endParaRPr lang="en-US" sz="2400" dirty="0">
              <a:latin typeface="Arial"/>
              <a:ea typeface="+mn-lt"/>
              <a:cs typeface="Arial"/>
            </a:endParaRPr>
          </a:p>
          <a:p>
            <a:r>
              <a:rPr lang="en-US" sz="2400" b="1" dirty="0" err="1">
                <a:latin typeface="Arial"/>
                <a:ea typeface="+mn-lt"/>
                <a:cs typeface="Arial"/>
              </a:rPr>
              <a:t>Envolvimento</a:t>
            </a:r>
            <a:r>
              <a:rPr lang="en-US" sz="2400" b="1" dirty="0">
                <a:latin typeface="Arial"/>
                <a:ea typeface="+mn-lt"/>
                <a:cs typeface="Arial"/>
              </a:rPr>
              <a:t>:</a:t>
            </a:r>
            <a:r>
              <a:rPr lang="en-US" sz="2400" dirty="0">
                <a:latin typeface="Arial"/>
                <a:ea typeface="+mn-lt"/>
                <a:cs typeface="Arial"/>
              </a:rPr>
              <a:t> No </a:t>
            </a:r>
            <a:r>
              <a:rPr lang="en-US" sz="2400" dirty="0" err="1">
                <a:latin typeface="Arial"/>
                <a:ea typeface="+mn-lt"/>
                <a:cs typeface="Arial"/>
              </a:rPr>
              <a:t>caso</a:t>
            </a:r>
            <a:r>
              <a:rPr lang="en-US" sz="2400" dirty="0">
                <a:latin typeface="Arial"/>
                <a:ea typeface="+mn-lt"/>
                <a:cs typeface="Arial"/>
              </a:rPr>
              <a:t> do Alaska 261: </a:t>
            </a:r>
            <a:r>
              <a:rPr lang="en-US" sz="2400" dirty="0" err="1">
                <a:latin typeface="Arial"/>
                <a:ea typeface="+mn-lt"/>
                <a:cs typeface="Arial"/>
              </a:rPr>
              <a:t>Existiam</a:t>
            </a:r>
            <a:r>
              <a:rPr lang="en-US" sz="2400" dirty="0">
                <a:latin typeface="Arial"/>
                <a:ea typeface="+mn-lt"/>
                <a:cs typeface="Arial"/>
              </a:rPr>
              <a:t> SBs da McDonnell Douglas que </a:t>
            </a:r>
            <a:r>
              <a:rPr lang="en-US" sz="2400" dirty="0" err="1">
                <a:latin typeface="Arial"/>
                <a:ea typeface="+mn-lt"/>
                <a:cs typeface="Arial"/>
              </a:rPr>
              <a:t>tratavam</a:t>
            </a:r>
            <a:r>
              <a:rPr lang="en-US" sz="2400" dirty="0">
                <a:latin typeface="Arial"/>
                <a:ea typeface="+mn-lt"/>
                <a:cs typeface="Arial"/>
              </a:rPr>
              <a:t> de </a:t>
            </a:r>
            <a:r>
              <a:rPr lang="en-US" sz="2400" dirty="0" err="1">
                <a:latin typeface="Arial"/>
                <a:ea typeface="+mn-lt"/>
                <a:cs typeface="Arial"/>
              </a:rPr>
              <a:t>inspeções</a:t>
            </a:r>
            <a:r>
              <a:rPr lang="en-US" sz="2400" dirty="0">
                <a:latin typeface="Arial"/>
                <a:ea typeface="+mn-lt"/>
                <a:cs typeface="Arial"/>
              </a:rPr>
              <a:t> e </a:t>
            </a:r>
            <a:r>
              <a:rPr lang="en-US" sz="2400" dirty="0" err="1">
                <a:latin typeface="Arial"/>
                <a:ea typeface="+mn-lt"/>
                <a:cs typeface="Arial"/>
              </a:rPr>
              <a:t>ajustes</a:t>
            </a:r>
            <a:r>
              <a:rPr lang="en-US" sz="2400" dirty="0">
                <a:latin typeface="Arial"/>
                <a:ea typeface="+mn-lt"/>
                <a:cs typeface="Arial"/>
              </a:rPr>
              <a:t> no jackscrew e no </a:t>
            </a:r>
            <a:r>
              <a:rPr lang="en-US" sz="2400" dirty="0" err="1">
                <a:latin typeface="Arial"/>
                <a:ea typeface="+mn-lt"/>
                <a:cs typeface="Arial"/>
              </a:rPr>
              <a:t>sistema</a:t>
            </a:r>
            <a:r>
              <a:rPr lang="en-US" sz="2400" dirty="0">
                <a:latin typeface="Arial"/>
                <a:ea typeface="+mn-lt"/>
                <a:cs typeface="Arial"/>
              </a:rPr>
              <a:t> de trim. A Alaska </a:t>
            </a:r>
            <a:r>
              <a:rPr lang="en-US" sz="2400" dirty="0" err="1">
                <a:latin typeface="Arial"/>
                <a:ea typeface="+mn-lt"/>
                <a:cs typeface="Arial"/>
              </a:rPr>
              <a:t>não</a:t>
            </a:r>
            <a:r>
              <a:rPr lang="en-US" sz="2400" dirty="0">
                <a:latin typeface="Arial"/>
                <a:ea typeface="+mn-lt"/>
                <a:cs typeface="Arial"/>
              </a:rPr>
              <a:t> </a:t>
            </a:r>
            <a:r>
              <a:rPr lang="en-US" sz="2400" dirty="0" err="1">
                <a:latin typeface="Arial"/>
                <a:ea typeface="+mn-lt"/>
                <a:cs typeface="Arial"/>
              </a:rPr>
              <a:t>implementou</a:t>
            </a:r>
            <a:r>
              <a:rPr lang="en-US" sz="2400" dirty="0">
                <a:latin typeface="Arial"/>
                <a:ea typeface="+mn-lt"/>
                <a:cs typeface="Arial"/>
              </a:rPr>
              <a:t> </a:t>
            </a:r>
            <a:r>
              <a:rPr lang="en-US" sz="2400" dirty="0" err="1">
                <a:latin typeface="Arial"/>
                <a:ea typeface="+mn-lt"/>
                <a:cs typeface="Arial"/>
              </a:rPr>
              <a:t>todos</a:t>
            </a:r>
            <a:r>
              <a:rPr lang="en-US" sz="2400" dirty="0">
                <a:latin typeface="Arial"/>
                <a:ea typeface="+mn-lt"/>
                <a:cs typeface="Arial"/>
              </a:rPr>
              <a:t>, o que </a:t>
            </a:r>
            <a:r>
              <a:rPr lang="en-US" sz="2400" dirty="0" err="1">
                <a:latin typeface="Arial"/>
                <a:ea typeface="+mn-lt"/>
                <a:cs typeface="Arial"/>
              </a:rPr>
              <a:t>deixou</a:t>
            </a:r>
            <a:r>
              <a:rPr lang="en-US" sz="2400" dirty="0">
                <a:latin typeface="Arial"/>
                <a:ea typeface="+mn-lt"/>
                <a:cs typeface="Arial"/>
              </a:rPr>
              <a:t> de </a:t>
            </a:r>
            <a:r>
              <a:rPr lang="en-US" sz="2400" dirty="0" err="1">
                <a:latin typeface="Arial"/>
                <a:ea typeface="+mn-lt"/>
                <a:cs typeface="Arial"/>
              </a:rPr>
              <a:t>mitigar</a:t>
            </a:r>
            <a:r>
              <a:rPr lang="en-US" sz="2400" dirty="0">
                <a:latin typeface="Arial"/>
                <a:ea typeface="+mn-lt"/>
                <a:cs typeface="Arial"/>
              </a:rPr>
              <a:t> </a:t>
            </a:r>
            <a:r>
              <a:rPr lang="en-US" sz="2400" dirty="0" err="1">
                <a:latin typeface="Arial"/>
                <a:ea typeface="+mn-lt"/>
                <a:cs typeface="Arial"/>
              </a:rPr>
              <a:t>riscos</a:t>
            </a:r>
            <a:r>
              <a:rPr lang="en-US" sz="2400" dirty="0">
                <a:latin typeface="Arial"/>
                <a:ea typeface="+mn-lt"/>
                <a:cs typeface="Arial"/>
              </a:rPr>
              <a:t>.</a:t>
            </a:r>
          </a:p>
          <a:p>
            <a:endParaRPr lang="en-US" sz="2400" dirty="0">
              <a:latin typeface="Arial"/>
              <a:cs typeface="Arial"/>
            </a:endParaRPr>
          </a:p>
        </p:txBody>
      </p:sp>
    </p:spTree>
    <p:extLst>
      <p:ext uri="{BB962C8B-B14F-4D97-AF65-F5344CB8AC3E}">
        <p14:creationId xmlns:p14="http://schemas.microsoft.com/office/powerpoint/2010/main" val="4032398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DFE02-2A74-03D7-DFAC-FBE8D61C715C}"/>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F0B08BA7-6DE1-EDDA-49D7-17A6EA641D21}"/>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68BDEDA9-AB16-97AC-1039-1E74DBC0216E}"/>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err="1">
                <a:ln>
                  <a:noFill/>
                </a:ln>
                <a:solidFill>
                  <a:srgbClr val="0070C0"/>
                </a:solidFill>
                <a:effectLst/>
                <a:uLnTx/>
                <a:uFillTx/>
                <a:latin typeface="Arial" panose="020B0604020202020204" pitchFamily="34" charset="0"/>
                <a:ea typeface="+mn-ea"/>
                <a:cs typeface="Arial" panose="020B0604020202020204" pitchFamily="34" charset="0"/>
                <a:sym typeface="Helvetica Neue"/>
              </a:rPr>
              <a:t>Capítulo</a:t>
            </a:r>
            <a:r>
              <a:rPr kumimoji="0" lang="en-US"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rPr>
              <a:t> 1</a:t>
            </a:r>
            <a:endParaRPr kumimoji="0" lang="pt-BR"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306364F4-AF3D-9F7B-FA55-9470BB64D00D}"/>
              </a:ext>
            </a:extLst>
          </p:cNvPr>
          <p:cNvSpPr txBox="1"/>
          <p:nvPr/>
        </p:nvSpPr>
        <p:spPr>
          <a:xfrm>
            <a:off x="204278" y="564779"/>
            <a:ext cx="3407536" cy="307777"/>
          </a:xfrm>
          <a:prstGeom prst="rect">
            <a:avLst/>
          </a:prstGeom>
          <a:noFill/>
        </p:spPr>
        <p:txBody>
          <a:bodyPr wrap="none" lIns="91440" tIns="45720" rIns="91440" bIns="45720" rtlCol="0" anchor="t">
            <a:spAutoFit/>
          </a:bodyPr>
          <a:lstStyle/>
          <a:p>
            <a:r>
              <a:rPr lang="pt-BR" sz="1400" u="sng">
                <a:solidFill>
                  <a:srgbClr val="0070C0"/>
                </a:solidFill>
                <a:latin typeface="Arial"/>
                <a:cs typeface="Arial"/>
              </a:rPr>
              <a:t>Slide 1.11 - </a:t>
            </a:r>
            <a:r>
              <a:rPr lang="pt-BR" sz="1400" u="sng" err="1">
                <a:solidFill>
                  <a:srgbClr val="0070C0"/>
                </a:solidFill>
                <a:latin typeface="Arial"/>
                <a:cs typeface="Arial"/>
              </a:rPr>
              <a:t>Airworthiness</a:t>
            </a:r>
            <a:r>
              <a:rPr lang="pt-BR" sz="1400" u="sng">
                <a:solidFill>
                  <a:srgbClr val="0070C0"/>
                </a:solidFill>
                <a:latin typeface="Arial"/>
                <a:cs typeface="Arial"/>
              </a:rPr>
              <a:t> </a:t>
            </a:r>
            <a:r>
              <a:rPr lang="pt-BR" sz="1400" u="sng" err="1">
                <a:solidFill>
                  <a:srgbClr val="0070C0"/>
                </a:solidFill>
                <a:latin typeface="Arial"/>
                <a:cs typeface="Arial"/>
              </a:rPr>
              <a:t>Directive</a:t>
            </a:r>
            <a:r>
              <a:rPr lang="pt-BR" sz="1400" u="sng">
                <a:solidFill>
                  <a:srgbClr val="0070C0"/>
                </a:solidFill>
                <a:latin typeface="Arial"/>
                <a:cs typeface="Arial"/>
              </a:rPr>
              <a:t> (AD) </a:t>
            </a:r>
            <a:endParaRPr lang="pt-BR" sz="1400" u="sng">
              <a:solidFill>
                <a:srgbClr val="0070C0"/>
              </a:solidFill>
              <a:latin typeface="Arial" panose="020B0604020202020204" pitchFamily="34" charset="0"/>
              <a:cs typeface="Arial" panose="020B0604020202020204" pitchFamily="34" charset="0"/>
            </a:endParaRPr>
          </a:p>
        </p:txBody>
      </p:sp>
      <p:sp>
        <p:nvSpPr>
          <p:cNvPr id="8" name="CaixaDeTexto 7">
            <a:extLst>
              <a:ext uri="{FF2B5EF4-FFF2-40B4-BE49-F238E27FC236}">
                <a16:creationId xmlns:a16="http://schemas.microsoft.com/office/drawing/2014/main" id="{5070F144-79CB-E353-9C5D-362DB7320F3E}"/>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algn="ctr">
              <a:defRPr/>
            </a:pPr>
            <a:r>
              <a:rPr lang="pt-BR" u="sng" dirty="0">
                <a:solidFill>
                  <a:srgbClr val="0070C0"/>
                </a:solidFill>
                <a:latin typeface="Aptos" panose="02110004020202020204"/>
              </a:rPr>
              <a:t>Resp.: Willian Henrique</a:t>
            </a:r>
            <a:endParaRPr lang="pt-BR" dirty="0"/>
          </a:p>
        </p:txBody>
      </p:sp>
      <p:sp>
        <p:nvSpPr>
          <p:cNvPr id="9" name="CaixaDeTexto 8">
            <a:extLst>
              <a:ext uri="{FF2B5EF4-FFF2-40B4-BE49-F238E27FC236}">
                <a16:creationId xmlns:a16="http://schemas.microsoft.com/office/drawing/2014/main" id="{F61AA1A3-CE6E-B848-B99E-74360331CA56}"/>
              </a:ext>
            </a:extLst>
          </p:cNvPr>
          <p:cNvSpPr txBox="1"/>
          <p:nvPr/>
        </p:nvSpPr>
        <p:spPr>
          <a:xfrm>
            <a:off x="1608667" y="-18398"/>
            <a:ext cx="8669433" cy="738664"/>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a:ln>
                  <a:noFill/>
                </a:ln>
                <a:solidFill>
                  <a:schemeClr val="accent4">
                    <a:lumMod val="76000"/>
                  </a:schemeClr>
                </a:solidFill>
                <a:effectLst/>
                <a:uLnTx/>
                <a:uFillTx/>
                <a:latin typeface="Arial"/>
                <a:cs typeface="Arial"/>
              </a:rPr>
              <a:t>Publicações Técnicas: Discorra sobre as publicações de manutenção que foram consideradas na análise do acidente.</a:t>
            </a:r>
            <a:endParaRPr lang="pt-BR" sz="1400" b="0" i="0" u="none" strike="noStrike" kern="1200" cap="none" spc="0" normalizeH="0" baseline="0" noProof="0">
              <a:ln>
                <a:noFill/>
              </a:ln>
              <a:solidFill>
                <a:schemeClr val="accent4">
                  <a:lumMod val="76000"/>
                </a:schemeClr>
              </a:solidFill>
              <a:effectLst/>
              <a:uLnTx/>
              <a:uFillTx/>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B18FB2A0-17E7-2D2B-E9F8-978FF3535AF2}"/>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7" name="TextBox 6">
            <a:extLst>
              <a:ext uri="{FF2B5EF4-FFF2-40B4-BE49-F238E27FC236}">
                <a16:creationId xmlns:a16="http://schemas.microsoft.com/office/drawing/2014/main" id="{EACB3C64-BCDC-26E1-89BB-655B2320DCF9}"/>
              </a:ext>
            </a:extLst>
          </p:cNvPr>
          <p:cNvSpPr txBox="1"/>
          <p:nvPr/>
        </p:nvSpPr>
        <p:spPr>
          <a:xfrm>
            <a:off x="3818156" y="1694709"/>
            <a:ext cx="392214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ea typeface="+mn-lt"/>
                <a:cs typeface="+mn-lt"/>
              </a:rPr>
              <a:t>         </a:t>
            </a:r>
            <a:r>
              <a:rPr lang="en-US">
                <a:latin typeface="Aptos"/>
                <a:ea typeface="+mn-lt"/>
                <a:cs typeface="+mn-lt"/>
              </a:rPr>
              <a:t>   </a:t>
            </a:r>
            <a:endParaRPr lang="en-US"/>
          </a:p>
        </p:txBody>
      </p:sp>
      <p:sp>
        <p:nvSpPr>
          <p:cNvPr id="4" name="CaixaDeTexto 3">
            <a:extLst>
              <a:ext uri="{FF2B5EF4-FFF2-40B4-BE49-F238E27FC236}">
                <a16:creationId xmlns:a16="http://schemas.microsoft.com/office/drawing/2014/main" id="{CF9BBFBF-24C8-16CF-8A5C-19ED03834DD2}"/>
              </a:ext>
            </a:extLst>
          </p:cNvPr>
          <p:cNvSpPr txBox="1"/>
          <p:nvPr/>
        </p:nvSpPr>
        <p:spPr>
          <a:xfrm>
            <a:off x="290247" y="1693132"/>
            <a:ext cx="10980597"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Arial"/>
                <a:ea typeface="+mn-lt"/>
                <a:cs typeface="Arial"/>
              </a:rPr>
              <a:t> </a:t>
            </a:r>
            <a:r>
              <a:rPr lang="en-US" sz="2400" b="1" dirty="0" err="1">
                <a:latin typeface="Arial"/>
                <a:ea typeface="+mn-lt"/>
                <a:cs typeface="Arial"/>
              </a:rPr>
              <a:t>Finalidade</a:t>
            </a:r>
            <a:r>
              <a:rPr lang="en-US" sz="2400" b="1" dirty="0">
                <a:latin typeface="Arial"/>
                <a:ea typeface="+mn-lt"/>
                <a:cs typeface="Arial"/>
              </a:rPr>
              <a:t>:</a:t>
            </a:r>
            <a:r>
              <a:rPr lang="en-US" sz="2400" dirty="0">
                <a:latin typeface="Arial"/>
                <a:ea typeface="+mn-lt"/>
                <a:cs typeface="Arial"/>
              </a:rPr>
              <a:t> </a:t>
            </a:r>
            <a:r>
              <a:rPr lang="en-US" sz="2400" dirty="0" err="1">
                <a:latin typeface="Arial"/>
                <a:ea typeface="+mn-lt"/>
                <a:cs typeface="Arial"/>
              </a:rPr>
              <a:t>Garantir</a:t>
            </a:r>
            <a:r>
              <a:rPr lang="en-US" sz="2400" dirty="0">
                <a:latin typeface="Arial"/>
                <a:ea typeface="+mn-lt"/>
                <a:cs typeface="Arial"/>
              </a:rPr>
              <a:t> a </a:t>
            </a:r>
            <a:r>
              <a:rPr lang="en-US" sz="2400" dirty="0" err="1">
                <a:latin typeface="Arial"/>
                <a:ea typeface="+mn-lt"/>
                <a:cs typeface="Arial"/>
              </a:rPr>
              <a:t>aeronavegabilidade</a:t>
            </a:r>
            <a:r>
              <a:rPr lang="en-US" sz="2400" dirty="0">
                <a:latin typeface="Arial"/>
                <a:ea typeface="+mn-lt"/>
                <a:cs typeface="Arial"/>
              </a:rPr>
              <a:t> </a:t>
            </a:r>
            <a:r>
              <a:rPr lang="en-US" sz="2400" dirty="0" err="1">
                <a:latin typeface="Arial"/>
                <a:ea typeface="+mn-lt"/>
                <a:cs typeface="Arial"/>
              </a:rPr>
              <a:t>por</a:t>
            </a:r>
            <a:r>
              <a:rPr lang="en-US" sz="2400" dirty="0">
                <a:latin typeface="Arial"/>
                <a:ea typeface="+mn-lt"/>
                <a:cs typeface="Arial"/>
              </a:rPr>
              <a:t> </a:t>
            </a:r>
            <a:r>
              <a:rPr lang="en-US" sz="2400" dirty="0" err="1">
                <a:latin typeface="Arial"/>
                <a:ea typeface="+mn-lt"/>
                <a:cs typeface="Arial"/>
              </a:rPr>
              <a:t>meio</a:t>
            </a:r>
            <a:r>
              <a:rPr lang="en-US" sz="2400" dirty="0">
                <a:latin typeface="Arial"/>
                <a:ea typeface="+mn-lt"/>
                <a:cs typeface="Arial"/>
              </a:rPr>
              <a:t> de </a:t>
            </a:r>
            <a:r>
              <a:rPr lang="en-US" sz="2400" dirty="0" err="1">
                <a:latin typeface="Arial"/>
                <a:ea typeface="+mn-lt"/>
                <a:cs typeface="Arial"/>
              </a:rPr>
              <a:t>exigências</a:t>
            </a:r>
            <a:r>
              <a:rPr lang="en-US" sz="2400" dirty="0">
                <a:latin typeface="Arial"/>
                <a:ea typeface="+mn-lt"/>
                <a:cs typeface="Arial"/>
              </a:rPr>
              <a:t> </a:t>
            </a:r>
            <a:r>
              <a:rPr lang="en-US" sz="2400" dirty="0" err="1">
                <a:latin typeface="Arial"/>
                <a:ea typeface="+mn-lt"/>
                <a:cs typeface="Arial"/>
              </a:rPr>
              <a:t>obrigatórias</a:t>
            </a:r>
            <a:r>
              <a:rPr lang="en-US" sz="2400" dirty="0">
                <a:latin typeface="Arial"/>
                <a:ea typeface="+mn-lt"/>
                <a:cs typeface="Arial"/>
              </a:rPr>
              <a:t> de </a:t>
            </a:r>
            <a:r>
              <a:rPr lang="en-US" sz="2400" dirty="0" err="1">
                <a:latin typeface="Arial"/>
                <a:ea typeface="+mn-lt"/>
                <a:cs typeface="Arial"/>
              </a:rPr>
              <a:t>inspeção</a:t>
            </a:r>
            <a:r>
              <a:rPr lang="en-US" sz="2400" dirty="0">
                <a:latin typeface="Arial"/>
                <a:ea typeface="+mn-lt"/>
                <a:cs typeface="Arial"/>
              </a:rPr>
              <a:t>, </a:t>
            </a:r>
            <a:r>
              <a:rPr lang="en-US" sz="2400" dirty="0" err="1">
                <a:latin typeface="Arial"/>
                <a:ea typeface="+mn-lt"/>
                <a:cs typeface="Arial"/>
              </a:rPr>
              <a:t>reparo</a:t>
            </a:r>
            <a:r>
              <a:rPr lang="en-US" sz="2400" dirty="0">
                <a:latin typeface="Arial"/>
                <a:ea typeface="+mn-lt"/>
                <a:cs typeface="Arial"/>
              </a:rPr>
              <a:t> </a:t>
            </a:r>
            <a:r>
              <a:rPr lang="en-US" sz="2400" dirty="0" err="1">
                <a:latin typeface="Arial"/>
                <a:ea typeface="+mn-lt"/>
                <a:cs typeface="Arial"/>
              </a:rPr>
              <a:t>ou</a:t>
            </a:r>
            <a:r>
              <a:rPr lang="en-US" sz="2400" dirty="0">
                <a:latin typeface="Arial"/>
                <a:ea typeface="+mn-lt"/>
                <a:cs typeface="Arial"/>
              </a:rPr>
              <a:t> </a:t>
            </a:r>
            <a:r>
              <a:rPr lang="en-US" sz="2400" dirty="0" err="1">
                <a:latin typeface="Arial"/>
                <a:ea typeface="+mn-lt"/>
                <a:cs typeface="Arial"/>
              </a:rPr>
              <a:t>modificação</a:t>
            </a:r>
            <a:r>
              <a:rPr lang="en-US" sz="2400" dirty="0">
                <a:latin typeface="Arial"/>
                <a:ea typeface="+mn-lt"/>
                <a:cs typeface="Arial"/>
              </a:rPr>
              <a:t>.</a:t>
            </a:r>
            <a:endParaRPr lang="pt-BR" sz="2400" dirty="0">
              <a:latin typeface="Arial"/>
              <a:ea typeface="+mn-lt"/>
              <a:cs typeface="Arial"/>
            </a:endParaRPr>
          </a:p>
          <a:p>
            <a:br>
              <a:rPr lang="en-US" sz="2400" dirty="0">
                <a:latin typeface="Arial"/>
                <a:ea typeface="+mn-lt"/>
                <a:cs typeface="Arial"/>
              </a:rPr>
            </a:br>
            <a:r>
              <a:rPr lang="en-US" sz="2400" dirty="0">
                <a:latin typeface="Arial"/>
                <a:ea typeface="+mn-lt"/>
                <a:cs typeface="Arial"/>
              </a:rPr>
              <a:t> </a:t>
            </a:r>
            <a:r>
              <a:rPr lang="en-US" sz="2400" b="1" dirty="0" err="1">
                <a:latin typeface="Arial"/>
                <a:ea typeface="+mn-lt"/>
                <a:cs typeface="Arial"/>
              </a:rPr>
              <a:t>Descrição</a:t>
            </a:r>
            <a:r>
              <a:rPr lang="en-US" sz="2400" b="1" dirty="0">
                <a:latin typeface="Arial"/>
                <a:ea typeface="+mn-lt"/>
                <a:cs typeface="Arial"/>
              </a:rPr>
              <a:t>:</a:t>
            </a:r>
            <a:r>
              <a:rPr lang="en-US" sz="2400" dirty="0">
                <a:latin typeface="Arial"/>
                <a:ea typeface="+mn-lt"/>
                <a:cs typeface="Arial"/>
              </a:rPr>
              <a:t> </a:t>
            </a:r>
            <a:r>
              <a:rPr lang="en-US" sz="2400" dirty="0" err="1">
                <a:latin typeface="Arial"/>
                <a:ea typeface="+mn-lt"/>
                <a:cs typeface="Arial"/>
              </a:rPr>
              <a:t>Emitida</a:t>
            </a:r>
            <a:r>
              <a:rPr lang="en-US" sz="2400" dirty="0">
                <a:latin typeface="Arial"/>
                <a:ea typeface="+mn-lt"/>
                <a:cs typeface="Arial"/>
              </a:rPr>
              <a:t> pela </a:t>
            </a:r>
            <a:r>
              <a:rPr lang="en-US" sz="2400" dirty="0" err="1">
                <a:latin typeface="Arial"/>
                <a:ea typeface="+mn-lt"/>
                <a:cs typeface="Arial"/>
              </a:rPr>
              <a:t>autoridade</a:t>
            </a:r>
            <a:r>
              <a:rPr lang="en-US" sz="2400" dirty="0">
                <a:latin typeface="Arial"/>
                <a:ea typeface="+mn-lt"/>
                <a:cs typeface="Arial"/>
              </a:rPr>
              <a:t> </a:t>
            </a:r>
            <a:r>
              <a:rPr lang="en-US" sz="2400" dirty="0" err="1">
                <a:latin typeface="Arial"/>
                <a:ea typeface="+mn-lt"/>
                <a:cs typeface="Arial"/>
              </a:rPr>
              <a:t>aeronáutica</a:t>
            </a:r>
            <a:r>
              <a:rPr lang="en-US" sz="2400" dirty="0">
                <a:latin typeface="Arial"/>
                <a:ea typeface="+mn-lt"/>
                <a:cs typeface="Arial"/>
              </a:rPr>
              <a:t> (</a:t>
            </a:r>
            <a:r>
              <a:rPr lang="en-US" sz="2400" dirty="0" err="1">
                <a:latin typeface="Arial"/>
                <a:ea typeface="+mn-lt"/>
                <a:cs typeface="Arial"/>
              </a:rPr>
              <a:t>como</a:t>
            </a:r>
            <a:r>
              <a:rPr lang="en-US" sz="2400" dirty="0">
                <a:latin typeface="Arial"/>
                <a:ea typeface="+mn-lt"/>
                <a:cs typeface="Arial"/>
              </a:rPr>
              <a:t> a FAA, ANAC e EASA). Surge </a:t>
            </a:r>
            <a:r>
              <a:rPr lang="en-US" sz="2400" dirty="0" err="1">
                <a:latin typeface="Arial"/>
                <a:ea typeface="+mn-lt"/>
                <a:cs typeface="Arial"/>
              </a:rPr>
              <a:t>geralmente</a:t>
            </a:r>
            <a:r>
              <a:rPr lang="en-US" sz="2400" dirty="0">
                <a:latin typeface="Arial"/>
                <a:ea typeface="+mn-lt"/>
                <a:cs typeface="Arial"/>
              </a:rPr>
              <a:t> </a:t>
            </a:r>
            <a:r>
              <a:rPr lang="en-US" sz="2400" dirty="0" err="1">
                <a:latin typeface="Arial"/>
                <a:ea typeface="+mn-lt"/>
                <a:cs typeface="Arial"/>
              </a:rPr>
              <a:t>após</a:t>
            </a:r>
            <a:r>
              <a:rPr lang="en-US" sz="2400" dirty="0">
                <a:latin typeface="Arial"/>
                <a:ea typeface="+mn-lt"/>
                <a:cs typeface="Arial"/>
              </a:rPr>
              <a:t> </a:t>
            </a:r>
            <a:r>
              <a:rPr lang="en-US" sz="2400" dirty="0" err="1">
                <a:latin typeface="Arial"/>
                <a:ea typeface="+mn-lt"/>
                <a:cs typeface="Arial"/>
              </a:rPr>
              <a:t>falhas</a:t>
            </a:r>
            <a:r>
              <a:rPr lang="en-US" sz="2400" dirty="0">
                <a:latin typeface="Arial"/>
                <a:ea typeface="+mn-lt"/>
                <a:cs typeface="Arial"/>
              </a:rPr>
              <a:t> </a:t>
            </a:r>
            <a:r>
              <a:rPr lang="en-US" sz="2400" dirty="0" err="1">
                <a:latin typeface="Arial"/>
                <a:ea typeface="+mn-lt"/>
                <a:cs typeface="Arial"/>
              </a:rPr>
              <a:t>em</a:t>
            </a:r>
            <a:r>
              <a:rPr lang="en-US" sz="2400" dirty="0">
                <a:latin typeface="Arial"/>
                <a:ea typeface="+mn-lt"/>
                <a:cs typeface="Arial"/>
              </a:rPr>
              <a:t> </a:t>
            </a:r>
            <a:r>
              <a:rPr lang="en-US" sz="2400" dirty="0" err="1">
                <a:latin typeface="Arial"/>
                <a:ea typeface="+mn-lt"/>
                <a:cs typeface="Arial"/>
              </a:rPr>
              <a:t>serviço</a:t>
            </a:r>
            <a:r>
              <a:rPr lang="en-US" sz="2400" dirty="0">
                <a:latin typeface="Arial"/>
                <a:ea typeface="+mn-lt"/>
                <a:cs typeface="Arial"/>
              </a:rPr>
              <a:t>, </a:t>
            </a:r>
            <a:r>
              <a:rPr lang="en-US" sz="2400" dirty="0" err="1">
                <a:latin typeface="Arial"/>
                <a:ea typeface="+mn-lt"/>
                <a:cs typeface="Arial"/>
              </a:rPr>
              <a:t>incidentes</a:t>
            </a:r>
            <a:r>
              <a:rPr lang="en-US" sz="2400" dirty="0">
                <a:latin typeface="Arial"/>
                <a:ea typeface="+mn-lt"/>
                <a:cs typeface="Arial"/>
              </a:rPr>
              <a:t> </a:t>
            </a:r>
            <a:r>
              <a:rPr lang="en-US" sz="2400" dirty="0" err="1">
                <a:latin typeface="Arial"/>
                <a:ea typeface="+mn-lt"/>
                <a:cs typeface="Arial"/>
              </a:rPr>
              <a:t>ou</a:t>
            </a:r>
            <a:r>
              <a:rPr lang="en-US" sz="2400" dirty="0">
                <a:latin typeface="Arial"/>
                <a:ea typeface="+mn-lt"/>
                <a:cs typeface="Arial"/>
              </a:rPr>
              <a:t> </a:t>
            </a:r>
            <a:r>
              <a:rPr lang="en-US" sz="2400" dirty="0" err="1">
                <a:latin typeface="Arial"/>
                <a:ea typeface="+mn-lt"/>
                <a:cs typeface="Arial"/>
              </a:rPr>
              <a:t>acidentes</a:t>
            </a:r>
            <a:r>
              <a:rPr lang="en-US" sz="2400" dirty="0">
                <a:latin typeface="Arial"/>
                <a:ea typeface="+mn-lt"/>
                <a:cs typeface="Arial"/>
              </a:rPr>
              <a:t>, e </a:t>
            </a:r>
            <a:r>
              <a:rPr lang="en-US" sz="2400" dirty="0" err="1">
                <a:latin typeface="Arial"/>
                <a:ea typeface="+mn-lt"/>
                <a:cs typeface="Arial"/>
              </a:rPr>
              <a:t>deve</a:t>
            </a:r>
            <a:r>
              <a:rPr lang="en-US" sz="2400" dirty="0">
                <a:latin typeface="Arial"/>
                <a:ea typeface="+mn-lt"/>
                <a:cs typeface="Arial"/>
              </a:rPr>
              <a:t> ser </a:t>
            </a:r>
            <a:r>
              <a:rPr lang="en-US" sz="2400" dirty="0" err="1">
                <a:latin typeface="Arial"/>
                <a:ea typeface="+mn-lt"/>
                <a:cs typeface="Arial"/>
              </a:rPr>
              <a:t>cumprida</a:t>
            </a:r>
            <a:r>
              <a:rPr lang="en-US" sz="2400" dirty="0">
                <a:latin typeface="Arial"/>
                <a:ea typeface="+mn-lt"/>
                <a:cs typeface="Arial"/>
              </a:rPr>
              <a:t> </a:t>
            </a:r>
            <a:r>
              <a:rPr lang="en-US" sz="2400" dirty="0" err="1">
                <a:latin typeface="Arial"/>
                <a:ea typeface="+mn-lt"/>
                <a:cs typeface="Arial"/>
              </a:rPr>
              <a:t>em</a:t>
            </a:r>
            <a:r>
              <a:rPr lang="en-US" sz="2400" dirty="0">
                <a:latin typeface="Arial"/>
                <a:ea typeface="+mn-lt"/>
                <a:cs typeface="Arial"/>
              </a:rPr>
              <a:t> </a:t>
            </a:r>
            <a:r>
              <a:rPr lang="en-US" sz="2400" dirty="0" err="1">
                <a:latin typeface="Arial"/>
                <a:ea typeface="+mn-lt"/>
                <a:cs typeface="Arial"/>
              </a:rPr>
              <a:t>prazos</a:t>
            </a:r>
            <a:r>
              <a:rPr lang="en-US" sz="2400" dirty="0">
                <a:latin typeface="Arial"/>
                <a:ea typeface="+mn-lt"/>
                <a:cs typeface="Arial"/>
              </a:rPr>
              <a:t> </a:t>
            </a:r>
            <a:r>
              <a:rPr lang="en-US" sz="2400" dirty="0" err="1">
                <a:latin typeface="Arial"/>
                <a:ea typeface="+mn-lt"/>
                <a:cs typeface="Arial"/>
              </a:rPr>
              <a:t>definidos</a:t>
            </a:r>
            <a:r>
              <a:rPr lang="en-US" sz="2400" dirty="0">
                <a:latin typeface="Arial"/>
                <a:ea typeface="+mn-lt"/>
                <a:cs typeface="Arial"/>
              </a:rPr>
              <a:t>.</a:t>
            </a:r>
            <a:endParaRPr lang="pt-BR" sz="2400" dirty="0">
              <a:latin typeface="Arial"/>
              <a:ea typeface="+mn-lt"/>
              <a:cs typeface="Arial"/>
            </a:endParaRPr>
          </a:p>
          <a:p>
            <a:br>
              <a:rPr lang="en-US" sz="2400" dirty="0">
                <a:latin typeface="Arial"/>
                <a:ea typeface="+mn-lt"/>
                <a:cs typeface="Arial"/>
              </a:rPr>
            </a:br>
            <a:r>
              <a:rPr lang="en-US" sz="2400" dirty="0">
                <a:latin typeface="Arial"/>
                <a:ea typeface="+mn-lt"/>
                <a:cs typeface="Arial"/>
              </a:rPr>
              <a:t> </a:t>
            </a:r>
            <a:r>
              <a:rPr lang="en-US" sz="2400" b="1" dirty="0" err="1">
                <a:latin typeface="Arial"/>
                <a:ea typeface="+mn-lt"/>
                <a:cs typeface="Arial"/>
              </a:rPr>
              <a:t>Envolvimento</a:t>
            </a:r>
            <a:r>
              <a:rPr lang="en-US" sz="2400" b="1" dirty="0">
                <a:latin typeface="Arial"/>
                <a:ea typeface="+mn-lt"/>
                <a:cs typeface="Arial"/>
              </a:rPr>
              <a:t>:</a:t>
            </a:r>
            <a:r>
              <a:rPr lang="en-US" sz="2400" dirty="0">
                <a:latin typeface="Arial"/>
                <a:ea typeface="+mn-lt"/>
                <a:cs typeface="Arial"/>
              </a:rPr>
              <a:t> Havia ADs que </a:t>
            </a:r>
            <a:r>
              <a:rPr lang="en-US" sz="2400" dirty="0" err="1">
                <a:latin typeface="Arial"/>
                <a:ea typeface="+mn-lt"/>
                <a:cs typeface="Arial"/>
              </a:rPr>
              <a:t>envolviam</a:t>
            </a:r>
            <a:r>
              <a:rPr lang="en-US" sz="2400" dirty="0">
                <a:latin typeface="Arial"/>
                <a:ea typeface="+mn-lt"/>
                <a:cs typeface="Arial"/>
              </a:rPr>
              <a:t> </a:t>
            </a:r>
            <a:r>
              <a:rPr lang="en-US" sz="2400" dirty="0" err="1">
                <a:latin typeface="Arial"/>
                <a:ea typeface="+mn-lt"/>
                <a:cs typeface="Arial"/>
              </a:rPr>
              <a:t>inspeções</a:t>
            </a:r>
            <a:r>
              <a:rPr lang="en-US" sz="2400" dirty="0">
                <a:latin typeface="Arial"/>
                <a:ea typeface="+mn-lt"/>
                <a:cs typeface="Arial"/>
              </a:rPr>
              <a:t> no </a:t>
            </a:r>
            <a:r>
              <a:rPr lang="en-US" sz="2400" dirty="0" err="1">
                <a:latin typeface="Arial"/>
                <a:ea typeface="+mn-lt"/>
                <a:cs typeface="Arial"/>
              </a:rPr>
              <a:t>sistema</a:t>
            </a:r>
            <a:r>
              <a:rPr lang="en-US" sz="2400" dirty="0">
                <a:latin typeface="Arial"/>
                <a:ea typeface="+mn-lt"/>
                <a:cs typeface="Arial"/>
              </a:rPr>
              <a:t> do </a:t>
            </a:r>
            <a:r>
              <a:rPr lang="en-US" sz="2400" dirty="0" err="1">
                <a:latin typeface="Arial"/>
                <a:ea typeface="+mn-lt"/>
                <a:cs typeface="Arial"/>
              </a:rPr>
              <a:t>estabilizador</a:t>
            </a:r>
            <a:r>
              <a:rPr lang="en-US" sz="2400" dirty="0">
                <a:latin typeface="Arial"/>
                <a:ea typeface="+mn-lt"/>
                <a:cs typeface="Arial"/>
              </a:rPr>
              <a:t> horizontal. A Alaska Airlines </a:t>
            </a:r>
            <a:r>
              <a:rPr lang="en-US" sz="2400" dirty="0" err="1">
                <a:latin typeface="Arial"/>
                <a:ea typeface="+mn-lt"/>
                <a:cs typeface="Arial"/>
              </a:rPr>
              <a:t>não</a:t>
            </a:r>
            <a:r>
              <a:rPr lang="en-US" sz="2400" dirty="0">
                <a:latin typeface="Arial"/>
                <a:ea typeface="+mn-lt"/>
                <a:cs typeface="Arial"/>
              </a:rPr>
              <a:t> </a:t>
            </a:r>
            <a:r>
              <a:rPr lang="en-US" sz="2400" dirty="0" err="1">
                <a:latin typeface="Arial"/>
                <a:ea typeface="+mn-lt"/>
                <a:cs typeface="Arial"/>
              </a:rPr>
              <a:t>demonstrou</a:t>
            </a:r>
            <a:r>
              <a:rPr lang="en-US" sz="2400" dirty="0">
                <a:latin typeface="Arial"/>
                <a:ea typeface="+mn-lt"/>
                <a:cs typeface="Arial"/>
              </a:rPr>
              <a:t> </a:t>
            </a:r>
            <a:r>
              <a:rPr lang="en-US" sz="2400" dirty="0" err="1">
                <a:latin typeface="Arial"/>
                <a:ea typeface="+mn-lt"/>
                <a:cs typeface="Arial"/>
              </a:rPr>
              <a:t>conformidade</a:t>
            </a:r>
            <a:r>
              <a:rPr lang="en-US" sz="2400" dirty="0">
                <a:latin typeface="Arial"/>
                <a:ea typeface="+mn-lt"/>
                <a:cs typeface="Arial"/>
              </a:rPr>
              <a:t> plena, e a </a:t>
            </a:r>
            <a:r>
              <a:rPr lang="en-US" sz="2400" dirty="0" err="1">
                <a:latin typeface="Arial"/>
                <a:ea typeface="+mn-lt"/>
                <a:cs typeface="Arial"/>
              </a:rPr>
              <a:t>fiscalização</a:t>
            </a:r>
            <a:r>
              <a:rPr lang="en-US" sz="2400" dirty="0">
                <a:latin typeface="Arial"/>
                <a:ea typeface="+mn-lt"/>
                <a:cs typeface="Arial"/>
              </a:rPr>
              <a:t> da FAA </a:t>
            </a:r>
            <a:r>
              <a:rPr lang="en-US" sz="2400" dirty="0" err="1">
                <a:latin typeface="Arial"/>
                <a:ea typeface="+mn-lt"/>
                <a:cs typeface="Arial"/>
              </a:rPr>
              <a:t>também</a:t>
            </a:r>
            <a:r>
              <a:rPr lang="en-US" sz="2400" dirty="0">
                <a:latin typeface="Arial"/>
                <a:ea typeface="+mn-lt"/>
                <a:cs typeface="Arial"/>
              </a:rPr>
              <a:t> </a:t>
            </a:r>
            <a:r>
              <a:rPr lang="en-US" sz="2400" dirty="0" err="1">
                <a:latin typeface="Arial"/>
                <a:ea typeface="+mn-lt"/>
                <a:cs typeface="Arial"/>
              </a:rPr>
              <a:t>foi</a:t>
            </a:r>
            <a:r>
              <a:rPr lang="en-US" sz="2400" dirty="0">
                <a:latin typeface="Arial"/>
                <a:ea typeface="+mn-lt"/>
                <a:cs typeface="Arial"/>
              </a:rPr>
              <a:t> </a:t>
            </a:r>
            <a:r>
              <a:rPr lang="en-US" sz="2400" dirty="0" err="1">
                <a:latin typeface="Arial"/>
                <a:ea typeface="+mn-lt"/>
                <a:cs typeface="Arial"/>
              </a:rPr>
              <a:t>insuficiente</a:t>
            </a:r>
            <a:r>
              <a:rPr lang="en-US" sz="2400" dirty="0">
                <a:latin typeface="Arial"/>
                <a:ea typeface="+mn-lt"/>
                <a:cs typeface="Arial"/>
              </a:rPr>
              <a:t>, </a:t>
            </a:r>
            <a:r>
              <a:rPr lang="en-US" sz="2400" dirty="0" err="1">
                <a:latin typeface="Arial"/>
                <a:ea typeface="+mn-lt"/>
                <a:cs typeface="Arial"/>
              </a:rPr>
              <a:t>permitindo</a:t>
            </a:r>
            <a:r>
              <a:rPr lang="en-US" sz="2400" dirty="0">
                <a:latin typeface="Arial"/>
                <a:ea typeface="+mn-lt"/>
                <a:cs typeface="Arial"/>
              </a:rPr>
              <a:t> que a </a:t>
            </a:r>
            <a:r>
              <a:rPr lang="en-US" sz="2400" dirty="0" err="1">
                <a:latin typeface="Arial"/>
                <a:ea typeface="+mn-lt"/>
                <a:cs typeface="Arial"/>
              </a:rPr>
              <a:t>falha</a:t>
            </a:r>
            <a:r>
              <a:rPr lang="en-US" sz="2400" dirty="0">
                <a:latin typeface="Arial"/>
                <a:ea typeface="+mn-lt"/>
                <a:cs typeface="Arial"/>
              </a:rPr>
              <a:t> </a:t>
            </a:r>
            <a:r>
              <a:rPr lang="en-US" sz="2400" dirty="0" err="1">
                <a:latin typeface="Arial"/>
                <a:ea typeface="+mn-lt"/>
                <a:cs typeface="Arial"/>
              </a:rPr>
              <a:t>evoluísse</a:t>
            </a:r>
            <a:r>
              <a:rPr lang="en-US" sz="2400" dirty="0">
                <a:latin typeface="Arial"/>
                <a:ea typeface="+mn-lt"/>
                <a:cs typeface="Arial"/>
              </a:rPr>
              <a:t>.</a:t>
            </a:r>
            <a:endParaRPr lang="pt-BR" sz="2400">
              <a:latin typeface="Arial"/>
              <a:ea typeface="+mn-lt"/>
              <a:cs typeface="Arial"/>
            </a:endParaRPr>
          </a:p>
        </p:txBody>
      </p:sp>
    </p:spTree>
    <p:extLst>
      <p:ext uri="{BB962C8B-B14F-4D97-AF65-F5344CB8AC3E}">
        <p14:creationId xmlns:p14="http://schemas.microsoft.com/office/powerpoint/2010/main" val="1834964073"/>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11C97-74F7-7B9A-766F-A588DBF59BEB}"/>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6F0567B7-6603-8D12-FB83-B7C548F62D83}"/>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F4224A71-8113-FC91-2C1E-AAF9E784A6DC}"/>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panose="020B0604020202020204" pitchFamily="34" charset="0"/>
                <a:ea typeface="+mn-ea"/>
                <a:cs typeface="Arial" panose="020B0604020202020204" pitchFamily="34" charset="0"/>
                <a:sym typeface="Helvetica Neue"/>
              </a:rPr>
              <a:t>Capítulo</a:t>
            </a:r>
            <a:r>
              <a:rPr kumimoji="0" lang="en-US" sz="2000" b="1"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sym typeface="Helvetica Neue"/>
              </a:rPr>
              <a:t> 1</a:t>
            </a:r>
            <a:endParaRPr kumimoji="0" lang="pt-BR" sz="2000" b="1"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D2FA980E-A974-F9AF-7381-F4F4CB8DDD29}"/>
              </a:ext>
            </a:extLst>
          </p:cNvPr>
          <p:cNvSpPr txBox="1"/>
          <p:nvPr/>
        </p:nvSpPr>
        <p:spPr>
          <a:xfrm>
            <a:off x="204278" y="564779"/>
            <a:ext cx="2680542" cy="307777"/>
          </a:xfrm>
          <a:prstGeom prst="rect">
            <a:avLst/>
          </a:prstGeom>
          <a:noFill/>
        </p:spPr>
        <p:txBody>
          <a:bodyPr wrap="none" lIns="91440" tIns="45720" rIns="91440" bIns="45720" rtlCol="0" anchor="t">
            <a:spAutoFit/>
          </a:bodyPr>
          <a:lstStyle/>
          <a:p>
            <a:r>
              <a:rPr lang="pt-BR" sz="1400" u="sng">
                <a:solidFill>
                  <a:srgbClr val="0070C0"/>
                </a:solidFill>
                <a:latin typeface="Arial"/>
                <a:cs typeface="Arial"/>
              </a:rPr>
              <a:t>Slide 1.12 - </a:t>
            </a:r>
            <a:r>
              <a:rPr lang="pt-BR" sz="1400" u="sng" err="1">
                <a:solidFill>
                  <a:srgbClr val="0070C0"/>
                </a:solidFill>
                <a:latin typeface="Arial"/>
                <a:cs typeface="Arial"/>
              </a:rPr>
              <a:t>Information</a:t>
            </a:r>
            <a:r>
              <a:rPr lang="pt-BR" sz="1400" u="sng">
                <a:solidFill>
                  <a:srgbClr val="0070C0"/>
                </a:solidFill>
                <a:latin typeface="Arial"/>
                <a:cs typeface="Arial"/>
              </a:rPr>
              <a:t> </a:t>
            </a:r>
            <a:r>
              <a:rPr lang="pt-BR" sz="1400" u="sng" err="1">
                <a:solidFill>
                  <a:srgbClr val="0070C0"/>
                </a:solidFill>
                <a:latin typeface="Arial"/>
                <a:cs typeface="Arial"/>
              </a:rPr>
              <a:t>Letters</a:t>
            </a:r>
            <a:r>
              <a:rPr lang="pt-BR" sz="1400" u="sng">
                <a:solidFill>
                  <a:srgbClr val="0070C0"/>
                </a:solidFill>
                <a:latin typeface="Arial"/>
                <a:cs typeface="Arial"/>
              </a:rPr>
              <a:t> </a:t>
            </a:r>
          </a:p>
        </p:txBody>
      </p:sp>
      <p:sp>
        <p:nvSpPr>
          <p:cNvPr id="8" name="CaixaDeTexto 7">
            <a:extLst>
              <a:ext uri="{FF2B5EF4-FFF2-40B4-BE49-F238E27FC236}">
                <a16:creationId xmlns:a16="http://schemas.microsoft.com/office/drawing/2014/main" id="{910CBC0A-8D3F-728B-25B8-BF600D131066}"/>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rPr>
              <a:t>Resp.: </a:t>
            </a:r>
            <a:r>
              <a:rPr lang="pt-BR" u="sng" dirty="0">
                <a:solidFill>
                  <a:srgbClr val="0070C0"/>
                </a:solidFill>
                <a:latin typeface="Aptos" panose="02110004020202020204"/>
              </a:rPr>
              <a:t>Willian Henrique</a:t>
            </a:r>
            <a:endParaRPr lang="pt-BR" dirty="0">
              <a:ea typeface="+mn-ea"/>
              <a:cs typeface="+mn-cs"/>
            </a:endParaRPr>
          </a:p>
        </p:txBody>
      </p:sp>
      <p:sp>
        <p:nvSpPr>
          <p:cNvPr id="9" name="CaixaDeTexto 8">
            <a:extLst>
              <a:ext uri="{FF2B5EF4-FFF2-40B4-BE49-F238E27FC236}">
                <a16:creationId xmlns:a16="http://schemas.microsoft.com/office/drawing/2014/main" id="{B5A4959D-17F2-9E4F-1D47-2A35A05E1266}"/>
              </a:ext>
            </a:extLst>
          </p:cNvPr>
          <p:cNvSpPr txBox="1"/>
          <p:nvPr/>
        </p:nvSpPr>
        <p:spPr>
          <a:xfrm>
            <a:off x="1608667" y="-18398"/>
            <a:ext cx="8669433" cy="738664"/>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a:ln>
                  <a:noFill/>
                </a:ln>
                <a:solidFill>
                  <a:schemeClr val="accent4">
                    <a:lumMod val="76000"/>
                  </a:schemeClr>
                </a:solidFill>
                <a:effectLst/>
                <a:uLnTx/>
                <a:uFillTx/>
                <a:latin typeface="Arial"/>
                <a:cs typeface="Arial"/>
              </a:rPr>
              <a:t>Publicações Técnicas: Discorra sobre as publicações de manutenção que foram consideradas na análise do acidente.</a:t>
            </a:r>
            <a:endParaRPr lang="pt-BR" sz="1400" b="0" i="0" u="none" strike="noStrike" kern="1200" cap="none" spc="0" normalizeH="0" baseline="0" noProof="0">
              <a:ln>
                <a:noFill/>
              </a:ln>
              <a:solidFill>
                <a:schemeClr val="accent4">
                  <a:lumMod val="76000"/>
                </a:schemeClr>
              </a:solidFill>
              <a:effectLst/>
              <a:uLnTx/>
              <a:uFillTx/>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0A378511-5FD0-C0D7-C96B-8F0F97C50A23}"/>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2" name="CaixaDeTexto 1">
            <a:extLst>
              <a:ext uri="{FF2B5EF4-FFF2-40B4-BE49-F238E27FC236}">
                <a16:creationId xmlns:a16="http://schemas.microsoft.com/office/drawing/2014/main" id="{715AB363-6E19-A66B-49BD-6987B8301E11}"/>
              </a:ext>
            </a:extLst>
          </p:cNvPr>
          <p:cNvSpPr txBox="1"/>
          <p:nvPr/>
        </p:nvSpPr>
        <p:spPr>
          <a:xfrm>
            <a:off x="455113" y="1498948"/>
            <a:ext cx="10801610"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err="1">
                <a:latin typeface="Arial"/>
                <a:cs typeface="Arial"/>
              </a:rPr>
              <a:t>Finalidade</a:t>
            </a:r>
            <a:r>
              <a:rPr lang="en-US" sz="2400" b="1" dirty="0">
                <a:latin typeface="Arial"/>
                <a:cs typeface="Arial"/>
              </a:rPr>
              <a:t>:</a:t>
            </a:r>
            <a:r>
              <a:rPr lang="en-US" sz="2400" dirty="0">
                <a:latin typeface="Arial"/>
                <a:cs typeface="Arial"/>
              </a:rPr>
              <a:t> </a:t>
            </a:r>
            <a:r>
              <a:rPr lang="en-US" sz="2400" dirty="0" err="1">
                <a:latin typeface="Arial"/>
                <a:cs typeface="Arial"/>
              </a:rPr>
              <a:t>Alertar</a:t>
            </a:r>
            <a:r>
              <a:rPr lang="en-US" sz="2400" dirty="0">
                <a:latin typeface="Arial"/>
                <a:cs typeface="Arial"/>
              </a:rPr>
              <a:t> </a:t>
            </a:r>
            <a:r>
              <a:rPr lang="en-US" sz="2400" dirty="0" err="1">
                <a:latin typeface="Arial"/>
                <a:cs typeface="Arial"/>
              </a:rPr>
              <a:t>operadores</a:t>
            </a:r>
            <a:r>
              <a:rPr lang="en-US" sz="2400" dirty="0">
                <a:latin typeface="Arial"/>
                <a:cs typeface="Arial"/>
              </a:rPr>
              <a:t> </a:t>
            </a:r>
            <a:r>
              <a:rPr lang="en-US" sz="2400" dirty="0" err="1">
                <a:latin typeface="Arial"/>
                <a:cs typeface="Arial"/>
              </a:rPr>
              <a:t>sobre</a:t>
            </a:r>
            <a:r>
              <a:rPr lang="en-US" sz="2400" dirty="0">
                <a:latin typeface="Arial"/>
                <a:cs typeface="Arial"/>
              </a:rPr>
              <a:t> </a:t>
            </a:r>
            <a:r>
              <a:rPr lang="en-US" sz="2400" dirty="0" err="1">
                <a:latin typeface="Arial"/>
                <a:cs typeface="Arial"/>
              </a:rPr>
              <a:t>problemas</a:t>
            </a:r>
            <a:r>
              <a:rPr lang="en-US" sz="2400" dirty="0">
                <a:latin typeface="Arial"/>
                <a:cs typeface="Arial"/>
              </a:rPr>
              <a:t> </a:t>
            </a:r>
            <a:r>
              <a:rPr lang="en-US" sz="2400" dirty="0" err="1">
                <a:latin typeface="Arial"/>
                <a:cs typeface="Arial"/>
              </a:rPr>
              <a:t>emergentes</a:t>
            </a:r>
            <a:r>
              <a:rPr lang="en-US" sz="2400" dirty="0">
                <a:latin typeface="Arial"/>
                <a:cs typeface="Arial"/>
              </a:rPr>
              <a:t>, boas </a:t>
            </a:r>
            <a:r>
              <a:rPr lang="en-US" sz="2400" dirty="0" err="1">
                <a:latin typeface="Arial"/>
                <a:cs typeface="Arial"/>
              </a:rPr>
              <a:t>práticas</a:t>
            </a:r>
            <a:r>
              <a:rPr lang="en-US" sz="2400" dirty="0">
                <a:latin typeface="Arial"/>
                <a:cs typeface="Arial"/>
              </a:rPr>
              <a:t> e </a:t>
            </a:r>
            <a:r>
              <a:rPr lang="en-US" sz="2400" dirty="0" err="1">
                <a:latin typeface="Arial"/>
                <a:cs typeface="Arial"/>
              </a:rPr>
              <a:t>recomendações</a:t>
            </a:r>
            <a:r>
              <a:rPr lang="en-US" sz="2400" dirty="0">
                <a:latin typeface="Arial"/>
                <a:cs typeface="Arial"/>
              </a:rPr>
              <a:t> de </a:t>
            </a:r>
            <a:r>
              <a:rPr lang="en-US" sz="2400" dirty="0" err="1">
                <a:latin typeface="Arial"/>
                <a:cs typeface="Arial"/>
              </a:rPr>
              <a:t>manutenção</a:t>
            </a:r>
            <a:r>
              <a:rPr lang="en-US" sz="2400" dirty="0">
                <a:latin typeface="Arial"/>
                <a:cs typeface="Arial"/>
              </a:rPr>
              <a:t>.</a:t>
            </a:r>
            <a:endParaRPr lang="pt-BR" dirty="0"/>
          </a:p>
          <a:p>
            <a:br>
              <a:rPr lang="en-US" sz="2400" dirty="0">
                <a:latin typeface="Arial"/>
                <a:cs typeface="Arial"/>
              </a:rPr>
            </a:br>
            <a:r>
              <a:rPr lang="en-US" sz="2400" b="1" dirty="0" err="1">
                <a:latin typeface="Arial"/>
                <a:cs typeface="Arial"/>
              </a:rPr>
              <a:t>Descrição</a:t>
            </a:r>
            <a:r>
              <a:rPr lang="en-US" sz="2400" b="1" dirty="0">
                <a:latin typeface="Arial"/>
                <a:cs typeface="Arial"/>
              </a:rPr>
              <a:t>:</a:t>
            </a:r>
            <a:r>
              <a:rPr lang="en-US" sz="2400" dirty="0">
                <a:latin typeface="Arial"/>
                <a:cs typeface="Arial"/>
              </a:rPr>
              <a:t> </a:t>
            </a:r>
            <a:r>
              <a:rPr lang="en-US" sz="2400" dirty="0" err="1">
                <a:latin typeface="Arial"/>
                <a:cs typeface="Arial"/>
              </a:rPr>
              <a:t>Comunicados</a:t>
            </a:r>
            <a:r>
              <a:rPr lang="en-US" sz="2400" dirty="0">
                <a:latin typeface="Arial"/>
                <a:cs typeface="Arial"/>
              </a:rPr>
              <a:t> </a:t>
            </a:r>
            <a:r>
              <a:rPr lang="en-US" sz="2400" dirty="0" err="1">
                <a:latin typeface="Arial"/>
                <a:cs typeface="Arial"/>
              </a:rPr>
              <a:t>técnicos</a:t>
            </a:r>
            <a:r>
              <a:rPr lang="en-US" sz="2400" dirty="0">
                <a:latin typeface="Arial"/>
                <a:cs typeface="Arial"/>
              </a:rPr>
              <a:t> </a:t>
            </a:r>
            <a:r>
              <a:rPr lang="en-US" sz="2400" dirty="0" err="1">
                <a:latin typeface="Arial"/>
                <a:cs typeface="Arial"/>
              </a:rPr>
              <a:t>enviados</a:t>
            </a:r>
            <a:r>
              <a:rPr lang="en-US" sz="2400" dirty="0">
                <a:latin typeface="Arial"/>
                <a:cs typeface="Arial"/>
              </a:rPr>
              <a:t> </a:t>
            </a:r>
            <a:r>
              <a:rPr lang="en-US" sz="2400" dirty="0" err="1">
                <a:latin typeface="Arial"/>
                <a:cs typeface="Arial"/>
              </a:rPr>
              <a:t>pelo</a:t>
            </a:r>
            <a:r>
              <a:rPr lang="en-US" sz="2400" dirty="0">
                <a:latin typeface="Arial"/>
                <a:cs typeface="Arial"/>
              </a:rPr>
              <a:t> </a:t>
            </a:r>
            <a:r>
              <a:rPr lang="en-US" sz="2400" dirty="0" err="1">
                <a:latin typeface="Arial"/>
                <a:cs typeface="Arial"/>
              </a:rPr>
              <a:t>fabricante</a:t>
            </a:r>
            <a:r>
              <a:rPr lang="en-US" sz="2400" dirty="0">
                <a:latin typeface="Arial"/>
                <a:cs typeface="Arial"/>
              </a:rPr>
              <a:t> para </a:t>
            </a:r>
            <a:r>
              <a:rPr lang="en-US" sz="2400" dirty="0" err="1">
                <a:latin typeface="Arial"/>
                <a:cs typeface="Arial"/>
              </a:rPr>
              <a:t>compartilhar</a:t>
            </a:r>
            <a:r>
              <a:rPr lang="en-US" sz="2400" dirty="0">
                <a:latin typeface="Arial"/>
                <a:cs typeface="Arial"/>
              </a:rPr>
              <a:t> </a:t>
            </a:r>
            <a:r>
              <a:rPr lang="en-US" sz="2400" dirty="0" err="1">
                <a:latin typeface="Arial"/>
                <a:cs typeface="Arial"/>
              </a:rPr>
              <a:t>informações</a:t>
            </a:r>
            <a:r>
              <a:rPr lang="en-US" sz="2400" dirty="0">
                <a:latin typeface="Arial"/>
                <a:cs typeface="Arial"/>
              </a:rPr>
              <a:t> </a:t>
            </a:r>
            <a:r>
              <a:rPr lang="en-US" sz="2400" dirty="0" err="1">
                <a:latin typeface="Arial"/>
                <a:cs typeface="Arial"/>
              </a:rPr>
              <a:t>sobre</a:t>
            </a:r>
            <a:r>
              <a:rPr lang="en-US" sz="2400" dirty="0">
                <a:latin typeface="Arial"/>
                <a:cs typeface="Arial"/>
              </a:rPr>
              <a:t> </a:t>
            </a:r>
            <a:r>
              <a:rPr lang="en-US" sz="2400" dirty="0" err="1">
                <a:latin typeface="Arial"/>
                <a:cs typeface="Arial"/>
              </a:rPr>
              <a:t>desgaste</a:t>
            </a:r>
            <a:r>
              <a:rPr lang="en-US" sz="2400" dirty="0">
                <a:latin typeface="Arial"/>
                <a:cs typeface="Arial"/>
              </a:rPr>
              <a:t> </a:t>
            </a:r>
            <a:r>
              <a:rPr lang="en-US" sz="2400" dirty="0" err="1">
                <a:latin typeface="Arial"/>
                <a:cs typeface="Arial"/>
              </a:rPr>
              <a:t>prematuro</a:t>
            </a:r>
            <a:r>
              <a:rPr lang="en-US" sz="2400" dirty="0">
                <a:latin typeface="Arial"/>
                <a:cs typeface="Arial"/>
              </a:rPr>
              <a:t>, </a:t>
            </a:r>
            <a:r>
              <a:rPr lang="en-US" sz="2400" dirty="0" err="1">
                <a:latin typeface="Arial"/>
                <a:cs typeface="Arial"/>
              </a:rPr>
              <a:t>ajustes</a:t>
            </a:r>
            <a:r>
              <a:rPr lang="en-US" sz="2400" dirty="0">
                <a:latin typeface="Arial"/>
                <a:cs typeface="Arial"/>
              </a:rPr>
              <a:t> de </a:t>
            </a:r>
            <a:r>
              <a:rPr lang="en-US" sz="2400" dirty="0" err="1">
                <a:latin typeface="Arial"/>
                <a:cs typeface="Arial"/>
              </a:rPr>
              <a:t>procedimentos</a:t>
            </a:r>
            <a:r>
              <a:rPr lang="en-US" sz="2400" dirty="0">
                <a:latin typeface="Arial"/>
                <a:cs typeface="Arial"/>
              </a:rPr>
              <a:t> </a:t>
            </a:r>
            <a:r>
              <a:rPr lang="en-US" sz="2400" dirty="0" err="1">
                <a:latin typeface="Arial"/>
                <a:cs typeface="Arial"/>
              </a:rPr>
              <a:t>ou</a:t>
            </a:r>
            <a:r>
              <a:rPr lang="en-US" sz="2400" dirty="0">
                <a:latin typeface="Arial"/>
                <a:cs typeface="Arial"/>
              </a:rPr>
              <a:t> </a:t>
            </a:r>
            <a:r>
              <a:rPr lang="en-US" sz="2400" dirty="0" err="1">
                <a:latin typeface="Arial"/>
                <a:cs typeface="Arial"/>
              </a:rPr>
              <a:t>pontos</a:t>
            </a:r>
            <a:r>
              <a:rPr lang="en-US" sz="2400" dirty="0">
                <a:latin typeface="Arial"/>
                <a:cs typeface="Arial"/>
              </a:rPr>
              <a:t> de </a:t>
            </a:r>
            <a:r>
              <a:rPr lang="en-US" sz="2400" dirty="0" err="1">
                <a:latin typeface="Arial"/>
                <a:cs typeface="Arial"/>
              </a:rPr>
              <a:t>atenção</a:t>
            </a:r>
            <a:r>
              <a:rPr lang="en-US" sz="2400" dirty="0">
                <a:latin typeface="Arial"/>
                <a:cs typeface="Arial"/>
              </a:rPr>
              <a:t>. </a:t>
            </a:r>
            <a:r>
              <a:rPr lang="en-US" sz="2400" dirty="0" err="1">
                <a:latin typeface="Arial"/>
                <a:cs typeface="Arial"/>
              </a:rPr>
              <a:t>Não</a:t>
            </a:r>
            <a:r>
              <a:rPr lang="en-US" sz="2400" dirty="0">
                <a:latin typeface="Arial"/>
                <a:cs typeface="Arial"/>
              </a:rPr>
              <a:t> </a:t>
            </a:r>
            <a:r>
              <a:rPr lang="en-US" sz="2400" dirty="0" err="1">
                <a:latin typeface="Arial"/>
                <a:cs typeface="Arial"/>
              </a:rPr>
              <a:t>são</a:t>
            </a:r>
            <a:r>
              <a:rPr lang="en-US" sz="2400" dirty="0">
                <a:latin typeface="Arial"/>
                <a:cs typeface="Arial"/>
              </a:rPr>
              <a:t> </a:t>
            </a:r>
            <a:r>
              <a:rPr lang="en-US" sz="2400" dirty="0" err="1">
                <a:latin typeface="Arial"/>
                <a:cs typeface="Arial"/>
              </a:rPr>
              <a:t>obrigatórios</a:t>
            </a:r>
            <a:r>
              <a:rPr lang="en-US" sz="2400" dirty="0">
                <a:latin typeface="Arial"/>
                <a:cs typeface="Arial"/>
              </a:rPr>
              <a:t>, mas </a:t>
            </a:r>
            <a:r>
              <a:rPr lang="en-US" sz="2400" dirty="0" err="1">
                <a:latin typeface="Arial"/>
                <a:cs typeface="Arial"/>
              </a:rPr>
              <a:t>servem</a:t>
            </a:r>
            <a:r>
              <a:rPr lang="en-US" sz="2400" dirty="0">
                <a:latin typeface="Arial"/>
                <a:cs typeface="Arial"/>
              </a:rPr>
              <a:t> </a:t>
            </a:r>
            <a:r>
              <a:rPr lang="en-US" sz="2400" dirty="0" err="1">
                <a:latin typeface="Arial"/>
                <a:cs typeface="Arial"/>
              </a:rPr>
              <a:t>como</a:t>
            </a:r>
            <a:r>
              <a:rPr lang="en-US" sz="2400" dirty="0">
                <a:latin typeface="Arial"/>
                <a:cs typeface="Arial"/>
              </a:rPr>
              <a:t> aviso </a:t>
            </a:r>
            <a:r>
              <a:rPr lang="en-US" sz="2400" dirty="0" err="1">
                <a:latin typeface="Arial"/>
                <a:cs typeface="Arial"/>
              </a:rPr>
              <a:t>precoce</a:t>
            </a:r>
            <a:r>
              <a:rPr lang="en-US" sz="2400" dirty="0">
                <a:latin typeface="Arial"/>
                <a:cs typeface="Arial"/>
              </a:rPr>
              <a:t>.</a:t>
            </a:r>
            <a:endParaRPr lang="en-US" dirty="0">
              <a:latin typeface="Aptos" panose="02110004020202020204"/>
              <a:cs typeface="Arial"/>
            </a:endParaRPr>
          </a:p>
          <a:p>
            <a:br>
              <a:rPr lang="en-US" sz="2400" dirty="0">
                <a:latin typeface="Arial"/>
                <a:cs typeface="Arial"/>
              </a:rPr>
            </a:br>
            <a:r>
              <a:rPr lang="en-US" sz="2400" b="1" dirty="0" err="1">
                <a:latin typeface="Arial"/>
                <a:cs typeface="Arial"/>
              </a:rPr>
              <a:t>Envolvimento</a:t>
            </a:r>
            <a:r>
              <a:rPr lang="en-US" sz="2400" b="1" dirty="0">
                <a:latin typeface="Arial"/>
                <a:cs typeface="Arial"/>
              </a:rPr>
              <a:t>:</a:t>
            </a:r>
            <a:r>
              <a:rPr lang="en-US" sz="2400" dirty="0">
                <a:latin typeface="Arial"/>
                <a:cs typeface="Arial"/>
              </a:rPr>
              <a:t> Existiram </a:t>
            </a:r>
            <a:r>
              <a:rPr lang="en-US" sz="2400" i="1" dirty="0">
                <a:latin typeface="Arial"/>
                <a:cs typeface="Arial"/>
              </a:rPr>
              <a:t>Information Letters</a:t>
            </a:r>
            <a:r>
              <a:rPr lang="en-US" sz="2400" dirty="0">
                <a:latin typeface="Arial"/>
                <a:cs typeface="Arial"/>
              </a:rPr>
              <a:t> </a:t>
            </a:r>
            <a:r>
              <a:rPr lang="en-US" sz="2400" dirty="0" err="1">
                <a:latin typeface="Arial"/>
                <a:cs typeface="Arial"/>
              </a:rPr>
              <a:t>sobre</a:t>
            </a:r>
            <a:r>
              <a:rPr lang="en-US" sz="2400" dirty="0">
                <a:latin typeface="Arial"/>
                <a:cs typeface="Arial"/>
              </a:rPr>
              <a:t> </a:t>
            </a:r>
            <a:r>
              <a:rPr lang="en-US" sz="2400" dirty="0" err="1">
                <a:latin typeface="Arial"/>
                <a:cs typeface="Arial"/>
              </a:rPr>
              <a:t>lubrificação</a:t>
            </a:r>
            <a:r>
              <a:rPr lang="en-US" sz="2400" dirty="0">
                <a:latin typeface="Arial"/>
                <a:cs typeface="Arial"/>
              </a:rPr>
              <a:t> </a:t>
            </a:r>
            <a:r>
              <a:rPr lang="en-US" sz="2400" dirty="0" err="1">
                <a:latin typeface="Arial"/>
                <a:cs typeface="Arial"/>
              </a:rPr>
              <a:t>adequada</a:t>
            </a:r>
            <a:r>
              <a:rPr lang="en-US" sz="2400" dirty="0">
                <a:latin typeface="Arial"/>
                <a:cs typeface="Arial"/>
              </a:rPr>
              <a:t> e </a:t>
            </a:r>
            <a:r>
              <a:rPr lang="en-US" sz="2400" dirty="0" err="1">
                <a:latin typeface="Arial"/>
                <a:cs typeface="Arial"/>
              </a:rPr>
              <a:t>inspeção</a:t>
            </a:r>
            <a:r>
              <a:rPr lang="en-US" sz="2400" dirty="0">
                <a:latin typeface="Arial"/>
                <a:cs typeface="Arial"/>
              </a:rPr>
              <a:t> do </a:t>
            </a:r>
            <a:r>
              <a:rPr lang="en-US" sz="2400" i="1" dirty="0">
                <a:latin typeface="Arial"/>
                <a:cs typeface="Arial"/>
              </a:rPr>
              <a:t>jackscrew</a:t>
            </a:r>
            <a:r>
              <a:rPr lang="en-US" sz="2400" dirty="0">
                <a:latin typeface="Arial"/>
                <a:cs typeface="Arial"/>
              </a:rPr>
              <a:t>. A Alaska </a:t>
            </a:r>
            <a:r>
              <a:rPr lang="en-US" sz="2400" dirty="0" err="1">
                <a:latin typeface="Arial"/>
                <a:cs typeface="Arial"/>
              </a:rPr>
              <a:t>não</a:t>
            </a:r>
            <a:r>
              <a:rPr lang="en-US" sz="2400" dirty="0">
                <a:latin typeface="Arial"/>
                <a:cs typeface="Arial"/>
              </a:rPr>
              <a:t> </a:t>
            </a:r>
            <a:r>
              <a:rPr lang="en-US" sz="2400" dirty="0" err="1">
                <a:latin typeface="Arial"/>
                <a:cs typeface="Arial"/>
              </a:rPr>
              <a:t>deu</a:t>
            </a:r>
            <a:r>
              <a:rPr lang="en-US" sz="2400" dirty="0">
                <a:latin typeface="Arial"/>
                <a:cs typeface="Arial"/>
              </a:rPr>
              <a:t> a </a:t>
            </a:r>
            <a:r>
              <a:rPr lang="en-US" sz="2400" dirty="0" err="1">
                <a:latin typeface="Arial"/>
                <a:cs typeface="Arial"/>
              </a:rPr>
              <a:t>devida</a:t>
            </a:r>
            <a:r>
              <a:rPr lang="en-US" sz="2400" dirty="0">
                <a:latin typeface="Arial"/>
                <a:cs typeface="Arial"/>
              </a:rPr>
              <a:t> </a:t>
            </a:r>
            <a:r>
              <a:rPr lang="en-US" sz="2400" dirty="0" err="1">
                <a:latin typeface="Arial"/>
                <a:cs typeface="Arial"/>
              </a:rPr>
              <a:t>atenção</a:t>
            </a:r>
            <a:r>
              <a:rPr lang="en-US" sz="2400" dirty="0">
                <a:latin typeface="Arial"/>
                <a:cs typeface="Arial"/>
              </a:rPr>
              <a:t> a </a:t>
            </a:r>
            <a:r>
              <a:rPr lang="en-US" sz="2400" dirty="0" err="1">
                <a:latin typeface="Arial"/>
                <a:cs typeface="Arial"/>
              </a:rPr>
              <a:t>essas</a:t>
            </a:r>
            <a:r>
              <a:rPr lang="en-US" sz="2400" dirty="0">
                <a:latin typeface="Arial"/>
                <a:cs typeface="Arial"/>
              </a:rPr>
              <a:t> cartas, </a:t>
            </a:r>
            <a:r>
              <a:rPr lang="en-US" sz="2400" dirty="0" err="1">
                <a:latin typeface="Arial"/>
                <a:cs typeface="Arial"/>
              </a:rPr>
              <a:t>perdendo</a:t>
            </a:r>
            <a:r>
              <a:rPr lang="en-US" sz="2400" dirty="0">
                <a:latin typeface="Arial"/>
                <a:cs typeface="Arial"/>
              </a:rPr>
              <a:t> </a:t>
            </a:r>
            <a:r>
              <a:rPr lang="en-US" sz="2400" dirty="0" err="1">
                <a:latin typeface="Arial"/>
                <a:cs typeface="Arial"/>
              </a:rPr>
              <a:t>oportunidade</a:t>
            </a:r>
            <a:r>
              <a:rPr lang="en-US" sz="2400" dirty="0">
                <a:latin typeface="Arial"/>
                <a:cs typeface="Arial"/>
              </a:rPr>
              <a:t> de </a:t>
            </a:r>
            <a:r>
              <a:rPr lang="en-US" sz="2400" dirty="0" err="1">
                <a:latin typeface="Arial"/>
                <a:cs typeface="Arial"/>
              </a:rPr>
              <a:t>adotar</a:t>
            </a:r>
            <a:r>
              <a:rPr lang="en-US" sz="2400" dirty="0">
                <a:latin typeface="Arial"/>
                <a:cs typeface="Arial"/>
              </a:rPr>
              <a:t> </a:t>
            </a:r>
            <a:r>
              <a:rPr lang="en-US" sz="2400" dirty="0" err="1">
                <a:latin typeface="Arial"/>
                <a:cs typeface="Arial"/>
              </a:rPr>
              <a:t>medidas</a:t>
            </a:r>
            <a:r>
              <a:rPr lang="en-US" sz="2400" dirty="0">
                <a:latin typeface="Arial"/>
                <a:cs typeface="Arial"/>
              </a:rPr>
              <a:t> </a:t>
            </a:r>
            <a:r>
              <a:rPr lang="en-US" sz="2400" dirty="0" err="1">
                <a:latin typeface="Arial"/>
                <a:cs typeface="Arial"/>
              </a:rPr>
              <a:t>preventivas</a:t>
            </a:r>
            <a:r>
              <a:rPr lang="en-US" sz="2400" dirty="0">
                <a:latin typeface="Arial"/>
                <a:cs typeface="Arial"/>
              </a:rPr>
              <a:t> antes da </a:t>
            </a:r>
            <a:r>
              <a:rPr lang="en-US" sz="2400" dirty="0" err="1">
                <a:latin typeface="Arial"/>
                <a:cs typeface="Arial"/>
              </a:rPr>
              <a:t>falha</a:t>
            </a:r>
            <a:r>
              <a:rPr lang="en-US" sz="2400" dirty="0">
                <a:latin typeface="Arial"/>
                <a:cs typeface="Arial"/>
              </a:rPr>
              <a:t> </a:t>
            </a:r>
            <a:r>
              <a:rPr lang="en-US" sz="2400" dirty="0" err="1">
                <a:latin typeface="Arial"/>
                <a:cs typeface="Arial"/>
              </a:rPr>
              <a:t>catastrófica</a:t>
            </a:r>
            <a:r>
              <a:rPr lang="en-US" sz="2400" dirty="0">
                <a:latin typeface="Arial"/>
                <a:cs typeface="Arial"/>
              </a:rPr>
              <a:t>.</a:t>
            </a:r>
            <a:endParaRPr lang="en-US"/>
          </a:p>
        </p:txBody>
      </p:sp>
    </p:spTree>
    <p:extLst>
      <p:ext uri="{BB962C8B-B14F-4D97-AF65-F5344CB8AC3E}">
        <p14:creationId xmlns:p14="http://schemas.microsoft.com/office/powerpoint/2010/main" val="29976203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F9401-4E74-CA0B-C8AA-311E9F69D790}"/>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3FCFDE2C-10B9-B0EE-BAD8-F4C76D55671C}"/>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6E8965E3-6C21-D38A-7082-995DEC01746F}"/>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a:ln>
                  <a:noFill/>
                </a:ln>
                <a:solidFill>
                  <a:srgbClr val="0070C0"/>
                </a:solidFill>
                <a:effectLst/>
                <a:uLnTx/>
                <a:uFillTx/>
                <a:latin typeface="Arial"/>
                <a:cs typeface="Arial"/>
                <a:sym typeface="Helvetica Neue"/>
              </a:rPr>
              <a:t> </a:t>
            </a:r>
            <a:r>
              <a:rPr lang="en-US" sz="2000" b="1">
                <a:solidFill>
                  <a:srgbClr val="0070C0"/>
                </a:solidFill>
                <a:latin typeface="Arial"/>
                <a:cs typeface="Arial"/>
                <a:sym typeface="Helvetica Neue"/>
              </a:rPr>
              <a:t>2</a:t>
            </a:r>
            <a:endParaRPr kumimoji="0" lang="pt-BR"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71A50075-9FD4-25D5-4EC1-3DBA35A07616}"/>
              </a:ext>
            </a:extLst>
          </p:cNvPr>
          <p:cNvSpPr txBox="1"/>
          <p:nvPr/>
        </p:nvSpPr>
        <p:spPr>
          <a:xfrm>
            <a:off x="204278" y="564779"/>
            <a:ext cx="3079689" cy="307777"/>
          </a:xfrm>
          <a:prstGeom prst="rect">
            <a:avLst/>
          </a:prstGeom>
          <a:noFill/>
        </p:spPr>
        <p:txBody>
          <a:bodyPr wrap="none" lIns="91440" tIns="45720" rIns="91440" bIns="45720" rtlCol="0" anchor="t">
            <a:spAutoFit/>
          </a:bodyPr>
          <a:lstStyle/>
          <a:p>
            <a:r>
              <a:rPr lang="pt-BR" sz="1400" u="sng">
                <a:solidFill>
                  <a:srgbClr val="0070C0"/>
                </a:solidFill>
                <a:latin typeface="Arial"/>
                <a:cs typeface="Arial"/>
              </a:rPr>
              <a:t>Slide 2.1 - Registros de manutenção</a:t>
            </a:r>
          </a:p>
        </p:txBody>
      </p:sp>
      <p:sp>
        <p:nvSpPr>
          <p:cNvPr id="8" name="CaixaDeTexto 7">
            <a:extLst>
              <a:ext uri="{FF2B5EF4-FFF2-40B4-BE49-F238E27FC236}">
                <a16:creationId xmlns:a16="http://schemas.microsoft.com/office/drawing/2014/main" id="{ED859B66-EA7E-7476-9D24-D25AF134D6D8}"/>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algn="ctr">
              <a:defRPr/>
            </a:pPr>
            <a:r>
              <a:rPr lang="pt-BR" u="sng" dirty="0">
                <a:solidFill>
                  <a:srgbClr val="0070C0"/>
                </a:solidFill>
                <a:latin typeface="Aptos" panose="02110004020202020204"/>
              </a:rPr>
              <a:t>Resp.: Isabela Soares</a:t>
            </a:r>
            <a:endParaRPr lang="pt-BR" u="sng" dirty="0">
              <a:solidFill>
                <a:srgbClr val="0070C0"/>
              </a:solidFill>
            </a:endParaRPr>
          </a:p>
        </p:txBody>
      </p:sp>
      <p:sp>
        <p:nvSpPr>
          <p:cNvPr id="9" name="CaixaDeTexto 8">
            <a:extLst>
              <a:ext uri="{FF2B5EF4-FFF2-40B4-BE49-F238E27FC236}">
                <a16:creationId xmlns:a16="http://schemas.microsoft.com/office/drawing/2014/main" id="{0658C581-D2B4-888B-8F75-557E5690AF77}"/>
              </a:ext>
            </a:extLst>
          </p:cNvPr>
          <p:cNvSpPr txBox="1"/>
          <p:nvPr/>
        </p:nvSpPr>
        <p:spPr>
          <a:xfrm>
            <a:off x="1608667" y="-18398"/>
            <a:ext cx="8669433" cy="738664"/>
          </a:xfrm>
          <a:prstGeom prst="rect">
            <a:avLst/>
          </a:prstGeom>
          <a:noFill/>
        </p:spPr>
        <p:txBody>
          <a:bodyPr wrap="square" lIns="91440" tIns="45720" rIns="91440" bIns="45720" rtlCol="0" anchor="t">
            <a:spAutoFit/>
          </a:bodyPr>
          <a:lstStyle/>
          <a:p>
            <a:pPr>
              <a:defRPr/>
            </a:pPr>
            <a:r>
              <a:rPr lang="pt-BR" sz="1400" dirty="0">
                <a:solidFill>
                  <a:schemeClr val="accent4">
                    <a:lumMod val="76000"/>
                  </a:schemeClr>
                </a:solidFill>
                <a:latin typeface="Arial"/>
                <a:cs typeface="Arial"/>
              </a:rPr>
              <a:t>Requisitos de Manutenção RBAC 43 e 145:Discorra sobre os erros cometidos pela Alaska Airlines, identificando no Relatório do NSTB em  relação aos seguintes aspectos</a:t>
            </a:r>
            <a:endParaRPr lang="pt-BR" dirty="0">
              <a:solidFill>
                <a:schemeClr val="accent4">
                  <a:lumMod val="76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FB653FB7-6C43-315B-8B9E-63E765265549}"/>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4" name="TextBox 3">
            <a:extLst>
              <a:ext uri="{FF2B5EF4-FFF2-40B4-BE49-F238E27FC236}">
                <a16:creationId xmlns:a16="http://schemas.microsoft.com/office/drawing/2014/main" id="{C7127741-B9F2-23C5-2567-D8D96DB02F92}"/>
              </a:ext>
            </a:extLst>
          </p:cNvPr>
          <p:cNvSpPr txBox="1"/>
          <p:nvPr/>
        </p:nvSpPr>
        <p:spPr>
          <a:xfrm>
            <a:off x="1341120" y="1472418"/>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7" name="TextBox 6">
            <a:extLst>
              <a:ext uri="{FF2B5EF4-FFF2-40B4-BE49-F238E27FC236}">
                <a16:creationId xmlns:a16="http://schemas.microsoft.com/office/drawing/2014/main" id="{00340BB5-27CF-1C16-2AA7-8D0FC01FC9C2}"/>
              </a:ext>
            </a:extLst>
          </p:cNvPr>
          <p:cNvSpPr txBox="1"/>
          <p:nvPr/>
        </p:nvSpPr>
        <p:spPr>
          <a:xfrm>
            <a:off x="890953" y="1819421"/>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 name="CaixaDeTexto 1">
            <a:extLst>
              <a:ext uri="{FF2B5EF4-FFF2-40B4-BE49-F238E27FC236}">
                <a16:creationId xmlns:a16="http://schemas.microsoft.com/office/drawing/2014/main" id="{86EEFE6D-E90C-8FF0-2E0B-E9C50F9BF5B8}"/>
              </a:ext>
            </a:extLst>
          </p:cNvPr>
          <p:cNvSpPr txBox="1"/>
          <p:nvPr/>
        </p:nvSpPr>
        <p:spPr>
          <a:xfrm>
            <a:off x="402921" y="1718153"/>
            <a:ext cx="11386158"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Arial"/>
                <a:cs typeface="Arial"/>
              </a:rPr>
              <a:t>• O Manual Geral de </a:t>
            </a:r>
            <a:r>
              <a:rPr lang="en-US" sz="2400" err="1">
                <a:latin typeface="Arial"/>
                <a:cs typeface="Arial"/>
              </a:rPr>
              <a:t>Manutenção</a:t>
            </a:r>
            <a:r>
              <a:rPr lang="en-US" sz="2400" dirty="0">
                <a:latin typeface="Arial"/>
                <a:cs typeface="Arial"/>
              </a:rPr>
              <a:t> (MGM) </a:t>
            </a:r>
            <a:r>
              <a:rPr lang="en-US" sz="2400" err="1">
                <a:latin typeface="Arial"/>
                <a:cs typeface="Arial"/>
              </a:rPr>
              <a:t>não</a:t>
            </a:r>
            <a:r>
              <a:rPr lang="en-US" sz="2400" dirty="0">
                <a:latin typeface="Arial"/>
                <a:cs typeface="Arial"/>
              </a:rPr>
              <a:t> </a:t>
            </a:r>
            <a:r>
              <a:rPr lang="en-US" sz="2400" err="1">
                <a:latin typeface="Arial"/>
                <a:cs typeface="Arial"/>
              </a:rPr>
              <a:t>representava</a:t>
            </a:r>
            <a:r>
              <a:rPr lang="en-US" sz="2400" dirty="0">
                <a:latin typeface="Arial"/>
                <a:cs typeface="Arial"/>
              </a:rPr>
              <a:t> de forma </a:t>
            </a:r>
            <a:r>
              <a:rPr lang="en-US" sz="2400" err="1">
                <a:latin typeface="Arial"/>
                <a:cs typeface="Arial"/>
              </a:rPr>
              <a:t>fiel</a:t>
            </a:r>
            <a:r>
              <a:rPr lang="en-US" sz="2400" dirty="0">
                <a:latin typeface="Arial"/>
                <a:cs typeface="Arial"/>
              </a:rPr>
              <a:t> </a:t>
            </a:r>
            <a:r>
              <a:rPr lang="en-US" sz="2400" err="1">
                <a:latin typeface="Arial"/>
                <a:cs typeface="Arial"/>
              </a:rPr>
              <a:t>os</a:t>
            </a:r>
            <a:r>
              <a:rPr lang="en-US" sz="2400" dirty="0">
                <a:latin typeface="Arial"/>
                <a:cs typeface="Arial"/>
              </a:rPr>
              <a:t> </a:t>
            </a:r>
            <a:r>
              <a:rPr lang="en-US" sz="2400" err="1">
                <a:latin typeface="Arial"/>
                <a:cs typeface="Arial"/>
              </a:rPr>
              <a:t>procedimentos</a:t>
            </a:r>
            <a:r>
              <a:rPr lang="en-US" sz="2400" dirty="0">
                <a:latin typeface="Arial"/>
                <a:cs typeface="Arial"/>
              </a:rPr>
              <a:t> </a:t>
            </a:r>
            <a:r>
              <a:rPr lang="en-US" sz="2400" err="1">
                <a:latin typeface="Arial"/>
                <a:cs typeface="Arial"/>
              </a:rPr>
              <a:t>aplicados</a:t>
            </a:r>
            <a:r>
              <a:rPr lang="en-US" sz="2400" dirty="0">
                <a:latin typeface="Arial"/>
                <a:cs typeface="Arial"/>
              </a:rPr>
              <a:t> </a:t>
            </a:r>
            <a:r>
              <a:rPr lang="en-US" sz="2400" err="1">
                <a:latin typeface="Arial"/>
                <a:cs typeface="Arial"/>
              </a:rPr>
              <a:t>na</a:t>
            </a:r>
            <a:r>
              <a:rPr lang="en-US" sz="2400" dirty="0">
                <a:latin typeface="Arial"/>
                <a:cs typeface="Arial"/>
              </a:rPr>
              <a:t> </a:t>
            </a:r>
            <a:r>
              <a:rPr lang="en-US" sz="2400" err="1">
                <a:latin typeface="Arial"/>
                <a:cs typeface="Arial"/>
              </a:rPr>
              <a:t>prática</a:t>
            </a:r>
            <a:r>
              <a:rPr lang="en-US" sz="2400" dirty="0">
                <a:latin typeface="Arial"/>
                <a:cs typeface="Arial"/>
              </a:rPr>
              <a:t>, </a:t>
            </a:r>
            <a:r>
              <a:rPr lang="en-US" sz="2400" err="1">
                <a:latin typeface="Arial"/>
                <a:cs typeface="Arial"/>
              </a:rPr>
              <a:t>ocasionando</a:t>
            </a:r>
            <a:r>
              <a:rPr lang="en-US" sz="2400" dirty="0">
                <a:latin typeface="Arial"/>
                <a:cs typeface="Arial"/>
              </a:rPr>
              <a:t> </a:t>
            </a:r>
            <a:r>
              <a:rPr lang="en-US" sz="2400" err="1">
                <a:latin typeface="Arial"/>
                <a:cs typeface="Arial"/>
              </a:rPr>
              <a:t>falhas</a:t>
            </a:r>
            <a:r>
              <a:rPr lang="en-US" sz="2400" dirty="0">
                <a:latin typeface="Arial"/>
                <a:cs typeface="Arial"/>
              </a:rPr>
              <a:t> </a:t>
            </a:r>
            <a:r>
              <a:rPr lang="en-US" sz="2400" err="1">
                <a:latin typeface="Arial"/>
                <a:cs typeface="Arial"/>
              </a:rPr>
              <a:t>na</a:t>
            </a:r>
            <a:r>
              <a:rPr lang="en-US" sz="2400" dirty="0">
                <a:latin typeface="Arial"/>
                <a:cs typeface="Arial"/>
              </a:rPr>
              <a:t> </a:t>
            </a:r>
            <a:r>
              <a:rPr lang="en-US" sz="2400" err="1">
                <a:latin typeface="Arial"/>
                <a:cs typeface="Arial"/>
              </a:rPr>
              <a:t>documentação</a:t>
            </a:r>
            <a:r>
              <a:rPr lang="en-US" sz="2400" dirty="0">
                <a:latin typeface="Arial"/>
                <a:cs typeface="Arial"/>
              </a:rPr>
              <a:t> das </a:t>
            </a:r>
            <a:r>
              <a:rPr lang="en-US" sz="2400" err="1">
                <a:latin typeface="Arial"/>
                <a:cs typeface="Arial"/>
              </a:rPr>
              <a:t>atividades</a:t>
            </a:r>
            <a:r>
              <a:rPr lang="en-US" sz="2400" dirty="0">
                <a:latin typeface="Arial"/>
                <a:cs typeface="Arial"/>
              </a:rPr>
              <a:t> </a:t>
            </a:r>
            <a:r>
              <a:rPr lang="en-US" sz="2400" err="1">
                <a:latin typeface="Arial"/>
                <a:cs typeface="Arial"/>
              </a:rPr>
              <a:t>realizadas</a:t>
            </a:r>
            <a:r>
              <a:rPr lang="en-US" sz="2400" dirty="0">
                <a:latin typeface="Arial"/>
                <a:cs typeface="Arial"/>
              </a:rPr>
              <a:t> </a:t>
            </a:r>
            <a:r>
              <a:rPr lang="en-US" sz="2400" err="1">
                <a:latin typeface="Arial"/>
                <a:cs typeface="Arial"/>
              </a:rPr>
              <a:t>nas</a:t>
            </a:r>
            <a:r>
              <a:rPr lang="en-US" sz="2400" dirty="0">
                <a:latin typeface="Arial"/>
                <a:cs typeface="Arial"/>
              </a:rPr>
              <a:t> </a:t>
            </a:r>
            <a:r>
              <a:rPr lang="en-US" sz="2400" err="1">
                <a:latin typeface="Arial"/>
                <a:cs typeface="Arial"/>
              </a:rPr>
              <a:t>aeronaves</a:t>
            </a:r>
            <a:r>
              <a:rPr lang="en-US" sz="2400" dirty="0">
                <a:latin typeface="Arial"/>
                <a:cs typeface="Arial"/>
              </a:rPr>
              <a:t>. </a:t>
            </a:r>
            <a:endParaRPr lang="pt-BR" sz="2400">
              <a:latin typeface="Arial"/>
              <a:cs typeface="Arial"/>
            </a:endParaRPr>
          </a:p>
          <a:p>
            <a:endParaRPr lang="en-US" sz="2400" dirty="0">
              <a:latin typeface="Arial"/>
              <a:cs typeface="Arial"/>
            </a:endParaRPr>
          </a:p>
          <a:p>
            <a:r>
              <a:rPr lang="en-US" sz="2400" dirty="0">
                <a:latin typeface="Arial"/>
                <a:cs typeface="Arial"/>
              </a:rPr>
              <a:t>• A </a:t>
            </a:r>
            <a:r>
              <a:rPr lang="en-US" sz="2400" dirty="0" err="1">
                <a:latin typeface="Arial"/>
                <a:cs typeface="Arial"/>
              </a:rPr>
              <a:t>documentação</a:t>
            </a:r>
            <a:r>
              <a:rPr lang="en-US" sz="2400" dirty="0">
                <a:latin typeface="Arial"/>
                <a:cs typeface="Arial"/>
              </a:rPr>
              <a:t> </a:t>
            </a:r>
            <a:r>
              <a:rPr lang="en-US" sz="2400" dirty="0" err="1">
                <a:latin typeface="Arial"/>
                <a:cs typeface="Arial"/>
              </a:rPr>
              <a:t>referente</a:t>
            </a:r>
            <a:r>
              <a:rPr lang="en-US" sz="2400" dirty="0">
                <a:latin typeface="Arial"/>
                <a:cs typeface="Arial"/>
              </a:rPr>
              <a:t> </a:t>
            </a:r>
            <a:r>
              <a:rPr lang="en-US" sz="2400" dirty="0" err="1">
                <a:latin typeface="Arial"/>
                <a:cs typeface="Arial"/>
              </a:rPr>
              <a:t>ao</a:t>
            </a:r>
            <a:r>
              <a:rPr lang="en-US" sz="2400" dirty="0">
                <a:latin typeface="Arial"/>
                <a:cs typeface="Arial"/>
              </a:rPr>
              <a:t> Check C era </a:t>
            </a:r>
            <a:r>
              <a:rPr lang="en-US" sz="2400" dirty="0" err="1">
                <a:latin typeface="Arial"/>
                <a:cs typeface="Arial"/>
              </a:rPr>
              <a:t>apresentada</a:t>
            </a:r>
            <a:r>
              <a:rPr lang="en-US" sz="2400" dirty="0">
                <a:latin typeface="Arial"/>
                <a:cs typeface="Arial"/>
              </a:rPr>
              <a:t> de forma </a:t>
            </a:r>
            <a:r>
              <a:rPr lang="en-US" sz="2400" dirty="0" err="1">
                <a:latin typeface="Arial"/>
                <a:cs typeface="Arial"/>
              </a:rPr>
              <a:t>incompleta</a:t>
            </a:r>
            <a:r>
              <a:rPr lang="en-US" sz="2400" dirty="0">
                <a:latin typeface="Arial"/>
                <a:cs typeface="Arial"/>
              </a:rPr>
              <a:t>, e a </a:t>
            </a:r>
            <a:r>
              <a:rPr lang="en-US" sz="2400" dirty="0" err="1">
                <a:latin typeface="Arial"/>
                <a:cs typeface="Arial"/>
              </a:rPr>
              <a:t>ausência</a:t>
            </a:r>
            <a:r>
              <a:rPr lang="en-US" sz="2400" dirty="0">
                <a:latin typeface="Arial"/>
                <a:cs typeface="Arial"/>
              </a:rPr>
              <a:t> de </a:t>
            </a:r>
            <a:r>
              <a:rPr lang="en-US" sz="2400" dirty="0" err="1">
                <a:latin typeface="Arial"/>
                <a:cs typeface="Arial"/>
              </a:rPr>
              <a:t>liberações</a:t>
            </a:r>
            <a:r>
              <a:rPr lang="en-US" sz="2400" dirty="0">
                <a:latin typeface="Arial"/>
                <a:cs typeface="Arial"/>
              </a:rPr>
              <a:t> </a:t>
            </a:r>
            <a:r>
              <a:rPr lang="en-US" sz="2400" dirty="0" err="1">
                <a:latin typeface="Arial"/>
                <a:cs typeface="Arial"/>
              </a:rPr>
              <a:t>adequadas</a:t>
            </a:r>
            <a:r>
              <a:rPr lang="en-US" sz="2400" dirty="0">
                <a:latin typeface="Arial"/>
                <a:cs typeface="Arial"/>
              </a:rPr>
              <a:t> de </a:t>
            </a:r>
            <a:r>
              <a:rPr lang="en-US" sz="2400" dirty="0" err="1">
                <a:latin typeface="Arial"/>
                <a:cs typeface="Arial"/>
              </a:rPr>
              <a:t>aeronavegabilidade</a:t>
            </a:r>
            <a:r>
              <a:rPr lang="en-US" sz="2400" dirty="0">
                <a:latin typeface="Arial"/>
                <a:cs typeface="Arial"/>
              </a:rPr>
              <a:t> </a:t>
            </a:r>
            <a:r>
              <a:rPr lang="en-US" sz="2400" dirty="0" err="1">
                <a:latin typeface="Arial"/>
                <a:cs typeface="Arial"/>
              </a:rPr>
              <a:t>após</a:t>
            </a:r>
            <a:r>
              <a:rPr lang="en-US" sz="2400" dirty="0">
                <a:latin typeface="Arial"/>
                <a:cs typeface="Arial"/>
              </a:rPr>
              <a:t> Heavy Checks </a:t>
            </a:r>
            <a:r>
              <a:rPr lang="en-US" sz="2400" dirty="0" err="1">
                <a:latin typeface="Arial"/>
                <a:cs typeface="Arial"/>
              </a:rPr>
              <a:t>comprometia</a:t>
            </a:r>
            <a:r>
              <a:rPr lang="en-US" sz="2400" dirty="0">
                <a:latin typeface="Arial"/>
                <a:cs typeface="Arial"/>
              </a:rPr>
              <a:t> a </a:t>
            </a:r>
            <a:r>
              <a:rPr lang="en-US" sz="2400" dirty="0" err="1">
                <a:latin typeface="Arial"/>
                <a:cs typeface="Arial"/>
              </a:rPr>
              <a:t>rastreabilidade</a:t>
            </a:r>
            <a:r>
              <a:rPr lang="en-US" sz="2400" dirty="0">
                <a:latin typeface="Arial"/>
                <a:cs typeface="Arial"/>
              </a:rPr>
              <a:t> das </a:t>
            </a:r>
            <a:r>
              <a:rPr lang="en-US" sz="2400" dirty="0" err="1">
                <a:latin typeface="Arial"/>
                <a:cs typeface="Arial"/>
              </a:rPr>
              <a:t>intervenções</a:t>
            </a:r>
            <a:r>
              <a:rPr lang="en-US" sz="2400" dirty="0">
                <a:latin typeface="Arial"/>
                <a:cs typeface="Arial"/>
              </a:rPr>
              <a:t> de </a:t>
            </a:r>
            <a:r>
              <a:rPr lang="en-US" sz="2400" dirty="0" err="1">
                <a:latin typeface="Arial"/>
                <a:cs typeface="Arial"/>
              </a:rPr>
              <a:t>manutenção</a:t>
            </a:r>
            <a:r>
              <a:rPr lang="en-US" sz="2400" dirty="0">
                <a:latin typeface="Arial"/>
                <a:cs typeface="Arial"/>
              </a:rPr>
              <a:t>. </a:t>
            </a:r>
          </a:p>
          <a:p>
            <a:endParaRPr lang="en-US" sz="2400" dirty="0">
              <a:latin typeface="Arial"/>
              <a:cs typeface="Arial"/>
            </a:endParaRPr>
          </a:p>
          <a:p>
            <a:r>
              <a:rPr lang="en-US" sz="2400" dirty="0">
                <a:latin typeface="Arial"/>
                <a:cs typeface="Arial"/>
              </a:rPr>
              <a:t>Segundo o NTSB, o </a:t>
            </a:r>
            <a:r>
              <a:rPr lang="en-US" sz="2400" dirty="0" err="1">
                <a:latin typeface="Arial"/>
                <a:cs typeface="Arial"/>
              </a:rPr>
              <a:t>programa</a:t>
            </a:r>
            <a:r>
              <a:rPr lang="en-US" sz="2400" dirty="0">
                <a:latin typeface="Arial"/>
                <a:cs typeface="Arial"/>
              </a:rPr>
              <a:t> de </a:t>
            </a:r>
            <a:r>
              <a:rPr lang="en-US" sz="2400" dirty="0" err="1">
                <a:latin typeface="Arial"/>
                <a:cs typeface="Arial"/>
              </a:rPr>
              <a:t>manutenção</a:t>
            </a:r>
            <a:r>
              <a:rPr lang="en-US" sz="2400" dirty="0">
                <a:latin typeface="Arial"/>
                <a:cs typeface="Arial"/>
              </a:rPr>
              <a:t> da Alaska Airlines </a:t>
            </a:r>
            <a:r>
              <a:rPr lang="en-US" sz="2400" dirty="0" err="1">
                <a:latin typeface="Arial"/>
                <a:cs typeface="Arial"/>
              </a:rPr>
              <a:t>apresentava</a:t>
            </a:r>
            <a:r>
              <a:rPr lang="en-US" sz="2400" dirty="0">
                <a:latin typeface="Arial"/>
                <a:cs typeface="Arial"/>
              </a:rPr>
              <a:t> </a:t>
            </a:r>
            <a:r>
              <a:rPr lang="en-US" sz="2400" dirty="0" err="1">
                <a:latin typeface="Arial"/>
                <a:cs typeface="Arial"/>
              </a:rPr>
              <a:t>deficiências</a:t>
            </a:r>
            <a:r>
              <a:rPr lang="en-US" sz="2400" dirty="0">
                <a:latin typeface="Arial"/>
                <a:cs typeface="Arial"/>
              </a:rPr>
              <a:t> </a:t>
            </a:r>
            <a:r>
              <a:rPr lang="en-US" sz="2400" dirty="0" err="1">
                <a:latin typeface="Arial"/>
                <a:cs typeface="Arial"/>
              </a:rPr>
              <a:t>sistêmicas</a:t>
            </a:r>
            <a:r>
              <a:rPr lang="en-US" sz="2400" dirty="0">
                <a:latin typeface="Arial"/>
                <a:cs typeface="Arial"/>
              </a:rPr>
              <a:t> </a:t>
            </a:r>
            <a:r>
              <a:rPr lang="en-US" sz="2400" dirty="0" err="1">
                <a:latin typeface="Arial"/>
                <a:cs typeface="Arial"/>
              </a:rPr>
              <a:t>generalizadas</a:t>
            </a:r>
            <a:r>
              <a:rPr lang="en-US" sz="2400" dirty="0">
                <a:latin typeface="Arial"/>
                <a:cs typeface="Arial"/>
              </a:rPr>
              <a:t>, </a:t>
            </a:r>
            <a:r>
              <a:rPr lang="en-US" sz="2400" dirty="0" err="1">
                <a:latin typeface="Arial"/>
                <a:cs typeface="Arial"/>
              </a:rPr>
              <a:t>destacando</a:t>
            </a:r>
            <a:r>
              <a:rPr lang="en-US" sz="2400" dirty="0">
                <a:latin typeface="Arial"/>
                <a:cs typeface="Arial"/>
              </a:rPr>
              <a:t>-se: </a:t>
            </a:r>
          </a:p>
          <a:p>
            <a:endParaRPr lang="en-US" sz="2400" dirty="0">
              <a:latin typeface="Arial"/>
              <a:cs typeface="Arial"/>
            </a:endParaRPr>
          </a:p>
          <a:p>
            <a:r>
              <a:rPr lang="en-US" sz="2400">
                <a:latin typeface="Arial"/>
                <a:cs typeface="Arial"/>
              </a:rPr>
              <a:t>•  </a:t>
            </a:r>
            <a:r>
              <a:rPr lang="en-US" sz="2400" err="1">
                <a:latin typeface="Arial"/>
                <a:cs typeface="Arial"/>
              </a:rPr>
              <a:t>Lubrificação</a:t>
            </a:r>
            <a:r>
              <a:rPr lang="en-US" sz="2400" dirty="0">
                <a:latin typeface="Arial"/>
                <a:cs typeface="Arial"/>
              </a:rPr>
              <a:t> </a:t>
            </a:r>
            <a:r>
              <a:rPr lang="en-US" sz="2400" err="1">
                <a:latin typeface="Arial"/>
                <a:cs typeface="Arial"/>
              </a:rPr>
              <a:t>realizada</a:t>
            </a:r>
            <a:r>
              <a:rPr lang="en-US" sz="2400" dirty="0">
                <a:latin typeface="Arial"/>
                <a:cs typeface="Arial"/>
              </a:rPr>
              <a:t> de forma </a:t>
            </a:r>
            <a:r>
              <a:rPr lang="en-US" sz="2400" err="1">
                <a:latin typeface="Arial"/>
                <a:cs typeface="Arial"/>
              </a:rPr>
              <a:t>insuficiente</a:t>
            </a:r>
            <a:r>
              <a:rPr lang="en-US" sz="2400" dirty="0">
                <a:latin typeface="Arial"/>
                <a:cs typeface="Arial"/>
              </a:rPr>
              <a:t>; </a:t>
            </a:r>
            <a:endParaRPr lang="en-US" sz="2400">
              <a:latin typeface="Arial"/>
              <a:cs typeface="Arial"/>
            </a:endParaRPr>
          </a:p>
          <a:p>
            <a:r>
              <a:rPr lang="en-US" sz="2400" dirty="0">
                <a:latin typeface="Arial"/>
                <a:cs typeface="Arial"/>
              </a:rPr>
              <a:t>•  </a:t>
            </a:r>
            <a:r>
              <a:rPr lang="en-US" sz="2400" err="1">
                <a:latin typeface="Arial"/>
                <a:cs typeface="Arial"/>
              </a:rPr>
              <a:t>Extensão</a:t>
            </a:r>
            <a:r>
              <a:rPr lang="en-US" sz="2400" dirty="0">
                <a:latin typeface="Arial"/>
                <a:cs typeface="Arial"/>
              </a:rPr>
              <a:t> </a:t>
            </a:r>
            <a:r>
              <a:rPr lang="en-US" sz="2400" err="1">
                <a:latin typeface="Arial"/>
                <a:cs typeface="Arial"/>
              </a:rPr>
              <a:t>inadequada</a:t>
            </a:r>
            <a:r>
              <a:rPr lang="en-US" sz="2400" dirty="0">
                <a:latin typeface="Arial"/>
                <a:cs typeface="Arial"/>
              </a:rPr>
              <a:t> do </a:t>
            </a:r>
            <a:r>
              <a:rPr lang="en-US" sz="2400" err="1">
                <a:latin typeface="Arial"/>
                <a:cs typeface="Arial"/>
              </a:rPr>
              <a:t>intervalo</a:t>
            </a:r>
            <a:r>
              <a:rPr lang="en-US" sz="2400" dirty="0">
                <a:latin typeface="Arial"/>
                <a:cs typeface="Arial"/>
              </a:rPr>
              <a:t> de </a:t>
            </a:r>
            <a:r>
              <a:rPr lang="en-US" sz="2400" err="1">
                <a:latin typeface="Arial"/>
                <a:cs typeface="Arial"/>
              </a:rPr>
              <a:t>inspeção</a:t>
            </a:r>
            <a:r>
              <a:rPr lang="en-US" sz="2400" dirty="0">
                <a:latin typeface="Arial"/>
                <a:cs typeface="Arial"/>
              </a:rPr>
              <a:t> da </a:t>
            </a:r>
            <a:r>
              <a:rPr lang="en-US" sz="2400" err="1">
                <a:latin typeface="Arial"/>
                <a:cs typeface="Arial"/>
              </a:rPr>
              <a:t>folga</a:t>
            </a:r>
            <a:r>
              <a:rPr lang="en-US" sz="2400" dirty="0">
                <a:latin typeface="Arial"/>
                <a:cs typeface="Arial"/>
              </a:rPr>
              <a:t> axial. </a:t>
            </a:r>
            <a:endParaRPr lang="en-US" sz="2400">
              <a:latin typeface="Arial"/>
              <a:cs typeface="Arial"/>
            </a:endParaRPr>
          </a:p>
        </p:txBody>
      </p:sp>
      <p:sp>
        <p:nvSpPr>
          <p:cNvPr id="10" name="CaixaDeTexto 9">
            <a:extLst>
              <a:ext uri="{FF2B5EF4-FFF2-40B4-BE49-F238E27FC236}">
                <a16:creationId xmlns:a16="http://schemas.microsoft.com/office/drawing/2014/main" id="{267E97C0-4DE4-B194-978B-8158A3B4E666}"/>
              </a:ext>
            </a:extLst>
          </p:cNvPr>
          <p:cNvSpPr txBox="1"/>
          <p:nvPr/>
        </p:nvSpPr>
        <p:spPr>
          <a:xfrm>
            <a:off x="402921" y="1008345"/>
            <a:ext cx="1485169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err="1">
                <a:latin typeface="Arial"/>
                <a:cs typeface="Arial"/>
              </a:rPr>
              <a:t>Inadequações</a:t>
            </a:r>
            <a:r>
              <a:rPr lang="en-US" sz="2400" dirty="0">
                <a:latin typeface="Arial"/>
                <a:cs typeface="Arial"/>
              </a:rPr>
              <a:t> do Manual Geral de </a:t>
            </a:r>
            <a:r>
              <a:rPr lang="en-US" sz="2400" err="1">
                <a:latin typeface="Arial"/>
                <a:cs typeface="Arial"/>
              </a:rPr>
              <a:t>Manutenção</a:t>
            </a:r>
            <a:r>
              <a:rPr lang="en-US" sz="2400" dirty="0">
                <a:latin typeface="Arial"/>
                <a:cs typeface="Arial"/>
              </a:rPr>
              <a:t> (MGM) e </a:t>
            </a:r>
            <a:r>
              <a:rPr lang="en-US" sz="2400" err="1">
                <a:latin typeface="Arial"/>
                <a:cs typeface="Arial"/>
              </a:rPr>
              <a:t>Programas</a:t>
            </a:r>
            <a:r>
              <a:rPr lang="en-US" sz="2400" dirty="0">
                <a:latin typeface="Arial"/>
                <a:cs typeface="Arial"/>
              </a:rPr>
              <a:t> de </a:t>
            </a:r>
            <a:r>
              <a:rPr lang="en-US" sz="2400" err="1">
                <a:latin typeface="Arial"/>
                <a:cs typeface="Arial"/>
              </a:rPr>
              <a:t>Treinamento</a:t>
            </a:r>
            <a:endParaRPr lang="en-US" sz="2400">
              <a:latin typeface="Arial"/>
              <a:cs typeface="Arial"/>
            </a:endParaRPr>
          </a:p>
        </p:txBody>
      </p:sp>
    </p:spTree>
    <p:extLst>
      <p:ext uri="{BB962C8B-B14F-4D97-AF65-F5344CB8AC3E}">
        <p14:creationId xmlns:p14="http://schemas.microsoft.com/office/powerpoint/2010/main" val="147747252"/>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48C9A-A057-2E43-3B5D-ECAEF255BA64}"/>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DBA70CC4-D785-5049-313E-187C91566BB8}"/>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CDEBA81E-6853-ED64-3131-C3A7DE5276E7}"/>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a:ln>
                  <a:noFill/>
                </a:ln>
                <a:solidFill>
                  <a:srgbClr val="0070C0"/>
                </a:solidFill>
                <a:effectLst/>
                <a:uLnTx/>
                <a:uFillTx/>
                <a:latin typeface="Arial"/>
                <a:cs typeface="Arial"/>
                <a:sym typeface="Helvetica Neue"/>
              </a:rPr>
              <a:t> </a:t>
            </a:r>
            <a:r>
              <a:rPr lang="en-US" sz="2000" b="1">
                <a:solidFill>
                  <a:srgbClr val="0070C0"/>
                </a:solidFill>
                <a:latin typeface="Arial"/>
                <a:cs typeface="Arial"/>
                <a:sym typeface="Helvetica Neue"/>
              </a:rPr>
              <a:t>2</a:t>
            </a:r>
            <a:endParaRPr kumimoji="0" lang="pt-BR"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C6ACAE84-73C9-F7AF-64F9-7612A05D2461}"/>
              </a:ext>
            </a:extLst>
          </p:cNvPr>
          <p:cNvSpPr txBox="1"/>
          <p:nvPr/>
        </p:nvSpPr>
        <p:spPr>
          <a:xfrm>
            <a:off x="204278" y="564779"/>
            <a:ext cx="4163319" cy="307777"/>
          </a:xfrm>
          <a:prstGeom prst="rect">
            <a:avLst/>
          </a:prstGeom>
          <a:noFill/>
        </p:spPr>
        <p:txBody>
          <a:bodyPr wrap="none" lIns="91440" tIns="45720" rIns="91440" bIns="45720" rtlCol="0" anchor="t">
            <a:spAutoFit/>
          </a:bodyPr>
          <a:lstStyle/>
          <a:p>
            <a:r>
              <a:rPr lang="pt-BR" sz="1400" u="sng">
                <a:solidFill>
                  <a:srgbClr val="0070C0"/>
                </a:solidFill>
                <a:latin typeface="Arial"/>
                <a:cs typeface="Arial"/>
              </a:rPr>
              <a:t>Slide 2.2 - Retorno ao serviço após a manutenção</a:t>
            </a:r>
          </a:p>
        </p:txBody>
      </p:sp>
      <p:sp>
        <p:nvSpPr>
          <p:cNvPr id="8" name="CaixaDeTexto 7">
            <a:extLst>
              <a:ext uri="{FF2B5EF4-FFF2-40B4-BE49-F238E27FC236}">
                <a16:creationId xmlns:a16="http://schemas.microsoft.com/office/drawing/2014/main" id="{5D410107-7790-DF5F-5413-4BC77D15A4CC}"/>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algn="ctr">
              <a:defRPr/>
            </a:pPr>
            <a:r>
              <a:rPr lang="pt-BR" u="sng" dirty="0">
                <a:solidFill>
                  <a:srgbClr val="0070C0"/>
                </a:solidFill>
                <a:latin typeface="Aptos" panose="02110004020202020204"/>
              </a:rPr>
              <a:t>Resp.: Isabela Soares</a:t>
            </a:r>
            <a:endParaRPr lang="pt-BR" u="sng" dirty="0">
              <a:solidFill>
                <a:srgbClr val="0070C0"/>
              </a:solidFill>
            </a:endParaRPr>
          </a:p>
        </p:txBody>
      </p:sp>
      <p:sp>
        <p:nvSpPr>
          <p:cNvPr id="9" name="CaixaDeTexto 8">
            <a:extLst>
              <a:ext uri="{FF2B5EF4-FFF2-40B4-BE49-F238E27FC236}">
                <a16:creationId xmlns:a16="http://schemas.microsoft.com/office/drawing/2014/main" id="{DA1BDA39-D985-7110-F85F-4B86EDAE7BB9}"/>
              </a:ext>
            </a:extLst>
          </p:cNvPr>
          <p:cNvSpPr txBox="1"/>
          <p:nvPr/>
        </p:nvSpPr>
        <p:spPr>
          <a:xfrm>
            <a:off x="1608667" y="-18398"/>
            <a:ext cx="8669433" cy="738664"/>
          </a:xfrm>
          <a:prstGeom prst="rect">
            <a:avLst/>
          </a:prstGeom>
          <a:noFill/>
        </p:spPr>
        <p:txBody>
          <a:bodyPr wrap="square" lIns="91440" tIns="45720" rIns="91440" bIns="45720" rtlCol="0" anchor="t">
            <a:spAutoFit/>
          </a:bodyPr>
          <a:lstStyle/>
          <a:p>
            <a:pPr>
              <a:defRPr/>
            </a:pPr>
            <a:r>
              <a:rPr lang="pt-BR" sz="1400" dirty="0">
                <a:solidFill>
                  <a:schemeClr val="accent4">
                    <a:lumMod val="76000"/>
                  </a:schemeClr>
                </a:solidFill>
                <a:latin typeface="Arial"/>
                <a:cs typeface="Arial"/>
              </a:rPr>
              <a:t>Requisitos de Manutenção RBAC 43 e 145: Discorra sobre os erros cometidos pela Alaska Airlines, identificando no Relatório do NSTB em  relação aos seguintes aspectos</a:t>
            </a:r>
            <a:endParaRPr lang="pt-BR" dirty="0">
              <a:solidFill>
                <a:schemeClr val="accent4">
                  <a:lumMod val="76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8FFF6870-B97E-8483-2B96-81DF3CE15B0D}"/>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4" name="CaixaDeTexto 3">
            <a:extLst>
              <a:ext uri="{FF2B5EF4-FFF2-40B4-BE49-F238E27FC236}">
                <a16:creationId xmlns:a16="http://schemas.microsoft.com/office/drawing/2014/main" id="{A3C7ED58-C836-3D05-B6B8-0B668513D879}"/>
              </a:ext>
            </a:extLst>
          </p:cNvPr>
          <p:cNvSpPr txBox="1"/>
          <p:nvPr/>
        </p:nvSpPr>
        <p:spPr>
          <a:xfrm>
            <a:off x="219638" y="1922930"/>
            <a:ext cx="6116169" cy="48320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200" dirty="0">
              <a:latin typeface="Arial"/>
              <a:cs typeface="Arial"/>
            </a:endParaRPr>
          </a:p>
          <a:p>
            <a:r>
              <a:rPr lang="en-US" sz="2200" dirty="0">
                <a:latin typeface="Arial"/>
                <a:cs typeface="Arial"/>
              </a:rPr>
              <a:t>• </a:t>
            </a:r>
            <a:r>
              <a:rPr lang="en-US" sz="2200" dirty="0" err="1">
                <a:latin typeface="Arial"/>
                <a:cs typeface="Arial"/>
              </a:rPr>
              <a:t>Após</a:t>
            </a:r>
            <a:r>
              <a:rPr lang="en-US" sz="2200" dirty="0">
                <a:latin typeface="Arial"/>
                <a:cs typeface="Arial"/>
              </a:rPr>
              <a:t> o </a:t>
            </a:r>
            <a:r>
              <a:rPr lang="en-US" sz="2200" dirty="0" err="1">
                <a:latin typeface="Arial"/>
                <a:cs typeface="Arial"/>
              </a:rPr>
              <a:t>acidente</a:t>
            </a:r>
            <a:r>
              <a:rPr lang="en-US" sz="2200" dirty="0">
                <a:latin typeface="Arial"/>
                <a:cs typeface="Arial"/>
              </a:rPr>
              <a:t> do </a:t>
            </a:r>
            <a:r>
              <a:rPr lang="en-US" sz="2200" dirty="0" err="1">
                <a:latin typeface="Arial"/>
                <a:cs typeface="Arial"/>
              </a:rPr>
              <a:t>voo</a:t>
            </a:r>
            <a:r>
              <a:rPr lang="en-US" sz="2200" dirty="0">
                <a:latin typeface="Arial"/>
                <a:cs typeface="Arial"/>
              </a:rPr>
              <a:t> 261, a FAA </a:t>
            </a:r>
            <a:r>
              <a:rPr lang="en-US" sz="2200" dirty="0" err="1">
                <a:latin typeface="Arial"/>
                <a:cs typeface="Arial"/>
              </a:rPr>
              <a:t>iniciou</a:t>
            </a:r>
            <a:r>
              <a:rPr lang="en-US" sz="2200" dirty="0">
                <a:latin typeface="Arial"/>
                <a:cs typeface="Arial"/>
              </a:rPr>
              <a:t> </a:t>
            </a:r>
            <a:r>
              <a:rPr lang="en-US" sz="2200" dirty="0" err="1">
                <a:latin typeface="Arial"/>
                <a:cs typeface="Arial"/>
              </a:rPr>
              <a:t>uma</a:t>
            </a:r>
            <a:r>
              <a:rPr lang="en-US" sz="2200" dirty="0">
                <a:latin typeface="Arial"/>
                <a:cs typeface="Arial"/>
              </a:rPr>
              <a:t> </a:t>
            </a:r>
            <a:r>
              <a:rPr lang="en-US" sz="2200" dirty="0" err="1">
                <a:latin typeface="Arial"/>
                <a:cs typeface="Arial"/>
              </a:rPr>
              <a:t>inspeção</a:t>
            </a:r>
            <a:r>
              <a:rPr lang="en-US" sz="2200" dirty="0">
                <a:latin typeface="Arial"/>
                <a:cs typeface="Arial"/>
              </a:rPr>
              <a:t> especial </a:t>
            </a:r>
            <a:r>
              <a:rPr lang="en-US" sz="2200" dirty="0" err="1">
                <a:latin typeface="Arial"/>
                <a:cs typeface="Arial"/>
              </a:rPr>
              <a:t>na</a:t>
            </a:r>
            <a:r>
              <a:rPr lang="en-US" sz="2200" dirty="0">
                <a:latin typeface="Arial"/>
                <a:cs typeface="Arial"/>
              </a:rPr>
              <a:t> Alaska Airlines. </a:t>
            </a:r>
            <a:endParaRPr lang="en-US" sz="2200">
              <a:latin typeface="Arial"/>
              <a:cs typeface="Arial"/>
            </a:endParaRPr>
          </a:p>
          <a:p>
            <a:endParaRPr lang="en-US" sz="2200" dirty="0">
              <a:latin typeface="Arial"/>
              <a:cs typeface="Arial"/>
            </a:endParaRPr>
          </a:p>
          <a:p>
            <a:r>
              <a:rPr lang="en-US" sz="2200" dirty="0">
                <a:latin typeface="Arial"/>
                <a:cs typeface="Arial"/>
              </a:rPr>
              <a:t>• </a:t>
            </a:r>
            <a:r>
              <a:rPr lang="en-US" sz="2200" dirty="0" err="1">
                <a:latin typeface="Arial"/>
                <a:cs typeface="Arial"/>
              </a:rPr>
              <a:t>Inicialmente</a:t>
            </a:r>
            <a:r>
              <a:rPr lang="en-US" sz="2200" dirty="0">
                <a:latin typeface="Arial"/>
                <a:cs typeface="Arial"/>
              </a:rPr>
              <a:t>, a FAA </a:t>
            </a:r>
            <a:r>
              <a:rPr lang="en-US" sz="2200" dirty="0" err="1">
                <a:latin typeface="Arial"/>
                <a:cs typeface="Arial"/>
              </a:rPr>
              <a:t>considerou</a:t>
            </a:r>
            <a:r>
              <a:rPr lang="en-US" sz="2200" dirty="0">
                <a:latin typeface="Arial"/>
                <a:cs typeface="Arial"/>
              </a:rPr>
              <a:t> suspender a </a:t>
            </a:r>
            <a:r>
              <a:rPr lang="en-US" sz="2200" dirty="0" err="1">
                <a:latin typeface="Arial"/>
                <a:cs typeface="Arial"/>
              </a:rPr>
              <a:t>autorização</a:t>
            </a:r>
            <a:r>
              <a:rPr lang="en-US" sz="2200" dirty="0">
                <a:latin typeface="Arial"/>
                <a:cs typeface="Arial"/>
              </a:rPr>
              <a:t> da </a:t>
            </a:r>
            <a:r>
              <a:rPr lang="en-US" sz="2200" dirty="0" err="1">
                <a:latin typeface="Arial"/>
                <a:cs typeface="Arial"/>
              </a:rPr>
              <a:t>companhia</a:t>
            </a:r>
            <a:r>
              <a:rPr lang="en-US" sz="2200" dirty="0">
                <a:latin typeface="Arial"/>
                <a:cs typeface="Arial"/>
              </a:rPr>
              <a:t> para </a:t>
            </a:r>
            <a:r>
              <a:rPr lang="en-US" sz="2200" dirty="0" err="1">
                <a:latin typeface="Arial"/>
                <a:cs typeface="Arial"/>
              </a:rPr>
              <a:t>realização</a:t>
            </a:r>
            <a:r>
              <a:rPr lang="en-US" sz="2200" dirty="0">
                <a:latin typeface="Arial"/>
                <a:cs typeface="Arial"/>
              </a:rPr>
              <a:t> de </a:t>
            </a:r>
            <a:r>
              <a:rPr lang="en-US" sz="2200" dirty="0" err="1">
                <a:latin typeface="Arial"/>
                <a:cs typeface="Arial"/>
              </a:rPr>
              <a:t>manutenção</a:t>
            </a:r>
            <a:r>
              <a:rPr lang="en-US" sz="2200" dirty="0">
                <a:latin typeface="Arial"/>
                <a:cs typeface="Arial"/>
              </a:rPr>
              <a:t> </a:t>
            </a:r>
            <a:r>
              <a:rPr lang="en-US" sz="2200" dirty="0" err="1">
                <a:latin typeface="Arial"/>
                <a:cs typeface="Arial"/>
              </a:rPr>
              <a:t>pesada</a:t>
            </a:r>
            <a:r>
              <a:rPr lang="en-US" sz="2200" dirty="0">
                <a:latin typeface="Arial"/>
                <a:cs typeface="Arial"/>
              </a:rPr>
              <a:t>, mas </a:t>
            </a:r>
            <a:r>
              <a:rPr lang="en-US" sz="2200" dirty="0" err="1">
                <a:latin typeface="Arial"/>
                <a:cs typeface="Arial"/>
              </a:rPr>
              <a:t>acabou</a:t>
            </a:r>
            <a:r>
              <a:rPr lang="en-US" sz="2200" dirty="0">
                <a:latin typeface="Arial"/>
                <a:cs typeface="Arial"/>
              </a:rPr>
              <a:t> </a:t>
            </a:r>
            <a:r>
              <a:rPr lang="en-US" sz="2200" dirty="0" err="1">
                <a:latin typeface="Arial"/>
                <a:cs typeface="Arial"/>
              </a:rPr>
              <a:t>aceitando</a:t>
            </a:r>
            <a:r>
              <a:rPr lang="en-US" sz="2200" dirty="0">
                <a:latin typeface="Arial"/>
                <a:cs typeface="Arial"/>
              </a:rPr>
              <a:t> a </a:t>
            </a:r>
            <a:r>
              <a:rPr lang="en-US" sz="2200" dirty="0" err="1">
                <a:latin typeface="Arial"/>
                <a:cs typeface="Arial"/>
              </a:rPr>
              <a:t>implementação</a:t>
            </a:r>
            <a:r>
              <a:rPr lang="en-US" sz="2200" dirty="0">
                <a:latin typeface="Arial"/>
                <a:cs typeface="Arial"/>
              </a:rPr>
              <a:t> de um plano de </a:t>
            </a:r>
            <a:r>
              <a:rPr lang="en-US" sz="2200" dirty="0" err="1">
                <a:latin typeface="Arial"/>
                <a:cs typeface="Arial"/>
              </a:rPr>
              <a:t>ação</a:t>
            </a:r>
            <a:r>
              <a:rPr lang="en-US" sz="2200" dirty="0">
                <a:latin typeface="Arial"/>
                <a:cs typeface="Arial"/>
              </a:rPr>
              <a:t> </a:t>
            </a:r>
            <a:r>
              <a:rPr lang="en-US" sz="2200" dirty="0" err="1">
                <a:latin typeface="Arial"/>
                <a:cs typeface="Arial"/>
              </a:rPr>
              <a:t>corretiva</a:t>
            </a:r>
            <a:r>
              <a:rPr lang="en-US" sz="2200" dirty="0">
                <a:latin typeface="Arial"/>
                <a:cs typeface="Arial"/>
              </a:rPr>
              <a:t>.</a:t>
            </a:r>
          </a:p>
          <a:p>
            <a:endParaRPr lang="en-US" sz="2200" dirty="0">
              <a:latin typeface="Arial"/>
              <a:cs typeface="Arial"/>
            </a:endParaRPr>
          </a:p>
          <a:p>
            <a:r>
              <a:rPr lang="en-US" sz="2200" dirty="0">
                <a:latin typeface="Arial"/>
                <a:cs typeface="Arial"/>
              </a:rPr>
              <a:t>• </a:t>
            </a:r>
            <a:r>
              <a:rPr lang="en-US" sz="2200" dirty="0" err="1">
                <a:latin typeface="Arial"/>
                <a:cs typeface="Arial"/>
              </a:rPr>
              <a:t>Inspeção</a:t>
            </a:r>
            <a:r>
              <a:rPr lang="en-US" sz="2200" dirty="0">
                <a:latin typeface="Arial"/>
                <a:cs typeface="Arial"/>
              </a:rPr>
              <a:t> de </a:t>
            </a:r>
            <a:r>
              <a:rPr lang="en-US" sz="2200" dirty="0" err="1">
                <a:latin typeface="Arial"/>
                <a:cs typeface="Arial"/>
              </a:rPr>
              <a:t>Acompanhamento</a:t>
            </a:r>
            <a:r>
              <a:rPr lang="en-US" sz="2200" dirty="0">
                <a:latin typeface="Arial"/>
                <a:cs typeface="Arial"/>
              </a:rPr>
              <a:t> (Setembro/2000): </a:t>
            </a:r>
            <a:r>
              <a:rPr lang="en-US" sz="2200" dirty="0" err="1">
                <a:latin typeface="Arial"/>
                <a:cs typeface="Arial"/>
              </a:rPr>
              <a:t>diversas</a:t>
            </a:r>
            <a:r>
              <a:rPr lang="en-US" sz="2200" dirty="0">
                <a:latin typeface="Arial"/>
                <a:cs typeface="Arial"/>
              </a:rPr>
              <a:t> </a:t>
            </a:r>
            <a:r>
              <a:rPr lang="en-US" sz="2200" dirty="0" err="1">
                <a:latin typeface="Arial"/>
                <a:cs typeface="Arial"/>
              </a:rPr>
              <a:t>deficiências</a:t>
            </a:r>
            <a:r>
              <a:rPr lang="en-US" sz="2200" dirty="0">
                <a:latin typeface="Arial"/>
                <a:cs typeface="Arial"/>
              </a:rPr>
              <a:t> </a:t>
            </a:r>
            <a:r>
              <a:rPr lang="en-US" sz="2200" dirty="0" err="1">
                <a:latin typeface="Arial"/>
                <a:cs typeface="Arial"/>
              </a:rPr>
              <a:t>identificadas</a:t>
            </a:r>
            <a:r>
              <a:rPr lang="en-US" sz="2200" dirty="0">
                <a:latin typeface="Arial"/>
                <a:cs typeface="Arial"/>
              </a:rPr>
              <a:t> </a:t>
            </a:r>
            <a:r>
              <a:rPr lang="en-US" sz="2200" dirty="0" err="1">
                <a:latin typeface="Arial"/>
                <a:cs typeface="Arial"/>
              </a:rPr>
              <a:t>anteriormente</a:t>
            </a:r>
            <a:r>
              <a:rPr lang="en-US" sz="2200" dirty="0">
                <a:latin typeface="Arial"/>
                <a:cs typeface="Arial"/>
              </a:rPr>
              <a:t> </a:t>
            </a:r>
            <a:r>
              <a:rPr lang="en-US" sz="2200" dirty="0" err="1">
                <a:latin typeface="Arial"/>
                <a:cs typeface="Arial"/>
              </a:rPr>
              <a:t>permaneceram</a:t>
            </a:r>
            <a:r>
              <a:rPr lang="en-US" sz="2200" dirty="0">
                <a:latin typeface="Arial"/>
                <a:cs typeface="Arial"/>
              </a:rPr>
              <a:t> </a:t>
            </a:r>
            <a:r>
              <a:rPr lang="en-US" sz="2200" dirty="0" err="1">
                <a:latin typeface="Arial"/>
                <a:cs typeface="Arial"/>
              </a:rPr>
              <a:t>sem</a:t>
            </a:r>
            <a:r>
              <a:rPr lang="en-US" sz="2200" dirty="0">
                <a:latin typeface="Arial"/>
                <a:cs typeface="Arial"/>
              </a:rPr>
              <a:t> </a:t>
            </a:r>
            <a:r>
              <a:rPr lang="en-US" sz="2200" dirty="0" err="1">
                <a:latin typeface="Arial"/>
                <a:cs typeface="Arial"/>
              </a:rPr>
              <a:t>solução</a:t>
            </a:r>
            <a:r>
              <a:rPr lang="en-US" sz="2200" dirty="0">
                <a:latin typeface="Arial"/>
                <a:cs typeface="Arial"/>
              </a:rPr>
              <a:t>. </a:t>
            </a:r>
            <a:endParaRPr lang="en-US" sz="2200">
              <a:latin typeface="Arial"/>
              <a:cs typeface="Arial"/>
            </a:endParaRPr>
          </a:p>
          <a:p>
            <a:endParaRPr lang="en-US" sz="2200">
              <a:latin typeface="Arial"/>
              <a:cs typeface="Arial"/>
            </a:endParaRPr>
          </a:p>
        </p:txBody>
      </p:sp>
      <p:sp>
        <p:nvSpPr>
          <p:cNvPr id="14" name="CaixaDeTexto 13">
            <a:extLst>
              <a:ext uri="{FF2B5EF4-FFF2-40B4-BE49-F238E27FC236}">
                <a16:creationId xmlns:a16="http://schemas.microsoft.com/office/drawing/2014/main" id="{FE28EAF4-860D-FE4A-9AB1-5EFE372368E7}"/>
              </a:ext>
            </a:extLst>
          </p:cNvPr>
          <p:cNvSpPr txBox="1"/>
          <p:nvPr/>
        </p:nvSpPr>
        <p:spPr>
          <a:xfrm>
            <a:off x="6595784" y="2337546"/>
            <a:ext cx="5533465"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Arial"/>
                <a:cs typeface="Arial"/>
              </a:rPr>
              <a:t>• </a:t>
            </a:r>
            <a:r>
              <a:rPr lang="en-US" sz="2000" dirty="0" err="1">
                <a:latin typeface="Arial"/>
                <a:cs typeface="Arial"/>
              </a:rPr>
              <a:t>Revisão</a:t>
            </a:r>
            <a:r>
              <a:rPr lang="en-US" sz="2000" dirty="0">
                <a:latin typeface="Arial"/>
                <a:cs typeface="Arial"/>
              </a:rPr>
              <a:t> </a:t>
            </a:r>
            <a:r>
              <a:rPr lang="en-US" sz="2000" dirty="0" err="1">
                <a:latin typeface="Arial"/>
                <a:cs typeface="Arial"/>
              </a:rPr>
              <a:t>Adicional</a:t>
            </a:r>
            <a:r>
              <a:rPr lang="en-US" sz="2000" dirty="0">
                <a:latin typeface="Arial"/>
                <a:cs typeface="Arial"/>
              </a:rPr>
              <a:t> (</a:t>
            </a:r>
            <a:r>
              <a:rPr lang="en-US" sz="2000" dirty="0" err="1">
                <a:latin typeface="Arial"/>
                <a:cs typeface="Arial"/>
              </a:rPr>
              <a:t>Julho</a:t>
            </a:r>
            <a:r>
              <a:rPr lang="en-US" sz="2000" dirty="0">
                <a:latin typeface="Arial"/>
                <a:cs typeface="Arial"/>
              </a:rPr>
              <a:t>/2001): </a:t>
            </a:r>
            <a:r>
              <a:rPr lang="en-US" sz="2000" dirty="0" err="1">
                <a:latin typeface="Arial"/>
                <a:cs typeface="Arial"/>
              </a:rPr>
              <a:t>constatou</a:t>
            </a:r>
            <a:r>
              <a:rPr lang="en-US" sz="2000" dirty="0">
                <a:latin typeface="Arial"/>
                <a:cs typeface="Arial"/>
              </a:rPr>
              <a:t>-se que a Alaska Airlines </a:t>
            </a:r>
            <a:r>
              <a:rPr lang="en-US" sz="2000" dirty="0" err="1">
                <a:latin typeface="Arial"/>
                <a:cs typeface="Arial"/>
              </a:rPr>
              <a:t>havia</a:t>
            </a:r>
            <a:r>
              <a:rPr lang="en-US" sz="2000" dirty="0">
                <a:latin typeface="Arial"/>
                <a:cs typeface="Arial"/>
              </a:rPr>
              <a:t> </a:t>
            </a:r>
            <a:r>
              <a:rPr lang="en-US" sz="2000" dirty="0" err="1">
                <a:latin typeface="Arial"/>
                <a:cs typeface="Arial"/>
              </a:rPr>
              <a:t>promovido</a:t>
            </a:r>
            <a:r>
              <a:rPr lang="en-US" sz="2000" dirty="0">
                <a:latin typeface="Arial"/>
                <a:cs typeface="Arial"/>
              </a:rPr>
              <a:t> </a:t>
            </a:r>
            <a:r>
              <a:rPr lang="en-US" sz="2000" dirty="0" err="1">
                <a:latin typeface="Arial"/>
                <a:cs typeface="Arial"/>
              </a:rPr>
              <a:t>melhorias</a:t>
            </a:r>
            <a:r>
              <a:rPr lang="en-US" sz="2000" dirty="0">
                <a:latin typeface="Arial"/>
                <a:cs typeface="Arial"/>
              </a:rPr>
              <a:t> </a:t>
            </a:r>
            <a:r>
              <a:rPr lang="en-US" sz="2000" dirty="0" err="1">
                <a:latin typeface="Arial"/>
                <a:cs typeface="Arial"/>
              </a:rPr>
              <a:t>significativas</a:t>
            </a:r>
            <a:r>
              <a:rPr lang="en-US" sz="2000" dirty="0">
                <a:latin typeface="Arial"/>
                <a:cs typeface="Arial"/>
              </a:rPr>
              <a:t>, </a:t>
            </a:r>
            <a:r>
              <a:rPr lang="en-US" sz="2000" dirty="0" err="1">
                <a:latin typeface="Arial"/>
                <a:cs typeface="Arial"/>
              </a:rPr>
              <a:t>demonstrando</a:t>
            </a:r>
            <a:r>
              <a:rPr lang="en-US" sz="2000" dirty="0">
                <a:latin typeface="Arial"/>
                <a:cs typeface="Arial"/>
              </a:rPr>
              <a:t> a </a:t>
            </a:r>
            <a:r>
              <a:rPr lang="en-US" sz="2000" dirty="0" err="1">
                <a:latin typeface="Arial"/>
                <a:cs typeface="Arial"/>
              </a:rPr>
              <a:t>correção</a:t>
            </a:r>
            <a:r>
              <a:rPr lang="en-US" sz="2000" dirty="0">
                <a:latin typeface="Arial"/>
                <a:cs typeface="Arial"/>
              </a:rPr>
              <a:t> das </a:t>
            </a:r>
            <a:r>
              <a:rPr lang="en-US" sz="2000" dirty="0" err="1">
                <a:latin typeface="Arial"/>
                <a:cs typeface="Arial"/>
              </a:rPr>
              <a:t>principais</a:t>
            </a:r>
            <a:r>
              <a:rPr lang="en-US" sz="2000" dirty="0">
                <a:latin typeface="Arial"/>
                <a:cs typeface="Arial"/>
              </a:rPr>
              <a:t> </a:t>
            </a:r>
            <a:r>
              <a:rPr lang="en-US" sz="2000" dirty="0" err="1">
                <a:latin typeface="Arial"/>
                <a:cs typeface="Arial"/>
              </a:rPr>
              <a:t>não</a:t>
            </a:r>
            <a:r>
              <a:rPr lang="en-US" sz="2000" dirty="0">
                <a:latin typeface="Arial"/>
                <a:cs typeface="Arial"/>
              </a:rPr>
              <a:t> </a:t>
            </a:r>
            <a:r>
              <a:rPr lang="en-US" sz="2000" dirty="0" err="1">
                <a:latin typeface="Arial"/>
                <a:cs typeface="Arial"/>
              </a:rPr>
              <a:t>conformidades</a:t>
            </a:r>
            <a:r>
              <a:rPr lang="en-US" sz="2000" dirty="0">
                <a:latin typeface="Arial"/>
                <a:cs typeface="Arial"/>
              </a:rPr>
              <a:t>. </a:t>
            </a:r>
            <a:endParaRPr lang="pt-BR" sz="2000">
              <a:latin typeface="Arial"/>
              <a:cs typeface="Arial"/>
            </a:endParaRPr>
          </a:p>
          <a:p>
            <a:endParaRPr lang="en-US" sz="2000" dirty="0">
              <a:latin typeface="Arial"/>
              <a:cs typeface="Arial"/>
            </a:endParaRPr>
          </a:p>
          <a:p>
            <a:r>
              <a:rPr lang="en-US" sz="2000" dirty="0">
                <a:latin typeface="Arial"/>
                <a:cs typeface="Arial"/>
              </a:rPr>
              <a:t>• </a:t>
            </a:r>
            <a:r>
              <a:rPr lang="en-US" sz="2000" dirty="0" err="1">
                <a:latin typeface="Arial"/>
                <a:cs typeface="Arial"/>
              </a:rPr>
              <a:t>Apesar</a:t>
            </a:r>
            <a:r>
              <a:rPr lang="en-US" sz="2000" dirty="0">
                <a:latin typeface="Arial"/>
                <a:cs typeface="Arial"/>
              </a:rPr>
              <a:t> </a:t>
            </a:r>
            <a:r>
              <a:rPr lang="en-US" sz="2000" dirty="0" err="1">
                <a:latin typeface="Arial"/>
                <a:cs typeface="Arial"/>
              </a:rPr>
              <a:t>disso</a:t>
            </a:r>
            <a:r>
              <a:rPr lang="en-US" sz="2000" dirty="0">
                <a:latin typeface="Arial"/>
                <a:cs typeface="Arial"/>
              </a:rPr>
              <a:t>, o NTSB </a:t>
            </a:r>
            <a:r>
              <a:rPr lang="en-US" sz="2000" dirty="0" err="1">
                <a:latin typeface="Arial"/>
                <a:cs typeface="Arial"/>
              </a:rPr>
              <a:t>manifestou</a:t>
            </a:r>
            <a:r>
              <a:rPr lang="en-US" sz="2000" dirty="0">
                <a:latin typeface="Arial"/>
                <a:cs typeface="Arial"/>
              </a:rPr>
              <a:t> </a:t>
            </a:r>
            <a:r>
              <a:rPr lang="en-US" sz="2000" dirty="0" err="1">
                <a:latin typeface="Arial"/>
                <a:cs typeface="Arial"/>
              </a:rPr>
              <a:t>preocupação</a:t>
            </a:r>
            <a:r>
              <a:rPr lang="en-US" sz="2000" dirty="0">
                <a:latin typeface="Arial"/>
                <a:cs typeface="Arial"/>
              </a:rPr>
              <a:t> de que </a:t>
            </a:r>
            <a:r>
              <a:rPr lang="en-US" sz="2000" dirty="0" err="1">
                <a:latin typeface="Arial"/>
                <a:cs typeface="Arial"/>
              </a:rPr>
              <a:t>certas</a:t>
            </a:r>
            <a:r>
              <a:rPr lang="en-US" sz="2000" dirty="0">
                <a:latin typeface="Arial"/>
                <a:cs typeface="Arial"/>
              </a:rPr>
              <a:t> </a:t>
            </a:r>
            <a:r>
              <a:rPr lang="en-US" sz="2000" dirty="0" err="1">
                <a:latin typeface="Arial"/>
                <a:cs typeface="Arial"/>
              </a:rPr>
              <a:t>deficiências</a:t>
            </a:r>
            <a:r>
              <a:rPr lang="en-US" sz="2000" dirty="0">
                <a:latin typeface="Arial"/>
                <a:cs typeface="Arial"/>
              </a:rPr>
              <a:t> </a:t>
            </a:r>
            <a:r>
              <a:rPr lang="en-US" sz="2000" dirty="0" err="1">
                <a:latin typeface="Arial"/>
                <a:cs typeface="Arial"/>
              </a:rPr>
              <a:t>não</a:t>
            </a:r>
            <a:r>
              <a:rPr lang="en-US" sz="2000" dirty="0">
                <a:latin typeface="Arial"/>
                <a:cs typeface="Arial"/>
              </a:rPr>
              <a:t> </a:t>
            </a:r>
            <a:r>
              <a:rPr lang="en-US" sz="2000" dirty="0" err="1">
                <a:latin typeface="Arial"/>
                <a:cs typeface="Arial"/>
              </a:rPr>
              <a:t>estivessem</a:t>
            </a:r>
            <a:r>
              <a:rPr lang="en-US" sz="2000" dirty="0">
                <a:latin typeface="Arial"/>
                <a:cs typeface="Arial"/>
              </a:rPr>
              <a:t> </a:t>
            </a:r>
            <a:r>
              <a:rPr lang="en-US" sz="2000" dirty="0" err="1">
                <a:latin typeface="Arial"/>
                <a:cs typeface="Arial"/>
              </a:rPr>
              <a:t>totalmente</a:t>
            </a:r>
            <a:r>
              <a:rPr lang="en-US" sz="2000" dirty="0">
                <a:latin typeface="Arial"/>
                <a:cs typeface="Arial"/>
              </a:rPr>
              <a:t> </a:t>
            </a:r>
            <a:r>
              <a:rPr lang="en-US" sz="2000" dirty="0" err="1">
                <a:latin typeface="Arial"/>
                <a:cs typeface="Arial"/>
              </a:rPr>
              <a:t>resolvidas</a:t>
            </a:r>
            <a:r>
              <a:rPr lang="en-US" sz="2000" dirty="0">
                <a:latin typeface="Arial"/>
                <a:cs typeface="Arial"/>
              </a:rPr>
              <a:t>, </a:t>
            </a:r>
            <a:r>
              <a:rPr lang="en-US" sz="2000" dirty="0" err="1">
                <a:latin typeface="Arial"/>
                <a:cs typeface="Arial"/>
              </a:rPr>
              <a:t>principalmente</a:t>
            </a:r>
            <a:r>
              <a:rPr lang="en-US" sz="2000" dirty="0">
                <a:latin typeface="Arial"/>
                <a:cs typeface="Arial"/>
              </a:rPr>
              <a:t> </a:t>
            </a:r>
            <a:r>
              <a:rPr lang="en-US" sz="2000" dirty="0" err="1">
                <a:latin typeface="Arial"/>
                <a:cs typeface="Arial"/>
              </a:rPr>
              <a:t>relacionadas</a:t>
            </a:r>
            <a:r>
              <a:rPr lang="en-US" sz="2000" dirty="0">
                <a:latin typeface="Arial"/>
                <a:cs typeface="Arial"/>
              </a:rPr>
              <a:t> a </a:t>
            </a:r>
            <a:r>
              <a:rPr lang="en-US" sz="2000" dirty="0" err="1">
                <a:latin typeface="Arial"/>
                <a:cs typeface="Arial"/>
              </a:rPr>
              <a:t>erros</a:t>
            </a:r>
            <a:r>
              <a:rPr lang="en-US" sz="2000" dirty="0">
                <a:latin typeface="Arial"/>
                <a:cs typeface="Arial"/>
              </a:rPr>
              <a:t> de </a:t>
            </a:r>
            <a:r>
              <a:rPr lang="en-US" sz="2000" dirty="0" err="1">
                <a:latin typeface="Arial"/>
                <a:cs typeface="Arial"/>
              </a:rPr>
              <a:t>manutenção</a:t>
            </a:r>
            <a:r>
              <a:rPr lang="en-US" sz="2000" dirty="0">
                <a:latin typeface="Arial"/>
                <a:cs typeface="Arial"/>
              </a:rPr>
              <a:t> e </a:t>
            </a:r>
            <a:r>
              <a:rPr lang="en-US" sz="2000" dirty="0" err="1">
                <a:latin typeface="Arial"/>
                <a:cs typeface="Arial"/>
              </a:rPr>
              <a:t>práticas</a:t>
            </a:r>
            <a:r>
              <a:rPr lang="en-US" sz="2000" dirty="0">
                <a:latin typeface="Arial"/>
                <a:cs typeface="Arial"/>
              </a:rPr>
              <a:t> </a:t>
            </a:r>
            <a:r>
              <a:rPr lang="en-US" sz="2000" dirty="0" err="1">
                <a:latin typeface="Arial"/>
                <a:cs typeface="Arial"/>
              </a:rPr>
              <a:t>inadequadas</a:t>
            </a:r>
            <a:r>
              <a:rPr lang="en-US" sz="2000" dirty="0">
                <a:latin typeface="Arial"/>
                <a:cs typeface="Arial"/>
              </a:rPr>
              <a:t> de </a:t>
            </a:r>
            <a:r>
              <a:rPr lang="en-US" sz="2000" dirty="0" err="1">
                <a:latin typeface="Arial"/>
                <a:cs typeface="Arial"/>
              </a:rPr>
              <a:t>lubrificação</a:t>
            </a:r>
            <a:r>
              <a:rPr lang="en-US" sz="2000" dirty="0">
                <a:latin typeface="Arial"/>
                <a:cs typeface="Arial"/>
              </a:rPr>
              <a:t>.</a:t>
            </a:r>
            <a:endParaRPr lang="en-US" sz="2000">
              <a:latin typeface="Arial"/>
              <a:cs typeface="Arial"/>
            </a:endParaRPr>
          </a:p>
        </p:txBody>
      </p:sp>
      <p:sp>
        <p:nvSpPr>
          <p:cNvPr id="15" name="CaixaDeTexto 14">
            <a:extLst>
              <a:ext uri="{FF2B5EF4-FFF2-40B4-BE49-F238E27FC236}">
                <a16:creationId xmlns:a16="http://schemas.microsoft.com/office/drawing/2014/main" id="{A0F0B1DD-4A27-7D15-7F68-73084D131394}"/>
              </a:ext>
            </a:extLst>
          </p:cNvPr>
          <p:cNvSpPr txBox="1"/>
          <p:nvPr/>
        </p:nvSpPr>
        <p:spPr>
          <a:xfrm>
            <a:off x="3334871" y="1519517"/>
            <a:ext cx="635149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latin typeface="Arial"/>
              </a:rPr>
              <a:t>Inspeções e Ações após o Acidente do Voo 261 </a:t>
            </a:r>
            <a:endParaRPr lang="pt-BR"/>
          </a:p>
        </p:txBody>
      </p:sp>
    </p:spTree>
    <p:extLst>
      <p:ext uri="{BB962C8B-B14F-4D97-AF65-F5344CB8AC3E}">
        <p14:creationId xmlns:p14="http://schemas.microsoft.com/office/powerpoint/2010/main" val="3145548963"/>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972F9-52B6-9500-586B-274F52937B86}"/>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55D08CE2-2314-A58E-1D99-75D6C487E77D}"/>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BF5222CF-01CD-B9EC-3D1F-CF32801D20E6}"/>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a:ln>
                  <a:noFill/>
                </a:ln>
                <a:solidFill>
                  <a:srgbClr val="0070C0"/>
                </a:solidFill>
                <a:effectLst/>
                <a:uLnTx/>
                <a:uFillTx/>
                <a:latin typeface="Arial"/>
                <a:cs typeface="Arial"/>
                <a:sym typeface="Helvetica Neue"/>
              </a:rPr>
              <a:t> </a:t>
            </a:r>
            <a:r>
              <a:rPr lang="en-US" sz="2000" b="1">
                <a:solidFill>
                  <a:srgbClr val="0070C0"/>
                </a:solidFill>
                <a:latin typeface="Arial"/>
                <a:cs typeface="Arial"/>
                <a:sym typeface="Helvetica Neue"/>
              </a:rPr>
              <a:t>2</a:t>
            </a:r>
            <a:endParaRPr kumimoji="0" lang="pt-BR"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04BE348C-B3E9-BCEE-AF86-3785AA943F4A}"/>
              </a:ext>
            </a:extLst>
          </p:cNvPr>
          <p:cNvSpPr txBox="1"/>
          <p:nvPr/>
        </p:nvSpPr>
        <p:spPr>
          <a:xfrm>
            <a:off x="204278" y="564779"/>
            <a:ext cx="2683748" cy="307777"/>
          </a:xfrm>
          <a:prstGeom prst="rect">
            <a:avLst/>
          </a:prstGeom>
          <a:noFill/>
        </p:spPr>
        <p:txBody>
          <a:bodyPr wrap="none" lIns="91440" tIns="45720" rIns="91440" bIns="45720" rtlCol="0" anchor="t">
            <a:spAutoFit/>
          </a:bodyPr>
          <a:lstStyle/>
          <a:p>
            <a:r>
              <a:rPr lang="pt-BR" sz="1400" u="sng">
                <a:solidFill>
                  <a:srgbClr val="0070C0"/>
                </a:solidFill>
                <a:latin typeface="Arial"/>
                <a:cs typeface="Arial"/>
              </a:rPr>
              <a:t>Slide 2.3 - Peças de Reposição</a:t>
            </a:r>
          </a:p>
        </p:txBody>
      </p:sp>
      <p:sp>
        <p:nvSpPr>
          <p:cNvPr id="8" name="CaixaDeTexto 7">
            <a:extLst>
              <a:ext uri="{FF2B5EF4-FFF2-40B4-BE49-F238E27FC236}">
                <a16:creationId xmlns:a16="http://schemas.microsoft.com/office/drawing/2014/main" id="{C9AF06C0-68E7-1709-F853-D4253EA3F5E3}"/>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algn="ctr">
              <a:defRPr/>
            </a:pPr>
            <a:r>
              <a:rPr lang="pt-BR" u="sng" dirty="0">
                <a:solidFill>
                  <a:srgbClr val="0070C0"/>
                </a:solidFill>
                <a:latin typeface="Aptos" panose="02110004020202020204"/>
              </a:rPr>
              <a:t>Resp.: Isabela Soares</a:t>
            </a:r>
            <a:endParaRPr lang="pt-BR" u="sng" dirty="0">
              <a:solidFill>
                <a:srgbClr val="0070C0"/>
              </a:solidFill>
            </a:endParaRPr>
          </a:p>
        </p:txBody>
      </p:sp>
      <p:sp>
        <p:nvSpPr>
          <p:cNvPr id="9" name="CaixaDeTexto 8">
            <a:extLst>
              <a:ext uri="{FF2B5EF4-FFF2-40B4-BE49-F238E27FC236}">
                <a16:creationId xmlns:a16="http://schemas.microsoft.com/office/drawing/2014/main" id="{945DA84C-9D26-EDD2-03AD-6DF33CC12B5B}"/>
              </a:ext>
            </a:extLst>
          </p:cNvPr>
          <p:cNvSpPr txBox="1"/>
          <p:nvPr/>
        </p:nvSpPr>
        <p:spPr>
          <a:xfrm>
            <a:off x="1608667" y="-18398"/>
            <a:ext cx="8669433" cy="738664"/>
          </a:xfrm>
          <a:prstGeom prst="rect">
            <a:avLst/>
          </a:prstGeom>
          <a:noFill/>
        </p:spPr>
        <p:txBody>
          <a:bodyPr wrap="square" lIns="91440" tIns="45720" rIns="91440" bIns="45720" rtlCol="0" anchor="t">
            <a:spAutoFit/>
          </a:bodyPr>
          <a:lstStyle/>
          <a:p>
            <a:pPr>
              <a:defRPr/>
            </a:pPr>
            <a:r>
              <a:rPr lang="pt-BR" sz="1400" dirty="0">
                <a:solidFill>
                  <a:schemeClr val="accent4">
                    <a:lumMod val="76000"/>
                  </a:schemeClr>
                </a:solidFill>
                <a:latin typeface="Arial"/>
                <a:cs typeface="Arial"/>
              </a:rPr>
              <a:t>Requisitos de Manutenção RBAC 43 e 145: Discorra sobre os erros cometidos pela Alaska Airlines, identificando no Relatório do NSTB em  relação aos seguintes aspectos</a:t>
            </a:r>
            <a:endParaRPr lang="pt-BR" dirty="0">
              <a:solidFill>
                <a:schemeClr val="accent4">
                  <a:lumMod val="76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E33407B0-7F46-A066-D12D-E5C538925475}"/>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12" name="CaixaDeTexto 11">
            <a:extLst>
              <a:ext uri="{FF2B5EF4-FFF2-40B4-BE49-F238E27FC236}">
                <a16:creationId xmlns:a16="http://schemas.microsoft.com/office/drawing/2014/main" id="{6864AE85-96F0-507F-D186-F22C06C7E953}"/>
              </a:ext>
            </a:extLst>
          </p:cNvPr>
          <p:cNvSpPr txBox="1"/>
          <p:nvPr/>
        </p:nvSpPr>
        <p:spPr>
          <a:xfrm>
            <a:off x="475990" y="1718153"/>
            <a:ext cx="10780731"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Arial"/>
                <a:cs typeface="Arial"/>
              </a:rPr>
              <a:t>• O NTSB </a:t>
            </a:r>
            <a:r>
              <a:rPr lang="en-US" sz="2400" dirty="0" err="1">
                <a:latin typeface="Arial"/>
                <a:cs typeface="Arial"/>
              </a:rPr>
              <a:t>identificou</a:t>
            </a:r>
            <a:r>
              <a:rPr lang="en-US" sz="2400" dirty="0">
                <a:latin typeface="Arial"/>
                <a:cs typeface="Arial"/>
              </a:rPr>
              <a:t> que </a:t>
            </a:r>
            <a:r>
              <a:rPr lang="en-US" sz="2400" dirty="0" err="1">
                <a:latin typeface="Arial"/>
                <a:cs typeface="Arial"/>
              </a:rPr>
              <a:t>diversas</a:t>
            </a:r>
            <a:r>
              <a:rPr lang="en-US" sz="2400" dirty="0">
                <a:latin typeface="Arial"/>
                <a:cs typeface="Arial"/>
              </a:rPr>
              <a:t> </a:t>
            </a:r>
            <a:r>
              <a:rPr lang="en-US" sz="2400" dirty="0" err="1">
                <a:latin typeface="Arial"/>
                <a:cs typeface="Arial"/>
              </a:rPr>
              <a:t>instalações</a:t>
            </a:r>
            <a:r>
              <a:rPr lang="en-US" sz="2400" dirty="0">
                <a:latin typeface="Arial"/>
                <a:cs typeface="Arial"/>
              </a:rPr>
              <a:t> de </a:t>
            </a:r>
            <a:r>
              <a:rPr lang="en-US" sz="2400" dirty="0" err="1">
                <a:latin typeface="Arial"/>
                <a:cs typeface="Arial"/>
              </a:rPr>
              <a:t>manutenção</a:t>
            </a:r>
            <a:r>
              <a:rPr lang="en-US" sz="2400" dirty="0">
                <a:latin typeface="Arial"/>
                <a:cs typeface="Arial"/>
              </a:rPr>
              <a:t> </a:t>
            </a:r>
            <a:r>
              <a:rPr lang="en-US" sz="2400" dirty="0" err="1">
                <a:latin typeface="Arial"/>
                <a:cs typeface="Arial"/>
              </a:rPr>
              <a:t>não</a:t>
            </a:r>
            <a:r>
              <a:rPr lang="en-US" sz="2400" dirty="0">
                <a:latin typeface="Arial"/>
                <a:cs typeface="Arial"/>
              </a:rPr>
              <a:t> </a:t>
            </a:r>
            <a:r>
              <a:rPr lang="en-US" sz="2400" dirty="0" err="1">
                <a:latin typeface="Arial"/>
                <a:cs typeface="Arial"/>
              </a:rPr>
              <a:t>realizavam</a:t>
            </a:r>
            <a:r>
              <a:rPr lang="en-US" sz="2400" dirty="0">
                <a:latin typeface="Arial"/>
                <a:cs typeface="Arial"/>
              </a:rPr>
              <a:t> a </a:t>
            </a:r>
            <a:r>
              <a:rPr lang="en-US" sz="2400" dirty="0" err="1">
                <a:latin typeface="Arial"/>
                <a:cs typeface="Arial"/>
              </a:rPr>
              <a:t>documentação</a:t>
            </a:r>
            <a:r>
              <a:rPr lang="en-US" sz="2400" dirty="0">
                <a:latin typeface="Arial"/>
                <a:cs typeface="Arial"/>
              </a:rPr>
              <a:t> </a:t>
            </a:r>
            <a:r>
              <a:rPr lang="en-US" sz="2400" dirty="0" err="1">
                <a:latin typeface="Arial"/>
                <a:cs typeface="Arial"/>
              </a:rPr>
              <a:t>adequada</a:t>
            </a:r>
            <a:r>
              <a:rPr lang="en-US" sz="2400" dirty="0">
                <a:latin typeface="Arial"/>
                <a:cs typeface="Arial"/>
              </a:rPr>
              <a:t> do </a:t>
            </a:r>
            <a:r>
              <a:rPr lang="en-US" sz="2400" dirty="0" err="1">
                <a:latin typeface="Arial"/>
                <a:cs typeface="Arial"/>
              </a:rPr>
              <a:t>processo</a:t>
            </a:r>
            <a:r>
              <a:rPr lang="en-US" sz="2400" dirty="0">
                <a:latin typeface="Arial"/>
                <a:cs typeface="Arial"/>
              </a:rPr>
              <a:t> de </a:t>
            </a:r>
            <a:r>
              <a:rPr lang="en-US" sz="2400" dirty="0" err="1">
                <a:latin typeface="Arial"/>
                <a:cs typeface="Arial"/>
              </a:rPr>
              <a:t>revisão</a:t>
            </a:r>
            <a:r>
              <a:rPr lang="en-US" sz="2400" dirty="0">
                <a:latin typeface="Arial"/>
                <a:cs typeface="Arial"/>
              </a:rPr>
              <a:t> de </a:t>
            </a:r>
            <a:r>
              <a:rPr lang="en-US" sz="2400" dirty="0" err="1">
                <a:latin typeface="Arial"/>
                <a:cs typeface="Arial"/>
              </a:rPr>
              <a:t>peças</a:t>
            </a:r>
            <a:r>
              <a:rPr lang="en-US" sz="2400" dirty="0">
                <a:latin typeface="Arial"/>
                <a:cs typeface="Arial"/>
              </a:rPr>
              <a:t>, </a:t>
            </a:r>
            <a:r>
              <a:rPr lang="en-US" sz="2400" dirty="0" err="1">
                <a:latin typeface="Arial"/>
                <a:cs typeface="Arial"/>
              </a:rPr>
              <a:t>deixando</a:t>
            </a:r>
            <a:r>
              <a:rPr lang="en-US" sz="2400" dirty="0">
                <a:latin typeface="Arial"/>
                <a:cs typeface="Arial"/>
              </a:rPr>
              <a:t> de registrar </a:t>
            </a:r>
            <a:r>
              <a:rPr lang="en-US" sz="2400" dirty="0" err="1">
                <a:latin typeface="Arial"/>
                <a:cs typeface="Arial"/>
              </a:rPr>
              <a:t>medições</a:t>
            </a:r>
            <a:r>
              <a:rPr lang="en-US" sz="2400" dirty="0">
                <a:latin typeface="Arial"/>
                <a:cs typeface="Arial"/>
              </a:rPr>
              <a:t> de </a:t>
            </a:r>
            <a:r>
              <a:rPr lang="en-US" sz="2400" dirty="0" err="1">
                <a:latin typeface="Arial"/>
                <a:cs typeface="Arial"/>
              </a:rPr>
              <a:t>folga</a:t>
            </a:r>
            <a:r>
              <a:rPr lang="en-US" sz="2400" dirty="0">
                <a:latin typeface="Arial"/>
                <a:cs typeface="Arial"/>
              </a:rPr>
              <a:t> e outros </a:t>
            </a:r>
            <a:r>
              <a:rPr lang="en-US" sz="2400" dirty="0" err="1">
                <a:latin typeface="Arial"/>
                <a:cs typeface="Arial"/>
              </a:rPr>
              <a:t>requisitos</a:t>
            </a:r>
            <a:r>
              <a:rPr lang="en-US" sz="2400" dirty="0">
                <a:latin typeface="Arial"/>
                <a:cs typeface="Arial"/>
              </a:rPr>
              <a:t> </a:t>
            </a:r>
            <a:r>
              <a:rPr lang="en-US" sz="2400" dirty="0" err="1">
                <a:latin typeface="Arial"/>
                <a:cs typeface="Arial"/>
              </a:rPr>
              <a:t>previstos</a:t>
            </a:r>
            <a:r>
              <a:rPr lang="en-US" sz="2400" dirty="0">
                <a:latin typeface="Arial"/>
                <a:cs typeface="Arial"/>
              </a:rPr>
              <a:t> no manual.</a:t>
            </a:r>
            <a:endParaRPr lang="pt-BR" sz="2400">
              <a:latin typeface="Arial"/>
              <a:cs typeface="Arial"/>
            </a:endParaRPr>
          </a:p>
          <a:p>
            <a:endParaRPr lang="en-US" sz="2400" dirty="0">
              <a:latin typeface="Arial"/>
              <a:cs typeface="Arial"/>
            </a:endParaRPr>
          </a:p>
          <a:p>
            <a:r>
              <a:rPr lang="en-US" sz="2400" dirty="0">
                <a:latin typeface="Arial"/>
                <a:cs typeface="Arial"/>
              </a:rPr>
              <a:t>• </a:t>
            </a:r>
            <a:r>
              <a:rPr lang="en-US" sz="2400" dirty="0" err="1">
                <a:latin typeface="Arial"/>
                <a:cs typeface="Arial"/>
              </a:rPr>
              <a:t>Apenas</a:t>
            </a:r>
            <a:r>
              <a:rPr lang="en-US" sz="2400" dirty="0">
                <a:latin typeface="Arial"/>
                <a:cs typeface="Arial"/>
              </a:rPr>
              <a:t> </a:t>
            </a:r>
            <a:r>
              <a:rPr lang="en-US" sz="2400" dirty="0" err="1">
                <a:latin typeface="Arial"/>
                <a:cs typeface="Arial"/>
              </a:rPr>
              <a:t>uma</a:t>
            </a:r>
            <a:r>
              <a:rPr lang="en-US" sz="2400" dirty="0">
                <a:latin typeface="Arial"/>
                <a:cs typeface="Arial"/>
              </a:rPr>
              <a:t> </a:t>
            </a:r>
            <a:r>
              <a:rPr lang="en-US" sz="2400" dirty="0" err="1">
                <a:latin typeface="Arial"/>
                <a:cs typeface="Arial"/>
              </a:rPr>
              <a:t>instalação</a:t>
            </a:r>
            <a:r>
              <a:rPr lang="en-US" sz="2400" dirty="0">
                <a:latin typeface="Arial"/>
                <a:cs typeface="Arial"/>
              </a:rPr>
              <a:t> </a:t>
            </a:r>
            <a:r>
              <a:rPr lang="en-US" sz="2400" dirty="0" err="1">
                <a:latin typeface="Arial"/>
                <a:cs typeface="Arial"/>
              </a:rPr>
              <a:t>analisada</a:t>
            </a:r>
            <a:r>
              <a:rPr lang="en-US" sz="2400" dirty="0">
                <a:latin typeface="Arial"/>
                <a:cs typeface="Arial"/>
              </a:rPr>
              <a:t> </a:t>
            </a:r>
            <a:r>
              <a:rPr lang="en-US" sz="2400" dirty="0" err="1">
                <a:latin typeface="Arial"/>
                <a:cs typeface="Arial"/>
              </a:rPr>
              <a:t>mantinha</a:t>
            </a:r>
            <a:r>
              <a:rPr lang="en-US" sz="2400" dirty="0">
                <a:latin typeface="Arial"/>
                <a:cs typeface="Arial"/>
              </a:rPr>
              <a:t> </a:t>
            </a:r>
            <a:r>
              <a:rPr lang="en-US" sz="2400" dirty="0" err="1">
                <a:latin typeface="Arial"/>
                <a:cs typeface="Arial"/>
              </a:rPr>
              <a:t>procedimentos</a:t>
            </a:r>
            <a:r>
              <a:rPr lang="en-US" sz="2400" dirty="0">
                <a:latin typeface="Arial"/>
                <a:cs typeface="Arial"/>
              </a:rPr>
              <a:t> </a:t>
            </a:r>
            <a:r>
              <a:rPr lang="en-US" sz="2400" dirty="0" err="1">
                <a:latin typeface="Arial"/>
                <a:cs typeface="Arial"/>
              </a:rPr>
              <a:t>rigorosos</a:t>
            </a:r>
            <a:r>
              <a:rPr lang="en-US" sz="2400" dirty="0">
                <a:latin typeface="Arial"/>
                <a:cs typeface="Arial"/>
              </a:rPr>
              <a:t>, </a:t>
            </a:r>
            <a:r>
              <a:rPr lang="en-US" sz="2400" dirty="0" err="1">
                <a:latin typeface="Arial"/>
                <a:cs typeface="Arial"/>
              </a:rPr>
              <a:t>documentando</a:t>
            </a:r>
            <a:r>
              <a:rPr lang="en-US" sz="2400" dirty="0">
                <a:latin typeface="Arial"/>
                <a:cs typeface="Arial"/>
              </a:rPr>
              <a:t> </a:t>
            </a:r>
            <a:r>
              <a:rPr lang="en-US" sz="2400" dirty="0" err="1">
                <a:latin typeface="Arial"/>
                <a:cs typeface="Arial"/>
              </a:rPr>
              <a:t>todas</a:t>
            </a:r>
            <a:r>
              <a:rPr lang="en-US" sz="2400" dirty="0">
                <a:latin typeface="Arial"/>
                <a:cs typeface="Arial"/>
              </a:rPr>
              <a:t> as </a:t>
            </a:r>
            <a:r>
              <a:rPr lang="en-US" sz="2400" dirty="0" err="1">
                <a:latin typeface="Arial"/>
                <a:cs typeface="Arial"/>
              </a:rPr>
              <a:t>etapas</a:t>
            </a:r>
            <a:r>
              <a:rPr lang="en-US" sz="2400" dirty="0">
                <a:latin typeface="Arial"/>
                <a:cs typeface="Arial"/>
              </a:rPr>
              <a:t> da </a:t>
            </a:r>
            <a:r>
              <a:rPr lang="en-US" sz="2400" dirty="0" err="1">
                <a:latin typeface="Arial"/>
                <a:cs typeface="Arial"/>
              </a:rPr>
              <a:t>revisão</a:t>
            </a:r>
            <a:r>
              <a:rPr lang="en-US" sz="2400" dirty="0">
                <a:latin typeface="Arial"/>
                <a:cs typeface="Arial"/>
              </a:rPr>
              <a:t> de </a:t>
            </a:r>
            <a:r>
              <a:rPr lang="en-US" sz="2400" dirty="0" err="1">
                <a:latin typeface="Arial"/>
                <a:cs typeface="Arial"/>
              </a:rPr>
              <a:t>componentes</a:t>
            </a:r>
            <a:r>
              <a:rPr lang="en-US" sz="2400" dirty="0">
                <a:latin typeface="Arial"/>
                <a:cs typeface="Arial"/>
              </a:rPr>
              <a:t>. </a:t>
            </a:r>
          </a:p>
          <a:p>
            <a:endParaRPr lang="en-US" sz="2400" dirty="0">
              <a:latin typeface="Arial"/>
              <a:cs typeface="Arial"/>
            </a:endParaRPr>
          </a:p>
          <a:p>
            <a:r>
              <a:rPr lang="en-US" sz="2400" dirty="0">
                <a:latin typeface="Arial"/>
                <a:cs typeface="Arial"/>
              </a:rPr>
              <a:t>• </a:t>
            </a:r>
            <a:r>
              <a:rPr lang="en-US" sz="2400" dirty="0" err="1">
                <a:latin typeface="Arial"/>
                <a:cs typeface="Arial"/>
              </a:rPr>
              <a:t>Subcontratação</a:t>
            </a:r>
            <a:r>
              <a:rPr lang="en-US" sz="2400" dirty="0">
                <a:latin typeface="Arial"/>
                <a:cs typeface="Arial"/>
              </a:rPr>
              <a:t>: </a:t>
            </a:r>
            <a:r>
              <a:rPr lang="en-US" sz="2400" dirty="0" err="1">
                <a:latin typeface="Arial"/>
                <a:cs typeface="Arial"/>
              </a:rPr>
              <a:t>verificou</a:t>
            </a:r>
            <a:r>
              <a:rPr lang="en-US" sz="2400" dirty="0">
                <a:latin typeface="Arial"/>
                <a:cs typeface="Arial"/>
              </a:rPr>
              <a:t>-se que </a:t>
            </a:r>
            <a:r>
              <a:rPr lang="en-US" sz="2400" dirty="0" err="1">
                <a:latin typeface="Arial"/>
                <a:cs typeface="Arial"/>
              </a:rPr>
              <a:t>algumas</a:t>
            </a:r>
            <a:r>
              <a:rPr lang="en-US" sz="2400" dirty="0">
                <a:latin typeface="Arial"/>
                <a:cs typeface="Arial"/>
              </a:rPr>
              <a:t> </a:t>
            </a:r>
            <a:r>
              <a:rPr lang="en-US" sz="2400" dirty="0" err="1">
                <a:latin typeface="Arial"/>
                <a:cs typeface="Arial"/>
              </a:rPr>
              <a:t>oficinas</a:t>
            </a:r>
            <a:r>
              <a:rPr lang="en-US" sz="2400" dirty="0">
                <a:latin typeface="Arial"/>
                <a:cs typeface="Arial"/>
              </a:rPr>
              <a:t> </a:t>
            </a:r>
            <a:r>
              <a:rPr lang="en-US" sz="2400" dirty="0" err="1">
                <a:latin typeface="Arial"/>
                <a:cs typeface="Arial"/>
              </a:rPr>
              <a:t>terceirizavam</a:t>
            </a:r>
            <a:r>
              <a:rPr lang="en-US" sz="2400" dirty="0">
                <a:latin typeface="Arial"/>
                <a:cs typeface="Arial"/>
              </a:rPr>
              <a:t> a </a:t>
            </a:r>
            <a:r>
              <a:rPr lang="en-US" sz="2400" dirty="0" err="1">
                <a:latin typeface="Arial"/>
                <a:cs typeface="Arial"/>
              </a:rPr>
              <a:t>aplicação</a:t>
            </a:r>
            <a:r>
              <a:rPr lang="en-US" sz="2400" dirty="0">
                <a:latin typeface="Arial"/>
                <a:cs typeface="Arial"/>
              </a:rPr>
              <a:t> de </a:t>
            </a:r>
            <a:r>
              <a:rPr lang="en-US" sz="2400" dirty="0" err="1">
                <a:latin typeface="Arial"/>
                <a:cs typeface="Arial"/>
              </a:rPr>
              <a:t>revestimentos</a:t>
            </a:r>
            <a:r>
              <a:rPr lang="en-US" sz="2400" dirty="0">
                <a:latin typeface="Arial"/>
                <a:cs typeface="Arial"/>
              </a:rPr>
              <a:t> </a:t>
            </a:r>
            <a:r>
              <a:rPr lang="en-US" sz="2400" dirty="0" err="1">
                <a:latin typeface="Arial"/>
                <a:cs typeface="Arial"/>
              </a:rPr>
              <a:t>em</a:t>
            </a:r>
            <a:r>
              <a:rPr lang="en-US" sz="2400" dirty="0">
                <a:latin typeface="Arial"/>
                <a:cs typeface="Arial"/>
              </a:rPr>
              <a:t> </a:t>
            </a:r>
            <a:r>
              <a:rPr lang="en-US" sz="2400" dirty="0" err="1">
                <a:latin typeface="Arial"/>
                <a:cs typeface="Arial"/>
              </a:rPr>
              <a:t>peças</a:t>
            </a:r>
            <a:r>
              <a:rPr lang="en-US" sz="2400" dirty="0">
                <a:latin typeface="Arial"/>
                <a:cs typeface="Arial"/>
              </a:rPr>
              <a:t> de </a:t>
            </a:r>
            <a:r>
              <a:rPr lang="en-US" sz="2400" dirty="0" err="1">
                <a:latin typeface="Arial"/>
                <a:cs typeface="Arial"/>
              </a:rPr>
              <a:t>reposição</a:t>
            </a:r>
            <a:r>
              <a:rPr lang="en-US" sz="2400" dirty="0">
                <a:latin typeface="Arial"/>
                <a:cs typeface="Arial"/>
              </a:rPr>
              <a:t>, </a:t>
            </a:r>
            <a:r>
              <a:rPr lang="en-US" sz="2400" dirty="0" err="1">
                <a:latin typeface="Arial"/>
                <a:cs typeface="Arial"/>
              </a:rPr>
              <a:t>prática</a:t>
            </a:r>
            <a:r>
              <a:rPr lang="en-US" sz="2400" dirty="0">
                <a:latin typeface="Arial"/>
                <a:cs typeface="Arial"/>
              </a:rPr>
              <a:t> que </a:t>
            </a:r>
            <a:r>
              <a:rPr lang="en-US" sz="2400" dirty="0" err="1">
                <a:latin typeface="Arial"/>
                <a:cs typeface="Arial"/>
              </a:rPr>
              <a:t>poderia</a:t>
            </a:r>
            <a:r>
              <a:rPr lang="en-US" sz="2400" dirty="0">
                <a:latin typeface="Arial"/>
                <a:cs typeface="Arial"/>
              </a:rPr>
              <a:t> </a:t>
            </a:r>
            <a:r>
              <a:rPr lang="en-US" sz="2400" dirty="0" err="1">
                <a:latin typeface="Arial"/>
                <a:cs typeface="Arial"/>
              </a:rPr>
              <a:t>comprometer</a:t>
            </a:r>
            <a:r>
              <a:rPr lang="en-US" sz="2400" dirty="0">
                <a:latin typeface="Arial"/>
                <a:cs typeface="Arial"/>
              </a:rPr>
              <a:t> o </a:t>
            </a:r>
            <a:r>
              <a:rPr lang="en-US" sz="2400" dirty="0" err="1">
                <a:latin typeface="Arial"/>
                <a:cs typeface="Arial"/>
              </a:rPr>
              <a:t>controle</a:t>
            </a:r>
            <a:r>
              <a:rPr lang="en-US" sz="2400" dirty="0">
                <a:latin typeface="Arial"/>
                <a:cs typeface="Arial"/>
              </a:rPr>
              <a:t> de </a:t>
            </a:r>
            <a:r>
              <a:rPr lang="en-US" sz="2400" dirty="0" err="1">
                <a:latin typeface="Arial"/>
                <a:cs typeface="Arial"/>
              </a:rPr>
              <a:t>qualidade</a:t>
            </a:r>
            <a:r>
              <a:rPr lang="en-US" sz="2400" dirty="0">
                <a:latin typeface="Arial"/>
                <a:cs typeface="Arial"/>
              </a:rPr>
              <a:t> e a </a:t>
            </a:r>
            <a:r>
              <a:rPr lang="en-US" sz="2400" dirty="0" err="1">
                <a:latin typeface="Arial"/>
                <a:cs typeface="Arial"/>
              </a:rPr>
              <a:t>rastreabilidade</a:t>
            </a:r>
            <a:r>
              <a:rPr lang="en-US" sz="2400" dirty="0">
                <a:latin typeface="Arial"/>
                <a:cs typeface="Arial"/>
              </a:rPr>
              <a:t> </a:t>
            </a:r>
            <a:r>
              <a:rPr lang="en-US" sz="2400" dirty="0" err="1">
                <a:latin typeface="Arial"/>
                <a:cs typeface="Arial"/>
              </a:rPr>
              <a:t>desses</a:t>
            </a:r>
            <a:r>
              <a:rPr lang="en-US" sz="2400" dirty="0">
                <a:latin typeface="Arial"/>
                <a:cs typeface="Arial"/>
              </a:rPr>
              <a:t> </a:t>
            </a:r>
            <a:r>
              <a:rPr lang="en-US" sz="2400" dirty="0" err="1">
                <a:latin typeface="Arial"/>
                <a:cs typeface="Arial"/>
              </a:rPr>
              <a:t>itens</a:t>
            </a:r>
            <a:r>
              <a:rPr lang="en-US" sz="2400" dirty="0">
                <a:latin typeface="Arial"/>
                <a:cs typeface="Arial"/>
              </a:rPr>
              <a:t>.</a:t>
            </a:r>
            <a:endParaRPr lang="en-US" sz="2400">
              <a:latin typeface="Arial"/>
              <a:cs typeface="Arial"/>
            </a:endParaRPr>
          </a:p>
        </p:txBody>
      </p:sp>
    </p:spTree>
    <p:extLst>
      <p:ext uri="{BB962C8B-B14F-4D97-AF65-F5344CB8AC3E}">
        <p14:creationId xmlns:p14="http://schemas.microsoft.com/office/powerpoint/2010/main" val="2637021916"/>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D50FA-E54F-86B0-8840-D58C76B19E21}"/>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3DC3A57D-A29C-EEA2-CCF0-3A39AF7993C0}"/>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55F36802-7B79-22AC-54D3-DA6CC0D0E06F}"/>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a:ln>
                  <a:noFill/>
                </a:ln>
                <a:solidFill>
                  <a:srgbClr val="0070C0"/>
                </a:solidFill>
                <a:effectLst/>
                <a:uLnTx/>
                <a:uFillTx/>
                <a:latin typeface="Arial"/>
                <a:cs typeface="Arial"/>
                <a:sym typeface="Helvetica Neue"/>
              </a:rPr>
              <a:t> </a:t>
            </a:r>
            <a:r>
              <a:rPr lang="en-US" sz="2000" b="1">
                <a:solidFill>
                  <a:srgbClr val="0070C0"/>
                </a:solidFill>
                <a:latin typeface="Arial"/>
                <a:cs typeface="Arial"/>
                <a:sym typeface="Helvetica Neue"/>
              </a:rPr>
              <a:t>2</a:t>
            </a:r>
            <a:endParaRPr kumimoji="0" lang="pt-BR"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07E766AD-FD83-35F3-986C-2B4CFD34D235}"/>
              </a:ext>
            </a:extLst>
          </p:cNvPr>
          <p:cNvSpPr txBox="1"/>
          <p:nvPr/>
        </p:nvSpPr>
        <p:spPr>
          <a:xfrm>
            <a:off x="204278" y="564779"/>
            <a:ext cx="2683748" cy="307777"/>
          </a:xfrm>
          <a:prstGeom prst="rect">
            <a:avLst/>
          </a:prstGeom>
          <a:noFill/>
        </p:spPr>
        <p:txBody>
          <a:bodyPr wrap="none" lIns="91440" tIns="45720" rIns="91440" bIns="45720" rtlCol="0" anchor="t">
            <a:spAutoFit/>
          </a:bodyPr>
          <a:lstStyle/>
          <a:p>
            <a:r>
              <a:rPr lang="pt-BR" sz="1400" u="sng">
                <a:solidFill>
                  <a:srgbClr val="0070C0"/>
                </a:solidFill>
                <a:latin typeface="Arial"/>
                <a:cs typeface="Arial"/>
              </a:rPr>
              <a:t>Slide 2.3 - Peças de Reposição</a:t>
            </a:r>
          </a:p>
        </p:txBody>
      </p:sp>
      <p:sp>
        <p:nvSpPr>
          <p:cNvPr id="8" name="CaixaDeTexto 7">
            <a:extLst>
              <a:ext uri="{FF2B5EF4-FFF2-40B4-BE49-F238E27FC236}">
                <a16:creationId xmlns:a16="http://schemas.microsoft.com/office/drawing/2014/main" id="{7B42C031-6ABB-85EA-1B46-45A61DD3BD87}"/>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algn="ctr">
              <a:defRPr/>
            </a:pPr>
            <a:r>
              <a:rPr lang="pt-BR" u="sng" dirty="0" err="1">
                <a:solidFill>
                  <a:srgbClr val="0070C0"/>
                </a:solidFill>
                <a:latin typeface="Aptos" panose="02110004020202020204"/>
              </a:rPr>
              <a:t>Resp.:Isabela</a:t>
            </a:r>
            <a:r>
              <a:rPr lang="pt-BR" u="sng" dirty="0">
                <a:solidFill>
                  <a:srgbClr val="0070C0"/>
                </a:solidFill>
                <a:latin typeface="Aptos" panose="02110004020202020204"/>
              </a:rPr>
              <a:t> Soares</a:t>
            </a:r>
            <a:endParaRPr lang="pt-BR" u="sng" dirty="0">
              <a:solidFill>
                <a:srgbClr val="0070C0"/>
              </a:solidFill>
            </a:endParaRPr>
          </a:p>
        </p:txBody>
      </p:sp>
      <p:sp>
        <p:nvSpPr>
          <p:cNvPr id="9" name="CaixaDeTexto 8">
            <a:extLst>
              <a:ext uri="{FF2B5EF4-FFF2-40B4-BE49-F238E27FC236}">
                <a16:creationId xmlns:a16="http://schemas.microsoft.com/office/drawing/2014/main" id="{E1CC50A3-3F71-D02E-5AF9-C016D360FFC6}"/>
              </a:ext>
            </a:extLst>
          </p:cNvPr>
          <p:cNvSpPr txBox="1"/>
          <p:nvPr/>
        </p:nvSpPr>
        <p:spPr>
          <a:xfrm>
            <a:off x="1608667" y="-18398"/>
            <a:ext cx="8669433" cy="738664"/>
          </a:xfrm>
          <a:prstGeom prst="rect">
            <a:avLst/>
          </a:prstGeom>
          <a:noFill/>
        </p:spPr>
        <p:txBody>
          <a:bodyPr wrap="square" lIns="91440" tIns="45720" rIns="91440" bIns="45720" rtlCol="0" anchor="t">
            <a:spAutoFit/>
          </a:bodyPr>
          <a:lstStyle/>
          <a:p>
            <a:pPr>
              <a:defRPr/>
            </a:pPr>
            <a:r>
              <a:rPr lang="pt-BR" sz="1400" dirty="0">
                <a:solidFill>
                  <a:schemeClr val="accent4">
                    <a:lumMod val="76000"/>
                  </a:schemeClr>
                </a:solidFill>
                <a:latin typeface="Arial"/>
                <a:cs typeface="Arial"/>
              </a:rPr>
              <a:t>Requisitos de Manutenção RBAC 43 e 145: Discorra sobre os erros cometidos pela Alaska Airlines, identificando no Relatório do NSTB em  relação aos seguintes aspectos</a:t>
            </a:r>
            <a:endParaRPr lang="pt-BR" dirty="0">
              <a:solidFill>
                <a:schemeClr val="accent4">
                  <a:lumMod val="76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340CA076-A9E2-B33F-6EBF-BC573C4C2F9E}"/>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13" name="CaixaDeTexto 12">
            <a:extLst>
              <a:ext uri="{FF2B5EF4-FFF2-40B4-BE49-F238E27FC236}">
                <a16:creationId xmlns:a16="http://schemas.microsoft.com/office/drawing/2014/main" id="{FFE4CCE4-0C05-82C1-C7AA-48BA9FB48D2D}"/>
              </a:ext>
            </a:extLst>
          </p:cNvPr>
          <p:cNvSpPr txBox="1"/>
          <p:nvPr/>
        </p:nvSpPr>
        <p:spPr>
          <a:xfrm>
            <a:off x="757520" y="1127312"/>
            <a:ext cx="9758079"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Arial"/>
                <a:cs typeface="Arial"/>
              </a:rPr>
              <a:t>• O manual </a:t>
            </a:r>
            <a:r>
              <a:rPr lang="en-US" sz="2400" dirty="0" err="1">
                <a:latin typeface="Arial"/>
                <a:cs typeface="Arial"/>
              </a:rPr>
              <a:t>estabelecia</a:t>
            </a:r>
            <a:r>
              <a:rPr lang="en-US" sz="2400" dirty="0">
                <a:latin typeface="Arial"/>
                <a:cs typeface="Arial"/>
              </a:rPr>
              <a:t> que, </a:t>
            </a:r>
            <a:r>
              <a:rPr lang="en-US" sz="2400" dirty="0" err="1">
                <a:latin typeface="Arial"/>
                <a:cs typeface="Arial"/>
              </a:rPr>
              <a:t>após</a:t>
            </a:r>
            <a:r>
              <a:rPr lang="en-US" sz="2400" dirty="0">
                <a:latin typeface="Arial"/>
                <a:cs typeface="Arial"/>
              </a:rPr>
              <a:t> </a:t>
            </a:r>
            <a:r>
              <a:rPr lang="en-US" sz="2400" dirty="0" err="1">
                <a:latin typeface="Arial"/>
                <a:cs typeface="Arial"/>
              </a:rPr>
              <a:t>revisão</a:t>
            </a:r>
            <a:r>
              <a:rPr lang="en-US" sz="2400" dirty="0">
                <a:latin typeface="Arial"/>
                <a:cs typeface="Arial"/>
              </a:rPr>
              <a:t>, as </a:t>
            </a:r>
            <a:r>
              <a:rPr lang="en-US" sz="2400" dirty="0" err="1">
                <a:latin typeface="Arial"/>
                <a:cs typeface="Arial"/>
              </a:rPr>
              <a:t>peças</a:t>
            </a:r>
            <a:r>
              <a:rPr lang="en-US" sz="2400" dirty="0">
                <a:latin typeface="Arial"/>
                <a:cs typeface="Arial"/>
              </a:rPr>
              <a:t> </a:t>
            </a:r>
            <a:r>
              <a:rPr lang="en-US" sz="2400" dirty="0" err="1">
                <a:latin typeface="Arial"/>
                <a:cs typeface="Arial"/>
              </a:rPr>
              <a:t>deveriam</a:t>
            </a:r>
            <a:r>
              <a:rPr lang="en-US" sz="2400" dirty="0">
                <a:latin typeface="Arial"/>
                <a:cs typeface="Arial"/>
              </a:rPr>
              <a:t> ser </a:t>
            </a:r>
            <a:r>
              <a:rPr lang="en-US" sz="2400" dirty="0" err="1">
                <a:latin typeface="Arial"/>
                <a:cs typeface="Arial"/>
              </a:rPr>
              <a:t>embaladas</a:t>
            </a:r>
            <a:r>
              <a:rPr lang="en-US" sz="2400" dirty="0">
                <a:latin typeface="Arial"/>
                <a:cs typeface="Arial"/>
              </a:rPr>
              <a:t> de forma </a:t>
            </a:r>
            <a:r>
              <a:rPr lang="en-US" sz="2400" dirty="0" err="1">
                <a:latin typeface="Arial"/>
                <a:cs typeface="Arial"/>
              </a:rPr>
              <a:t>protegida</a:t>
            </a:r>
            <a:r>
              <a:rPr lang="en-US" sz="2400" dirty="0">
                <a:latin typeface="Arial"/>
                <a:cs typeface="Arial"/>
              </a:rPr>
              <a:t>, </a:t>
            </a:r>
            <a:r>
              <a:rPr lang="en-US" sz="2400" dirty="0" err="1">
                <a:latin typeface="Arial"/>
                <a:cs typeface="Arial"/>
              </a:rPr>
              <a:t>em</a:t>
            </a:r>
            <a:r>
              <a:rPr lang="en-US" sz="2400" dirty="0">
                <a:latin typeface="Arial"/>
                <a:cs typeface="Arial"/>
              </a:rPr>
              <a:t> </a:t>
            </a:r>
            <a:r>
              <a:rPr lang="en-US" sz="2400" dirty="0" err="1">
                <a:latin typeface="Arial"/>
                <a:cs typeface="Arial"/>
              </a:rPr>
              <a:t>embalagens</a:t>
            </a:r>
            <a:r>
              <a:rPr lang="en-US" sz="2400" dirty="0">
                <a:latin typeface="Arial"/>
                <a:cs typeface="Arial"/>
              </a:rPr>
              <a:t> </a:t>
            </a:r>
            <a:r>
              <a:rPr lang="en-US" sz="2400" dirty="0" err="1">
                <a:latin typeface="Arial"/>
                <a:cs typeface="Arial"/>
              </a:rPr>
              <a:t>herméticas</a:t>
            </a:r>
            <a:r>
              <a:rPr lang="en-US" sz="2400" dirty="0">
                <a:latin typeface="Arial"/>
                <a:cs typeface="Arial"/>
              </a:rPr>
              <a:t> e </a:t>
            </a:r>
            <a:r>
              <a:rPr lang="en-US" sz="2400" dirty="0" err="1">
                <a:latin typeface="Arial"/>
                <a:cs typeface="Arial"/>
              </a:rPr>
              <a:t>devidamente</a:t>
            </a:r>
            <a:r>
              <a:rPr lang="en-US" sz="2400" dirty="0">
                <a:latin typeface="Arial"/>
                <a:cs typeface="Arial"/>
              </a:rPr>
              <a:t> </a:t>
            </a:r>
            <a:r>
              <a:rPr lang="en-US" sz="2400" dirty="0" err="1">
                <a:latin typeface="Arial"/>
                <a:cs typeface="Arial"/>
              </a:rPr>
              <a:t>vedadas</a:t>
            </a:r>
            <a:r>
              <a:rPr lang="en-US" sz="2400" dirty="0">
                <a:latin typeface="Arial"/>
                <a:cs typeface="Arial"/>
              </a:rPr>
              <a:t>, para </a:t>
            </a:r>
            <a:r>
              <a:rPr lang="en-US" sz="2400" dirty="0" err="1">
                <a:latin typeface="Arial"/>
                <a:cs typeface="Arial"/>
              </a:rPr>
              <a:t>evitar</a:t>
            </a:r>
            <a:r>
              <a:rPr lang="en-US" sz="2400" dirty="0">
                <a:latin typeface="Arial"/>
                <a:cs typeface="Arial"/>
              </a:rPr>
              <a:t> </a:t>
            </a:r>
            <a:r>
              <a:rPr lang="en-US" sz="2400" dirty="0" err="1">
                <a:latin typeface="Arial"/>
                <a:cs typeface="Arial"/>
              </a:rPr>
              <a:t>danos</a:t>
            </a:r>
            <a:r>
              <a:rPr lang="en-US" sz="2400" dirty="0">
                <a:latin typeface="Arial"/>
                <a:cs typeface="Arial"/>
              </a:rPr>
              <a:t> </a:t>
            </a:r>
            <a:r>
              <a:rPr lang="en-US" sz="2400" dirty="0" err="1">
                <a:latin typeface="Arial"/>
                <a:cs typeface="Arial"/>
              </a:rPr>
              <a:t>durante</a:t>
            </a:r>
            <a:r>
              <a:rPr lang="en-US" sz="2400" dirty="0">
                <a:latin typeface="Arial"/>
                <a:cs typeface="Arial"/>
              </a:rPr>
              <a:t> </a:t>
            </a:r>
            <a:r>
              <a:rPr lang="en-US" sz="2400" dirty="0" err="1">
                <a:latin typeface="Arial"/>
                <a:cs typeface="Arial"/>
              </a:rPr>
              <a:t>transporte</a:t>
            </a:r>
            <a:r>
              <a:rPr lang="en-US" sz="2400" dirty="0">
                <a:latin typeface="Arial"/>
                <a:cs typeface="Arial"/>
              </a:rPr>
              <a:t> </a:t>
            </a:r>
            <a:r>
              <a:rPr lang="en-US" sz="2400" dirty="0" err="1">
                <a:latin typeface="Arial"/>
                <a:cs typeface="Arial"/>
              </a:rPr>
              <a:t>ou</a:t>
            </a:r>
            <a:r>
              <a:rPr lang="en-US" sz="2400" dirty="0">
                <a:latin typeface="Arial"/>
                <a:cs typeface="Arial"/>
              </a:rPr>
              <a:t> </a:t>
            </a:r>
            <a:r>
              <a:rPr lang="en-US" sz="2400" dirty="0" err="1">
                <a:latin typeface="Arial"/>
                <a:cs typeface="Arial"/>
              </a:rPr>
              <a:t>armazenamento</a:t>
            </a:r>
            <a:r>
              <a:rPr lang="en-US" sz="2400" dirty="0">
                <a:latin typeface="Arial"/>
                <a:cs typeface="Arial"/>
              </a:rPr>
              <a:t>.</a:t>
            </a:r>
            <a:endParaRPr lang="pt-BR" sz="2400" dirty="0">
              <a:latin typeface="Arial"/>
              <a:cs typeface="Arial"/>
            </a:endParaRPr>
          </a:p>
          <a:p>
            <a:endParaRPr lang="pt-BR" sz="2400">
              <a:latin typeface="Arial"/>
              <a:cs typeface="Arial"/>
            </a:endParaRPr>
          </a:p>
          <a:p>
            <a:r>
              <a:rPr lang="en-US" sz="2400" dirty="0">
                <a:latin typeface="Arial"/>
                <a:cs typeface="Arial"/>
              </a:rPr>
              <a:t>• </a:t>
            </a:r>
            <a:r>
              <a:rPr lang="en-US" sz="2400" err="1">
                <a:latin typeface="Arial"/>
                <a:cs typeface="Arial"/>
              </a:rPr>
              <a:t>Entretanto</a:t>
            </a:r>
            <a:r>
              <a:rPr lang="en-US" sz="2400" dirty="0">
                <a:latin typeface="Arial"/>
                <a:cs typeface="Arial"/>
              </a:rPr>
              <a:t>, </a:t>
            </a:r>
            <a:r>
              <a:rPr lang="en-US" sz="2400" err="1">
                <a:latin typeface="Arial"/>
                <a:cs typeface="Arial"/>
              </a:rPr>
              <a:t>observou</a:t>
            </a:r>
            <a:r>
              <a:rPr lang="en-US" sz="2400" dirty="0">
                <a:latin typeface="Arial"/>
                <a:cs typeface="Arial"/>
              </a:rPr>
              <a:t>-se que </a:t>
            </a:r>
            <a:r>
              <a:rPr lang="en-US" sz="2400" err="1">
                <a:latin typeface="Arial"/>
                <a:cs typeface="Arial"/>
              </a:rPr>
              <a:t>algumas</a:t>
            </a:r>
            <a:r>
              <a:rPr lang="en-US" sz="2400" dirty="0">
                <a:latin typeface="Arial"/>
                <a:cs typeface="Arial"/>
              </a:rPr>
              <a:t> </a:t>
            </a:r>
            <a:r>
              <a:rPr lang="en-US" sz="2400" err="1">
                <a:latin typeface="Arial"/>
                <a:cs typeface="Arial"/>
              </a:rPr>
              <a:t>instalações</a:t>
            </a:r>
            <a:r>
              <a:rPr lang="en-US" sz="2400" dirty="0">
                <a:latin typeface="Arial"/>
                <a:cs typeface="Arial"/>
              </a:rPr>
              <a:t> </a:t>
            </a:r>
            <a:r>
              <a:rPr lang="en-US" sz="2400" err="1">
                <a:latin typeface="Arial"/>
                <a:cs typeface="Arial"/>
              </a:rPr>
              <a:t>não</a:t>
            </a:r>
            <a:r>
              <a:rPr lang="en-US" sz="2400" dirty="0">
                <a:latin typeface="Arial"/>
                <a:cs typeface="Arial"/>
              </a:rPr>
              <a:t> </a:t>
            </a:r>
            <a:r>
              <a:rPr lang="en-US" sz="2400" err="1">
                <a:latin typeface="Arial"/>
                <a:cs typeface="Arial"/>
              </a:rPr>
              <a:t>cumpriam</a:t>
            </a:r>
            <a:r>
              <a:rPr lang="en-US" sz="2400" dirty="0">
                <a:latin typeface="Arial"/>
                <a:cs typeface="Arial"/>
              </a:rPr>
              <a:t> </a:t>
            </a:r>
            <a:r>
              <a:rPr lang="en-US" sz="2400" err="1">
                <a:latin typeface="Arial"/>
                <a:cs typeface="Arial"/>
              </a:rPr>
              <a:t>essas</a:t>
            </a:r>
            <a:r>
              <a:rPr lang="en-US" sz="2400" dirty="0">
                <a:latin typeface="Arial"/>
                <a:cs typeface="Arial"/>
              </a:rPr>
              <a:t> </a:t>
            </a:r>
            <a:r>
              <a:rPr lang="en-US" sz="2400" err="1">
                <a:latin typeface="Arial"/>
                <a:cs typeface="Arial"/>
              </a:rPr>
              <a:t>instruções</a:t>
            </a:r>
            <a:r>
              <a:rPr lang="en-US" sz="2400" dirty="0">
                <a:latin typeface="Arial"/>
                <a:cs typeface="Arial"/>
              </a:rPr>
              <a:t>, </a:t>
            </a:r>
            <a:r>
              <a:rPr lang="en-US" sz="2400" err="1">
                <a:latin typeface="Arial"/>
                <a:cs typeface="Arial"/>
              </a:rPr>
              <a:t>deixando</a:t>
            </a:r>
            <a:r>
              <a:rPr lang="en-US" sz="2400" dirty="0">
                <a:latin typeface="Arial"/>
                <a:cs typeface="Arial"/>
              </a:rPr>
              <a:t> de </a:t>
            </a:r>
            <a:r>
              <a:rPr lang="en-US" sz="2400" err="1">
                <a:latin typeface="Arial"/>
                <a:cs typeface="Arial"/>
              </a:rPr>
              <a:t>realizar</a:t>
            </a:r>
            <a:r>
              <a:rPr lang="en-US" sz="2400" dirty="0">
                <a:latin typeface="Arial"/>
                <a:cs typeface="Arial"/>
              </a:rPr>
              <a:t> a </a:t>
            </a:r>
            <a:r>
              <a:rPr lang="en-US" sz="2400" err="1">
                <a:latin typeface="Arial"/>
                <a:cs typeface="Arial"/>
              </a:rPr>
              <a:t>embalagem</a:t>
            </a:r>
            <a:r>
              <a:rPr lang="en-US" sz="2400" dirty="0">
                <a:latin typeface="Arial"/>
                <a:cs typeface="Arial"/>
              </a:rPr>
              <a:t> </a:t>
            </a:r>
            <a:r>
              <a:rPr lang="en-US" sz="2400" err="1">
                <a:latin typeface="Arial"/>
                <a:cs typeface="Arial"/>
              </a:rPr>
              <a:t>adequada</a:t>
            </a:r>
            <a:r>
              <a:rPr lang="en-US" sz="2400" dirty="0">
                <a:latin typeface="Arial"/>
                <a:cs typeface="Arial"/>
              </a:rPr>
              <a:t> </a:t>
            </a:r>
            <a:r>
              <a:rPr lang="en-US" sz="2400" err="1">
                <a:latin typeface="Arial"/>
                <a:cs typeface="Arial"/>
              </a:rPr>
              <a:t>ou</a:t>
            </a:r>
            <a:r>
              <a:rPr lang="en-US" sz="2400" dirty="0">
                <a:latin typeface="Arial"/>
                <a:cs typeface="Arial"/>
              </a:rPr>
              <a:t> de </a:t>
            </a:r>
            <a:r>
              <a:rPr lang="en-US" sz="2400" err="1">
                <a:latin typeface="Arial"/>
                <a:cs typeface="Arial"/>
              </a:rPr>
              <a:t>rastrear</a:t>
            </a:r>
            <a:r>
              <a:rPr lang="en-US" sz="2400" dirty="0">
                <a:latin typeface="Arial"/>
                <a:cs typeface="Arial"/>
              </a:rPr>
              <a:t> as </a:t>
            </a:r>
            <a:r>
              <a:rPr lang="en-US" sz="2400" err="1">
                <a:latin typeface="Arial"/>
                <a:cs typeface="Arial"/>
              </a:rPr>
              <a:t>peças</a:t>
            </a:r>
            <a:r>
              <a:rPr lang="en-US" sz="2400" dirty="0">
                <a:latin typeface="Arial"/>
                <a:cs typeface="Arial"/>
              </a:rPr>
              <a:t> </a:t>
            </a:r>
            <a:r>
              <a:rPr lang="en-US" sz="2400" err="1">
                <a:latin typeface="Arial"/>
                <a:cs typeface="Arial"/>
              </a:rPr>
              <a:t>após</a:t>
            </a:r>
            <a:r>
              <a:rPr lang="en-US" sz="2400" dirty="0">
                <a:latin typeface="Arial"/>
                <a:cs typeface="Arial"/>
              </a:rPr>
              <a:t> o </a:t>
            </a:r>
            <a:r>
              <a:rPr lang="en-US" sz="2400" err="1">
                <a:latin typeface="Arial"/>
                <a:cs typeface="Arial"/>
              </a:rPr>
              <a:t>envio</a:t>
            </a:r>
            <a:r>
              <a:rPr lang="en-US" sz="2400" dirty="0">
                <a:latin typeface="Arial"/>
                <a:cs typeface="Arial"/>
              </a:rPr>
              <a:t>, o que </a:t>
            </a:r>
            <a:r>
              <a:rPr lang="en-US" sz="2400" err="1">
                <a:latin typeface="Arial"/>
                <a:cs typeface="Arial"/>
              </a:rPr>
              <a:t>gerava</a:t>
            </a:r>
            <a:r>
              <a:rPr lang="en-US" sz="2400" dirty="0">
                <a:latin typeface="Arial"/>
                <a:cs typeface="Arial"/>
              </a:rPr>
              <a:t> </a:t>
            </a:r>
            <a:r>
              <a:rPr lang="en-US" sz="2400" err="1">
                <a:latin typeface="Arial"/>
                <a:cs typeface="Arial"/>
              </a:rPr>
              <a:t>incerteza</a:t>
            </a:r>
            <a:r>
              <a:rPr lang="en-US" sz="2400" dirty="0">
                <a:latin typeface="Arial"/>
                <a:cs typeface="Arial"/>
              </a:rPr>
              <a:t> </a:t>
            </a:r>
            <a:r>
              <a:rPr lang="en-US" sz="2400" err="1">
                <a:latin typeface="Arial"/>
                <a:cs typeface="Arial"/>
              </a:rPr>
              <a:t>sobre</a:t>
            </a:r>
            <a:r>
              <a:rPr lang="en-US" sz="2400" dirty="0">
                <a:latin typeface="Arial"/>
                <a:cs typeface="Arial"/>
              </a:rPr>
              <a:t> a forma </a:t>
            </a:r>
            <a:r>
              <a:rPr lang="en-US" sz="2400" err="1">
                <a:latin typeface="Arial"/>
                <a:cs typeface="Arial"/>
              </a:rPr>
              <a:t>como</a:t>
            </a:r>
            <a:r>
              <a:rPr lang="en-US" sz="2400" dirty="0">
                <a:latin typeface="Arial"/>
                <a:cs typeface="Arial"/>
              </a:rPr>
              <a:t> </a:t>
            </a:r>
            <a:r>
              <a:rPr lang="en-US" sz="2400" err="1">
                <a:latin typeface="Arial"/>
                <a:cs typeface="Arial"/>
              </a:rPr>
              <a:t>seriam</a:t>
            </a:r>
            <a:r>
              <a:rPr lang="en-US" sz="2400" dirty="0">
                <a:latin typeface="Arial"/>
                <a:cs typeface="Arial"/>
              </a:rPr>
              <a:t> </a:t>
            </a:r>
            <a:r>
              <a:rPr lang="en-US" sz="2400" err="1">
                <a:latin typeface="Arial"/>
                <a:cs typeface="Arial"/>
              </a:rPr>
              <a:t>armazenadas</a:t>
            </a:r>
            <a:r>
              <a:rPr lang="en-US" sz="2400" dirty="0">
                <a:latin typeface="Arial"/>
                <a:cs typeface="Arial"/>
              </a:rPr>
              <a:t> e </a:t>
            </a:r>
            <a:r>
              <a:rPr lang="en-US" sz="2400" err="1">
                <a:latin typeface="Arial"/>
                <a:cs typeface="Arial"/>
              </a:rPr>
              <a:t>utilizadas</a:t>
            </a:r>
            <a:r>
              <a:rPr lang="en-US" sz="2400" dirty="0">
                <a:latin typeface="Arial"/>
                <a:cs typeface="Arial"/>
              </a:rPr>
              <a:t>. </a:t>
            </a:r>
          </a:p>
          <a:p>
            <a:endParaRPr lang="en-US" sz="2400" dirty="0">
              <a:latin typeface="Arial"/>
              <a:cs typeface="Arial"/>
            </a:endParaRPr>
          </a:p>
          <a:p>
            <a:r>
              <a:rPr lang="en-US" sz="2400" dirty="0">
                <a:latin typeface="Arial"/>
                <a:cs typeface="Arial"/>
              </a:rPr>
              <a:t>• Durante as </a:t>
            </a:r>
            <a:r>
              <a:rPr lang="en-US" sz="2400" dirty="0" err="1">
                <a:latin typeface="Arial"/>
                <a:cs typeface="Arial"/>
              </a:rPr>
              <a:t>inspeções</a:t>
            </a:r>
            <a:r>
              <a:rPr lang="en-US" sz="2400" dirty="0">
                <a:latin typeface="Arial"/>
                <a:cs typeface="Arial"/>
              </a:rPr>
              <a:t>, o NTSB </a:t>
            </a:r>
            <a:r>
              <a:rPr lang="en-US" sz="2400" dirty="0" err="1">
                <a:latin typeface="Arial"/>
                <a:cs typeface="Arial"/>
              </a:rPr>
              <a:t>encontrou</a:t>
            </a:r>
            <a:r>
              <a:rPr lang="en-US" sz="2400" dirty="0">
                <a:latin typeface="Arial"/>
                <a:cs typeface="Arial"/>
              </a:rPr>
              <a:t> </a:t>
            </a:r>
            <a:r>
              <a:rPr lang="en-US" sz="2400" dirty="0" err="1">
                <a:latin typeface="Arial"/>
                <a:cs typeface="Arial"/>
              </a:rPr>
              <a:t>peças</a:t>
            </a:r>
            <a:r>
              <a:rPr lang="en-US" sz="2400" dirty="0">
                <a:latin typeface="Arial"/>
                <a:cs typeface="Arial"/>
              </a:rPr>
              <a:t> de </a:t>
            </a:r>
            <a:r>
              <a:rPr lang="en-US" sz="2400" dirty="0" err="1">
                <a:latin typeface="Arial"/>
                <a:cs typeface="Arial"/>
              </a:rPr>
              <a:t>reposição</a:t>
            </a:r>
            <a:r>
              <a:rPr lang="en-US" sz="2400" dirty="0">
                <a:latin typeface="Arial"/>
                <a:cs typeface="Arial"/>
              </a:rPr>
              <a:t> </a:t>
            </a:r>
            <a:r>
              <a:rPr lang="en-US" sz="2400" dirty="0" err="1">
                <a:latin typeface="Arial"/>
                <a:cs typeface="Arial"/>
              </a:rPr>
              <a:t>armazenadas</a:t>
            </a:r>
            <a:r>
              <a:rPr lang="en-US" sz="2400" dirty="0">
                <a:latin typeface="Arial"/>
                <a:cs typeface="Arial"/>
              </a:rPr>
              <a:t> </a:t>
            </a:r>
            <a:r>
              <a:rPr lang="en-US" sz="2400" dirty="0" err="1">
                <a:latin typeface="Arial"/>
                <a:cs typeface="Arial"/>
              </a:rPr>
              <a:t>em</a:t>
            </a:r>
            <a:r>
              <a:rPr lang="en-US" sz="2400" dirty="0">
                <a:latin typeface="Arial"/>
                <a:cs typeface="Arial"/>
              </a:rPr>
              <a:t> </a:t>
            </a:r>
            <a:r>
              <a:rPr lang="en-US" sz="2400" dirty="0" err="1">
                <a:latin typeface="Arial"/>
                <a:cs typeface="Arial"/>
              </a:rPr>
              <a:t>caixas</a:t>
            </a:r>
            <a:r>
              <a:rPr lang="en-US" sz="2400" dirty="0">
                <a:latin typeface="Arial"/>
                <a:cs typeface="Arial"/>
              </a:rPr>
              <a:t> de </a:t>
            </a:r>
            <a:r>
              <a:rPr lang="en-US" sz="2400" dirty="0" err="1">
                <a:latin typeface="Arial"/>
                <a:cs typeface="Arial"/>
              </a:rPr>
              <a:t>papelão</a:t>
            </a:r>
            <a:r>
              <a:rPr lang="en-US" sz="2400" dirty="0">
                <a:latin typeface="Arial"/>
                <a:cs typeface="Arial"/>
              </a:rPr>
              <a:t> </a:t>
            </a:r>
            <a:r>
              <a:rPr lang="en-US" sz="2400" dirty="0" err="1">
                <a:latin typeface="Arial"/>
                <a:cs typeface="Arial"/>
              </a:rPr>
              <a:t>abertas</a:t>
            </a:r>
            <a:r>
              <a:rPr lang="en-US" sz="2400" dirty="0">
                <a:latin typeface="Arial"/>
                <a:cs typeface="Arial"/>
              </a:rPr>
              <a:t>, </a:t>
            </a:r>
            <a:r>
              <a:rPr lang="en-US" sz="2400" dirty="0" err="1">
                <a:latin typeface="Arial"/>
                <a:cs typeface="Arial"/>
              </a:rPr>
              <a:t>sem</a:t>
            </a:r>
            <a:r>
              <a:rPr lang="en-US" sz="2400" dirty="0">
                <a:latin typeface="Arial"/>
                <a:cs typeface="Arial"/>
              </a:rPr>
              <a:t> a </a:t>
            </a:r>
            <a:r>
              <a:rPr lang="en-US" sz="2400" dirty="0" err="1">
                <a:latin typeface="Arial"/>
                <a:cs typeface="Arial"/>
              </a:rPr>
              <a:t>documentação</a:t>
            </a:r>
            <a:r>
              <a:rPr lang="en-US" sz="2400" dirty="0">
                <a:latin typeface="Arial"/>
                <a:cs typeface="Arial"/>
              </a:rPr>
              <a:t> </a:t>
            </a:r>
            <a:r>
              <a:rPr lang="en-US" sz="2400" dirty="0" err="1">
                <a:latin typeface="Arial"/>
                <a:cs typeface="Arial"/>
              </a:rPr>
              <a:t>obrigatória</a:t>
            </a:r>
            <a:r>
              <a:rPr lang="en-US" sz="2400" dirty="0">
                <a:latin typeface="Arial"/>
                <a:cs typeface="Arial"/>
              </a:rPr>
              <a:t>, </a:t>
            </a:r>
            <a:r>
              <a:rPr lang="en-US" sz="2400" dirty="0" err="1">
                <a:latin typeface="Arial"/>
                <a:cs typeface="Arial"/>
              </a:rPr>
              <a:t>como</a:t>
            </a:r>
            <a:r>
              <a:rPr lang="en-US" sz="2400" dirty="0">
                <a:latin typeface="Arial"/>
                <a:cs typeface="Arial"/>
              </a:rPr>
              <a:t> </a:t>
            </a:r>
            <a:r>
              <a:rPr lang="en-US" sz="2400" dirty="0" err="1">
                <a:latin typeface="Arial"/>
                <a:cs typeface="Arial"/>
              </a:rPr>
              <a:t>registros</a:t>
            </a:r>
            <a:r>
              <a:rPr lang="en-US" sz="2400" dirty="0">
                <a:latin typeface="Arial"/>
                <a:cs typeface="Arial"/>
              </a:rPr>
              <a:t> de </a:t>
            </a:r>
            <a:r>
              <a:rPr lang="en-US" sz="2400" dirty="0" err="1">
                <a:latin typeface="Arial"/>
                <a:cs typeface="Arial"/>
              </a:rPr>
              <a:t>medições</a:t>
            </a:r>
            <a:r>
              <a:rPr lang="en-US" sz="2400" dirty="0">
                <a:latin typeface="Arial"/>
                <a:cs typeface="Arial"/>
              </a:rPr>
              <a:t> de </a:t>
            </a:r>
            <a:r>
              <a:rPr lang="en-US" sz="2400" dirty="0" err="1">
                <a:latin typeface="Arial"/>
                <a:cs typeface="Arial"/>
              </a:rPr>
              <a:t>folga</a:t>
            </a:r>
            <a:r>
              <a:rPr lang="en-US" sz="2400" dirty="0">
                <a:latin typeface="Arial"/>
                <a:cs typeface="Arial"/>
              </a:rPr>
              <a:t> </a:t>
            </a:r>
            <a:r>
              <a:rPr lang="en-US" sz="2400" dirty="0" err="1">
                <a:latin typeface="Arial"/>
                <a:cs typeface="Arial"/>
              </a:rPr>
              <a:t>ou</a:t>
            </a:r>
            <a:r>
              <a:rPr lang="en-US" sz="2400" dirty="0">
                <a:latin typeface="Arial"/>
                <a:cs typeface="Arial"/>
              </a:rPr>
              <a:t> </a:t>
            </a:r>
            <a:r>
              <a:rPr lang="en-US" sz="2400" dirty="0" err="1">
                <a:latin typeface="Arial"/>
                <a:cs typeface="Arial"/>
              </a:rPr>
              <a:t>informações</a:t>
            </a:r>
            <a:r>
              <a:rPr lang="en-US" sz="2400" dirty="0">
                <a:latin typeface="Arial"/>
                <a:cs typeface="Arial"/>
              </a:rPr>
              <a:t> </a:t>
            </a:r>
            <a:r>
              <a:rPr lang="en-US" sz="2400" dirty="0" err="1">
                <a:latin typeface="Arial"/>
                <a:cs typeface="Arial"/>
              </a:rPr>
              <a:t>sobre</a:t>
            </a:r>
            <a:r>
              <a:rPr lang="en-US" sz="2400" dirty="0">
                <a:latin typeface="Arial"/>
                <a:cs typeface="Arial"/>
              </a:rPr>
              <a:t> </a:t>
            </a:r>
            <a:r>
              <a:rPr lang="en-US" sz="2400" dirty="0" err="1">
                <a:latin typeface="Arial"/>
                <a:cs typeface="Arial"/>
              </a:rPr>
              <a:t>reparos</a:t>
            </a:r>
            <a:r>
              <a:rPr lang="en-US" sz="2400" dirty="0">
                <a:latin typeface="Arial"/>
                <a:cs typeface="Arial"/>
              </a:rPr>
              <a:t> </a:t>
            </a:r>
            <a:r>
              <a:rPr lang="en-US" sz="2400" dirty="0" err="1">
                <a:latin typeface="Arial"/>
                <a:cs typeface="Arial"/>
              </a:rPr>
              <a:t>realizados</a:t>
            </a:r>
            <a:r>
              <a:rPr lang="en-US" sz="2400" dirty="0">
                <a:latin typeface="Arial"/>
                <a:cs typeface="Arial"/>
              </a:rPr>
              <a:t>.</a:t>
            </a:r>
            <a:endParaRPr lang="en-US" sz="2400">
              <a:latin typeface="Arial"/>
              <a:cs typeface="Arial"/>
            </a:endParaRPr>
          </a:p>
        </p:txBody>
      </p:sp>
    </p:spTree>
    <p:extLst>
      <p:ext uri="{BB962C8B-B14F-4D97-AF65-F5344CB8AC3E}">
        <p14:creationId xmlns:p14="http://schemas.microsoft.com/office/powerpoint/2010/main" val="1228433584"/>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4F6F7-458E-4E63-9DDE-6A6494B41A82}"/>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BD4CD0AF-164C-C0CF-3CF2-53E12DD60E09}"/>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4453F116-B5FB-81DF-3F1D-2ED974E8480E}"/>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a:ln>
                  <a:noFill/>
                </a:ln>
                <a:solidFill>
                  <a:srgbClr val="0070C0"/>
                </a:solidFill>
                <a:effectLst/>
                <a:uLnTx/>
                <a:uFillTx/>
                <a:latin typeface="Arial"/>
                <a:cs typeface="Arial"/>
                <a:sym typeface="Helvetica Neue"/>
              </a:rPr>
              <a:t> </a:t>
            </a:r>
            <a:r>
              <a:rPr lang="en-US" sz="2000" b="1">
                <a:solidFill>
                  <a:srgbClr val="0070C0"/>
                </a:solidFill>
                <a:latin typeface="Arial"/>
                <a:cs typeface="Arial"/>
                <a:sym typeface="Helvetica Neue"/>
              </a:rPr>
              <a:t>2</a:t>
            </a:r>
            <a:endParaRPr kumimoji="0" lang="pt-BR"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EC80CD55-1316-B7C5-83E6-85D8A59AAE57}"/>
              </a:ext>
            </a:extLst>
          </p:cNvPr>
          <p:cNvSpPr txBox="1"/>
          <p:nvPr/>
        </p:nvSpPr>
        <p:spPr>
          <a:xfrm>
            <a:off x="204278" y="564779"/>
            <a:ext cx="4801058" cy="307777"/>
          </a:xfrm>
          <a:prstGeom prst="rect">
            <a:avLst/>
          </a:prstGeom>
          <a:noFill/>
        </p:spPr>
        <p:txBody>
          <a:bodyPr wrap="none" lIns="91440" tIns="45720" rIns="91440" bIns="45720" rtlCol="0" anchor="t">
            <a:spAutoFit/>
          </a:bodyPr>
          <a:lstStyle/>
          <a:p>
            <a:r>
              <a:rPr lang="pt-BR" sz="1400" u="sng">
                <a:solidFill>
                  <a:srgbClr val="0070C0"/>
                </a:solidFill>
                <a:latin typeface="Arial"/>
                <a:cs typeface="Arial"/>
              </a:rPr>
              <a:t>Slide 2.4 - Ferramentas e Equipamentos de Apoio no Solo</a:t>
            </a:r>
          </a:p>
        </p:txBody>
      </p:sp>
      <p:sp>
        <p:nvSpPr>
          <p:cNvPr id="8" name="CaixaDeTexto 7">
            <a:extLst>
              <a:ext uri="{FF2B5EF4-FFF2-40B4-BE49-F238E27FC236}">
                <a16:creationId xmlns:a16="http://schemas.microsoft.com/office/drawing/2014/main" id="{E3F06E1A-989E-8E7F-EF9F-856BCB0567F1}"/>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algn="ctr">
              <a:defRPr/>
            </a:pPr>
            <a:r>
              <a:rPr lang="pt-BR" u="sng" dirty="0">
                <a:solidFill>
                  <a:srgbClr val="0070C0"/>
                </a:solidFill>
                <a:latin typeface="Aptos" panose="02110004020202020204"/>
              </a:rPr>
              <a:t>Resp.: Isabela Soares</a:t>
            </a:r>
            <a:endParaRPr lang="pt-BR" u="sng" dirty="0">
              <a:solidFill>
                <a:srgbClr val="0070C0"/>
              </a:solidFill>
            </a:endParaRPr>
          </a:p>
        </p:txBody>
      </p:sp>
      <p:sp>
        <p:nvSpPr>
          <p:cNvPr id="9" name="CaixaDeTexto 8">
            <a:extLst>
              <a:ext uri="{FF2B5EF4-FFF2-40B4-BE49-F238E27FC236}">
                <a16:creationId xmlns:a16="http://schemas.microsoft.com/office/drawing/2014/main" id="{ADF3020E-9125-CB42-F7A2-39C95E617160}"/>
              </a:ext>
            </a:extLst>
          </p:cNvPr>
          <p:cNvSpPr txBox="1"/>
          <p:nvPr/>
        </p:nvSpPr>
        <p:spPr>
          <a:xfrm>
            <a:off x="1608667" y="-18398"/>
            <a:ext cx="8669433" cy="738664"/>
          </a:xfrm>
          <a:prstGeom prst="rect">
            <a:avLst/>
          </a:prstGeom>
          <a:noFill/>
        </p:spPr>
        <p:txBody>
          <a:bodyPr wrap="square" lIns="91440" tIns="45720" rIns="91440" bIns="45720" rtlCol="0" anchor="t">
            <a:spAutoFit/>
          </a:bodyPr>
          <a:lstStyle/>
          <a:p>
            <a:pPr>
              <a:defRPr/>
            </a:pPr>
            <a:r>
              <a:rPr lang="pt-BR" sz="1400" dirty="0">
                <a:solidFill>
                  <a:schemeClr val="accent4">
                    <a:lumMod val="76000"/>
                  </a:schemeClr>
                </a:solidFill>
                <a:latin typeface="Arial"/>
                <a:cs typeface="Arial"/>
              </a:rPr>
              <a:t>Requisitos de Manutenção RBAC 43 e 145: Discorra sobre os erros cometidos pela Alaska Airlines, identificando no Relatório do NSTB em  relação aos seguintes aspectos</a:t>
            </a:r>
            <a:endParaRPr lang="pt-BR" dirty="0">
              <a:solidFill>
                <a:schemeClr val="accent4">
                  <a:lumMod val="76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9AC80758-8179-3DDF-54EC-96CF448032E9}"/>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12" name="CaixaDeTexto 11">
            <a:extLst>
              <a:ext uri="{FF2B5EF4-FFF2-40B4-BE49-F238E27FC236}">
                <a16:creationId xmlns:a16="http://schemas.microsoft.com/office/drawing/2014/main" id="{7DCFB59E-CC0A-FB18-2515-5AB8433A1494}"/>
              </a:ext>
            </a:extLst>
          </p:cNvPr>
          <p:cNvSpPr txBox="1"/>
          <p:nvPr/>
        </p:nvSpPr>
        <p:spPr>
          <a:xfrm>
            <a:off x="903515" y="2351314"/>
            <a:ext cx="9133112"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Arial"/>
                <a:cs typeface="Arial"/>
              </a:rPr>
              <a:t> • A </a:t>
            </a:r>
            <a:r>
              <a:rPr lang="en-US" sz="2400" err="1">
                <a:latin typeface="Arial"/>
                <a:cs typeface="Arial"/>
              </a:rPr>
              <a:t>investigação</a:t>
            </a:r>
            <a:r>
              <a:rPr lang="en-US" sz="2400" dirty="0">
                <a:latin typeface="Arial"/>
                <a:cs typeface="Arial"/>
              </a:rPr>
              <a:t> do NTSB </a:t>
            </a:r>
            <a:r>
              <a:rPr lang="en-US" sz="2400" err="1">
                <a:latin typeface="Arial"/>
                <a:cs typeface="Arial"/>
              </a:rPr>
              <a:t>apontou</a:t>
            </a:r>
            <a:r>
              <a:rPr lang="en-US" sz="2400" dirty="0">
                <a:latin typeface="Arial"/>
                <a:cs typeface="Arial"/>
              </a:rPr>
              <a:t> que a Alaska Airlines </a:t>
            </a:r>
            <a:r>
              <a:rPr lang="en-US" sz="2400" err="1">
                <a:latin typeface="Arial"/>
                <a:cs typeface="Arial"/>
              </a:rPr>
              <a:t>fabricou</a:t>
            </a:r>
            <a:r>
              <a:rPr lang="en-US" sz="2400" dirty="0">
                <a:latin typeface="Arial"/>
                <a:cs typeface="Arial"/>
              </a:rPr>
              <a:t> </a:t>
            </a:r>
            <a:r>
              <a:rPr lang="en-US" sz="2400" err="1">
                <a:latin typeface="Arial"/>
                <a:cs typeface="Arial"/>
              </a:rPr>
              <a:t>internamente</a:t>
            </a:r>
            <a:r>
              <a:rPr lang="en-US" sz="2400" dirty="0">
                <a:latin typeface="Arial"/>
                <a:cs typeface="Arial"/>
              </a:rPr>
              <a:t> um </a:t>
            </a:r>
            <a:r>
              <a:rPr lang="en-US" sz="2400" err="1">
                <a:latin typeface="Arial"/>
                <a:cs typeface="Arial"/>
              </a:rPr>
              <a:t>dispositivo</a:t>
            </a:r>
            <a:r>
              <a:rPr lang="en-US" sz="2400" dirty="0">
                <a:latin typeface="Arial"/>
                <a:cs typeface="Arial"/>
              </a:rPr>
              <a:t> de </a:t>
            </a:r>
            <a:r>
              <a:rPr lang="en-US" sz="2400" err="1">
                <a:latin typeface="Arial"/>
                <a:cs typeface="Arial"/>
              </a:rPr>
              <a:t>contenção</a:t>
            </a:r>
            <a:r>
              <a:rPr lang="en-US" sz="2400" dirty="0">
                <a:latin typeface="Arial"/>
                <a:cs typeface="Arial"/>
              </a:rPr>
              <a:t> do </a:t>
            </a:r>
            <a:r>
              <a:rPr lang="en-US" sz="2400" err="1">
                <a:latin typeface="Arial"/>
                <a:cs typeface="Arial"/>
              </a:rPr>
              <a:t>estabilizador</a:t>
            </a:r>
            <a:r>
              <a:rPr lang="en-US" sz="2400" dirty="0">
                <a:latin typeface="Arial"/>
                <a:cs typeface="Arial"/>
              </a:rPr>
              <a:t> horizontal que </a:t>
            </a:r>
            <a:r>
              <a:rPr lang="en-US" sz="2400" err="1">
                <a:latin typeface="Arial"/>
                <a:cs typeface="Arial"/>
              </a:rPr>
              <a:t>não</a:t>
            </a:r>
            <a:r>
              <a:rPr lang="en-US" sz="2400" dirty="0">
                <a:latin typeface="Arial"/>
                <a:cs typeface="Arial"/>
              </a:rPr>
              <a:t> </a:t>
            </a:r>
            <a:r>
              <a:rPr lang="en-US" sz="2400" err="1">
                <a:latin typeface="Arial"/>
                <a:cs typeface="Arial"/>
              </a:rPr>
              <a:t>atendia</a:t>
            </a:r>
            <a:r>
              <a:rPr lang="en-US" sz="2400" dirty="0">
                <a:latin typeface="Arial"/>
                <a:cs typeface="Arial"/>
              </a:rPr>
              <a:t> </a:t>
            </a:r>
            <a:r>
              <a:rPr lang="en-US" sz="2400" err="1">
                <a:latin typeface="Arial"/>
                <a:cs typeface="Arial"/>
              </a:rPr>
              <a:t>às</a:t>
            </a:r>
            <a:r>
              <a:rPr lang="en-US" sz="2400" dirty="0">
                <a:latin typeface="Arial"/>
                <a:cs typeface="Arial"/>
              </a:rPr>
              <a:t> </a:t>
            </a:r>
            <a:r>
              <a:rPr lang="en-US" sz="2400" err="1">
                <a:latin typeface="Arial"/>
                <a:cs typeface="Arial"/>
              </a:rPr>
              <a:t>especificações</a:t>
            </a:r>
            <a:r>
              <a:rPr lang="en-US" sz="2400" dirty="0">
                <a:latin typeface="Arial"/>
                <a:cs typeface="Arial"/>
              </a:rPr>
              <a:t> de design </a:t>
            </a:r>
            <a:r>
              <a:rPr lang="en-US" sz="2400" err="1">
                <a:latin typeface="Arial"/>
                <a:cs typeface="Arial"/>
              </a:rPr>
              <a:t>estabelecidas</a:t>
            </a:r>
            <a:r>
              <a:rPr lang="en-US" sz="2400" dirty="0">
                <a:latin typeface="Arial"/>
                <a:cs typeface="Arial"/>
              </a:rPr>
              <a:t> pela Boeing. </a:t>
            </a:r>
            <a:endParaRPr lang="pt-BR" sz="2400">
              <a:latin typeface="Arial"/>
              <a:cs typeface="Arial"/>
            </a:endParaRPr>
          </a:p>
          <a:p>
            <a:endParaRPr lang="en-US" sz="2400" dirty="0">
              <a:latin typeface="Arial"/>
              <a:cs typeface="Arial"/>
            </a:endParaRPr>
          </a:p>
          <a:p>
            <a:r>
              <a:rPr lang="en-US" sz="2400" dirty="0">
                <a:latin typeface="Arial"/>
                <a:cs typeface="Arial"/>
              </a:rPr>
              <a:t>• </a:t>
            </a:r>
            <a:r>
              <a:rPr lang="en-US" sz="2400" dirty="0" err="1">
                <a:latin typeface="Arial"/>
                <a:cs typeface="Arial"/>
              </a:rPr>
              <a:t>Não</a:t>
            </a:r>
            <a:r>
              <a:rPr lang="en-US" sz="2400" dirty="0">
                <a:latin typeface="Arial"/>
                <a:cs typeface="Arial"/>
              </a:rPr>
              <a:t> </a:t>
            </a:r>
            <a:r>
              <a:rPr lang="en-US" sz="2400" dirty="0" err="1">
                <a:latin typeface="Arial"/>
                <a:cs typeface="Arial"/>
              </a:rPr>
              <a:t>eram</a:t>
            </a:r>
            <a:r>
              <a:rPr lang="en-US" sz="2400" dirty="0">
                <a:latin typeface="Arial"/>
                <a:cs typeface="Arial"/>
              </a:rPr>
              <a:t> </a:t>
            </a:r>
            <a:r>
              <a:rPr lang="en-US" sz="2400" dirty="0" err="1">
                <a:latin typeface="Arial"/>
                <a:cs typeface="Arial"/>
              </a:rPr>
              <a:t>realizadas</a:t>
            </a:r>
            <a:r>
              <a:rPr lang="en-US" sz="2400" dirty="0">
                <a:latin typeface="Arial"/>
                <a:cs typeface="Arial"/>
              </a:rPr>
              <a:t> </a:t>
            </a:r>
            <a:r>
              <a:rPr lang="en-US" sz="2400" dirty="0" err="1">
                <a:latin typeface="Arial"/>
                <a:cs typeface="Arial"/>
              </a:rPr>
              <a:t>inspeções</a:t>
            </a:r>
            <a:r>
              <a:rPr lang="en-US" sz="2400" dirty="0">
                <a:latin typeface="Arial"/>
                <a:cs typeface="Arial"/>
              </a:rPr>
              <a:t> </a:t>
            </a:r>
            <a:r>
              <a:rPr lang="en-US" sz="2400" dirty="0" err="1">
                <a:latin typeface="Arial"/>
                <a:cs typeface="Arial"/>
              </a:rPr>
              <a:t>iniciais</a:t>
            </a:r>
            <a:r>
              <a:rPr lang="en-US" sz="2400" dirty="0">
                <a:latin typeface="Arial"/>
                <a:cs typeface="Arial"/>
              </a:rPr>
              <a:t> </a:t>
            </a:r>
            <a:r>
              <a:rPr lang="en-US" sz="2400" dirty="0" err="1">
                <a:latin typeface="Arial"/>
                <a:cs typeface="Arial"/>
              </a:rPr>
              <a:t>nem</a:t>
            </a:r>
            <a:r>
              <a:rPr lang="en-US" sz="2400" dirty="0">
                <a:latin typeface="Arial"/>
                <a:cs typeface="Arial"/>
              </a:rPr>
              <a:t> </a:t>
            </a:r>
            <a:r>
              <a:rPr lang="en-US" sz="2400" dirty="0" err="1">
                <a:latin typeface="Arial"/>
                <a:cs typeface="Arial"/>
              </a:rPr>
              <a:t>periódicas</a:t>
            </a:r>
            <a:r>
              <a:rPr lang="en-US" sz="2400" dirty="0">
                <a:latin typeface="Arial"/>
                <a:cs typeface="Arial"/>
              </a:rPr>
              <a:t> </a:t>
            </a:r>
            <a:r>
              <a:rPr lang="en-US" sz="2400" dirty="0" err="1">
                <a:latin typeface="Arial"/>
                <a:cs typeface="Arial"/>
              </a:rPr>
              <a:t>nesse</a:t>
            </a:r>
            <a:r>
              <a:rPr lang="en-US" sz="2400" dirty="0">
                <a:latin typeface="Arial"/>
                <a:cs typeface="Arial"/>
              </a:rPr>
              <a:t> </a:t>
            </a:r>
            <a:r>
              <a:rPr lang="en-US" sz="2400" dirty="0" err="1">
                <a:latin typeface="Arial"/>
                <a:cs typeface="Arial"/>
              </a:rPr>
              <a:t>equipamento</a:t>
            </a:r>
            <a:r>
              <a:rPr lang="en-US" sz="2400" dirty="0">
                <a:latin typeface="Arial"/>
                <a:cs typeface="Arial"/>
              </a:rPr>
              <a:t>, </a:t>
            </a:r>
            <a:r>
              <a:rPr lang="en-US" sz="2400" dirty="0" err="1">
                <a:latin typeface="Arial"/>
                <a:cs typeface="Arial"/>
              </a:rPr>
              <a:t>comprometendo</a:t>
            </a:r>
            <a:r>
              <a:rPr lang="en-US" sz="2400" dirty="0">
                <a:latin typeface="Arial"/>
                <a:cs typeface="Arial"/>
              </a:rPr>
              <a:t> </a:t>
            </a:r>
            <a:r>
              <a:rPr lang="en-US" sz="2400" dirty="0" err="1">
                <a:latin typeface="Arial"/>
                <a:cs typeface="Arial"/>
              </a:rPr>
              <a:t>sua</a:t>
            </a:r>
            <a:r>
              <a:rPr lang="en-US" sz="2400" dirty="0">
                <a:latin typeface="Arial"/>
                <a:cs typeface="Arial"/>
              </a:rPr>
              <a:t> </a:t>
            </a:r>
            <a:r>
              <a:rPr lang="en-US" sz="2400" dirty="0" err="1">
                <a:latin typeface="Arial"/>
                <a:cs typeface="Arial"/>
              </a:rPr>
              <a:t>confiabilidade</a:t>
            </a:r>
            <a:r>
              <a:rPr lang="en-US" sz="2400" dirty="0">
                <a:latin typeface="Arial"/>
                <a:cs typeface="Arial"/>
              </a:rPr>
              <a:t> </a:t>
            </a:r>
            <a:r>
              <a:rPr lang="en-US" sz="2400" dirty="0" err="1">
                <a:latin typeface="Arial"/>
                <a:cs typeface="Arial"/>
              </a:rPr>
              <a:t>operacional</a:t>
            </a:r>
            <a:r>
              <a:rPr lang="en-US" sz="2400" dirty="0">
                <a:latin typeface="Arial"/>
                <a:cs typeface="Arial"/>
              </a:rPr>
              <a:t>. </a:t>
            </a:r>
          </a:p>
          <a:p>
            <a:endParaRPr lang="en-US" sz="2400" dirty="0">
              <a:latin typeface="Arial"/>
              <a:cs typeface="Arial"/>
            </a:endParaRPr>
          </a:p>
          <a:p>
            <a:r>
              <a:rPr lang="en-US" sz="2400" dirty="0">
                <a:latin typeface="Arial"/>
                <a:cs typeface="Arial"/>
              </a:rPr>
              <a:t>• </a:t>
            </a:r>
            <a:r>
              <a:rPr lang="en-US" sz="2400" dirty="0" err="1">
                <a:latin typeface="Arial"/>
                <a:cs typeface="Arial"/>
              </a:rPr>
              <a:t>Após</a:t>
            </a:r>
            <a:r>
              <a:rPr lang="en-US" sz="2400" dirty="0">
                <a:latin typeface="Arial"/>
                <a:cs typeface="Arial"/>
              </a:rPr>
              <a:t> o </a:t>
            </a:r>
            <a:r>
              <a:rPr lang="en-US" sz="2400" dirty="0" err="1">
                <a:latin typeface="Arial"/>
                <a:cs typeface="Arial"/>
              </a:rPr>
              <a:t>acidente</a:t>
            </a:r>
            <a:r>
              <a:rPr lang="en-US" sz="2400" dirty="0">
                <a:latin typeface="Arial"/>
                <a:cs typeface="Arial"/>
              </a:rPr>
              <a:t>, a </a:t>
            </a:r>
            <a:r>
              <a:rPr lang="en-US" sz="2400" dirty="0" err="1">
                <a:latin typeface="Arial"/>
                <a:cs typeface="Arial"/>
              </a:rPr>
              <a:t>companhia</a:t>
            </a:r>
            <a:r>
              <a:rPr lang="en-US" sz="2400" dirty="0">
                <a:latin typeface="Arial"/>
                <a:cs typeface="Arial"/>
              </a:rPr>
              <a:t> </a:t>
            </a:r>
            <a:r>
              <a:rPr lang="en-US" sz="2400" dirty="0" err="1">
                <a:latin typeface="Arial"/>
                <a:cs typeface="Arial"/>
              </a:rPr>
              <a:t>produziu</a:t>
            </a:r>
            <a:r>
              <a:rPr lang="en-US" sz="2400" dirty="0">
                <a:latin typeface="Arial"/>
                <a:cs typeface="Arial"/>
              </a:rPr>
              <a:t> </a:t>
            </a:r>
            <a:r>
              <a:rPr lang="en-US" sz="2400" dirty="0" err="1">
                <a:latin typeface="Arial"/>
                <a:cs typeface="Arial"/>
              </a:rPr>
              <a:t>novos</a:t>
            </a:r>
            <a:r>
              <a:rPr lang="en-US" sz="2400" dirty="0">
                <a:latin typeface="Arial"/>
                <a:cs typeface="Arial"/>
              </a:rPr>
              <a:t> </a:t>
            </a:r>
            <a:r>
              <a:rPr lang="en-US" sz="2400" dirty="0" err="1">
                <a:latin typeface="Arial"/>
                <a:cs typeface="Arial"/>
              </a:rPr>
              <a:t>dispositivos</a:t>
            </a:r>
            <a:r>
              <a:rPr lang="en-US" sz="2400" dirty="0">
                <a:latin typeface="Arial"/>
                <a:cs typeface="Arial"/>
              </a:rPr>
              <a:t> </a:t>
            </a:r>
            <a:r>
              <a:rPr lang="en-US" sz="2400" dirty="0" err="1">
                <a:latin typeface="Arial"/>
                <a:cs typeface="Arial"/>
              </a:rPr>
              <a:t>semelhantes</a:t>
            </a:r>
            <a:r>
              <a:rPr lang="en-US" sz="2400" dirty="0">
                <a:latin typeface="Arial"/>
                <a:cs typeface="Arial"/>
              </a:rPr>
              <a:t> e </a:t>
            </a:r>
            <a:r>
              <a:rPr lang="en-US" sz="2400" dirty="0" err="1">
                <a:latin typeface="Arial"/>
                <a:cs typeface="Arial"/>
              </a:rPr>
              <a:t>adquiriu</a:t>
            </a:r>
            <a:r>
              <a:rPr lang="en-US" sz="2400" dirty="0">
                <a:latin typeface="Arial"/>
                <a:cs typeface="Arial"/>
              </a:rPr>
              <a:t> outros </a:t>
            </a:r>
            <a:r>
              <a:rPr lang="en-US" sz="2400" dirty="0" err="1">
                <a:latin typeface="Arial"/>
                <a:cs typeface="Arial"/>
              </a:rPr>
              <a:t>diretamente</a:t>
            </a:r>
            <a:r>
              <a:rPr lang="en-US" sz="2400" dirty="0">
                <a:latin typeface="Arial"/>
                <a:cs typeface="Arial"/>
              </a:rPr>
              <a:t> da Boeing.</a:t>
            </a:r>
          </a:p>
        </p:txBody>
      </p:sp>
      <p:sp>
        <p:nvSpPr>
          <p:cNvPr id="13" name="CaixaDeTexto 12">
            <a:extLst>
              <a:ext uri="{FF2B5EF4-FFF2-40B4-BE49-F238E27FC236}">
                <a16:creationId xmlns:a16="http://schemas.microsoft.com/office/drawing/2014/main" id="{AFECD84B-2646-B532-F1CC-D49308552FCC}"/>
              </a:ext>
            </a:extLst>
          </p:cNvPr>
          <p:cNvSpPr txBox="1"/>
          <p:nvPr/>
        </p:nvSpPr>
        <p:spPr>
          <a:xfrm>
            <a:off x="2100944" y="1491343"/>
            <a:ext cx="799011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Arial"/>
                <a:cs typeface="Arial"/>
              </a:rPr>
              <a:t>Dispositivo de Contenção do Estabilizador Horizontal</a:t>
            </a:r>
            <a:endParaRPr lang="pt-BR" sz="2400">
              <a:latin typeface="Arial"/>
              <a:cs typeface="Arial"/>
            </a:endParaRPr>
          </a:p>
        </p:txBody>
      </p:sp>
    </p:spTree>
    <p:extLst>
      <p:ext uri="{BB962C8B-B14F-4D97-AF65-F5344CB8AC3E}">
        <p14:creationId xmlns:p14="http://schemas.microsoft.com/office/powerpoint/2010/main" val="3978514464"/>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737EE-2DC3-AA31-170B-37DCD69213A8}"/>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F0E251D2-72AF-5BA3-F18C-D53B44CD76DB}"/>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BA50B993-DFC5-8AA5-9C69-529E1B5053D0}"/>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a:ln>
                  <a:noFill/>
                </a:ln>
                <a:solidFill>
                  <a:srgbClr val="0070C0"/>
                </a:solidFill>
                <a:effectLst/>
                <a:uLnTx/>
                <a:uFillTx/>
                <a:latin typeface="Arial"/>
                <a:cs typeface="Arial"/>
                <a:sym typeface="Helvetica Neue"/>
              </a:rPr>
              <a:t> </a:t>
            </a:r>
            <a:r>
              <a:rPr lang="en-US" sz="2000" b="1">
                <a:solidFill>
                  <a:srgbClr val="0070C0"/>
                </a:solidFill>
                <a:latin typeface="Arial"/>
                <a:cs typeface="Arial"/>
                <a:sym typeface="Helvetica Neue"/>
              </a:rPr>
              <a:t>2</a:t>
            </a:r>
            <a:endParaRPr kumimoji="0" lang="pt-BR"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38AEDCE5-439F-3B72-8078-8AD736FE1C7C}"/>
              </a:ext>
            </a:extLst>
          </p:cNvPr>
          <p:cNvSpPr txBox="1"/>
          <p:nvPr/>
        </p:nvSpPr>
        <p:spPr>
          <a:xfrm>
            <a:off x="204278" y="564779"/>
            <a:ext cx="4801058" cy="307777"/>
          </a:xfrm>
          <a:prstGeom prst="rect">
            <a:avLst/>
          </a:prstGeom>
          <a:noFill/>
        </p:spPr>
        <p:txBody>
          <a:bodyPr wrap="none" lIns="91440" tIns="45720" rIns="91440" bIns="45720" rtlCol="0" anchor="t">
            <a:spAutoFit/>
          </a:bodyPr>
          <a:lstStyle/>
          <a:p>
            <a:r>
              <a:rPr lang="pt-BR" sz="1400" u="sng">
                <a:solidFill>
                  <a:srgbClr val="0070C0"/>
                </a:solidFill>
                <a:latin typeface="Arial"/>
                <a:cs typeface="Arial"/>
              </a:rPr>
              <a:t>Slide 2.4 - Ferramentas e Equipamentos de Apoio no Solo</a:t>
            </a:r>
          </a:p>
        </p:txBody>
      </p:sp>
      <p:sp>
        <p:nvSpPr>
          <p:cNvPr id="8" name="CaixaDeTexto 7">
            <a:extLst>
              <a:ext uri="{FF2B5EF4-FFF2-40B4-BE49-F238E27FC236}">
                <a16:creationId xmlns:a16="http://schemas.microsoft.com/office/drawing/2014/main" id="{B347202D-21D0-4B4C-1256-821950B03965}"/>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algn="ctr">
              <a:defRPr/>
            </a:pPr>
            <a:r>
              <a:rPr lang="pt-BR" u="sng" dirty="0">
                <a:solidFill>
                  <a:srgbClr val="0070C0"/>
                </a:solidFill>
                <a:latin typeface="Aptos" panose="02110004020202020204"/>
              </a:rPr>
              <a:t>Resp.: Isabela Soares</a:t>
            </a:r>
            <a:endParaRPr lang="pt-BR" u="sng" dirty="0">
              <a:solidFill>
                <a:srgbClr val="0070C0"/>
              </a:solidFill>
            </a:endParaRPr>
          </a:p>
        </p:txBody>
      </p:sp>
      <p:sp>
        <p:nvSpPr>
          <p:cNvPr id="9" name="CaixaDeTexto 8">
            <a:extLst>
              <a:ext uri="{FF2B5EF4-FFF2-40B4-BE49-F238E27FC236}">
                <a16:creationId xmlns:a16="http://schemas.microsoft.com/office/drawing/2014/main" id="{F723F03C-1415-90F5-7C35-F74CC44B92C4}"/>
              </a:ext>
            </a:extLst>
          </p:cNvPr>
          <p:cNvSpPr txBox="1"/>
          <p:nvPr/>
        </p:nvSpPr>
        <p:spPr>
          <a:xfrm>
            <a:off x="1608667" y="-18398"/>
            <a:ext cx="8669433" cy="738664"/>
          </a:xfrm>
          <a:prstGeom prst="rect">
            <a:avLst/>
          </a:prstGeom>
          <a:noFill/>
        </p:spPr>
        <p:txBody>
          <a:bodyPr wrap="square" lIns="91440" tIns="45720" rIns="91440" bIns="45720" rtlCol="0" anchor="t">
            <a:spAutoFit/>
          </a:bodyPr>
          <a:lstStyle/>
          <a:p>
            <a:pPr>
              <a:defRPr/>
            </a:pPr>
            <a:r>
              <a:rPr lang="pt-BR" sz="1400" dirty="0">
                <a:solidFill>
                  <a:schemeClr val="accent4">
                    <a:lumMod val="76000"/>
                  </a:schemeClr>
                </a:solidFill>
                <a:latin typeface="Arial"/>
                <a:cs typeface="Arial"/>
              </a:rPr>
              <a:t>Requisitos de Manutenção RBAC 43 e 145: Discorra sobre os erros cometidos pela Alaska Airlines, identificando no Relatório do NSTB em  relação aos seguintes aspectos</a:t>
            </a:r>
            <a:endParaRPr lang="pt-BR" dirty="0">
              <a:solidFill>
                <a:schemeClr val="accent4">
                  <a:lumMod val="76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CED21F00-1D9B-4DDD-1F9B-CE0E4927994F}"/>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2" name="CaixaDeTexto 1">
            <a:extLst>
              <a:ext uri="{FF2B5EF4-FFF2-40B4-BE49-F238E27FC236}">
                <a16:creationId xmlns:a16="http://schemas.microsoft.com/office/drawing/2014/main" id="{4E2AA3E6-B5C8-67DA-502A-E66F7E5172FF}"/>
              </a:ext>
            </a:extLst>
          </p:cNvPr>
          <p:cNvSpPr txBox="1"/>
          <p:nvPr/>
        </p:nvSpPr>
        <p:spPr>
          <a:xfrm>
            <a:off x="1269304" y="1895605"/>
            <a:ext cx="9987418"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Arial"/>
                <a:cs typeface="Arial"/>
              </a:rPr>
              <a:t>• Nos testes </a:t>
            </a:r>
            <a:r>
              <a:rPr lang="en-US" sz="2400" dirty="0" err="1">
                <a:latin typeface="Arial"/>
                <a:cs typeface="Arial"/>
              </a:rPr>
              <a:t>comparativos</a:t>
            </a:r>
            <a:r>
              <a:rPr lang="en-US" sz="2400" dirty="0">
                <a:latin typeface="Arial"/>
                <a:cs typeface="Arial"/>
              </a:rPr>
              <a:t>, </a:t>
            </a:r>
            <a:r>
              <a:rPr lang="en-US" sz="2400" dirty="0" err="1">
                <a:latin typeface="Arial"/>
                <a:cs typeface="Arial"/>
              </a:rPr>
              <a:t>verificou</a:t>
            </a:r>
            <a:r>
              <a:rPr lang="en-US" sz="2400" dirty="0">
                <a:latin typeface="Arial"/>
                <a:cs typeface="Arial"/>
              </a:rPr>
              <a:t>-se que </a:t>
            </a:r>
            <a:r>
              <a:rPr lang="en-US" sz="2400" dirty="0" err="1">
                <a:latin typeface="Arial"/>
                <a:cs typeface="Arial"/>
              </a:rPr>
              <a:t>os</a:t>
            </a:r>
            <a:r>
              <a:rPr lang="en-US" sz="2400" dirty="0">
                <a:latin typeface="Arial"/>
                <a:cs typeface="Arial"/>
              </a:rPr>
              <a:t> </a:t>
            </a:r>
            <a:r>
              <a:rPr lang="en-US" sz="2400" dirty="0" err="1">
                <a:latin typeface="Arial"/>
                <a:cs typeface="Arial"/>
              </a:rPr>
              <a:t>dispositivos</a:t>
            </a:r>
            <a:r>
              <a:rPr lang="en-US" sz="2400" dirty="0">
                <a:latin typeface="Arial"/>
                <a:cs typeface="Arial"/>
              </a:rPr>
              <a:t> </a:t>
            </a:r>
            <a:r>
              <a:rPr lang="en-US" sz="2400" dirty="0" err="1">
                <a:latin typeface="Arial"/>
                <a:cs typeface="Arial"/>
              </a:rPr>
              <a:t>fabricados</a:t>
            </a:r>
            <a:r>
              <a:rPr lang="en-US" sz="2400" dirty="0">
                <a:latin typeface="Arial"/>
                <a:cs typeface="Arial"/>
              </a:rPr>
              <a:t> pela Alaska Airlines </a:t>
            </a:r>
            <a:r>
              <a:rPr lang="en-US" sz="2400" dirty="0" err="1">
                <a:latin typeface="Arial"/>
                <a:cs typeface="Arial"/>
              </a:rPr>
              <a:t>apresentavam</a:t>
            </a:r>
            <a:r>
              <a:rPr lang="en-US" sz="2400" dirty="0">
                <a:latin typeface="Arial"/>
                <a:cs typeface="Arial"/>
              </a:rPr>
              <a:t> </a:t>
            </a:r>
            <a:r>
              <a:rPr lang="en-US" sz="2400" dirty="0" err="1">
                <a:latin typeface="Arial"/>
                <a:cs typeface="Arial"/>
              </a:rPr>
              <a:t>medições</a:t>
            </a:r>
            <a:r>
              <a:rPr lang="en-US" sz="2400" dirty="0">
                <a:latin typeface="Arial"/>
                <a:cs typeface="Arial"/>
              </a:rPr>
              <a:t> de </a:t>
            </a:r>
            <a:r>
              <a:rPr lang="en-US" sz="2400" dirty="0" err="1">
                <a:latin typeface="Arial"/>
                <a:cs typeface="Arial"/>
              </a:rPr>
              <a:t>folga</a:t>
            </a:r>
            <a:r>
              <a:rPr lang="en-US" sz="2400" dirty="0">
                <a:latin typeface="Arial"/>
                <a:cs typeface="Arial"/>
              </a:rPr>
              <a:t> </a:t>
            </a:r>
            <a:r>
              <a:rPr lang="en-US" sz="2400" dirty="0" err="1">
                <a:latin typeface="Arial"/>
                <a:cs typeface="Arial"/>
              </a:rPr>
              <a:t>imprecisas</a:t>
            </a:r>
            <a:r>
              <a:rPr lang="en-US" sz="2400" dirty="0">
                <a:latin typeface="Arial"/>
                <a:cs typeface="Arial"/>
              </a:rPr>
              <a:t> </a:t>
            </a:r>
            <a:r>
              <a:rPr lang="en-US" sz="2400" dirty="0" err="1">
                <a:latin typeface="Arial"/>
                <a:cs typeface="Arial"/>
              </a:rPr>
              <a:t>em</a:t>
            </a:r>
            <a:r>
              <a:rPr lang="en-US" sz="2400" dirty="0">
                <a:latin typeface="Arial"/>
                <a:cs typeface="Arial"/>
              </a:rPr>
              <a:t> </a:t>
            </a:r>
            <a:r>
              <a:rPr lang="en-US" sz="2400" dirty="0" err="1">
                <a:latin typeface="Arial"/>
                <a:cs typeface="Arial"/>
              </a:rPr>
              <a:t>relação</a:t>
            </a:r>
            <a:r>
              <a:rPr lang="en-US" sz="2400" dirty="0">
                <a:latin typeface="Arial"/>
                <a:cs typeface="Arial"/>
              </a:rPr>
              <a:t> </a:t>
            </a:r>
            <a:r>
              <a:rPr lang="en-US" sz="2400" dirty="0" err="1">
                <a:latin typeface="Arial"/>
                <a:cs typeface="Arial"/>
              </a:rPr>
              <a:t>aos</a:t>
            </a:r>
            <a:r>
              <a:rPr lang="en-US" sz="2400" dirty="0">
                <a:latin typeface="Arial"/>
                <a:cs typeface="Arial"/>
              </a:rPr>
              <a:t> </a:t>
            </a:r>
            <a:r>
              <a:rPr lang="en-US" sz="2400" dirty="0" err="1">
                <a:latin typeface="Arial"/>
                <a:cs typeface="Arial"/>
              </a:rPr>
              <a:t>equipamentos</a:t>
            </a:r>
            <a:r>
              <a:rPr lang="en-US" sz="2400" dirty="0">
                <a:latin typeface="Arial"/>
                <a:cs typeface="Arial"/>
              </a:rPr>
              <a:t> </a:t>
            </a:r>
            <a:r>
              <a:rPr lang="en-US" sz="2400" dirty="0" err="1">
                <a:latin typeface="Arial"/>
                <a:cs typeface="Arial"/>
              </a:rPr>
              <a:t>originais</a:t>
            </a:r>
            <a:r>
              <a:rPr lang="en-US" sz="2400" dirty="0">
                <a:latin typeface="Arial"/>
                <a:cs typeface="Arial"/>
              </a:rPr>
              <a:t> da Boeing, </a:t>
            </a:r>
            <a:r>
              <a:rPr lang="en-US" sz="2400" dirty="0" err="1">
                <a:latin typeface="Arial"/>
                <a:cs typeface="Arial"/>
              </a:rPr>
              <a:t>evidenciando</a:t>
            </a:r>
            <a:r>
              <a:rPr lang="en-US" sz="2400" dirty="0">
                <a:latin typeface="Arial"/>
                <a:cs typeface="Arial"/>
              </a:rPr>
              <a:t> </a:t>
            </a:r>
            <a:r>
              <a:rPr lang="en-US" sz="2400" dirty="0" err="1">
                <a:latin typeface="Arial"/>
                <a:cs typeface="Arial"/>
              </a:rPr>
              <a:t>deficiências</a:t>
            </a:r>
            <a:r>
              <a:rPr lang="en-US" sz="2400" dirty="0">
                <a:latin typeface="Arial"/>
                <a:cs typeface="Arial"/>
              </a:rPr>
              <a:t> </a:t>
            </a:r>
            <a:r>
              <a:rPr lang="en-US" sz="2400" dirty="0" err="1">
                <a:latin typeface="Arial"/>
                <a:cs typeface="Arial"/>
              </a:rPr>
              <a:t>nos</a:t>
            </a:r>
            <a:r>
              <a:rPr lang="en-US" sz="2400" dirty="0">
                <a:latin typeface="Arial"/>
                <a:cs typeface="Arial"/>
              </a:rPr>
              <a:t> </a:t>
            </a:r>
            <a:r>
              <a:rPr lang="en-US" sz="2400" dirty="0" err="1">
                <a:latin typeface="Arial"/>
                <a:cs typeface="Arial"/>
              </a:rPr>
              <a:t>processos</a:t>
            </a:r>
            <a:r>
              <a:rPr lang="en-US" sz="2400" dirty="0">
                <a:latin typeface="Arial"/>
                <a:cs typeface="Arial"/>
              </a:rPr>
              <a:t> de </a:t>
            </a:r>
            <a:r>
              <a:rPr lang="en-US" sz="2400" dirty="0" err="1">
                <a:latin typeface="Arial"/>
                <a:cs typeface="Arial"/>
              </a:rPr>
              <a:t>fabricação</a:t>
            </a:r>
            <a:r>
              <a:rPr lang="en-US" sz="2400" dirty="0">
                <a:latin typeface="Arial"/>
                <a:cs typeface="Arial"/>
              </a:rPr>
              <a:t>, </a:t>
            </a:r>
            <a:r>
              <a:rPr lang="en-US" sz="2400" dirty="0" err="1">
                <a:latin typeface="Arial"/>
                <a:cs typeface="Arial"/>
              </a:rPr>
              <a:t>bem</a:t>
            </a:r>
            <a:r>
              <a:rPr lang="en-US" sz="2400" dirty="0">
                <a:latin typeface="Arial"/>
                <a:cs typeface="Arial"/>
              </a:rPr>
              <a:t> </a:t>
            </a:r>
            <a:r>
              <a:rPr lang="en-US" sz="2400" dirty="0" err="1">
                <a:latin typeface="Arial"/>
                <a:cs typeface="Arial"/>
              </a:rPr>
              <a:t>como</a:t>
            </a:r>
            <a:r>
              <a:rPr lang="en-US" sz="2400" dirty="0">
                <a:latin typeface="Arial"/>
                <a:cs typeface="Arial"/>
              </a:rPr>
              <a:t> no </a:t>
            </a:r>
            <a:r>
              <a:rPr lang="en-US" sz="2400" dirty="0" err="1">
                <a:latin typeface="Arial"/>
                <a:cs typeface="Arial"/>
              </a:rPr>
              <a:t>controle</a:t>
            </a:r>
            <a:r>
              <a:rPr lang="en-US" sz="2400" dirty="0">
                <a:latin typeface="Arial"/>
                <a:cs typeface="Arial"/>
              </a:rPr>
              <a:t> de ferramentas e </a:t>
            </a:r>
            <a:r>
              <a:rPr lang="en-US" sz="2400" dirty="0" err="1">
                <a:latin typeface="Arial"/>
                <a:cs typeface="Arial"/>
              </a:rPr>
              <a:t>equipamentos</a:t>
            </a:r>
            <a:r>
              <a:rPr lang="en-US" sz="2400" dirty="0">
                <a:latin typeface="Arial"/>
                <a:cs typeface="Arial"/>
              </a:rPr>
              <a:t> de </a:t>
            </a:r>
            <a:r>
              <a:rPr lang="en-US" sz="2400" dirty="0" err="1">
                <a:latin typeface="Arial"/>
                <a:cs typeface="Arial"/>
              </a:rPr>
              <a:t>apoio</a:t>
            </a:r>
            <a:r>
              <a:rPr lang="en-US" sz="2400" dirty="0">
                <a:latin typeface="Arial"/>
                <a:cs typeface="Arial"/>
              </a:rPr>
              <a:t> </a:t>
            </a:r>
            <a:r>
              <a:rPr lang="en-US" sz="2400" dirty="0" err="1">
                <a:latin typeface="Arial"/>
                <a:cs typeface="Arial"/>
              </a:rPr>
              <a:t>em</a:t>
            </a:r>
            <a:r>
              <a:rPr lang="en-US" sz="2400" dirty="0">
                <a:latin typeface="Arial"/>
                <a:cs typeface="Arial"/>
              </a:rPr>
              <a:t> solo. </a:t>
            </a:r>
            <a:endParaRPr lang="pt-BR" sz="2400" dirty="0">
              <a:latin typeface="Arial"/>
              <a:cs typeface="Arial"/>
            </a:endParaRPr>
          </a:p>
          <a:p>
            <a:endParaRPr lang="en-US" sz="2400" dirty="0">
              <a:latin typeface="Arial"/>
              <a:cs typeface="Arial"/>
            </a:endParaRPr>
          </a:p>
          <a:p>
            <a:r>
              <a:rPr lang="en-US" sz="2400" dirty="0">
                <a:latin typeface="Arial"/>
                <a:cs typeface="Arial"/>
              </a:rPr>
              <a:t>• </a:t>
            </a:r>
            <a:r>
              <a:rPr lang="en-US" sz="2400" dirty="0" err="1">
                <a:latin typeface="Arial"/>
                <a:cs typeface="Arial"/>
              </a:rPr>
              <a:t>Desde</a:t>
            </a:r>
            <a:r>
              <a:rPr lang="en-US" sz="2400" dirty="0">
                <a:latin typeface="Arial"/>
                <a:cs typeface="Arial"/>
              </a:rPr>
              <a:t> 30 de </a:t>
            </a:r>
            <a:r>
              <a:rPr lang="en-US" sz="2400" dirty="0" err="1">
                <a:latin typeface="Arial"/>
                <a:cs typeface="Arial"/>
              </a:rPr>
              <a:t>junho</a:t>
            </a:r>
            <a:r>
              <a:rPr lang="en-US" sz="2400" dirty="0">
                <a:latin typeface="Arial"/>
                <a:cs typeface="Arial"/>
              </a:rPr>
              <a:t> de 1984, </a:t>
            </a:r>
            <a:r>
              <a:rPr lang="en-US" sz="2400" dirty="0" err="1">
                <a:latin typeface="Arial"/>
                <a:cs typeface="Arial"/>
              </a:rPr>
              <a:t>quando</a:t>
            </a:r>
            <a:r>
              <a:rPr lang="en-US" sz="2400" dirty="0">
                <a:latin typeface="Arial"/>
                <a:cs typeface="Arial"/>
              </a:rPr>
              <a:t> </a:t>
            </a:r>
            <a:r>
              <a:rPr lang="en-US" sz="2400" dirty="0" err="1">
                <a:latin typeface="Arial"/>
                <a:cs typeface="Arial"/>
              </a:rPr>
              <a:t>iniciou</a:t>
            </a:r>
            <a:r>
              <a:rPr lang="en-US" sz="2400" dirty="0">
                <a:latin typeface="Arial"/>
                <a:cs typeface="Arial"/>
              </a:rPr>
              <a:t> a </a:t>
            </a:r>
            <a:r>
              <a:rPr lang="en-US" sz="2400" dirty="0" err="1">
                <a:latin typeface="Arial"/>
                <a:cs typeface="Arial"/>
              </a:rPr>
              <a:t>operação</a:t>
            </a:r>
            <a:r>
              <a:rPr lang="en-US" sz="2400" dirty="0">
                <a:latin typeface="Arial"/>
                <a:cs typeface="Arial"/>
              </a:rPr>
              <a:t> das </a:t>
            </a:r>
            <a:r>
              <a:rPr lang="en-US" sz="2400" dirty="0" err="1">
                <a:latin typeface="Arial"/>
                <a:cs typeface="Arial"/>
              </a:rPr>
              <a:t>aeronaves</a:t>
            </a:r>
            <a:r>
              <a:rPr lang="en-US" sz="2400" dirty="0">
                <a:latin typeface="Arial"/>
                <a:cs typeface="Arial"/>
              </a:rPr>
              <a:t> MD-80, a Alaska Airlines </a:t>
            </a:r>
            <a:r>
              <a:rPr lang="en-US" sz="2400" dirty="0" err="1">
                <a:latin typeface="Arial"/>
                <a:cs typeface="Arial"/>
              </a:rPr>
              <a:t>utilizava</a:t>
            </a:r>
            <a:r>
              <a:rPr lang="en-US" sz="2400" dirty="0">
                <a:latin typeface="Arial"/>
                <a:cs typeface="Arial"/>
              </a:rPr>
              <a:t> um </a:t>
            </a:r>
            <a:r>
              <a:rPr lang="en-US" sz="2400" dirty="0" err="1">
                <a:latin typeface="Arial"/>
                <a:cs typeface="Arial"/>
              </a:rPr>
              <a:t>sistema</a:t>
            </a:r>
            <a:r>
              <a:rPr lang="en-US" sz="2400" dirty="0">
                <a:latin typeface="Arial"/>
                <a:cs typeface="Arial"/>
              </a:rPr>
              <a:t> de </a:t>
            </a:r>
            <a:r>
              <a:rPr lang="en-US" sz="2400" dirty="0" err="1">
                <a:latin typeface="Arial"/>
                <a:cs typeface="Arial"/>
              </a:rPr>
              <a:t>rastreamento</a:t>
            </a:r>
            <a:r>
              <a:rPr lang="en-US" sz="2400" dirty="0">
                <a:latin typeface="Arial"/>
                <a:cs typeface="Arial"/>
              </a:rPr>
              <a:t> </a:t>
            </a:r>
            <a:r>
              <a:rPr lang="en-US" sz="2400" dirty="0" err="1">
                <a:latin typeface="Arial"/>
                <a:cs typeface="Arial"/>
              </a:rPr>
              <a:t>geral</a:t>
            </a:r>
            <a:r>
              <a:rPr lang="en-US" sz="2400" dirty="0">
                <a:latin typeface="Arial"/>
                <a:cs typeface="Arial"/>
              </a:rPr>
              <a:t> de </a:t>
            </a:r>
            <a:r>
              <a:rPr lang="en-US" sz="2400" dirty="0" err="1">
                <a:latin typeface="Arial"/>
                <a:cs typeface="Arial"/>
              </a:rPr>
              <a:t>componentes</a:t>
            </a:r>
            <a:r>
              <a:rPr lang="en-US" sz="2400" dirty="0">
                <a:latin typeface="Arial"/>
                <a:cs typeface="Arial"/>
              </a:rPr>
              <a:t> para </a:t>
            </a:r>
            <a:r>
              <a:rPr lang="en-US" sz="2400" dirty="0" err="1">
                <a:latin typeface="Arial"/>
                <a:cs typeface="Arial"/>
              </a:rPr>
              <a:t>esse</a:t>
            </a:r>
            <a:r>
              <a:rPr lang="en-US" sz="2400" dirty="0">
                <a:latin typeface="Arial"/>
                <a:cs typeface="Arial"/>
              </a:rPr>
              <a:t> </a:t>
            </a:r>
            <a:r>
              <a:rPr lang="en-US" sz="2400" dirty="0" err="1">
                <a:latin typeface="Arial"/>
                <a:cs typeface="Arial"/>
              </a:rPr>
              <a:t>dispositivo</a:t>
            </a:r>
            <a:r>
              <a:rPr lang="en-US" sz="2400" dirty="0">
                <a:latin typeface="Arial"/>
                <a:cs typeface="Arial"/>
              </a:rPr>
              <a:t>, </a:t>
            </a:r>
            <a:r>
              <a:rPr lang="en-US" sz="2400" dirty="0" err="1">
                <a:latin typeface="Arial"/>
                <a:cs typeface="Arial"/>
              </a:rPr>
              <a:t>identificado</a:t>
            </a:r>
            <a:r>
              <a:rPr lang="en-US" sz="2400" dirty="0">
                <a:latin typeface="Arial"/>
                <a:cs typeface="Arial"/>
              </a:rPr>
              <a:t> </a:t>
            </a:r>
            <a:r>
              <a:rPr lang="en-US" sz="2400" dirty="0" err="1">
                <a:latin typeface="Arial"/>
                <a:cs typeface="Arial"/>
              </a:rPr>
              <a:t>como</a:t>
            </a:r>
            <a:r>
              <a:rPr lang="en-US" sz="2400" dirty="0">
                <a:latin typeface="Arial"/>
                <a:cs typeface="Arial"/>
              </a:rPr>
              <a:t> P/N 0-1301-0-0169 (P/N do </a:t>
            </a:r>
            <a:r>
              <a:rPr lang="en-US" sz="2400" dirty="0" err="1">
                <a:latin typeface="Arial"/>
                <a:cs typeface="Arial"/>
              </a:rPr>
              <a:t>fabricante</a:t>
            </a:r>
            <a:r>
              <a:rPr lang="en-US" sz="2400" dirty="0">
                <a:latin typeface="Arial"/>
                <a:cs typeface="Arial"/>
              </a:rPr>
              <a:t> 4916750-1).</a:t>
            </a:r>
          </a:p>
        </p:txBody>
      </p:sp>
    </p:spTree>
    <p:extLst>
      <p:ext uri="{BB962C8B-B14F-4D97-AF65-F5344CB8AC3E}">
        <p14:creationId xmlns:p14="http://schemas.microsoft.com/office/powerpoint/2010/main" val="622054859"/>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2F945-1F29-C895-4B35-0283BB811900}"/>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E68882D1-4618-C020-A29A-84739D553160}"/>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67416D8A-E39B-EA8E-9FC8-71B7B862A545}"/>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a:ln>
                  <a:noFill/>
                </a:ln>
                <a:solidFill>
                  <a:srgbClr val="0070C0"/>
                </a:solidFill>
                <a:effectLst/>
                <a:uLnTx/>
                <a:uFillTx/>
                <a:latin typeface="Arial"/>
                <a:cs typeface="Arial"/>
                <a:sym typeface="Helvetica Neue"/>
              </a:rPr>
              <a:t> </a:t>
            </a:r>
            <a:r>
              <a:rPr lang="en-US" sz="2000" b="1">
                <a:solidFill>
                  <a:srgbClr val="0070C0"/>
                </a:solidFill>
                <a:latin typeface="Arial"/>
                <a:cs typeface="Arial"/>
                <a:sym typeface="Helvetica Neue"/>
              </a:rPr>
              <a:t>2</a:t>
            </a:r>
            <a:endParaRPr kumimoji="0" lang="pt-BR"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4688B906-4695-BCA5-E886-5666D1592DC0}"/>
              </a:ext>
            </a:extLst>
          </p:cNvPr>
          <p:cNvSpPr txBox="1"/>
          <p:nvPr/>
        </p:nvSpPr>
        <p:spPr>
          <a:xfrm>
            <a:off x="204278" y="564779"/>
            <a:ext cx="5984843" cy="307777"/>
          </a:xfrm>
          <a:prstGeom prst="rect">
            <a:avLst/>
          </a:prstGeom>
          <a:noFill/>
        </p:spPr>
        <p:txBody>
          <a:bodyPr wrap="none" lIns="91440" tIns="45720" rIns="91440" bIns="45720" rtlCol="0" anchor="t">
            <a:spAutoFit/>
          </a:bodyPr>
          <a:lstStyle/>
          <a:p>
            <a:r>
              <a:rPr lang="pt-BR" sz="1400" u="sng">
                <a:solidFill>
                  <a:srgbClr val="0070C0"/>
                </a:solidFill>
                <a:latin typeface="Arial"/>
                <a:cs typeface="Arial"/>
              </a:rPr>
              <a:t>Slide 2.5 - Requisitos de Treinamento de manutenção (FAA  AC 120-16G)</a:t>
            </a:r>
          </a:p>
        </p:txBody>
      </p:sp>
      <p:sp>
        <p:nvSpPr>
          <p:cNvPr id="8" name="CaixaDeTexto 7">
            <a:extLst>
              <a:ext uri="{FF2B5EF4-FFF2-40B4-BE49-F238E27FC236}">
                <a16:creationId xmlns:a16="http://schemas.microsoft.com/office/drawing/2014/main" id="{F6000C91-AC56-5D91-6563-3EA55E508C92}"/>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algn="ctr">
              <a:defRPr/>
            </a:pPr>
            <a:r>
              <a:rPr lang="pt-BR" u="sng" dirty="0">
                <a:solidFill>
                  <a:srgbClr val="0070C0"/>
                </a:solidFill>
                <a:latin typeface="Aptos" panose="02110004020202020204"/>
              </a:rPr>
              <a:t>Resp.: Isabela Soares</a:t>
            </a:r>
            <a:endParaRPr lang="pt-BR" u="sng" dirty="0">
              <a:solidFill>
                <a:srgbClr val="0070C0"/>
              </a:solidFill>
            </a:endParaRPr>
          </a:p>
        </p:txBody>
      </p:sp>
      <p:sp>
        <p:nvSpPr>
          <p:cNvPr id="9" name="CaixaDeTexto 8">
            <a:extLst>
              <a:ext uri="{FF2B5EF4-FFF2-40B4-BE49-F238E27FC236}">
                <a16:creationId xmlns:a16="http://schemas.microsoft.com/office/drawing/2014/main" id="{28B519B8-272B-7C73-2080-53819E3CB687}"/>
              </a:ext>
            </a:extLst>
          </p:cNvPr>
          <p:cNvSpPr txBox="1"/>
          <p:nvPr/>
        </p:nvSpPr>
        <p:spPr>
          <a:xfrm>
            <a:off x="1608667" y="-18398"/>
            <a:ext cx="8669433" cy="738664"/>
          </a:xfrm>
          <a:prstGeom prst="rect">
            <a:avLst/>
          </a:prstGeom>
          <a:noFill/>
        </p:spPr>
        <p:txBody>
          <a:bodyPr wrap="square" lIns="91440" tIns="45720" rIns="91440" bIns="45720" rtlCol="0" anchor="t">
            <a:spAutoFit/>
          </a:bodyPr>
          <a:lstStyle/>
          <a:p>
            <a:pPr>
              <a:defRPr/>
            </a:pPr>
            <a:r>
              <a:rPr lang="pt-BR" sz="1400" dirty="0">
                <a:solidFill>
                  <a:schemeClr val="accent4">
                    <a:lumMod val="76000"/>
                  </a:schemeClr>
                </a:solidFill>
                <a:latin typeface="Arial"/>
                <a:cs typeface="Arial"/>
              </a:rPr>
              <a:t>Requisitos de Manutenção RBAC 43 e 145: Discorra sobre os erros cometidos pela Alaska Airlines, identificando no Relatório do NSTB em  relação aos seguintes aspectos</a:t>
            </a:r>
            <a:endParaRPr lang="pt-BR" dirty="0">
              <a:solidFill>
                <a:schemeClr val="accent4">
                  <a:lumMod val="76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865C9E9E-96D7-4D21-5A34-A6C5027DE1E4}"/>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4" name="CaixaDeTexto 3">
            <a:extLst>
              <a:ext uri="{FF2B5EF4-FFF2-40B4-BE49-F238E27FC236}">
                <a16:creationId xmlns:a16="http://schemas.microsoft.com/office/drawing/2014/main" id="{473CE116-8F9B-299D-91BB-A9C0E5DB2CFA}"/>
              </a:ext>
            </a:extLst>
          </p:cNvPr>
          <p:cNvSpPr txBox="1"/>
          <p:nvPr/>
        </p:nvSpPr>
        <p:spPr>
          <a:xfrm>
            <a:off x="256783" y="2594975"/>
            <a:ext cx="11156515"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Arial"/>
                <a:cs typeface="Arial"/>
              </a:rPr>
              <a:t>• A FAA AC 120-16G </a:t>
            </a:r>
            <a:r>
              <a:rPr lang="en-US" sz="2400" dirty="0" err="1">
                <a:latin typeface="Arial"/>
                <a:cs typeface="Arial"/>
              </a:rPr>
              <a:t>estabelece</a:t>
            </a:r>
            <a:r>
              <a:rPr lang="en-US" sz="2400" dirty="0">
                <a:latin typeface="Arial"/>
                <a:cs typeface="Arial"/>
              </a:rPr>
              <a:t> </a:t>
            </a:r>
            <a:r>
              <a:rPr lang="en-US" sz="2400" dirty="0" err="1">
                <a:latin typeface="Arial"/>
                <a:cs typeface="Arial"/>
              </a:rPr>
              <a:t>os</a:t>
            </a:r>
            <a:r>
              <a:rPr lang="en-US" sz="2400" dirty="0">
                <a:latin typeface="Arial"/>
                <a:cs typeface="Arial"/>
              </a:rPr>
              <a:t> </a:t>
            </a:r>
            <a:r>
              <a:rPr lang="en-US" sz="2400" dirty="0" err="1">
                <a:latin typeface="Arial"/>
                <a:cs typeface="Arial"/>
              </a:rPr>
              <a:t>requisitos</a:t>
            </a:r>
            <a:r>
              <a:rPr lang="en-US" sz="2400" dirty="0">
                <a:latin typeface="Arial"/>
                <a:cs typeface="Arial"/>
              </a:rPr>
              <a:t> para </a:t>
            </a:r>
            <a:r>
              <a:rPr lang="en-US" sz="2400" dirty="0" err="1">
                <a:latin typeface="Arial"/>
                <a:cs typeface="Arial"/>
              </a:rPr>
              <a:t>programas</a:t>
            </a:r>
            <a:r>
              <a:rPr lang="en-US" sz="2400" dirty="0">
                <a:latin typeface="Arial"/>
                <a:cs typeface="Arial"/>
              </a:rPr>
              <a:t> de </a:t>
            </a:r>
            <a:r>
              <a:rPr lang="en-US" sz="2400" dirty="0" err="1">
                <a:latin typeface="Arial"/>
                <a:cs typeface="Arial"/>
              </a:rPr>
              <a:t>treinamento</a:t>
            </a:r>
            <a:r>
              <a:rPr lang="en-US" sz="2400" dirty="0">
                <a:latin typeface="Arial"/>
                <a:cs typeface="Arial"/>
              </a:rPr>
              <a:t> </a:t>
            </a:r>
            <a:r>
              <a:rPr lang="en-US" sz="2400" dirty="0" err="1">
                <a:latin typeface="Arial"/>
                <a:cs typeface="Arial"/>
              </a:rPr>
              <a:t>contínuo</a:t>
            </a:r>
            <a:r>
              <a:rPr lang="en-US" sz="2400" dirty="0">
                <a:latin typeface="Arial"/>
                <a:cs typeface="Arial"/>
              </a:rPr>
              <a:t> </a:t>
            </a:r>
            <a:r>
              <a:rPr lang="en-US" sz="2400" dirty="0" err="1">
                <a:latin typeface="Arial"/>
                <a:cs typeface="Arial"/>
              </a:rPr>
              <a:t>em</a:t>
            </a:r>
            <a:r>
              <a:rPr lang="en-US" sz="2400" dirty="0">
                <a:latin typeface="Arial"/>
                <a:cs typeface="Arial"/>
              </a:rPr>
              <a:t> </a:t>
            </a:r>
            <a:r>
              <a:rPr lang="en-US" sz="2400" dirty="0" err="1">
                <a:latin typeface="Arial"/>
                <a:cs typeface="Arial"/>
              </a:rPr>
              <a:t>manutenção</a:t>
            </a:r>
            <a:r>
              <a:rPr lang="en-US" sz="2400" dirty="0">
                <a:latin typeface="Arial"/>
                <a:cs typeface="Arial"/>
              </a:rPr>
              <a:t>, com o </a:t>
            </a:r>
            <a:r>
              <a:rPr lang="en-US" sz="2400" dirty="0" err="1">
                <a:latin typeface="Arial"/>
                <a:cs typeface="Arial"/>
              </a:rPr>
              <a:t>objetivo</a:t>
            </a:r>
            <a:r>
              <a:rPr lang="en-US" sz="2400" dirty="0">
                <a:latin typeface="Arial"/>
                <a:cs typeface="Arial"/>
              </a:rPr>
              <a:t> de </a:t>
            </a:r>
            <a:r>
              <a:rPr lang="en-US" sz="2400" dirty="0" err="1">
                <a:latin typeface="Arial"/>
                <a:cs typeface="Arial"/>
              </a:rPr>
              <a:t>assegurar</a:t>
            </a:r>
            <a:r>
              <a:rPr lang="en-US" sz="2400" dirty="0">
                <a:latin typeface="Arial"/>
                <a:cs typeface="Arial"/>
              </a:rPr>
              <a:t> que </a:t>
            </a:r>
            <a:r>
              <a:rPr lang="en-US" sz="2400" dirty="0" err="1">
                <a:latin typeface="Arial"/>
                <a:cs typeface="Arial"/>
              </a:rPr>
              <a:t>os</a:t>
            </a:r>
            <a:r>
              <a:rPr lang="en-US" sz="2400" dirty="0">
                <a:latin typeface="Arial"/>
                <a:cs typeface="Arial"/>
              </a:rPr>
              <a:t> </a:t>
            </a:r>
            <a:r>
              <a:rPr lang="en-US" sz="2400" dirty="0" err="1">
                <a:latin typeface="Arial"/>
                <a:cs typeface="Arial"/>
              </a:rPr>
              <a:t>técnicos</a:t>
            </a:r>
            <a:r>
              <a:rPr lang="en-US" sz="2400" dirty="0">
                <a:latin typeface="Arial"/>
                <a:cs typeface="Arial"/>
              </a:rPr>
              <a:t> </a:t>
            </a:r>
            <a:r>
              <a:rPr lang="en-US" sz="2400" dirty="0" err="1">
                <a:latin typeface="Arial"/>
                <a:cs typeface="Arial"/>
              </a:rPr>
              <a:t>estejam</a:t>
            </a:r>
            <a:r>
              <a:rPr lang="en-US" sz="2400" dirty="0">
                <a:latin typeface="Arial"/>
                <a:cs typeface="Arial"/>
              </a:rPr>
              <a:t> </a:t>
            </a:r>
            <a:r>
              <a:rPr lang="en-US" sz="2400" dirty="0" err="1">
                <a:latin typeface="Arial"/>
                <a:cs typeface="Arial"/>
              </a:rPr>
              <a:t>devidamente</a:t>
            </a:r>
            <a:r>
              <a:rPr lang="en-US" sz="2400" dirty="0">
                <a:latin typeface="Arial"/>
                <a:cs typeface="Arial"/>
              </a:rPr>
              <a:t> </a:t>
            </a:r>
            <a:r>
              <a:rPr lang="en-US" sz="2400" dirty="0" err="1">
                <a:latin typeface="Arial"/>
                <a:cs typeface="Arial"/>
              </a:rPr>
              <a:t>qualificados</a:t>
            </a:r>
            <a:r>
              <a:rPr lang="en-US" sz="2400" dirty="0">
                <a:latin typeface="Arial"/>
                <a:cs typeface="Arial"/>
              </a:rPr>
              <a:t> para </a:t>
            </a:r>
            <a:r>
              <a:rPr lang="en-US" sz="2400" dirty="0" err="1">
                <a:latin typeface="Arial"/>
                <a:cs typeface="Arial"/>
              </a:rPr>
              <a:t>realizar</a:t>
            </a:r>
            <a:r>
              <a:rPr lang="en-US" sz="2400" dirty="0">
                <a:latin typeface="Arial"/>
                <a:cs typeface="Arial"/>
              </a:rPr>
              <a:t> </a:t>
            </a:r>
            <a:r>
              <a:rPr lang="en-US" sz="2400" dirty="0" err="1">
                <a:latin typeface="Arial"/>
                <a:cs typeface="Arial"/>
              </a:rPr>
              <a:t>inspeções</a:t>
            </a:r>
            <a:r>
              <a:rPr lang="en-US" sz="2400" dirty="0">
                <a:latin typeface="Arial"/>
                <a:cs typeface="Arial"/>
              </a:rPr>
              <a:t> e </a:t>
            </a:r>
            <a:r>
              <a:rPr lang="en-US" sz="2400" dirty="0" err="1">
                <a:latin typeface="Arial"/>
                <a:cs typeface="Arial"/>
              </a:rPr>
              <a:t>manutenções</a:t>
            </a:r>
            <a:r>
              <a:rPr lang="en-US" sz="2400" dirty="0">
                <a:latin typeface="Arial"/>
                <a:cs typeface="Arial"/>
              </a:rPr>
              <a:t> </a:t>
            </a:r>
            <a:r>
              <a:rPr lang="en-US" sz="2400" dirty="0" err="1">
                <a:latin typeface="Arial"/>
                <a:cs typeface="Arial"/>
              </a:rPr>
              <a:t>utilizando</a:t>
            </a:r>
            <a:r>
              <a:rPr lang="en-US" sz="2400" dirty="0">
                <a:latin typeface="Arial"/>
                <a:cs typeface="Arial"/>
              </a:rPr>
              <a:t> as ferramentas </a:t>
            </a:r>
            <a:r>
              <a:rPr lang="en-US" sz="2400" dirty="0" err="1">
                <a:latin typeface="Arial"/>
                <a:cs typeface="Arial"/>
              </a:rPr>
              <a:t>corretas</a:t>
            </a:r>
            <a:r>
              <a:rPr lang="en-US" sz="2400" dirty="0">
                <a:latin typeface="Arial"/>
                <a:cs typeface="Arial"/>
              </a:rPr>
              <a:t> e </a:t>
            </a:r>
            <a:r>
              <a:rPr lang="en-US" sz="2400" dirty="0" err="1">
                <a:latin typeface="Arial"/>
                <a:cs typeface="Arial"/>
              </a:rPr>
              <a:t>em</a:t>
            </a:r>
            <a:r>
              <a:rPr lang="en-US" sz="2400" dirty="0">
                <a:latin typeface="Arial"/>
                <a:cs typeface="Arial"/>
              </a:rPr>
              <a:t> </a:t>
            </a:r>
            <a:r>
              <a:rPr lang="en-US" sz="2400" dirty="0" err="1">
                <a:latin typeface="Arial"/>
                <a:cs typeface="Arial"/>
              </a:rPr>
              <a:t>conformidade</a:t>
            </a:r>
            <a:r>
              <a:rPr lang="en-US" sz="2400" dirty="0">
                <a:latin typeface="Arial"/>
                <a:cs typeface="Arial"/>
              </a:rPr>
              <a:t> com as </a:t>
            </a:r>
            <a:r>
              <a:rPr lang="en-US" sz="2400" dirty="0" err="1">
                <a:latin typeface="Arial"/>
                <a:cs typeface="Arial"/>
              </a:rPr>
              <a:t>especificações</a:t>
            </a:r>
            <a:r>
              <a:rPr lang="en-US" sz="2400" dirty="0">
                <a:latin typeface="Arial"/>
                <a:cs typeface="Arial"/>
              </a:rPr>
              <a:t> </a:t>
            </a:r>
            <a:r>
              <a:rPr lang="en-US" sz="2400" dirty="0" err="1">
                <a:latin typeface="Arial"/>
                <a:cs typeface="Arial"/>
              </a:rPr>
              <a:t>técnicas</a:t>
            </a:r>
            <a:r>
              <a:rPr lang="en-US" sz="2400" dirty="0">
                <a:latin typeface="Arial"/>
                <a:cs typeface="Arial"/>
              </a:rPr>
              <a:t>. </a:t>
            </a:r>
            <a:endParaRPr lang="pt-BR" sz="2400">
              <a:latin typeface="Arial"/>
              <a:cs typeface="Arial"/>
            </a:endParaRPr>
          </a:p>
          <a:p>
            <a:endParaRPr lang="en-US" sz="2400" dirty="0">
              <a:latin typeface="Arial"/>
              <a:cs typeface="Arial"/>
            </a:endParaRPr>
          </a:p>
          <a:p>
            <a:r>
              <a:rPr lang="en-US" sz="2400" dirty="0">
                <a:latin typeface="Arial"/>
                <a:cs typeface="Arial"/>
              </a:rPr>
              <a:t>• Em </a:t>
            </a:r>
            <a:r>
              <a:rPr lang="en-US" sz="2400" dirty="0" err="1">
                <a:latin typeface="Arial"/>
                <a:cs typeface="Arial"/>
              </a:rPr>
              <a:t>resposta</a:t>
            </a:r>
            <a:r>
              <a:rPr lang="en-US" sz="2400" dirty="0">
                <a:latin typeface="Arial"/>
                <a:cs typeface="Arial"/>
              </a:rPr>
              <a:t> </a:t>
            </a:r>
            <a:r>
              <a:rPr lang="en-US" sz="2400" dirty="0" err="1">
                <a:latin typeface="Arial"/>
                <a:cs typeface="Arial"/>
              </a:rPr>
              <a:t>às</a:t>
            </a:r>
            <a:r>
              <a:rPr lang="en-US" sz="2400" dirty="0">
                <a:latin typeface="Arial"/>
                <a:cs typeface="Arial"/>
              </a:rPr>
              <a:t> </a:t>
            </a:r>
            <a:r>
              <a:rPr lang="en-US" sz="2400" dirty="0" err="1">
                <a:latin typeface="Arial"/>
                <a:cs typeface="Arial"/>
              </a:rPr>
              <a:t>recomendações</a:t>
            </a:r>
            <a:r>
              <a:rPr lang="en-US" sz="2400" dirty="0">
                <a:latin typeface="Arial"/>
                <a:cs typeface="Arial"/>
              </a:rPr>
              <a:t> do NTSB, a FAA </a:t>
            </a:r>
            <a:r>
              <a:rPr lang="en-US" sz="2400" dirty="0" err="1">
                <a:latin typeface="Arial"/>
                <a:cs typeface="Arial"/>
              </a:rPr>
              <a:t>revisou</a:t>
            </a:r>
            <a:r>
              <a:rPr lang="en-US" sz="2400" dirty="0">
                <a:latin typeface="Arial"/>
                <a:cs typeface="Arial"/>
              </a:rPr>
              <a:t> esses </a:t>
            </a:r>
            <a:r>
              <a:rPr lang="en-US" sz="2400" dirty="0" err="1">
                <a:latin typeface="Arial"/>
                <a:cs typeface="Arial"/>
              </a:rPr>
              <a:t>requisitos</a:t>
            </a:r>
            <a:r>
              <a:rPr lang="en-US" sz="2400" dirty="0">
                <a:latin typeface="Arial"/>
                <a:cs typeface="Arial"/>
              </a:rPr>
              <a:t>, </a:t>
            </a:r>
            <a:r>
              <a:rPr lang="en-US" sz="2400" dirty="0" err="1">
                <a:latin typeface="Arial"/>
                <a:cs typeface="Arial"/>
              </a:rPr>
              <a:t>passando</a:t>
            </a:r>
            <a:r>
              <a:rPr lang="en-US" sz="2400" dirty="0">
                <a:latin typeface="Arial"/>
                <a:cs typeface="Arial"/>
              </a:rPr>
              <a:t> a </a:t>
            </a:r>
            <a:r>
              <a:rPr lang="en-US" sz="2400" dirty="0" err="1">
                <a:latin typeface="Arial"/>
                <a:cs typeface="Arial"/>
              </a:rPr>
              <a:t>incluir</a:t>
            </a:r>
            <a:r>
              <a:rPr lang="en-US" sz="2400" dirty="0">
                <a:latin typeface="Arial"/>
                <a:cs typeface="Arial"/>
              </a:rPr>
              <a:t> </a:t>
            </a:r>
            <a:r>
              <a:rPr lang="en-US" sz="2400" dirty="0" err="1">
                <a:latin typeface="Arial"/>
                <a:cs typeface="Arial"/>
              </a:rPr>
              <a:t>treinamentos</a:t>
            </a:r>
            <a:r>
              <a:rPr lang="en-US" sz="2400" dirty="0">
                <a:latin typeface="Arial"/>
                <a:cs typeface="Arial"/>
              </a:rPr>
              <a:t> </a:t>
            </a:r>
            <a:r>
              <a:rPr lang="en-US" sz="2400" dirty="0" err="1">
                <a:latin typeface="Arial"/>
                <a:cs typeface="Arial"/>
              </a:rPr>
              <a:t>especializados</a:t>
            </a:r>
            <a:r>
              <a:rPr lang="en-US" sz="2400" dirty="0">
                <a:latin typeface="Arial"/>
                <a:cs typeface="Arial"/>
              </a:rPr>
              <a:t> </a:t>
            </a:r>
            <a:r>
              <a:rPr lang="en-US" sz="2400" dirty="0" err="1">
                <a:latin typeface="Arial"/>
                <a:cs typeface="Arial"/>
              </a:rPr>
              <a:t>em</a:t>
            </a:r>
            <a:r>
              <a:rPr lang="en-US" sz="2400" dirty="0">
                <a:latin typeface="Arial"/>
                <a:cs typeface="Arial"/>
              </a:rPr>
              <a:t> </a:t>
            </a:r>
            <a:r>
              <a:rPr lang="en-US" sz="2400" dirty="0" err="1">
                <a:latin typeface="Arial"/>
                <a:cs typeface="Arial"/>
              </a:rPr>
              <a:t>sistemas</a:t>
            </a:r>
            <a:r>
              <a:rPr lang="en-US" sz="2400" dirty="0">
                <a:latin typeface="Arial"/>
                <a:cs typeface="Arial"/>
              </a:rPr>
              <a:t> </a:t>
            </a:r>
            <a:r>
              <a:rPr lang="en-US" sz="2400" dirty="0" err="1">
                <a:latin typeface="Arial"/>
                <a:cs typeface="Arial"/>
              </a:rPr>
              <a:t>críticos</a:t>
            </a:r>
            <a:r>
              <a:rPr lang="en-US" sz="2400" dirty="0">
                <a:latin typeface="Arial"/>
                <a:cs typeface="Arial"/>
              </a:rPr>
              <a:t>, </a:t>
            </a:r>
            <a:r>
              <a:rPr lang="en-US" sz="2400" dirty="0" err="1">
                <a:latin typeface="Arial"/>
                <a:cs typeface="Arial"/>
              </a:rPr>
              <a:t>como</a:t>
            </a:r>
            <a:r>
              <a:rPr lang="en-US" sz="2400" dirty="0">
                <a:latin typeface="Arial"/>
                <a:cs typeface="Arial"/>
              </a:rPr>
              <a:t> o </a:t>
            </a:r>
            <a:r>
              <a:rPr lang="en-US" sz="2400" dirty="0" err="1">
                <a:latin typeface="Arial"/>
                <a:cs typeface="Arial"/>
              </a:rPr>
              <a:t>estabilizador</a:t>
            </a:r>
            <a:r>
              <a:rPr lang="en-US" sz="2400" dirty="0">
                <a:latin typeface="Arial"/>
                <a:cs typeface="Arial"/>
              </a:rPr>
              <a:t> horizontal, </a:t>
            </a:r>
            <a:r>
              <a:rPr lang="en-US" sz="2400" dirty="0" err="1">
                <a:latin typeface="Arial"/>
                <a:cs typeface="Arial"/>
              </a:rPr>
              <a:t>visando</a:t>
            </a:r>
            <a:r>
              <a:rPr lang="en-US" sz="2400" dirty="0">
                <a:latin typeface="Arial"/>
                <a:cs typeface="Arial"/>
              </a:rPr>
              <a:t> </a:t>
            </a:r>
            <a:r>
              <a:rPr lang="en-US" sz="2400" dirty="0" err="1">
                <a:latin typeface="Arial"/>
                <a:cs typeface="Arial"/>
              </a:rPr>
              <a:t>fortalecer</a:t>
            </a:r>
            <a:r>
              <a:rPr lang="en-US" sz="2400" dirty="0">
                <a:latin typeface="Arial"/>
                <a:cs typeface="Arial"/>
              </a:rPr>
              <a:t> a </a:t>
            </a:r>
            <a:r>
              <a:rPr lang="en-US" sz="2400" dirty="0" err="1">
                <a:latin typeface="Arial"/>
                <a:cs typeface="Arial"/>
              </a:rPr>
              <a:t>segurança</a:t>
            </a:r>
            <a:r>
              <a:rPr lang="en-US" sz="2400" dirty="0">
                <a:latin typeface="Arial"/>
                <a:cs typeface="Arial"/>
              </a:rPr>
              <a:t> </a:t>
            </a:r>
            <a:r>
              <a:rPr lang="en-US" sz="2400" dirty="0" err="1">
                <a:latin typeface="Arial"/>
                <a:cs typeface="Arial"/>
              </a:rPr>
              <a:t>operacional</a:t>
            </a:r>
            <a:r>
              <a:rPr lang="en-US" sz="2400" dirty="0">
                <a:latin typeface="Arial"/>
                <a:cs typeface="Arial"/>
              </a:rPr>
              <a:t> e </a:t>
            </a:r>
            <a:r>
              <a:rPr lang="en-US" sz="2400" dirty="0" err="1">
                <a:latin typeface="Arial"/>
                <a:cs typeface="Arial"/>
              </a:rPr>
              <a:t>reduzir</a:t>
            </a:r>
            <a:r>
              <a:rPr lang="en-US" sz="2400" dirty="0">
                <a:latin typeface="Arial"/>
                <a:cs typeface="Arial"/>
              </a:rPr>
              <a:t> </a:t>
            </a:r>
            <a:r>
              <a:rPr lang="en-US" sz="2400" dirty="0" err="1">
                <a:latin typeface="Arial"/>
                <a:cs typeface="Arial"/>
              </a:rPr>
              <a:t>falhas</a:t>
            </a:r>
            <a:r>
              <a:rPr lang="en-US" sz="2400" dirty="0">
                <a:latin typeface="Arial"/>
                <a:cs typeface="Arial"/>
              </a:rPr>
              <a:t> </a:t>
            </a:r>
            <a:r>
              <a:rPr lang="en-US" sz="2400" dirty="0" err="1">
                <a:latin typeface="Arial"/>
                <a:cs typeface="Arial"/>
              </a:rPr>
              <a:t>decorrentes</a:t>
            </a:r>
            <a:r>
              <a:rPr lang="en-US" sz="2400" dirty="0">
                <a:latin typeface="Arial"/>
                <a:cs typeface="Arial"/>
              </a:rPr>
              <a:t> do </a:t>
            </a:r>
            <a:r>
              <a:rPr lang="en-US" sz="2400" dirty="0" err="1">
                <a:latin typeface="Arial"/>
                <a:cs typeface="Arial"/>
              </a:rPr>
              <a:t>uso</a:t>
            </a:r>
            <a:r>
              <a:rPr lang="en-US" sz="2400" dirty="0">
                <a:latin typeface="Arial"/>
                <a:cs typeface="Arial"/>
              </a:rPr>
              <a:t> </a:t>
            </a:r>
            <a:r>
              <a:rPr lang="en-US" sz="2400" dirty="0" err="1">
                <a:latin typeface="Arial"/>
                <a:cs typeface="Arial"/>
              </a:rPr>
              <a:t>inadequado</a:t>
            </a:r>
            <a:r>
              <a:rPr lang="en-US" sz="2400" dirty="0">
                <a:latin typeface="Arial"/>
                <a:cs typeface="Arial"/>
              </a:rPr>
              <a:t> de ferramentas </a:t>
            </a:r>
            <a:r>
              <a:rPr lang="en-US" sz="2400" dirty="0" err="1">
                <a:latin typeface="Arial"/>
                <a:cs typeface="Arial"/>
              </a:rPr>
              <a:t>ou</a:t>
            </a:r>
            <a:r>
              <a:rPr lang="en-US" sz="2400" dirty="0">
                <a:latin typeface="Arial"/>
                <a:cs typeface="Arial"/>
              </a:rPr>
              <a:t> </a:t>
            </a:r>
            <a:r>
              <a:rPr lang="en-US" sz="2400" dirty="0" err="1">
                <a:latin typeface="Arial"/>
                <a:cs typeface="Arial"/>
              </a:rPr>
              <a:t>procedimentos</a:t>
            </a:r>
            <a:r>
              <a:rPr lang="en-US" sz="2400" dirty="0">
                <a:latin typeface="Arial"/>
                <a:cs typeface="Arial"/>
              </a:rPr>
              <a:t>. </a:t>
            </a:r>
            <a:endParaRPr lang="pt-BR" sz="2400">
              <a:latin typeface="Arial"/>
              <a:cs typeface="Arial"/>
            </a:endParaRPr>
          </a:p>
          <a:p>
            <a:endParaRPr lang="en-US" sz="2400" dirty="0">
              <a:latin typeface="Arial"/>
              <a:cs typeface="Arial"/>
            </a:endParaRPr>
          </a:p>
        </p:txBody>
      </p:sp>
      <p:sp>
        <p:nvSpPr>
          <p:cNvPr id="7" name="CaixaDeTexto 6">
            <a:extLst>
              <a:ext uri="{FF2B5EF4-FFF2-40B4-BE49-F238E27FC236}">
                <a16:creationId xmlns:a16="http://schemas.microsoft.com/office/drawing/2014/main" id="{77E85323-CC26-4FA2-DA99-3348FD260814}"/>
              </a:ext>
            </a:extLst>
          </p:cNvPr>
          <p:cNvSpPr txBox="1"/>
          <p:nvPr/>
        </p:nvSpPr>
        <p:spPr>
          <a:xfrm>
            <a:off x="2887250" y="1488510"/>
            <a:ext cx="822333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Arial"/>
                <a:cs typeface="Arial"/>
              </a:rPr>
              <a:t>Programas de Treinamento Contínuo (FAA AC 120-16G) </a:t>
            </a:r>
            <a:endParaRPr lang="pt-BR" sz="2400">
              <a:latin typeface="Arial"/>
              <a:cs typeface="Arial"/>
            </a:endParaRPr>
          </a:p>
        </p:txBody>
      </p:sp>
    </p:spTree>
    <p:extLst>
      <p:ext uri="{BB962C8B-B14F-4D97-AF65-F5344CB8AC3E}">
        <p14:creationId xmlns:p14="http://schemas.microsoft.com/office/powerpoint/2010/main" val="1053082786"/>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CA088-DADD-7DE5-B04F-547F9204C929}"/>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84B4EB8C-D4DE-DB67-8572-5A7C1E294D93}"/>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E015FE30-D420-3B45-D4C8-00787B141B75}"/>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a:ln>
                  <a:noFill/>
                </a:ln>
                <a:solidFill>
                  <a:srgbClr val="0070C0"/>
                </a:solidFill>
                <a:effectLst/>
                <a:uLnTx/>
                <a:uFillTx/>
                <a:latin typeface="Arial"/>
                <a:cs typeface="Arial"/>
                <a:sym typeface="Helvetica Neue"/>
              </a:rPr>
              <a:t> </a:t>
            </a:r>
            <a:r>
              <a:rPr lang="en-US" sz="2000" b="1">
                <a:solidFill>
                  <a:srgbClr val="0070C0"/>
                </a:solidFill>
                <a:latin typeface="Arial"/>
                <a:cs typeface="Arial"/>
                <a:sym typeface="Helvetica Neue"/>
              </a:rPr>
              <a:t>2</a:t>
            </a:r>
            <a:endParaRPr kumimoji="0" lang="pt-BR"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E7C3471A-72A1-EFEB-42D3-95CE88E802B0}"/>
              </a:ext>
            </a:extLst>
          </p:cNvPr>
          <p:cNvSpPr txBox="1"/>
          <p:nvPr/>
        </p:nvSpPr>
        <p:spPr>
          <a:xfrm>
            <a:off x="204278" y="564779"/>
            <a:ext cx="5984843" cy="307777"/>
          </a:xfrm>
          <a:prstGeom prst="rect">
            <a:avLst/>
          </a:prstGeom>
          <a:noFill/>
        </p:spPr>
        <p:txBody>
          <a:bodyPr wrap="none" lIns="91440" tIns="45720" rIns="91440" bIns="45720" rtlCol="0" anchor="t">
            <a:spAutoFit/>
          </a:bodyPr>
          <a:lstStyle/>
          <a:p>
            <a:r>
              <a:rPr lang="pt-BR" sz="1400" u="sng">
                <a:solidFill>
                  <a:srgbClr val="0070C0"/>
                </a:solidFill>
                <a:latin typeface="Arial"/>
                <a:cs typeface="Arial"/>
              </a:rPr>
              <a:t>Slide 2.5 - Requisitos de Treinamento de manutenção (FAA  AC 120-16G)</a:t>
            </a:r>
          </a:p>
        </p:txBody>
      </p:sp>
      <p:sp>
        <p:nvSpPr>
          <p:cNvPr id="8" name="CaixaDeTexto 7">
            <a:extLst>
              <a:ext uri="{FF2B5EF4-FFF2-40B4-BE49-F238E27FC236}">
                <a16:creationId xmlns:a16="http://schemas.microsoft.com/office/drawing/2014/main" id="{B40D8790-DF8A-87FC-C440-CB0FD1E09B4E}"/>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algn="ctr">
              <a:defRPr/>
            </a:pPr>
            <a:r>
              <a:rPr lang="pt-BR" u="sng" dirty="0">
                <a:solidFill>
                  <a:srgbClr val="0070C0"/>
                </a:solidFill>
                <a:latin typeface="Aptos" panose="02110004020202020204"/>
              </a:rPr>
              <a:t>Resp.: Isabela Soares</a:t>
            </a:r>
            <a:endParaRPr lang="pt-BR" u="sng" dirty="0">
              <a:solidFill>
                <a:srgbClr val="0070C0"/>
              </a:solidFill>
            </a:endParaRPr>
          </a:p>
        </p:txBody>
      </p:sp>
      <p:sp>
        <p:nvSpPr>
          <p:cNvPr id="9" name="CaixaDeTexto 8">
            <a:extLst>
              <a:ext uri="{FF2B5EF4-FFF2-40B4-BE49-F238E27FC236}">
                <a16:creationId xmlns:a16="http://schemas.microsoft.com/office/drawing/2014/main" id="{61EE5E9B-1FFB-FD27-E317-5DA76D823B95}"/>
              </a:ext>
            </a:extLst>
          </p:cNvPr>
          <p:cNvSpPr txBox="1"/>
          <p:nvPr/>
        </p:nvSpPr>
        <p:spPr>
          <a:xfrm>
            <a:off x="1608667" y="-18398"/>
            <a:ext cx="8669433" cy="738664"/>
          </a:xfrm>
          <a:prstGeom prst="rect">
            <a:avLst/>
          </a:prstGeom>
          <a:noFill/>
        </p:spPr>
        <p:txBody>
          <a:bodyPr wrap="square" lIns="91440" tIns="45720" rIns="91440" bIns="45720" rtlCol="0" anchor="t">
            <a:spAutoFit/>
          </a:bodyPr>
          <a:lstStyle/>
          <a:p>
            <a:pPr>
              <a:defRPr/>
            </a:pPr>
            <a:r>
              <a:rPr lang="pt-BR" sz="1400" dirty="0">
                <a:solidFill>
                  <a:schemeClr val="accent4">
                    <a:lumMod val="76000"/>
                  </a:schemeClr>
                </a:solidFill>
                <a:latin typeface="Arial"/>
                <a:cs typeface="Arial"/>
              </a:rPr>
              <a:t>Requisitos de Manutenção RBAC 43 e 145: Discorra sobre os erros cometidos pela Alaska Airlines, identificando no Relatório do NSTB em  relação aos seguintes aspectos</a:t>
            </a:r>
            <a:endParaRPr lang="pt-BR" dirty="0">
              <a:solidFill>
                <a:schemeClr val="accent4">
                  <a:lumMod val="76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DE5108C9-E6BD-727B-EAAD-1F9A004009C6}"/>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7" name="CaixaDeTexto 6">
            <a:extLst>
              <a:ext uri="{FF2B5EF4-FFF2-40B4-BE49-F238E27FC236}">
                <a16:creationId xmlns:a16="http://schemas.microsoft.com/office/drawing/2014/main" id="{F132A687-EF2E-899B-958D-F943B747C7BB}"/>
              </a:ext>
            </a:extLst>
          </p:cNvPr>
          <p:cNvSpPr txBox="1"/>
          <p:nvPr/>
        </p:nvSpPr>
        <p:spPr>
          <a:xfrm>
            <a:off x="2929003" y="1488510"/>
            <a:ext cx="822333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Arial"/>
                <a:cs typeface="Arial"/>
              </a:rPr>
              <a:t>Programas de Treinamento Contínuo (FAA AC 120-16G) </a:t>
            </a:r>
            <a:endParaRPr lang="pt-BR" sz="2400">
              <a:latin typeface="Arial"/>
              <a:cs typeface="Arial"/>
            </a:endParaRPr>
          </a:p>
        </p:txBody>
      </p:sp>
      <p:sp>
        <p:nvSpPr>
          <p:cNvPr id="2" name="CaixaDeTexto 1">
            <a:extLst>
              <a:ext uri="{FF2B5EF4-FFF2-40B4-BE49-F238E27FC236}">
                <a16:creationId xmlns:a16="http://schemas.microsoft.com/office/drawing/2014/main" id="{C38CDD2D-76EA-151B-A722-65B0EDC3D937}"/>
              </a:ext>
            </a:extLst>
          </p:cNvPr>
          <p:cNvSpPr txBox="1"/>
          <p:nvPr/>
        </p:nvSpPr>
        <p:spPr>
          <a:xfrm>
            <a:off x="1331935" y="2553222"/>
            <a:ext cx="8693061"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Arial"/>
                <a:cs typeface="Arial"/>
              </a:rPr>
              <a:t>• </a:t>
            </a:r>
            <a:r>
              <a:rPr lang="en-US" sz="2400" dirty="0" err="1">
                <a:latin typeface="Arial"/>
                <a:cs typeface="Arial"/>
              </a:rPr>
              <a:t>Inicialmente</a:t>
            </a:r>
            <a:r>
              <a:rPr lang="en-US" sz="2400" dirty="0">
                <a:latin typeface="Arial"/>
                <a:cs typeface="Arial"/>
              </a:rPr>
              <a:t>, a FAA </a:t>
            </a:r>
            <a:r>
              <a:rPr lang="en-US" sz="2400" dirty="0" err="1">
                <a:latin typeface="Arial"/>
                <a:cs typeface="Arial"/>
              </a:rPr>
              <a:t>defendia</a:t>
            </a:r>
            <a:r>
              <a:rPr lang="en-US" sz="2400" dirty="0">
                <a:latin typeface="Arial"/>
                <a:cs typeface="Arial"/>
              </a:rPr>
              <a:t> que </a:t>
            </a:r>
            <a:r>
              <a:rPr lang="en-US" sz="2400" dirty="0" err="1">
                <a:latin typeface="Arial"/>
                <a:cs typeface="Arial"/>
              </a:rPr>
              <a:t>os</a:t>
            </a:r>
            <a:r>
              <a:rPr lang="en-US" sz="2400" dirty="0">
                <a:latin typeface="Arial"/>
                <a:cs typeface="Arial"/>
              </a:rPr>
              <a:t> </a:t>
            </a:r>
            <a:r>
              <a:rPr lang="en-US" sz="2400" dirty="0" err="1">
                <a:latin typeface="Arial"/>
                <a:cs typeface="Arial"/>
              </a:rPr>
              <a:t>programas</a:t>
            </a:r>
            <a:r>
              <a:rPr lang="en-US" sz="2400" dirty="0">
                <a:latin typeface="Arial"/>
                <a:cs typeface="Arial"/>
              </a:rPr>
              <a:t> de </a:t>
            </a:r>
            <a:r>
              <a:rPr lang="en-US" sz="2400" dirty="0" err="1">
                <a:latin typeface="Arial"/>
                <a:cs typeface="Arial"/>
              </a:rPr>
              <a:t>treinamento</a:t>
            </a:r>
            <a:r>
              <a:rPr lang="en-US" sz="2400" dirty="0">
                <a:latin typeface="Arial"/>
                <a:cs typeface="Arial"/>
              </a:rPr>
              <a:t> </a:t>
            </a:r>
            <a:r>
              <a:rPr lang="en-US" sz="2400" dirty="0" err="1">
                <a:latin typeface="Arial"/>
                <a:cs typeface="Arial"/>
              </a:rPr>
              <a:t>vigentes</a:t>
            </a:r>
            <a:r>
              <a:rPr lang="en-US" sz="2400" dirty="0">
                <a:latin typeface="Arial"/>
                <a:cs typeface="Arial"/>
              </a:rPr>
              <a:t>, </a:t>
            </a:r>
            <a:r>
              <a:rPr lang="en-US" sz="2400" dirty="0" err="1">
                <a:latin typeface="Arial"/>
                <a:cs typeface="Arial"/>
              </a:rPr>
              <a:t>conforme</a:t>
            </a:r>
            <a:r>
              <a:rPr lang="en-US" sz="2400" dirty="0">
                <a:latin typeface="Arial"/>
                <a:cs typeface="Arial"/>
              </a:rPr>
              <a:t> </a:t>
            </a:r>
            <a:r>
              <a:rPr lang="en-US" sz="2400" dirty="0" err="1">
                <a:latin typeface="Arial"/>
                <a:cs typeface="Arial"/>
              </a:rPr>
              <a:t>previsto</a:t>
            </a:r>
            <a:r>
              <a:rPr lang="en-US" sz="2400" dirty="0">
                <a:latin typeface="Arial"/>
                <a:cs typeface="Arial"/>
              </a:rPr>
              <a:t> no 14 CFR 121.375, </a:t>
            </a:r>
            <a:r>
              <a:rPr lang="en-US" sz="2400" dirty="0" err="1">
                <a:latin typeface="Arial"/>
                <a:cs typeface="Arial"/>
              </a:rPr>
              <a:t>eram</a:t>
            </a:r>
            <a:r>
              <a:rPr lang="en-US" sz="2400" dirty="0">
                <a:latin typeface="Arial"/>
                <a:cs typeface="Arial"/>
              </a:rPr>
              <a:t> </a:t>
            </a:r>
            <a:r>
              <a:rPr lang="en-US" sz="2400" dirty="0" err="1">
                <a:latin typeface="Arial"/>
                <a:cs typeface="Arial"/>
              </a:rPr>
              <a:t>suficientes</a:t>
            </a:r>
            <a:r>
              <a:rPr lang="en-US" sz="2400" dirty="0">
                <a:latin typeface="Arial"/>
                <a:cs typeface="Arial"/>
              </a:rPr>
              <a:t>. </a:t>
            </a:r>
            <a:endParaRPr lang="pt-BR" sz="2400" dirty="0">
              <a:latin typeface="Arial"/>
              <a:cs typeface="Arial"/>
            </a:endParaRPr>
          </a:p>
          <a:p>
            <a:endParaRPr lang="en-US" sz="2400" dirty="0">
              <a:latin typeface="Arial"/>
              <a:cs typeface="Arial"/>
            </a:endParaRPr>
          </a:p>
          <a:p>
            <a:r>
              <a:rPr lang="en-US" sz="2400" dirty="0">
                <a:latin typeface="Arial"/>
                <a:cs typeface="Arial"/>
              </a:rPr>
              <a:t>• </a:t>
            </a:r>
            <a:r>
              <a:rPr lang="en-US" sz="2400" dirty="0" err="1">
                <a:latin typeface="Arial"/>
                <a:cs typeface="Arial"/>
              </a:rPr>
              <a:t>Posteriormente</a:t>
            </a:r>
            <a:r>
              <a:rPr lang="en-US" sz="2400" dirty="0">
                <a:latin typeface="Arial"/>
                <a:cs typeface="Arial"/>
              </a:rPr>
              <a:t>, </a:t>
            </a:r>
            <a:r>
              <a:rPr lang="en-US" sz="2400" dirty="0" err="1">
                <a:latin typeface="Arial"/>
                <a:cs typeface="Arial"/>
              </a:rPr>
              <a:t>passou</a:t>
            </a:r>
            <a:r>
              <a:rPr lang="en-US" sz="2400" dirty="0">
                <a:latin typeface="Arial"/>
                <a:cs typeface="Arial"/>
              </a:rPr>
              <a:t> a </a:t>
            </a:r>
            <a:r>
              <a:rPr lang="en-US" sz="2400" dirty="0" err="1">
                <a:latin typeface="Arial"/>
                <a:cs typeface="Arial"/>
              </a:rPr>
              <a:t>adotar</a:t>
            </a:r>
            <a:r>
              <a:rPr lang="en-US" sz="2400" dirty="0">
                <a:latin typeface="Arial"/>
                <a:cs typeface="Arial"/>
              </a:rPr>
              <a:t> e </a:t>
            </a:r>
            <a:r>
              <a:rPr lang="en-US" sz="2400" dirty="0" err="1">
                <a:latin typeface="Arial"/>
                <a:cs typeface="Arial"/>
              </a:rPr>
              <a:t>exigir</a:t>
            </a:r>
            <a:r>
              <a:rPr lang="en-US" sz="2400" dirty="0">
                <a:latin typeface="Arial"/>
                <a:cs typeface="Arial"/>
              </a:rPr>
              <a:t> </a:t>
            </a:r>
            <a:r>
              <a:rPr lang="en-US" sz="2400" dirty="0" err="1">
                <a:latin typeface="Arial"/>
                <a:cs typeface="Arial"/>
              </a:rPr>
              <a:t>conformidade</a:t>
            </a:r>
            <a:r>
              <a:rPr lang="en-US" sz="2400" dirty="0">
                <a:latin typeface="Arial"/>
                <a:cs typeface="Arial"/>
              </a:rPr>
              <a:t> com o AC 120-16G, </a:t>
            </a:r>
            <a:r>
              <a:rPr lang="en-US" sz="2400" dirty="0" err="1">
                <a:latin typeface="Arial"/>
                <a:cs typeface="Arial"/>
              </a:rPr>
              <a:t>incorporando</a:t>
            </a:r>
            <a:r>
              <a:rPr lang="en-US" sz="2400" dirty="0">
                <a:latin typeface="Arial"/>
                <a:cs typeface="Arial"/>
              </a:rPr>
              <a:t> </a:t>
            </a:r>
            <a:r>
              <a:rPr lang="en-US" sz="2400" dirty="0" err="1">
                <a:latin typeface="Arial"/>
                <a:cs typeface="Arial"/>
              </a:rPr>
              <a:t>seus</a:t>
            </a:r>
            <a:r>
              <a:rPr lang="en-US" sz="2400" dirty="0">
                <a:latin typeface="Arial"/>
                <a:cs typeface="Arial"/>
              </a:rPr>
              <a:t> </a:t>
            </a:r>
            <a:r>
              <a:rPr lang="en-US" sz="2400" dirty="0" err="1">
                <a:latin typeface="Arial"/>
                <a:cs typeface="Arial"/>
              </a:rPr>
              <a:t>critérios</a:t>
            </a:r>
            <a:r>
              <a:rPr lang="en-US" sz="2400" dirty="0">
                <a:latin typeface="Arial"/>
                <a:cs typeface="Arial"/>
              </a:rPr>
              <a:t> </a:t>
            </a:r>
            <a:r>
              <a:rPr lang="en-US" sz="2400" dirty="0" err="1">
                <a:latin typeface="Arial"/>
                <a:cs typeface="Arial"/>
              </a:rPr>
              <a:t>ao</a:t>
            </a:r>
            <a:r>
              <a:rPr lang="en-US" sz="2400" dirty="0">
                <a:latin typeface="Arial"/>
                <a:cs typeface="Arial"/>
              </a:rPr>
              <a:t> </a:t>
            </a:r>
            <a:r>
              <a:rPr lang="en-US" sz="2400" dirty="0" err="1">
                <a:latin typeface="Arial"/>
                <a:cs typeface="Arial"/>
              </a:rPr>
              <a:t>processo</a:t>
            </a:r>
            <a:r>
              <a:rPr lang="en-US" sz="2400" dirty="0">
                <a:latin typeface="Arial"/>
                <a:cs typeface="Arial"/>
              </a:rPr>
              <a:t> de </a:t>
            </a:r>
            <a:r>
              <a:rPr lang="en-US" sz="2400" dirty="0" err="1">
                <a:latin typeface="Arial"/>
                <a:cs typeface="Arial"/>
              </a:rPr>
              <a:t>qualificação</a:t>
            </a:r>
            <a:r>
              <a:rPr lang="en-US" sz="2400" dirty="0">
                <a:latin typeface="Arial"/>
                <a:cs typeface="Arial"/>
              </a:rPr>
              <a:t> de </a:t>
            </a:r>
            <a:r>
              <a:rPr lang="en-US" sz="2400" dirty="0" err="1">
                <a:latin typeface="Arial"/>
                <a:cs typeface="Arial"/>
              </a:rPr>
              <a:t>pessoal</a:t>
            </a:r>
            <a:r>
              <a:rPr lang="en-US" sz="2400" dirty="0">
                <a:latin typeface="Arial"/>
                <a:cs typeface="Arial"/>
              </a:rPr>
              <a:t> de </a:t>
            </a:r>
            <a:r>
              <a:rPr lang="en-US" sz="2400" dirty="0" err="1">
                <a:latin typeface="Arial"/>
                <a:cs typeface="Arial"/>
              </a:rPr>
              <a:t>manutenção</a:t>
            </a:r>
            <a:r>
              <a:rPr lang="en-US" sz="2400" dirty="0">
                <a:latin typeface="Arial"/>
                <a:cs typeface="Arial"/>
              </a:rPr>
              <a:t>.</a:t>
            </a:r>
          </a:p>
        </p:txBody>
      </p:sp>
    </p:spTree>
    <p:extLst>
      <p:ext uri="{BB962C8B-B14F-4D97-AF65-F5344CB8AC3E}">
        <p14:creationId xmlns:p14="http://schemas.microsoft.com/office/powerpoint/2010/main" val="578082775"/>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84E3A-5CD4-ACE5-EA70-708136FAF854}"/>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40CBA042-64DC-818B-5368-3CA6A1873D50}"/>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D5B12A9C-7442-DA6C-BE6C-C9F69179B517}"/>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3</a:t>
            </a:r>
            <a:endParaRPr kumimoji="0" lang="pt-BR" sz="2000" b="1"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FF9AD1BB-85AB-B721-1A04-93E38AFBCEC8}"/>
              </a:ext>
            </a:extLst>
          </p:cNvPr>
          <p:cNvSpPr txBox="1"/>
          <p:nvPr/>
        </p:nvSpPr>
        <p:spPr>
          <a:xfrm>
            <a:off x="204278" y="564779"/>
            <a:ext cx="3958135" cy="307777"/>
          </a:xfrm>
          <a:prstGeom prst="rect">
            <a:avLst/>
          </a:prstGeom>
          <a:noFill/>
        </p:spPr>
        <p:txBody>
          <a:bodyPr wrap="none" lIns="91440" tIns="45720" rIns="91440" bIns="45720" rtlCol="0" anchor="t">
            <a:spAutoFit/>
          </a:bodyPr>
          <a:lstStyle/>
          <a:p>
            <a:r>
              <a:rPr lang="pt-BR" sz="1400" u="sng">
                <a:solidFill>
                  <a:srgbClr val="0070C0"/>
                </a:solidFill>
                <a:latin typeface="Arial"/>
                <a:cs typeface="Arial"/>
              </a:rPr>
              <a:t>Slide 3.1 - RBAC 25, §25.395 – </a:t>
            </a:r>
            <a:r>
              <a:rPr lang="pt-BR" sz="1400" u="sng" err="1">
                <a:solidFill>
                  <a:srgbClr val="0070C0"/>
                </a:solidFill>
                <a:latin typeface="Arial"/>
                <a:cs typeface="Arial"/>
              </a:rPr>
              <a:t>Control</a:t>
            </a:r>
            <a:r>
              <a:rPr lang="pt-BR" sz="1400" u="sng">
                <a:solidFill>
                  <a:srgbClr val="0070C0"/>
                </a:solidFill>
                <a:latin typeface="Arial"/>
                <a:cs typeface="Arial"/>
              </a:rPr>
              <a:t> System</a:t>
            </a:r>
            <a:endParaRPr lang="pt-BR" sz="1200" i="1">
              <a:solidFill>
                <a:srgbClr val="242424"/>
              </a:solidFill>
              <a:cs typeface="Arial"/>
            </a:endParaRPr>
          </a:p>
        </p:txBody>
      </p:sp>
      <p:sp>
        <p:nvSpPr>
          <p:cNvPr id="8" name="CaixaDeTexto 7">
            <a:extLst>
              <a:ext uri="{FF2B5EF4-FFF2-40B4-BE49-F238E27FC236}">
                <a16:creationId xmlns:a16="http://schemas.microsoft.com/office/drawing/2014/main" id="{0EBF32A4-5CD6-3E3E-3864-023B1D2157FA}"/>
              </a:ext>
            </a:extLst>
          </p:cNvPr>
          <p:cNvSpPr txBox="1"/>
          <p:nvPr/>
        </p:nvSpPr>
        <p:spPr>
          <a:xfrm>
            <a:off x="10281315" y="-18585"/>
            <a:ext cx="1859162" cy="646331"/>
          </a:xfrm>
          <a:prstGeom prst="rect">
            <a:avLst/>
          </a:prstGeom>
          <a:noFill/>
        </p:spPr>
        <p:txBody>
          <a:bodyPr wrap="square" lIns="91440" tIns="45720" rIns="91440" bIns="45720" rtlCol="0" anchor="t">
            <a:spAutoFit/>
          </a:bodyPr>
          <a:lstStyle/>
          <a:p>
            <a:pPr algn="ctr">
              <a:defRPr/>
            </a:pPr>
            <a:r>
              <a:rPr lang="pt-BR" u="sng" dirty="0">
                <a:solidFill>
                  <a:srgbClr val="0070C0"/>
                </a:solidFill>
                <a:latin typeface="Aptos" panose="02110004020202020204"/>
              </a:rPr>
              <a:t>Resp.: Isabela Soares</a:t>
            </a:r>
            <a:endParaRPr lang="pt-BR" u="sng" dirty="0">
              <a:solidFill>
                <a:srgbClr val="0070C0"/>
              </a:solidFill>
            </a:endParaRPr>
          </a:p>
        </p:txBody>
      </p:sp>
      <p:sp>
        <p:nvSpPr>
          <p:cNvPr id="9" name="CaixaDeTexto 8">
            <a:extLst>
              <a:ext uri="{FF2B5EF4-FFF2-40B4-BE49-F238E27FC236}">
                <a16:creationId xmlns:a16="http://schemas.microsoft.com/office/drawing/2014/main" id="{0E8D2252-E178-2496-FDCE-CEDFFA5F12FB}"/>
              </a:ext>
            </a:extLst>
          </p:cNvPr>
          <p:cNvSpPr txBox="1"/>
          <p:nvPr/>
        </p:nvSpPr>
        <p:spPr>
          <a:xfrm>
            <a:off x="1608667" y="-18398"/>
            <a:ext cx="8669433" cy="738664"/>
          </a:xfrm>
          <a:prstGeom prst="rect">
            <a:avLst/>
          </a:prstGeom>
          <a:noFill/>
        </p:spPr>
        <p:txBody>
          <a:bodyPr wrap="square" lIns="91440" tIns="45720" rIns="91440" bIns="45720" rtlCol="0" anchor="t">
            <a:spAutoFit/>
          </a:bodyPr>
          <a:lstStyle/>
          <a:p>
            <a:pPr>
              <a:defRPr/>
            </a:pPr>
            <a:r>
              <a:rPr lang="pt-BR" sz="1400" dirty="0">
                <a:solidFill>
                  <a:srgbClr val="0B78A2"/>
                </a:solidFill>
                <a:latin typeface="Arial"/>
                <a:cs typeface="Arial"/>
              </a:rPr>
              <a:t>Requisitos de Projeto aplicáveis a Sistemas de Comandos de Voo: Desenvolva uma árvore de falhas qualitativa e quantitativa[1] do Sistema de Compensação do Estabilizador Horizontal</a:t>
            </a:r>
            <a:endParaRPr lang="pt-BR" sz="1400" dirty="0">
              <a:solidFill>
                <a:srgbClr val="000000"/>
              </a:solidFill>
              <a:latin typeface="Arial"/>
              <a:cs typeface="Arial"/>
            </a:endParaRPr>
          </a:p>
          <a:p>
            <a:pPr>
              <a:defRPr/>
            </a:pPr>
            <a:endParaRPr lang="pt-BR" sz="1400" b="0" i="0" u="none" strike="noStrike" kern="1200" cap="none" spc="0" normalizeH="0" baseline="0" noProof="0" dirty="0">
              <a:ln>
                <a:noFill/>
              </a:ln>
              <a:solidFill>
                <a:srgbClr val="0B78A2"/>
              </a:solidFill>
              <a:effectLst/>
              <a:uLnTx/>
              <a:uFillTx/>
              <a:latin typeface="Arial" panose="020B0604020202020204" pitchFamily="34" charset="0"/>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0EBBF6C4-9032-3662-EECD-9B121D57C1F9}"/>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11" name="CaixaDeTexto 10">
            <a:extLst>
              <a:ext uri="{FF2B5EF4-FFF2-40B4-BE49-F238E27FC236}">
                <a16:creationId xmlns:a16="http://schemas.microsoft.com/office/drawing/2014/main" id="{99854DBE-8F9C-AF29-E599-FE11780F9595}"/>
              </a:ext>
            </a:extLst>
          </p:cNvPr>
          <p:cNvSpPr txBox="1"/>
          <p:nvPr/>
        </p:nvSpPr>
        <p:spPr>
          <a:xfrm>
            <a:off x="434236" y="1718153"/>
            <a:ext cx="10394514"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Arial"/>
                <a:cs typeface="Arial"/>
              </a:rPr>
              <a:t> </a:t>
            </a:r>
            <a:endParaRPr lang="pt-BR" sz="2400">
              <a:latin typeface="Arial"/>
              <a:cs typeface="Arial"/>
            </a:endParaRPr>
          </a:p>
          <a:p>
            <a:pPr marL="285750" indent="-285750">
              <a:buFont typeface="Arial" panose="020B0604020202020204" pitchFamily="34" charset="0"/>
              <a:buChar char="•"/>
            </a:pPr>
            <a:r>
              <a:rPr lang="en-US" sz="2400" dirty="0">
                <a:latin typeface="Arial"/>
                <a:cs typeface="Arial"/>
              </a:rPr>
              <a:t>O </a:t>
            </a:r>
            <a:r>
              <a:rPr lang="en-US" sz="2400" err="1">
                <a:latin typeface="Arial"/>
                <a:cs typeface="Arial"/>
              </a:rPr>
              <a:t>sistema</a:t>
            </a:r>
            <a:r>
              <a:rPr lang="en-US" sz="2400" dirty="0">
                <a:latin typeface="Arial"/>
                <a:cs typeface="Arial"/>
              </a:rPr>
              <a:t> de </a:t>
            </a:r>
            <a:r>
              <a:rPr lang="en-US" sz="2400" err="1">
                <a:latin typeface="Arial"/>
                <a:cs typeface="Arial"/>
              </a:rPr>
              <a:t>controle</a:t>
            </a:r>
            <a:r>
              <a:rPr lang="en-US" sz="2400" dirty="0">
                <a:latin typeface="Arial"/>
                <a:cs typeface="Arial"/>
              </a:rPr>
              <a:t> longitudinal, lateral, </a:t>
            </a:r>
            <a:r>
              <a:rPr lang="en-US" sz="2400" err="1">
                <a:latin typeface="Arial"/>
                <a:cs typeface="Arial"/>
              </a:rPr>
              <a:t>direcional</a:t>
            </a:r>
            <a:r>
              <a:rPr lang="en-US" sz="2400" dirty="0">
                <a:latin typeface="Arial"/>
                <a:cs typeface="Arial"/>
              </a:rPr>
              <a:t> e de </a:t>
            </a:r>
            <a:r>
              <a:rPr lang="en-US" sz="2400" err="1">
                <a:latin typeface="Arial"/>
                <a:cs typeface="Arial"/>
              </a:rPr>
              <a:t>arrasto</a:t>
            </a:r>
            <a:r>
              <a:rPr lang="en-US" sz="2400" dirty="0">
                <a:latin typeface="Arial"/>
                <a:cs typeface="Arial"/>
              </a:rPr>
              <a:t>, </a:t>
            </a:r>
            <a:r>
              <a:rPr lang="en-US" sz="2400" err="1">
                <a:latin typeface="Arial"/>
                <a:cs typeface="Arial"/>
              </a:rPr>
              <a:t>juntamente</a:t>
            </a:r>
            <a:r>
              <a:rPr lang="en-US" sz="2400" dirty="0">
                <a:latin typeface="Arial"/>
                <a:cs typeface="Arial"/>
              </a:rPr>
              <a:t> com </a:t>
            </a:r>
            <a:r>
              <a:rPr lang="en-US" sz="2400" err="1">
                <a:latin typeface="Arial"/>
                <a:cs typeface="Arial"/>
              </a:rPr>
              <a:t>suas</a:t>
            </a:r>
            <a:r>
              <a:rPr lang="en-US" sz="2400" dirty="0">
                <a:latin typeface="Arial"/>
                <a:cs typeface="Arial"/>
              </a:rPr>
              <a:t> </a:t>
            </a:r>
            <a:r>
              <a:rPr lang="en-US" sz="2400" err="1">
                <a:latin typeface="Arial"/>
                <a:cs typeface="Arial"/>
              </a:rPr>
              <a:t>estruturas</a:t>
            </a:r>
            <a:r>
              <a:rPr lang="en-US" sz="2400" dirty="0">
                <a:latin typeface="Arial"/>
                <a:cs typeface="Arial"/>
              </a:rPr>
              <a:t> de </a:t>
            </a:r>
            <a:r>
              <a:rPr lang="en-US" sz="2400" err="1">
                <a:latin typeface="Arial"/>
                <a:cs typeface="Arial"/>
              </a:rPr>
              <a:t>suporte</a:t>
            </a:r>
            <a:r>
              <a:rPr lang="en-US" sz="2400" dirty="0">
                <a:latin typeface="Arial"/>
                <a:cs typeface="Arial"/>
              </a:rPr>
              <a:t>, </a:t>
            </a:r>
            <a:r>
              <a:rPr lang="en-US" sz="2400" err="1">
                <a:latin typeface="Arial"/>
                <a:cs typeface="Arial"/>
              </a:rPr>
              <a:t>deve</a:t>
            </a:r>
            <a:r>
              <a:rPr lang="en-US" sz="2400" dirty="0">
                <a:latin typeface="Arial"/>
                <a:cs typeface="Arial"/>
              </a:rPr>
              <a:t> ser </a:t>
            </a:r>
            <a:r>
              <a:rPr lang="en-US" sz="2400" err="1">
                <a:latin typeface="Arial"/>
                <a:cs typeface="Arial"/>
              </a:rPr>
              <a:t>dimensionado</a:t>
            </a:r>
            <a:r>
              <a:rPr lang="en-US" sz="2400" dirty="0">
                <a:latin typeface="Arial"/>
                <a:cs typeface="Arial"/>
              </a:rPr>
              <a:t> para </a:t>
            </a:r>
            <a:r>
              <a:rPr lang="en-US" sz="2400" err="1">
                <a:latin typeface="Arial"/>
                <a:cs typeface="Arial"/>
              </a:rPr>
              <a:t>suportar</a:t>
            </a:r>
            <a:r>
              <a:rPr lang="en-US" sz="2400" dirty="0">
                <a:latin typeface="Arial"/>
                <a:cs typeface="Arial"/>
              </a:rPr>
              <a:t> cargas </a:t>
            </a:r>
            <a:r>
              <a:rPr lang="en-US" sz="2400" err="1">
                <a:latin typeface="Arial"/>
                <a:cs typeface="Arial"/>
              </a:rPr>
              <a:t>equivalentes</a:t>
            </a:r>
            <a:r>
              <a:rPr lang="en-US" sz="2400" dirty="0">
                <a:latin typeface="Arial"/>
                <a:cs typeface="Arial"/>
              </a:rPr>
              <a:t> a 125% dos </a:t>
            </a:r>
            <a:r>
              <a:rPr lang="en-US" sz="2400" err="1">
                <a:latin typeface="Arial"/>
                <a:cs typeface="Arial"/>
              </a:rPr>
              <a:t>momentos</a:t>
            </a:r>
            <a:r>
              <a:rPr lang="en-US" sz="2400" dirty="0">
                <a:latin typeface="Arial"/>
                <a:cs typeface="Arial"/>
              </a:rPr>
              <a:t> </a:t>
            </a:r>
            <a:r>
              <a:rPr lang="en-US" sz="2400" err="1">
                <a:latin typeface="Arial"/>
                <a:cs typeface="Arial"/>
              </a:rPr>
              <a:t>calculados</a:t>
            </a:r>
            <a:r>
              <a:rPr lang="en-US" sz="2400" dirty="0">
                <a:latin typeface="Arial"/>
                <a:cs typeface="Arial"/>
              </a:rPr>
              <a:t> </a:t>
            </a:r>
            <a:r>
              <a:rPr lang="en-US" sz="2400" err="1">
                <a:latin typeface="Arial"/>
                <a:cs typeface="Arial"/>
              </a:rPr>
              <a:t>nas</a:t>
            </a:r>
            <a:r>
              <a:rPr lang="en-US" sz="2400" dirty="0">
                <a:latin typeface="Arial"/>
                <a:cs typeface="Arial"/>
              </a:rPr>
              <a:t> </a:t>
            </a:r>
            <a:r>
              <a:rPr lang="en-US" sz="2400" err="1">
                <a:latin typeface="Arial"/>
                <a:cs typeface="Arial"/>
              </a:rPr>
              <a:t>dobradiças</a:t>
            </a:r>
            <a:r>
              <a:rPr lang="en-US" sz="2400" dirty="0">
                <a:latin typeface="Arial"/>
                <a:cs typeface="Arial"/>
              </a:rPr>
              <a:t> das </a:t>
            </a:r>
            <a:r>
              <a:rPr lang="en-US" sz="2400" err="1">
                <a:latin typeface="Arial"/>
                <a:cs typeface="Arial"/>
              </a:rPr>
              <a:t>superfícies</a:t>
            </a:r>
            <a:r>
              <a:rPr lang="en-US" sz="2400" dirty="0">
                <a:latin typeface="Arial"/>
                <a:cs typeface="Arial"/>
              </a:rPr>
              <a:t> de </a:t>
            </a:r>
            <a:r>
              <a:rPr lang="en-US" sz="2400" err="1">
                <a:latin typeface="Arial"/>
                <a:cs typeface="Arial"/>
              </a:rPr>
              <a:t>controle</a:t>
            </a:r>
            <a:r>
              <a:rPr lang="en-US" sz="2400" dirty="0">
                <a:latin typeface="Arial"/>
                <a:cs typeface="Arial"/>
              </a:rPr>
              <a:t> </a:t>
            </a:r>
            <a:r>
              <a:rPr lang="en-US" sz="2400" err="1">
                <a:latin typeface="Arial"/>
                <a:cs typeface="Arial"/>
              </a:rPr>
              <a:t>móveis</a:t>
            </a:r>
            <a:r>
              <a:rPr lang="en-US" sz="2400" dirty="0">
                <a:latin typeface="Arial"/>
                <a:cs typeface="Arial"/>
              </a:rPr>
              <a:t>. </a:t>
            </a:r>
          </a:p>
          <a:p>
            <a:pPr marL="285750" indent="-285750">
              <a:buFont typeface="Arial" panose="020B0604020202020204" pitchFamily="34" charset="0"/>
              <a:buChar char="•"/>
            </a:pPr>
            <a:endParaRPr lang="en-US" sz="2400" dirty="0">
              <a:latin typeface="Arial"/>
              <a:cs typeface="Arial"/>
            </a:endParaRPr>
          </a:p>
          <a:p>
            <a:pPr marL="285750" indent="-285750">
              <a:buFont typeface="Arial" panose="020B0604020202020204" pitchFamily="34" charset="0"/>
              <a:buChar char="•"/>
            </a:pPr>
            <a:r>
              <a:rPr lang="en-US" sz="2400" dirty="0" err="1">
                <a:latin typeface="Arial"/>
                <a:cs typeface="Arial"/>
              </a:rPr>
              <a:t>Os</a:t>
            </a:r>
            <a:r>
              <a:rPr lang="en-US" sz="2400" dirty="0">
                <a:latin typeface="Arial"/>
                <a:cs typeface="Arial"/>
              </a:rPr>
              <a:t> </a:t>
            </a:r>
            <a:r>
              <a:rPr lang="en-US" sz="2400" dirty="0" err="1">
                <a:latin typeface="Arial"/>
                <a:cs typeface="Arial"/>
              </a:rPr>
              <a:t>limites</a:t>
            </a:r>
            <a:r>
              <a:rPr lang="en-US" sz="2400" dirty="0">
                <a:latin typeface="Arial"/>
                <a:cs typeface="Arial"/>
              </a:rPr>
              <a:t> de carga do </a:t>
            </a:r>
            <a:r>
              <a:rPr lang="en-US" sz="2400" dirty="0" err="1">
                <a:latin typeface="Arial"/>
                <a:cs typeface="Arial"/>
              </a:rPr>
              <a:t>sistema</a:t>
            </a:r>
            <a:r>
              <a:rPr lang="en-US" sz="2400" dirty="0">
                <a:latin typeface="Arial"/>
                <a:cs typeface="Arial"/>
              </a:rPr>
              <a:t>, com </a:t>
            </a:r>
            <a:r>
              <a:rPr lang="en-US" sz="2400" dirty="0" err="1">
                <a:latin typeface="Arial"/>
                <a:cs typeface="Arial"/>
              </a:rPr>
              <a:t>exceção</a:t>
            </a:r>
            <a:r>
              <a:rPr lang="en-US" sz="2400" dirty="0">
                <a:latin typeface="Arial"/>
                <a:cs typeface="Arial"/>
              </a:rPr>
              <a:t> das </a:t>
            </a:r>
            <a:r>
              <a:rPr lang="en-US" sz="2400" dirty="0" err="1">
                <a:latin typeface="Arial"/>
                <a:cs typeface="Arial"/>
              </a:rPr>
              <a:t>forças</a:t>
            </a:r>
            <a:r>
              <a:rPr lang="en-US" sz="2400" dirty="0">
                <a:latin typeface="Arial"/>
                <a:cs typeface="Arial"/>
              </a:rPr>
              <a:t> </a:t>
            </a:r>
            <a:r>
              <a:rPr lang="en-US" sz="2400" dirty="0" err="1">
                <a:latin typeface="Arial"/>
                <a:cs typeface="Arial"/>
              </a:rPr>
              <a:t>oriundas</a:t>
            </a:r>
            <a:r>
              <a:rPr lang="en-US" sz="2400" dirty="0">
                <a:latin typeface="Arial"/>
                <a:cs typeface="Arial"/>
              </a:rPr>
              <a:t> de </a:t>
            </a:r>
            <a:r>
              <a:rPr lang="en-US" sz="2400" dirty="0" err="1">
                <a:latin typeface="Arial"/>
                <a:cs typeface="Arial"/>
              </a:rPr>
              <a:t>rajadas</a:t>
            </a:r>
            <a:r>
              <a:rPr lang="en-US" sz="2400" dirty="0">
                <a:latin typeface="Arial"/>
                <a:cs typeface="Arial"/>
              </a:rPr>
              <a:t> de </a:t>
            </a:r>
            <a:r>
              <a:rPr lang="en-US" sz="2400" dirty="0" err="1">
                <a:latin typeface="Arial"/>
                <a:cs typeface="Arial"/>
              </a:rPr>
              <a:t>vento</a:t>
            </a:r>
            <a:r>
              <a:rPr lang="en-US" sz="2400" dirty="0">
                <a:latin typeface="Arial"/>
                <a:cs typeface="Arial"/>
              </a:rPr>
              <a:t> </a:t>
            </a:r>
            <a:r>
              <a:rPr lang="en-US" sz="2400" dirty="0" err="1">
                <a:latin typeface="Arial"/>
                <a:cs typeface="Arial"/>
              </a:rPr>
              <a:t>em</a:t>
            </a:r>
            <a:r>
              <a:rPr lang="en-US" sz="2400" dirty="0">
                <a:latin typeface="Arial"/>
                <a:cs typeface="Arial"/>
              </a:rPr>
              <a:t> solo, </a:t>
            </a:r>
            <a:r>
              <a:rPr lang="en-US" sz="2400" dirty="0" err="1">
                <a:latin typeface="Arial"/>
                <a:cs typeface="Arial"/>
              </a:rPr>
              <a:t>não</a:t>
            </a:r>
            <a:r>
              <a:rPr lang="en-US" sz="2400" dirty="0">
                <a:latin typeface="Arial"/>
                <a:cs typeface="Arial"/>
              </a:rPr>
              <a:t> </a:t>
            </a:r>
            <a:r>
              <a:rPr lang="en-US" sz="2400" dirty="0" err="1">
                <a:latin typeface="Arial"/>
                <a:cs typeface="Arial"/>
              </a:rPr>
              <a:t>precisam</a:t>
            </a:r>
            <a:r>
              <a:rPr lang="en-US" sz="2400" dirty="0">
                <a:latin typeface="Arial"/>
                <a:cs typeface="Arial"/>
              </a:rPr>
              <a:t> </a:t>
            </a:r>
            <a:r>
              <a:rPr lang="en-US" sz="2400" dirty="0" err="1">
                <a:latin typeface="Arial"/>
                <a:cs typeface="Arial"/>
              </a:rPr>
              <a:t>superar</a:t>
            </a:r>
            <a:r>
              <a:rPr lang="en-US" sz="2400" dirty="0">
                <a:latin typeface="Arial"/>
                <a:cs typeface="Arial"/>
              </a:rPr>
              <a:t> </a:t>
            </a:r>
            <a:r>
              <a:rPr lang="en-US" sz="2400" dirty="0" err="1">
                <a:latin typeface="Arial"/>
                <a:cs typeface="Arial"/>
              </a:rPr>
              <a:t>aquelas</a:t>
            </a:r>
            <a:r>
              <a:rPr lang="en-US" sz="2400" dirty="0">
                <a:latin typeface="Arial"/>
                <a:cs typeface="Arial"/>
              </a:rPr>
              <a:t> que </a:t>
            </a:r>
            <a:r>
              <a:rPr lang="en-US" sz="2400" dirty="0" err="1">
                <a:latin typeface="Arial"/>
                <a:cs typeface="Arial"/>
              </a:rPr>
              <a:t>podem</a:t>
            </a:r>
            <a:r>
              <a:rPr lang="en-US" sz="2400" dirty="0">
                <a:latin typeface="Arial"/>
                <a:cs typeface="Arial"/>
              </a:rPr>
              <a:t> ser </a:t>
            </a:r>
            <a:r>
              <a:rPr lang="en-US" sz="2400" dirty="0" err="1">
                <a:latin typeface="Arial"/>
                <a:cs typeface="Arial"/>
              </a:rPr>
              <a:t>aplicadas</a:t>
            </a:r>
            <a:r>
              <a:rPr lang="en-US" sz="2400" dirty="0">
                <a:latin typeface="Arial"/>
                <a:cs typeface="Arial"/>
              </a:rPr>
              <a:t> </a:t>
            </a:r>
            <a:r>
              <a:rPr lang="en-US" sz="2400" dirty="0" err="1">
                <a:latin typeface="Arial"/>
                <a:cs typeface="Arial"/>
              </a:rPr>
              <a:t>diretamente</a:t>
            </a:r>
            <a:r>
              <a:rPr lang="en-US" sz="2400" dirty="0">
                <a:latin typeface="Arial"/>
                <a:cs typeface="Arial"/>
              </a:rPr>
              <a:t> </a:t>
            </a:r>
            <a:r>
              <a:rPr lang="en-US" sz="2400" dirty="0" err="1">
                <a:latin typeface="Arial"/>
                <a:cs typeface="Arial"/>
              </a:rPr>
              <a:t>pelo</a:t>
            </a:r>
            <a:r>
              <a:rPr lang="en-US" sz="2400" dirty="0">
                <a:latin typeface="Arial"/>
                <a:cs typeface="Arial"/>
              </a:rPr>
              <a:t>(s) </a:t>
            </a:r>
            <a:r>
              <a:rPr lang="en-US" sz="2400" dirty="0" err="1">
                <a:latin typeface="Arial"/>
                <a:cs typeface="Arial"/>
              </a:rPr>
              <a:t>piloto</a:t>
            </a:r>
            <a:r>
              <a:rPr lang="en-US" sz="2400" dirty="0">
                <a:latin typeface="Arial"/>
                <a:cs typeface="Arial"/>
              </a:rPr>
              <a:t>(s) </a:t>
            </a:r>
            <a:r>
              <a:rPr lang="en-US" sz="2400" dirty="0" err="1">
                <a:latin typeface="Arial"/>
                <a:cs typeface="Arial"/>
              </a:rPr>
              <a:t>ou</a:t>
            </a:r>
            <a:r>
              <a:rPr lang="en-US" sz="2400" dirty="0">
                <a:latin typeface="Arial"/>
                <a:cs typeface="Arial"/>
              </a:rPr>
              <a:t> </a:t>
            </a:r>
            <a:r>
              <a:rPr lang="en-US" sz="2400" dirty="0" err="1">
                <a:latin typeface="Arial"/>
                <a:cs typeface="Arial"/>
              </a:rPr>
              <a:t>pelos</a:t>
            </a:r>
            <a:r>
              <a:rPr lang="en-US" sz="2400" dirty="0">
                <a:latin typeface="Arial"/>
                <a:cs typeface="Arial"/>
              </a:rPr>
              <a:t> </a:t>
            </a:r>
            <a:r>
              <a:rPr lang="en-US" sz="2400" dirty="0" err="1">
                <a:latin typeface="Arial"/>
                <a:cs typeface="Arial"/>
              </a:rPr>
              <a:t>dispositivos</a:t>
            </a:r>
            <a:r>
              <a:rPr lang="en-US" sz="2400" dirty="0">
                <a:latin typeface="Arial"/>
                <a:cs typeface="Arial"/>
              </a:rPr>
              <a:t> </a:t>
            </a:r>
            <a:r>
              <a:rPr lang="en-US" sz="2400" dirty="0" err="1">
                <a:latin typeface="Arial"/>
                <a:cs typeface="Arial"/>
              </a:rPr>
              <a:t>automáticos</a:t>
            </a:r>
            <a:r>
              <a:rPr lang="en-US" sz="2400" dirty="0">
                <a:latin typeface="Arial"/>
                <a:cs typeface="Arial"/>
              </a:rPr>
              <a:t>/</a:t>
            </a:r>
            <a:r>
              <a:rPr lang="en-US" sz="2400" dirty="0" err="1">
                <a:latin typeface="Arial"/>
                <a:cs typeface="Arial"/>
              </a:rPr>
              <a:t>motorizados</a:t>
            </a:r>
            <a:r>
              <a:rPr lang="en-US" sz="2400" dirty="0">
                <a:latin typeface="Arial"/>
                <a:cs typeface="Arial"/>
              </a:rPr>
              <a:t> que </a:t>
            </a:r>
            <a:r>
              <a:rPr lang="en-US" sz="2400" dirty="0" err="1">
                <a:latin typeface="Arial"/>
                <a:cs typeface="Arial"/>
              </a:rPr>
              <a:t>atuam</a:t>
            </a:r>
            <a:r>
              <a:rPr lang="en-US" sz="2400" dirty="0">
                <a:latin typeface="Arial"/>
                <a:cs typeface="Arial"/>
              </a:rPr>
              <a:t> </a:t>
            </a:r>
            <a:r>
              <a:rPr lang="en-US" sz="2400" dirty="0" err="1">
                <a:latin typeface="Arial"/>
                <a:cs typeface="Arial"/>
              </a:rPr>
              <a:t>nos</a:t>
            </a:r>
            <a:r>
              <a:rPr lang="en-US" sz="2400" dirty="0">
                <a:latin typeface="Arial"/>
                <a:cs typeface="Arial"/>
              </a:rPr>
              <a:t> </a:t>
            </a:r>
            <a:r>
              <a:rPr lang="en-US" sz="2400" dirty="0" err="1">
                <a:latin typeface="Arial"/>
                <a:cs typeface="Arial"/>
              </a:rPr>
              <a:t>controles</a:t>
            </a:r>
            <a:r>
              <a:rPr lang="en-US" sz="2400" dirty="0">
                <a:latin typeface="Arial"/>
                <a:cs typeface="Arial"/>
              </a:rPr>
              <a:t>. </a:t>
            </a:r>
            <a:endParaRPr lang="en-US" sz="2400">
              <a:latin typeface="Arial"/>
              <a:cs typeface="Arial"/>
            </a:endParaRPr>
          </a:p>
          <a:p>
            <a:pPr marL="285750" indent="-285750">
              <a:buFont typeface="Arial" panose="020B0604020202020204" pitchFamily="34" charset="0"/>
              <a:buChar char="•"/>
            </a:pPr>
            <a:endParaRPr lang="en-US" sz="2400" dirty="0">
              <a:latin typeface="Arial"/>
              <a:cs typeface="Arial"/>
            </a:endParaRPr>
          </a:p>
          <a:p>
            <a:pPr marL="285750" indent="-285750">
              <a:buFont typeface="Arial" panose="020B0604020202020204" pitchFamily="34" charset="0"/>
              <a:buChar char="•"/>
            </a:pPr>
            <a:r>
              <a:rPr lang="en-US" sz="2400" dirty="0">
                <a:latin typeface="Arial"/>
                <a:cs typeface="Arial"/>
              </a:rPr>
              <a:t>As cargas </a:t>
            </a:r>
            <a:r>
              <a:rPr lang="en-US" sz="2400" dirty="0" err="1">
                <a:latin typeface="Arial"/>
                <a:cs typeface="Arial"/>
              </a:rPr>
              <a:t>não</a:t>
            </a:r>
            <a:r>
              <a:rPr lang="en-US" sz="2400" dirty="0">
                <a:latin typeface="Arial"/>
                <a:cs typeface="Arial"/>
              </a:rPr>
              <a:t> </a:t>
            </a:r>
            <a:r>
              <a:rPr lang="en-US" sz="2400" dirty="0" err="1">
                <a:latin typeface="Arial"/>
                <a:cs typeface="Arial"/>
              </a:rPr>
              <a:t>podem</a:t>
            </a:r>
            <a:r>
              <a:rPr lang="en-US" sz="2400" dirty="0">
                <a:latin typeface="Arial"/>
                <a:cs typeface="Arial"/>
              </a:rPr>
              <a:t> ser </a:t>
            </a:r>
            <a:r>
              <a:rPr lang="en-US" sz="2400" dirty="0" err="1">
                <a:latin typeface="Arial"/>
                <a:cs typeface="Arial"/>
              </a:rPr>
              <a:t>inferiores</a:t>
            </a:r>
            <a:r>
              <a:rPr lang="en-US" sz="2400" dirty="0">
                <a:latin typeface="Arial"/>
                <a:cs typeface="Arial"/>
              </a:rPr>
              <a:t> </a:t>
            </a:r>
            <a:r>
              <a:rPr lang="en-US" sz="2400" dirty="0" err="1">
                <a:latin typeface="Arial"/>
                <a:cs typeface="Arial"/>
              </a:rPr>
              <a:t>às</a:t>
            </a:r>
            <a:r>
              <a:rPr lang="en-US" sz="2400" dirty="0">
                <a:latin typeface="Arial"/>
                <a:cs typeface="Arial"/>
              </a:rPr>
              <a:t> </a:t>
            </a:r>
            <a:r>
              <a:rPr lang="en-US" sz="2400" dirty="0" err="1">
                <a:latin typeface="Arial"/>
                <a:cs typeface="Arial"/>
              </a:rPr>
              <a:t>geradas</a:t>
            </a:r>
            <a:r>
              <a:rPr lang="en-US" sz="2400" dirty="0">
                <a:latin typeface="Arial"/>
                <a:cs typeface="Arial"/>
              </a:rPr>
              <a:t> pela </a:t>
            </a:r>
            <a:r>
              <a:rPr lang="en-US" sz="2400" dirty="0" err="1">
                <a:latin typeface="Arial"/>
                <a:cs typeface="Arial"/>
              </a:rPr>
              <a:t>aplicação</a:t>
            </a:r>
            <a:r>
              <a:rPr lang="en-US" sz="2400" dirty="0">
                <a:latin typeface="Arial"/>
                <a:cs typeface="Arial"/>
              </a:rPr>
              <a:t> das </a:t>
            </a:r>
            <a:r>
              <a:rPr lang="en-US" sz="2400" dirty="0" err="1">
                <a:latin typeface="Arial"/>
                <a:cs typeface="Arial"/>
              </a:rPr>
              <a:t>forças</a:t>
            </a:r>
            <a:r>
              <a:rPr lang="en-US" sz="2400" dirty="0">
                <a:latin typeface="Arial"/>
                <a:cs typeface="Arial"/>
              </a:rPr>
              <a:t> </a:t>
            </a:r>
            <a:r>
              <a:rPr lang="en-US" sz="2400" dirty="0" err="1">
                <a:latin typeface="Arial"/>
                <a:cs typeface="Arial"/>
              </a:rPr>
              <a:t>mínimas</a:t>
            </a:r>
            <a:r>
              <a:rPr lang="en-US" sz="2400" dirty="0">
                <a:latin typeface="Arial"/>
                <a:cs typeface="Arial"/>
              </a:rPr>
              <a:t> </a:t>
            </a:r>
            <a:r>
              <a:rPr lang="en-US" sz="2400" dirty="0" err="1">
                <a:latin typeface="Arial"/>
                <a:cs typeface="Arial"/>
              </a:rPr>
              <a:t>previstas</a:t>
            </a:r>
            <a:r>
              <a:rPr lang="en-US" sz="2400" dirty="0">
                <a:latin typeface="Arial"/>
                <a:cs typeface="Arial"/>
              </a:rPr>
              <a:t> </a:t>
            </a:r>
            <a:r>
              <a:rPr lang="en-US" sz="2400" dirty="0" err="1">
                <a:latin typeface="Arial"/>
                <a:cs typeface="Arial"/>
              </a:rPr>
              <a:t>na</a:t>
            </a:r>
            <a:r>
              <a:rPr lang="en-US" sz="2400" dirty="0">
                <a:latin typeface="Arial"/>
                <a:cs typeface="Arial"/>
              </a:rPr>
              <a:t> </a:t>
            </a:r>
            <a:r>
              <a:rPr lang="en-US" sz="2400" dirty="0" err="1">
                <a:latin typeface="Arial"/>
                <a:cs typeface="Arial"/>
              </a:rPr>
              <a:t>seção</a:t>
            </a:r>
            <a:r>
              <a:rPr lang="en-US" sz="2400" dirty="0">
                <a:latin typeface="Arial"/>
                <a:cs typeface="Arial"/>
              </a:rPr>
              <a:t> §25.397(c).</a:t>
            </a:r>
          </a:p>
        </p:txBody>
      </p:sp>
      <p:sp>
        <p:nvSpPr>
          <p:cNvPr id="12" name="CaixaDeTexto 11">
            <a:extLst>
              <a:ext uri="{FF2B5EF4-FFF2-40B4-BE49-F238E27FC236}">
                <a16:creationId xmlns:a16="http://schemas.microsoft.com/office/drawing/2014/main" id="{9782BFDE-1267-47B4-4D38-22BB3C09F513}"/>
              </a:ext>
            </a:extLst>
          </p:cNvPr>
          <p:cNvSpPr txBox="1"/>
          <p:nvPr/>
        </p:nvSpPr>
        <p:spPr>
          <a:xfrm>
            <a:off x="2835058" y="1258866"/>
            <a:ext cx="73673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Arial"/>
                <a:cs typeface="Arial"/>
              </a:rPr>
              <a:t>Requisitos de Projeto para Sistemas de Controle </a:t>
            </a:r>
            <a:endParaRPr lang="pt-BR" sz="2400">
              <a:latin typeface="Arial"/>
              <a:cs typeface="Arial"/>
            </a:endParaRPr>
          </a:p>
        </p:txBody>
      </p:sp>
    </p:spTree>
    <p:extLst>
      <p:ext uri="{BB962C8B-B14F-4D97-AF65-F5344CB8AC3E}">
        <p14:creationId xmlns:p14="http://schemas.microsoft.com/office/powerpoint/2010/main" val="3353036885"/>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38641-6410-FE0C-4080-7DBA3B868C66}"/>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973215FA-52E1-0691-033D-DC9BF925EF1D}"/>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C3DA5D38-C665-E65E-823C-EF88718F5D15}"/>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3</a:t>
            </a:r>
            <a:endParaRPr kumimoji="0" lang="pt-BR" sz="2000" b="1"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C0E91B4B-E040-1394-5F71-2EA6946DFFC1}"/>
              </a:ext>
            </a:extLst>
          </p:cNvPr>
          <p:cNvSpPr txBox="1"/>
          <p:nvPr/>
        </p:nvSpPr>
        <p:spPr>
          <a:xfrm>
            <a:off x="204278" y="564779"/>
            <a:ext cx="3142207" cy="307777"/>
          </a:xfrm>
          <a:prstGeom prst="rect">
            <a:avLst/>
          </a:prstGeom>
          <a:noFill/>
        </p:spPr>
        <p:txBody>
          <a:bodyPr wrap="none" lIns="91440" tIns="45720" rIns="91440" bIns="45720" rtlCol="0" anchor="t">
            <a:spAutoFit/>
          </a:bodyPr>
          <a:lstStyle/>
          <a:p>
            <a:r>
              <a:rPr lang="pt-BR" sz="1400" u="sng">
                <a:solidFill>
                  <a:srgbClr val="0070C0"/>
                </a:solidFill>
                <a:latin typeface="Arial"/>
                <a:cs typeface="Arial"/>
              </a:rPr>
              <a:t>Slide 3.2- RBAC 25, §25.675 – </a:t>
            </a:r>
            <a:r>
              <a:rPr lang="pt-BR" sz="1400" u="sng" err="1">
                <a:solidFill>
                  <a:srgbClr val="0070C0"/>
                </a:solidFill>
                <a:latin typeface="Arial"/>
                <a:cs typeface="Arial"/>
              </a:rPr>
              <a:t>Stops</a:t>
            </a:r>
          </a:p>
        </p:txBody>
      </p:sp>
      <p:sp>
        <p:nvSpPr>
          <p:cNvPr id="8" name="CaixaDeTexto 7">
            <a:extLst>
              <a:ext uri="{FF2B5EF4-FFF2-40B4-BE49-F238E27FC236}">
                <a16:creationId xmlns:a16="http://schemas.microsoft.com/office/drawing/2014/main" id="{6C5C2166-84FD-6826-DC2B-4784667C76E4}"/>
              </a:ext>
            </a:extLst>
          </p:cNvPr>
          <p:cNvSpPr txBox="1"/>
          <p:nvPr/>
        </p:nvSpPr>
        <p:spPr>
          <a:xfrm>
            <a:off x="10278139" y="-19291"/>
            <a:ext cx="1833755" cy="646331"/>
          </a:xfrm>
          <a:prstGeom prst="rect">
            <a:avLst/>
          </a:prstGeom>
          <a:noFill/>
        </p:spPr>
        <p:txBody>
          <a:bodyPr wrap="square" lIns="91440" tIns="45720" rIns="91440" bIns="45720" rtlCol="0" anchor="t">
            <a:spAutoFit/>
          </a:bodyPr>
          <a:lstStyle/>
          <a:p>
            <a:pPr algn="ctr">
              <a:defRPr/>
            </a:pPr>
            <a:r>
              <a:rPr lang="pt-BR" u="sng" dirty="0">
                <a:solidFill>
                  <a:srgbClr val="0070C0"/>
                </a:solidFill>
                <a:latin typeface="Aptos" panose="02110004020202020204"/>
              </a:rPr>
              <a:t>Resp.: Isabela Soares</a:t>
            </a:r>
            <a:endParaRPr lang="pt-BR" u="sng" dirty="0">
              <a:solidFill>
                <a:srgbClr val="0070C0"/>
              </a:solidFill>
            </a:endParaRPr>
          </a:p>
        </p:txBody>
      </p:sp>
      <p:sp>
        <p:nvSpPr>
          <p:cNvPr id="9" name="CaixaDeTexto 8">
            <a:extLst>
              <a:ext uri="{FF2B5EF4-FFF2-40B4-BE49-F238E27FC236}">
                <a16:creationId xmlns:a16="http://schemas.microsoft.com/office/drawing/2014/main" id="{0A1FD284-2236-79C1-4D9E-21E17296DD9C}"/>
              </a:ext>
            </a:extLst>
          </p:cNvPr>
          <p:cNvSpPr txBox="1"/>
          <p:nvPr/>
        </p:nvSpPr>
        <p:spPr>
          <a:xfrm>
            <a:off x="1608667" y="-18398"/>
            <a:ext cx="8669433" cy="738664"/>
          </a:xfrm>
          <a:prstGeom prst="rect">
            <a:avLst/>
          </a:prstGeom>
          <a:noFill/>
        </p:spPr>
        <p:txBody>
          <a:bodyPr wrap="square" lIns="91440" tIns="45720" rIns="91440" bIns="45720" rtlCol="0" anchor="t">
            <a:spAutoFit/>
          </a:bodyPr>
          <a:lstStyle/>
          <a:p>
            <a:pPr>
              <a:defRPr/>
            </a:pPr>
            <a:r>
              <a:rPr lang="pt-BR" sz="1400" dirty="0">
                <a:solidFill>
                  <a:srgbClr val="0B78A2"/>
                </a:solidFill>
                <a:latin typeface="Arial"/>
                <a:cs typeface="Arial"/>
              </a:rPr>
              <a:t>Requisitos de Projeto aplicáveis a Sistemas de Comandos de Voo: Desenvolva</a:t>
            </a:r>
            <a:r>
              <a:rPr lang="pt-BR" sz="1400" dirty="0">
                <a:solidFill>
                  <a:srgbClr val="0B78A2"/>
                </a:solidFill>
                <a:latin typeface="Arial"/>
                <a:ea typeface="Calibri"/>
                <a:cs typeface="Arial"/>
              </a:rPr>
              <a:t> uma árvore de falhas qualitativa e quantitativa[1] do Sistema de Compensação do Estabilizador Horizontal</a:t>
            </a:r>
            <a:endParaRPr lang="pt-BR" sz="1400" dirty="0">
              <a:solidFill>
                <a:srgbClr val="0B78A2"/>
              </a:solidFill>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5AC7AE90-73F7-9ECC-EBED-ED79276C23B9}"/>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11" name="CaixaDeTexto 10">
            <a:extLst>
              <a:ext uri="{FF2B5EF4-FFF2-40B4-BE49-F238E27FC236}">
                <a16:creationId xmlns:a16="http://schemas.microsoft.com/office/drawing/2014/main" id="{A174B80B-826E-C0D1-D6C2-04D880ED7976}"/>
              </a:ext>
            </a:extLst>
          </p:cNvPr>
          <p:cNvSpPr txBox="1"/>
          <p:nvPr/>
        </p:nvSpPr>
        <p:spPr>
          <a:xfrm>
            <a:off x="488083" y="2237016"/>
            <a:ext cx="10911466"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pt-BR" sz="2400" dirty="0">
                <a:latin typeface="Arial"/>
                <a:cs typeface="Arial"/>
              </a:rPr>
              <a:t>• Cada sistema de controle deve possuir limitadores que restrinjam de forma positiva o alcance de movimento de cada superfície aerodinâmica móvel associada ao sistema.</a:t>
            </a:r>
            <a:endParaRPr lang="en-US" sz="2400" dirty="0">
              <a:latin typeface="Arial"/>
              <a:cs typeface="Arial"/>
            </a:endParaRPr>
          </a:p>
          <a:p>
            <a:pPr algn="just"/>
            <a:endParaRPr lang="pt-BR" sz="2400" dirty="0">
              <a:latin typeface="Arial"/>
              <a:cs typeface="Arial"/>
            </a:endParaRPr>
          </a:p>
          <a:p>
            <a:pPr algn="just"/>
            <a:r>
              <a:rPr lang="pt-BR" sz="2400" dirty="0">
                <a:latin typeface="Arial"/>
                <a:cs typeface="Arial"/>
              </a:rPr>
              <a:t>• Cada limitador deve estar instalado de maneira que desgaste, folga ou ajustes de compensação não comprometam as características de controle da aeronave em função de alterações no alcance de movimento da superfície. </a:t>
            </a:r>
            <a:endParaRPr lang="en-US" sz="2400">
              <a:latin typeface="Arial"/>
              <a:cs typeface="Arial"/>
            </a:endParaRPr>
          </a:p>
          <a:p>
            <a:pPr algn="just"/>
            <a:endParaRPr lang="pt-BR" sz="2400" dirty="0">
              <a:latin typeface="Arial"/>
              <a:cs typeface="Arial"/>
            </a:endParaRPr>
          </a:p>
          <a:p>
            <a:pPr algn="just"/>
            <a:r>
              <a:rPr lang="pt-BR" sz="2400" dirty="0">
                <a:latin typeface="Arial"/>
                <a:cs typeface="Arial"/>
              </a:rPr>
              <a:t>• Cada limitador deve ser capaz de suportar todas as cargas previstas nas condições de projeto do respectivo sistema de controle.</a:t>
            </a:r>
            <a:endParaRPr lang="en-US" sz="2400">
              <a:latin typeface="Arial"/>
              <a:cs typeface="Arial"/>
            </a:endParaRPr>
          </a:p>
        </p:txBody>
      </p:sp>
      <p:sp>
        <p:nvSpPr>
          <p:cNvPr id="4" name="CaixaDeTexto 3">
            <a:extLst>
              <a:ext uri="{FF2B5EF4-FFF2-40B4-BE49-F238E27FC236}">
                <a16:creationId xmlns:a16="http://schemas.microsoft.com/office/drawing/2014/main" id="{1AC78D7E-35C8-E620-2EC8-827635F24CBE}"/>
              </a:ext>
            </a:extLst>
          </p:cNvPr>
          <p:cNvSpPr txBox="1"/>
          <p:nvPr/>
        </p:nvSpPr>
        <p:spPr>
          <a:xfrm>
            <a:off x="2908125" y="1352811"/>
            <a:ext cx="756571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2400" dirty="0">
                <a:latin typeface="Arial"/>
                <a:cs typeface="Arial"/>
              </a:rPr>
              <a:t>Requisitos para Limitadores de Sistemas de Controle </a:t>
            </a:r>
          </a:p>
        </p:txBody>
      </p:sp>
    </p:spTree>
    <p:extLst>
      <p:ext uri="{BB962C8B-B14F-4D97-AF65-F5344CB8AC3E}">
        <p14:creationId xmlns:p14="http://schemas.microsoft.com/office/powerpoint/2010/main" val="2941079024"/>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8E876-618E-FDDE-684F-5EDE87B28F00}"/>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049033A3-C374-481F-2BEC-2261C305AE41}"/>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75D8A48C-067A-3B05-C808-03897EA3BB1D}"/>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3</a:t>
            </a:r>
            <a:endParaRPr lang="en-US" sz="2000" b="1" i="0" u="none" strike="noStrike" kern="1200" cap="none" spc="0" normalizeH="0" baseline="0" noProof="0" dirty="0">
              <a:ln>
                <a:noFill/>
              </a:ln>
              <a:solidFill>
                <a:srgbClr val="0070C0"/>
              </a:solidFill>
              <a:effectLst/>
              <a:uLnTx/>
              <a:uFillTx/>
              <a:latin typeface="Arial" panose="020B0604020202020204" pitchFamily="34" charset="0"/>
              <a:cs typeface="Arial" panose="020B0604020202020204" pitchFamily="34" charset="0"/>
            </a:endParaRPr>
          </a:p>
        </p:txBody>
      </p:sp>
      <p:sp>
        <p:nvSpPr>
          <p:cNvPr id="6" name="CaixaDeTexto 5">
            <a:extLst>
              <a:ext uri="{FF2B5EF4-FFF2-40B4-BE49-F238E27FC236}">
                <a16:creationId xmlns:a16="http://schemas.microsoft.com/office/drawing/2014/main" id="{05E91F8B-0997-E203-F636-90CA882F74D2}"/>
              </a:ext>
            </a:extLst>
          </p:cNvPr>
          <p:cNvSpPr txBox="1"/>
          <p:nvPr/>
        </p:nvSpPr>
        <p:spPr>
          <a:xfrm>
            <a:off x="204278" y="564779"/>
            <a:ext cx="3768660" cy="307777"/>
          </a:xfrm>
          <a:prstGeom prst="rect">
            <a:avLst/>
          </a:prstGeom>
          <a:noFill/>
        </p:spPr>
        <p:txBody>
          <a:bodyPr wrap="none" lIns="91440" tIns="45720" rIns="91440" bIns="45720" rtlCol="0" anchor="t">
            <a:spAutoFit/>
          </a:bodyPr>
          <a:lstStyle/>
          <a:p>
            <a:r>
              <a:rPr lang="pt-BR" sz="1400" u="sng" dirty="0">
                <a:solidFill>
                  <a:srgbClr val="0070C0"/>
                </a:solidFill>
                <a:latin typeface="Arial"/>
                <a:cs typeface="Arial"/>
              </a:rPr>
              <a:t>Slide 3.3- RBAC 25, §25.677 – </a:t>
            </a:r>
            <a:r>
              <a:rPr lang="pt-BR" sz="1400" u="sng" dirty="0" err="1">
                <a:solidFill>
                  <a:srgbClr val="0070C0"/>
                </a:solidFill>
                <a:latin typeface="Arial"/>
                <a:cs typeface="Arial"/>
              </a:rPr>
              <a:t>Trim</a:t>
            </a:r>
            <a:r>
              <a:rPr lang="pt-BR" sz="1400" u="sng" dirty="0">
                <a:solidFill>
                  <a:srgbClr val="0070C0"/>
                </a:solidFill>
                <a:latin typeface="Arial"/>
                <a:cs typeface="Arial"/>
              </a:rPr>
              <a:t> Systems</a:t>
            </a:r>
            <a:endParaRPr lang="pt-BR" sz="1200" i="1" dirty="0">
              <a:solidFill>
                <a:srgbClr val="242424"/>
              </a:solidFill>
              <a:latin typeface="Aptos"/>
              <a:cs typeface="Arial"/>
            </a:endParaRPr>
          </a:p>
        </p:txBody>
      </p:sp>
      <p:sp>
        <p:nvSpPr>
          <p:cNvPr id="8" name="CaixaDeTexto 7">
            <a:extLst>
              <a:ext uri="{FF2B5EF4-FFF2-40B4-BE49-F238E27FC236}">
                <a16:creationId xmlns:a16="http://schemas.microsoft.com/office/drawing/2014/main" id="{B0A84CD7-C7A2-D7E1-2AAD-5E38610DB4CC}"/>
              </a:ext>
            </a:extLst>
          </p:cNvPr>
          <p:cNvSpPr txBox="1"/>
          <p:nvPr/>
        </p:nvSpPr>
        <p:spPr>
          <a:xfrm>
            <a:off x="10143102" y="0"/>
            <a:ext cx="1968792" cy="646331"/>
          </a:xfrm>
          <a:prstGeom prst="rect">
            <a:avLst/>
          </a:prstGeom>
          <a:noFill/>
        </p:spPr>
        <p:txBody>
          <a:bodyPr wrap="square" lIns="91440" tIns="45720" rIns="91440" bIns="45720" rtlCol="0" anchor="t">
            <a:spAutoFit/>
          </a:bodyPr>
          <a:lstStyle/>
          <a:p>
            <a:pPr algn="ctr">
              <a:defRPr/>
            </a:pPr>
            <a:r>
              <a:rPr lang="pt-BR" u="sng" dirty="0" err="1">
                <a:solidFill>
                  <a:srgbClr val="0070C0"/>
                </a:solidFill>
                <a:latin typeface="Aptos" panose="02110004020202020204"/>
              </a:rPr>
              <a:t>Resp.:Guilherme</a:t>
            </a:r>
            <a:r>
              <a:rPr lang="pt-BR" u="sng" dirty="0">
                <a:solidFill>
                  <a:srgbClr val="0070C0"/>
                </a:solidFill>
                <a:latin typeface="Aptos" panose="02110004020202020204"/>
              </a:rPr>
              <a:t> Andrew</a:t>
            </a:r>
            <a:endParaRPr lang="pt-BR"/>
          </a:p>
        </p:txBody>
      </p:sp>
      <p:sp>
        <p:nvSpPr>
          <p:cNvPr id="9" name="CaixaDeTexto 8">
            <a:extLst>
              <a:ext uri="{FF2B5EF4-FFF2-40B4-BE49-F238E27FC236}">
                <a16:creationId xmlns:a16="http://schemas.microsoft.com/office/drawing/2014/main" id="{CFA096E2-110E-F869-1E91-568D070DCCBC}"/>
              </a:ext>
            </a:extLst>
          </p:cNvPr>
          <p:cNvSpPr txBox="1"/>
          <p:nvPr/>
        </p:nvSpPr>
        <p:spPr>
          <a:xfrm>
            <a:off x="1608667" y="-18398"/>
            <a:ext cx="8669433" cy="523220"/>
          </a:xfrm>
          <a:prstGeom prst="rect">
            <a:avLst/>
          </a:prstGeom>
          <a:noFill/>
        </p:spPr>
        <p:txBody>
          <a:bodyPr wrap="square" lIns="91440" tIns="45720" rIns="91440" bIns="45720" rtlCol="0" anchor="t">
            <a:spAutoFit/>
          </a:bodyPr>
          <a:lstStyle/>
          <a:p>
            <a:pPr>
              <a:defRPr/>
            </a:pPr>
            <a:r>
              <a:rPr lang="pt-BR" sz="1400" dirty="0">
                <a:solidFill>
                  <a:srgbClr val="0B78A2"/>
                </a:solidFill>
                <a:latin typeface="Arial"/>
                <a:cs typeface="Arial"/>
              </a:rPr>
              <a:t>Requisitos de Projeto aplicáveis a Sistemas de Comandos de Voo: Desenvolva</a:t>
            </a:r>
            <a:r>
              <a:rPr lang="pt-BR" sz="1400" dirty="0">
                <a:solidFill>
                  <a:srgbClr val="0B78A2"/>
                </a:solidFill>
                <a:latin typeface="Arial"/>
                <a:ea typeface="Calibri"/>
                <a:cs typeface="Arial"/>
              </a:rPr>
              <a:t> uma árvore de falhas qualitativa e quantitativa[1] do Sistema de Compensação do Estabilizador Horizontal</a:t>
            </a:r>
            <a:endParaRPr lang="pt-BR" sz="1400" dirty="0">
              <a:solidFill>
                <a:srgbClr val="0B78A2"/>
              </a:solidFill>
              <a:latin typeface="Arial"/>
              <a:cs typeface="Arial"/>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A40CF537-257A-8659-E4E3-28E377B4BF7C}"/>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4" name="CaixaDeTexto 3">
            <a:extLst>
              <a:ext uri="{FF2B5EF4-FFF2-40B4-BE49-F238E27FC236}">
                <a16:creationId xmlns:a16="http://schemas.microsoft.com/office/drawing/2014/main" id="{E6D2AFBB-9200-F004-E88F-F33701B2DCF3}"/>
              </a:ext>
            </a:extLst>
          </p:cNvPr>
          <p:cNvSpPr txBox="1"/>
          <p:nvPr/>
        </p:nvSpPr>
        <p:spPr>
          <a:xfrm>
            <a:off x="578224" y="1878105"/>
            <a:ext cx="10564904" cy="48320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latin typeface="Arial"/>
                <a:cs typeface="Arial"/>
              </a:rPr>
              <a:t>•  </a:t>
            </a:r>
            <a:r>
              <a:rPr lang="en-US" sz="2200" dirty="0" err="1">
                <a:latin typeface="Arial"/>
                <a:cs typeface="Arial"/>
              </a:rPr>
              <a:t>Os</a:t>
            </a:r>
            <a:r>
              <a:rPr lang="en-US" sz="2200" dirty="0">
                <a:latin typeface="Arial"/>
                <a:cs typeface="Arial"/>
              </a:rPr>
              <a:t> </a:t>
            </a:r>
            <a:r>
              <a:rPr lang="en-US" sz="2200" dirty="0" err="1">
                <a:latin typeface="Arial"/>
                <a:cs typeface="Arial"/>
              </a:rPr>
              <a:t>controles</a:t>
            </a:r>
            <a:r>
              <a:rPr lang="en-US" sz="2200" dirty="0">
                <a:latin typeface="Arial"/>
                <a:cs typeface="Arial"/>
              </a:rPr>
              <a:t> de </a:t>
            </a:r>
            <a:r>
              <a:rPr lang="en-US" sz="2200" dirty="0" err="1">
                <a:latin typeface="Arial"/>
                <a:cs typeface="Arial"/>
              </a:rPr>
              <a:t>compensação</a:t>
            </a:r>
            <a:r>
              <a:rPr lang="en-US" sz="2200" dirty="0">
                <a:latin typeface="Arial"/>
                <a:cs typeface="Arial"/>
              </a:rPr>
              <a:t> </a:t>
            </a:r>
            <a:r>
              <a:rPr lang="en-US" sz="2200" dirty="0" err="1">
                <a:latin typeface="Arial"/>
                <a:cs typeface="Arial"/>
              </a:rPr>
              <a:t>devem</a:t>
            </a:r>
            <a:r>
              <a:rPr lang="en-US" sz="2200" dirty="0">
                <a:latin typeface="Arial"/>
                <a:cs typeface="Arial"/>
              </a:rPr>
              <a:t> ser </a:t>
            </a:r>
            <a:r>
              <a:rPr lang="en-US" sz="2200" dirty="0" err="1">
                <a:latin typeface="Arial"/>
                <a:cs typeface="Arial"/>
              </a:rPr>
              <a:t>projetados</a:t>
            </a:r>
            <a:r>
              <a:rPr lang="en-US" sz="2200" dirty="0">
                <a:latin typeface="Arial"/>
                <a:cs typeface="Arial"/>
              </a:rPr>
              <a:t> de forma a </a:t>
            </a:r>
            <a:r>
              <a:rPr lang="en-US" sz="2200" dirty="0" err="1">
                <a:latin typeface="Arial"/>
                <a:cs typeface="Arial"/>
              </a:rPr>
              <a:t>evitar</a:t>
            </a:r>
            <a:r>
              <a:rPr lang="en-US" sz="2200" dirty="0">
                <a:latin typeface="Arial"/>
                <a:cs typeface="Arial"/>
              </a:rPr>
              <a:t> </a:t>
            </a:r>
            <a:r>
              <a:rPr lang="en-US" sz="2200" dirty="0" err="1">
                <a:latin typeface="Arial"/>
                <a:cs typeface="Arial"/>
              </a:rPr>
              <a:t>operações</a:t>
            </a:r>
            <a:r>
              <a:rPr lang="en-US" sz="2200" dirty="0">
                <a:latin typeface="Arial"/>
                <a:cs typeface="Arial"/>
              </a:rPr>
              <a:t> </a:t>
            </a:r>
            <a:r>
              <a:rPr lang="en-US" sz="2200" dirty="0" err="1">
                <a:latin typeface="Arial"/>
                <a:cs typeface="Arial"/>
              </a:rPr>
              <a:t>inadvertidas</a:t>
            </a:r>
            <a:r>
              <a:rPr lang="en-US" sz="2200" dirty="0">
                <a:latin typeface="Arial"/>
                <a:cs typeface="Arial"/>
              </a:rPr>
              <a:t> </a:t>
            </a:r>
            <a:r>
              <a:rPr lang="en-US" sz="2200" dirty="0" err="1">
                <a:latin typeface="Arial"/>
                <a:cs typeface="Arial"/>
              </a:rPr>
              <a:t>ou</a:t>
            </a:r>
            <a:r>
              <a:rPr lang="en-US" sz="2200" dirty="0">
                <a:latin typeface="Arial"/>
                <a:cs typeface="Arial"/>
              </a:rPr>
              <a:t> </a:t>
            </a:r>
            <a:r>
              <a:rPr lang="en-US" sz="2200" dirty="0" err="1">
                <a:latin typeface="Arial"/>
                <a:cs typeface="Arial"/>
              </a:rPr>
              <a:t>abruptas</a:t>
            </a:r>
            <a:r>
              <a:rPr lang="en-US" sz="2200" dirty="0">
                <a:latin typeface="Arial"/>
                <a:cs typeface="Arial"/>
              </a:rPr>
              <a:t> e a </a:t>
            </a:r>
            <a:r>
              <a:rPr lang="en-US" sz="2200" dirty="0" err="1">
                <a:latin typeface="Arial"/>
                <a:cs typeface="Arial"/>
              </a:rPr>
              <a:t>funcionar</a:t>
            </a:r>
            <a:r>
              <a:rPr lang="en-US" sz="2200" dirty="0">
                <a:latin typeface="Arial"/>
                <a:cs typeface="Arial"/>
              </a:rPr>
              <a:t> no </a:t>
            </a:r>
            <a:r>
              <a:rPr lang="en-US" sz="2200" dirty="0" err="1">
                <a:latin typeface="Arial"/>
                <a:cs typeface="Arial"/>
              </a:rPr>
              <a:t>mesmo</a:t>
            </a:r>
            <a:r>
              <a:rPr lang="en-US" sz="2200" dirty="0">
                <a:latin typeface="Arial"/>
                <a:cs typeface="Arial"/>
              </a:rPr>
              <a:t> plano e </a:t>
            </a:r>
            <a:r>
              <a:rPr lang="en-US" sz="2200" dirty="0" err="1">
                <a:latin typeface="Arial"/>
                <a:cs typeface="Arial"/>
              </a:rPr>
              <a:t>sentido</a:t>
            </a:r>
            <a:r>
              <a:rPr lang="en-US" sz="2200" dirty="0">
                <a:latin typeface="Arial"/>
                <a:cs typeface="Arial"/>
              </a:rPr>
              <a:t> do </a:t>
            </a:r>
            <a:r>
              <a:rPr lang="en-US" sz="2200" dirty="0" err="1">
                <a:latin typeface="Arial"/>
                <a:cs typeface="Arial"/>
              </a:rPr>
              <a:t>movimento</a:t>
            </a:r>
            <a:r>
              <a:rPr lang="en-US" sz="2200" dirty="0">
                <a:latin typeface="Arial"/>
                <a:cs typeface="Arial"/>
              </a:rPr>
              <a:t> da </a:t>
            </a:r>
            <a:r>
              <a:rPr lang="en-US" sz="2200" dirty="0" err="1">
                <a:latin typeface="Arial"/>
                <a:cs typeface="Arial"/>
              </a:rPr>
              <a:t>aeronave</a:t>
            </a:r>
            <a:r>
              <a:rPr lang="en-US" sz="2200" dirty="0">
                <a:latin typeface="Arial"/>
                <a:cs typeface="Arial"/>
              </a:rPr>
              <a:t>. </a:t>
            </a:r>
            <a:endParaRPr lang="pt-BR" sz="2200">
              <a:latin typeface="Arial"/>
              <a:cs typeface="Arial"/>
            </a:endParaRPr>
          </a:p>
          <a:p>
            <a:endParaRPr lang="en-US" sz="2200" dirty="0">
              <a:latin typeface="Arial"/>
              <a:cs typeface="Arial"/>
            </a:endParaRPr>
          </a:p>
          <a:p>
            <a:r>
              <a:rPr lang="en-US" sz="2200" dirty="0">
                <a:latin typeface="Arial"/>
                <a:cs typeface="Arial"/>
              </a:rPr>
              <a:t>• </a:t>
            </a:r>
            <a:r>
              <a:rPr lang="en-US" sz="2200" err="1">
                <a:latin typeface="Arial"/>
                <a:cs typeface="Arial"/>
              </a:rPr>
              <a:t>Devem</a:t>
            </a:r>
            <a:r>
              <a:rPr lang="en-US" sz="2200" dirty="0">
                <a:latin typeface="Arial"/>
                <a:cs typeface="Arial"/>
              </a:rPr>
              <a:t> </a:t>
            </a:r>
            <a:r>
              <a:rPr lang="en-US" sz="2200" err="1">
                <a:latin typeface="Arial"/>
                <a:cs typeface="Arial"/>
              </a:rPr>
              <a:t>existir</a:t>
            </a:r>
            <a:r>
              <a:rPr lang="en-US" sz="2200" dirty="0">
                <a:latin typeface="Arial"/>
                <a:cs typeface="Arial"/>
              </a:rPr>
              <a:t> </a:t>
            </a:r>
            <a:r>
              <a:rPr lang="en-US" sz="2200" err="1">
                <a:latin typeface="Arial"/>
                <a:cs typeface="Arial"/>
              </a:rPr>
              <a:t>meios</a:t>
            </a:r>
            <a:r>
              <a:rPr lang="en-US" sz="2200" dirty="0">
                <a:latin typeface="Arial"/>
                <a:cs typeface="Arial"/>
              </a:rPr>
              <a:t> </a:t>
            </a:r>
            <a:r>
              <a:rPr lang="en-US" sz="2200" err="1">
                <a:latin typeface="Arial"/>
                <a:cs typeface="Arial"/>
              </a:rPr>
              <a:t>próximos</a:t>
            </a:r>
            <a:r>
              <a:rPr lang="en-US" sz="2200" dirty="0">
                <a:latin typeface="Arial"/>
                <a:cs typeface="Arial"/>
              </a:rPr>
              <a:t> </a:t>
            </a:r>
            <a:r>
              <a:rPr lang="en-US" sz="2200" err="1">
                <a:latin typeface="Arial"/>
                <a:cs typeface="Arial"/>
              </a:rPr>
              <a:t>ao</a:t>
            </a:r>
            <a:r>
              <a:rPr lang="en-US" sz="2200" dirty="0">
                <a:latin typeface="Arial"/>
                <a:cs typeface="Arial"/>
              </a:rPr>
              <a:t> </a:t>
            </a:r>
            <a:r>
              <a:rPr lang="en-US" sz="2200" err="1">
                <a:latin typeface="Arial"/>
                <a:cs typeface="Arial"/>
              </a:rPr>
              <a:t>controle</a:t>
            </a:r>
            <a:r>
              <a:rPr lang="en-US" sz="2200" dirty="0">
                <a:latin typeface="Arial"/>
                <a:cs typeface="Arial"/>
              </a:rPr>
              <a:t> de </a:t>
            </a:r>
            <a:r>
              <a:rPr lang="en-US" sz="2200" err="1">
                <a:latin typeface="Arial"/>
                <a:cs typeface="Arial"/>
              </a:rPr>
              <a:t>compensação</a:t>
            </a:r>
            <a:r>
              <a:rPr lang="en-US" sz="2200" dirty="0">
                <a:latin typeface="Arial"/>
                <a:cs typeface="Arial"/>
              </a:rPr>
              <a:t> que </a:t>
            </a:r>
            <a:r>
              <a:rPr lang="en-US" sz="2200" err="1">
                <a:latin typeface="Arial"/>
                <a:cs typeface="Arial"/>
              </a:rPr>
              <a:t>indiquem</a:t>
            </a:r>
            <a:r>
              <a:rPr lang="en-US" sz="2200" dirty="0">
                <a:latin typeface="Arial"/>
                <a:cs typeface="Arial"/>
              </a:rPr>
              <a:t> </a:t>
            </a:r>
            <a:r>
              <a:rPr lang="en-US" sz="2200" err="1">
                <a:latin typeface="Arial"/>
                <a:cs typeface="Arial"/>
              </a:rPr>
              <a:t>claramente</a:t>
            </a:r>
            <a:r>
              <a:rPr lang="en-US" sz="2200" dirty="0">
                <a:latin typeface="Arial"/>
                <a:cs typeface="Arial"/>
              </a:rPr>
              <a:t> a </a:t>
            </a:r>
            <a:r>
              <a:rPr lang="en-US" sz="2200" err="1">
                <a:latin typeface="Arial"/>
                <a:cs typeface="Arial"/>
              </a:rPr>
              <a:t>direção</a:t>
            </a:r>
            <a:r>
              <a:rPr lang="en-US" sz="2200" dirty="0">
                <a:latin typeface="Arial"/>
                <a:cs typeface="Arial"/>
              </a:rPr>
              <a:t> do </a:t>
            </a:r>
            <a:r>
              <a:rPr lang="en-US" sz="2200" err="1">
                <a:latin typeface="Arial"/>
                <a:cs typeface="Arial"/>
              </a:rPr>
              <a:t>movimento</a:t>
            </a:r>
            <a:r>
              <a:rPr lang="en-US" sz="2200" dirty="0">
                <a:latin typeface="Arial"/>
                <a:cs typeface="Arial"/>
              </a:rPr>
              <a:t> do </a:t>
            </a:r>
            <a:r>
              <a:rPr lang="en-US" sz="2200" err="1">
                <a:latin typeface="Arial"/>
                <a:cs typeface="Arial"/>
              </a:rPr>
              <a:t>controle</a:t>
            </a:r>
            <a:r>
              <a:rPr lang="en-US" sz="2200" dirty="0">
                <a:latin typeface="Arial"/>
                <a:cs typeface="Arial"/>
              </a:rPr>
              <a:t> </a:t>
            </a:r>
            <a:r>
              <a:rPr lang="en-US" sz="2200" err="1">
                <a:latin typeface="Arial"/>
                <a:cs typeface="Arial"/>
              </a:rPr>
              <a:t>em</a:t>
            </a:r>
            <a:r>
              <a:rPr lang="en-US" sz="2200" dirty="0">
                <a:latin typeface="Arial"/>
                <a:cs typeface="Arial"/>
              </a:rPr>
              <a:t> </a:t>
            </a:r>
            <a:r>
              <a:rPr lang="en-US" sz="2200" err="1">
                <a:latin typeface="Arial"/>
                <a:cs typeface="Arial"/>
              </a:rPr>
              <a:t>relação</a:t>
            </a:r>
            <a:r>
              <a:rPr lang="en-US" sz="2200" dirty="0">
                <a:latin typeface="Arial"/>
                <a:cs typeface="Arial"/>
              </a:rPr>
              <a:t> </a:t>
            </a:r>
            <a:r>
              <a:rPr lang="en-US" sz="2200" err="1">
                <a:latin typeface="Arial"/>
                <a:cs typeface="Arial"/>
              </a:rPr>
              <a:t>ao</a:t>
            </a:r>
            <a:r>
              <a:rPr lang="en-US" sz="2200" dirty="0">
                <a:latin typeface="Arial"/>
                <a:cs typeface="Arial"/>
              </a:rPr>
              <a:t> </a:t>
            </a:r>
            <a:r>
              <a:rPr lang="en-US" sz="2200" err="1">
                <a:latin typeface="Arial"/>
                <a:cs typeface="Arial"/>
              </a:rPr>
              <a:t>movimento</a:t>
            </a:r>
            <a:r>
              <a:rPr lang="en-US" sz="2200" dirty="0">
                <a:latin typeface="Arial"/>
                <a:cs typeface="Arial"/>
              </a:rPr>
              <a:t> do </a:t>
            </a:r>
            <a:r>
              <a:rPr lang="en-US" sz="2200" err="1">
                <a:latin typeface="Arial"/>
                <a:cs typeface="Arial"/>
              </a:rPr>
              <a:t>avião</a:t>
            </a:r>
            <a:r>
              <a:rPr lang="en-US" sz="2200" dirty="0">
                <a:latin typeface="Arial"/>
                <a:cs typeface="Arial"/>
              </a:rPr>
              <a:t>. </a:t>
            </a:r>
            <a:endParaRPr lang="en-US" sz="2200">
              <a:latin typeface="Arial"/>
              <a:cs typeface="Arial"/>
            </a:endParaRPr>
          </a:p>
          <a:p>
            <a:endParaRPr lang="en-US" sz="2200" dirty="0">
              <a:latin typeface="Arial"/>
              <a:cs typeface="Arial"/>
            </a:endParaRPr>
          </a:p>
          <a:p>
            <a:r>
              <a:rPr lang="en-US" sz="2200" dirty="0">
                <a:latin typeface="Arial"/>
                <a:cs typeface="Arial"/>
              </a:rPr>
              <a:t>• </a:t>
            </a:r>
            <a:r>
              <a:rPr lang="en-US" sz="2200" err="1">
                <a:latin typeface="Arial"/>
                <a:cs typeface="Arial"/>
              </a:rPr>
              <a:t>Além</a:t>
            </a:r>
            <a:r>
              <a:rPr lang="en-US" sz="2200" dirty="0">
                <a:latin typeface="Arial"/>
                <a:cs typeface="Arial"/>
              </a:rPr>
              <a:t> </a:t>
            </a:r>
            <a:r>
              <a:rPr lang="en-US" sz="2200" err="1">
                <a:latin typeface="Arial"/>
                <a:cs typeface="Arial"/>
              </a:rPr>
              <a:t>disso</a:t>
            </a:r>
            <a:r>
              <a:rPr lang="en-US" sz="2200" dirty="0">
                <a:latin typeface="Arial"/>
                <a:cs typeface="Arial"/>
              </a:rPr>
              <a:t>, </a:t>
            </a:r>
            <a:r>
              <a:rPr lang="en-US" sz="2200" err="1">
                <a:latin typeface="Arial"/>
                <a:cs typeface="Arial"/>
              </a:rPr>
              <a:t>deve</a:t>
            </a:r>
            <a:r>
              <a:rPr lang="en-US" sz="2200" dirty="0">
                <a:latin typeface="Arial"/>
                <a:cs typeface="Arial"/>
              </a:rPr>
              <a:t> haver um </a:t>
            </a:r>
            <a:r>
              <a:rPr lang="en-US" sz="2200" err="1">
                <a:latin typeface="Arial"/>
                <a:cs typeface="Arial"/>
              </a:rPr>
              <a:t>indicador</a:t>
            </a:r>
            <a:r>
              <a:rPr lang="en-US" sz="2200" dirty="0">
                <a:latin typeface="Arial"/>
                <a:cs typeface="Arial"/>
              </a:rPr>
              <a:t> </a:t>
            </a:r>
            <a:r>
              <a:rPr lang="en-US" sz="2200" err="1">
                <a:latin typeface="Arial"/>
                <a:cs typeface="Arial"/>
              </a:rPr>
              <a:t>visível</a:t>
            </a:r>
            <a:r>
              <a:rPr lang="en-US" sz="2200" dirty="0">
                <a:latin typeface="Arial"/>
                <a:cs typeface="Arial"/>
              </a:rPr>
              <a:t> da </a:t>
            </a:r>
            <a:r>
              <a:rPr lang="en-US" sz="2200" err="1">
                <a:latin typeface="Arial"/>
                <a:cs typeface="Arial"/>
              </a:rPr>
              <a:t>posição</a:t>
            </a:r>
            <a:r>
              <a:rPr lang="en-US" sz="2200" dirty="0">
                <a:latin typeface="Arial"/>
                <a:cs typeface="Arial"/>
              </a:rPr>
              <a:t> do </a:t>
            </a:r>
            <a:r>
              <a:rPr lang="en-US" sz="2200" err="1">
                <a:latin typeface="Arial"/>
                <a:cs typeface="Arial"/>
              </a:rPr>
              <a:t>dispositivo</a:t>
            </a:r>
            <a:r>
              <a:rPr lang="en-US" sz="2200" dirty="0">
                <a:latin typeface="Arial"/>
                <a:cs typeface="Arial"/>
              </a:rPr>
              <a:t> de </a:t>
            </a:r>
            <a:r>
              <a:rPr lang="en-US" sz="2200" err="1">
                <a:latin typeface="Arial"/>
                <a:cs typeface="Arial"/>
              </a:rPr>
              <a:t>compensação</a:t>
            </a:r>
            <a:r>
              <a:rPr lang="en-US" sz="2200" dirty="0">
                <a:latin typeface="Arial"/>
                <a:cs typeface="Arial"/>
              </a:rPr>
              <a:t> </a:t>
            </a:r>
            <a:r>
              <a:rPr lang="en-US" sz="2200" err="1">
                <a:latin typeface="Arial"/>
                <a:cs typeface="Arial"/>
              </a:rPr>
              <a:t>em</a:t>
            </a:r>
            <a:r>
              <a:rPr lang="en-US" sz="2200" dirty="0">
                <a:latin typeface="Arial"/>
                <a:cs typeface="Arial"/>
              </a:rPr>
              <a:t> </a:t>
            </a:r>
            <a:r>
              <a:rPr lang="en-US" sz="2200" err="1">
                <a:latin typeface="Arial"/>
                <a:cs typeface="Arial"/>
              </a:rPr>
              <a:t>relação</a:t>
            </a:r>
            <a:r>
              <a:rPr lang="en-US" sz="2200" dirty="0">
                <a:latin typeface="Arial"/>
                <a:cs typeface="Arial"/>
              </a:rPr>
              <a:t> </a:t>
            </a:r>
            <a:r>
              <a:rPr lang="en-US" sz="2200" err="1">
                <a:latin typeface="Arial"/>
                <a:cs typeface="Arial"/>
              </a:rPr>
              <a:t>ao</a:t>
            </a:r>
            <a:r>
              <a:rPr lang="en-US" sz="2200" dirty="0">
                <a:latin typeface="Arial"/>
                <a:cs typeface="Arial"/>
              </a:rPr>
              <a:t> </a:t>
            </a:r>
            <a:r>
              <a:rPr lang="en-US" sz="2200" err="1">
                <a:latin typeface="Arial"/>
                <a:cs typeface="Arial"/>
              </a:rPr>
              <a:t>intervalo</a:t>
            </a:r>
            <a:r>
              <a:rPr lang="en-US" sz="2200" dirty="0">
                <a:latin typeface="Arial"/>
                <a:cs typeface="Arial"/>
              </a:rPr>
              <a:t> de </a:t>
            </a:r>
            <a:r>
              <a:rPr lang="en-US" sz="2200" err="1">
                <a:latin typeface="Arial"/>
                <a:cs typeface="Arial"/>
              </a:rPr>
              <a:t>ajuste</a:t>
            </a:r>
            <a:r>
              <a:rPr lang="en-US" sz="2200" dirty="0">
                <a:latin typeface="Arial"/>
                <a:cs typeface="Arial"/>
              </a:rPr>
              <a:t>. </a:t>
            </a:r>
          </a:p>
          <a:p>
            <a:endParaRPr lang="en-US" sz="2200" dirty="0">
              <a:latin typeface="Arial"/>
              <a:cs typeface="Arial"/>
            </a:endParaRPr>
          </a:p>
          <a:p>
            <a:r>
              <a:rPr lang="en-US" sz="2200" dirty="0">
                <a:latin typeface="Arial"/>
                <a:cs typeface="Arial"/>
              </a:rPr>
              <a:t>• Esse </a:t>
            </a:r>
            <a:r>
              <a:rPr lang="en-US" sz="2200" dirty="0" err="1">
                <a:latin typeface="Arial"/>
                <a:cs typeface="Arial"/>
              </a:rPr>
              <a:t>indicador</a:t>
            </a:r>
            <a:r>
              <a:rPr lang="en-US" sz="2200" dirty="0">
                <a:latin typeface="Arial"/>
                <a:cs typeface="Arial"/>
              </a:rPr>
              <a:t> </a:t>
            </a:r>
            <a:r>
              <a:rPr lang="en-US" sz="2200" dirty="0" err="1">
                <a:latin typeface="Arial"/>
                <a:cs typeface="Arial"/>
              </a:rPr>
              <a:t>deve</a:t>
            </a:r>
            <a:r>
              <a:rPr lang="en-US" sz="2200" dirty="0">
                <a:latin typeface="Arial"/>
                <a:cs typeface="Arial"/>
              </a:rPr>
              <a:t> </a:t>
            </a:r>
            <a:r>
              <a:rPr lang="en-US" sz="2200" dirty="0" err="1">
                <a:latin typeface="Arial"/>
                <a:cs typeface="Arial"/>
              </a:rPr>
              <a:t>estar</a:t>
            </a:r>
            <a:r>
              <a:rPr lang="en-US" sz="2200" dirty="0">
                <a:latin typeface="Arial"/>
                <a:cs typeface="Arial"/>
              </a:rPr>
              <a:t> </a:t>
            </a:r>
            <a:r>
              <a:rPr lang="en-US" sz="2200" dirty="0" err="1">
                <a:latin typeface="Arial"/>
                <a:cs typeface="Arial"/>
              </a:rPr>
              <a:t>devidamente</a:t>
            </a:r>
            <a:r>
              <a:rPr lang="en-US" sz="2200" dirty="0">
                <a:latin typeface="Arial"/>
                <a:cs typeface="Arial"/>
              </a:rPr>
              <a:t> </a:t>
            </a:r>
            <a:r>
              <a:rPr lang="en-US" sz="2200" dirty="0" err="1">
                <a:latin typeface="Arial"/>
                <a:cs typeface="Arial"/>
              </a:rPr>
              <a:t>marcado</a:t>
            </a:r>
            <a:r>
              <a:rPr lang="en-US" sz="2200" dirty="0">
                <a:latin typeface="Arial"/>
                <a:cs typeface="Arial"/>
              </a:rPr>
              <a:t> com o </a:t>
            </a:r>
            <a:r>
              <a:rPr lang="en-US" sz="2200" dirty="0" err="1">
                <a:latin typeface="Arial"/>
                <a:cs typeface="Arial"/>
              </a:rPr>
              <a:t>intervalo</a:t>
            </a:r>
            <a:r>
              <a:rPr lang="en-US" sz="2200" dirty="0">
                <a:latin typeface="Arial"/>
                <a:cs typeface="Arial"/>
              </a:rPr>
              <a:t> no qual </a:t>
            </a:r>
            <a:r>
              <a:rPr lang="en-US" sz="2200" dirty="0" err="1">
                <a:latin typeface="Arial"/>
                <a:cs typeface="Arial"/>
              </a:rPr>
              <a:t>foi</a:t>
            </a:r>
            <a:r>
              <a:rPr lang="en-US" sz="2200" dirty="0">
                <a:latin typeface="Arial"/>
                <a:cs typeface="Arial"/>
              </a:rPr>
              <a:t> </a:t>
            </a:r>
            <a:r>
              <a:rPr lang="en-US" sz="2200" dirty="0" err="1">
                <a:latin typeface="Arial"/>
                <a:cs typeface="Arial"/>
              </a:rPr>
              <a:t>demonstrado</a:t>
            </a:r>
            <a:r>
              <a:rPr lang="en-US" sz="2200" dirty="0">
                <a:latin typeface="Arial"/>
                <a:cs typeface="Arial"/>
              </a:rPr>
              <a:t> que a </a:t>
            </a:r>
            <a:r>
              <a:rPr lang="en-US" sz="2200" dirty="0" err="1">
                <a:latin typeface="Arial"/>
                <a:cs typeface="Arial"/>
              </a:rPr>
              <a:t>decolagem</a:t>
            </a:r>
            <a:r>
              <a:rPr lang="en-US" sz="2200" dirty="0">
                <a:latin typeface="Arial"/>
                <a:cs typeface="Arial"/>
              </a:rPr>
              <a:t> é </a:t>
            </a:r>
            <a:r>
              <a:rPr lang="en-US" sz="2200" dirty="0" err="1">
                <a:latin typeface="Arial"/>
                <a:cs typeface="Arial"/>
              </a:rPr>
              <a:t>segura</a:t>
            </a:r>
            <a:r>
              <a:rPr lang="en-US" sz="2200" dirty="0">
                <a:latin typeface="Arial"/>
                <a:cs typeface="Arial"/>
              </a:rPr>
              <a:t> para </a:t>
            </a:r>
            <a:r>
              <a:rPr lang="en-US" sz="2200" dirty="0" err="1">
                <a:latin typeface="Arial"/>
                <a:cs typeface="Arial"/>
              </a:rPr>
              <a:t>todas</a:t>
            </a:r>
            <a:r>
              <a:rPr lang="en-US" sz="2200" dirty="0">
                <a:latin typeface="Arial"/>
                <a:cs typeface="Arial"/>
              </a:rPr>
              <a:t> as </a:t>
            </a:r>
            <a:r>
              <a:rPr lang="en-US" sz="2200" dirty="0" err="1">
                <a:latin typeface="Arial"/>
                <a:cs typeface="Arial"/>
              </a:rPr>
              <a:t>posições</a:t>
            </a:r>
            <a:r>
              <a:rPr lang="en-US" sz="2200" dirty="0">
                <a:latin typeface="Arial"/>
                <a:cs typeface="Arial"/>
              </a:rPr>
              <a:t> </a:t>
            </a:r>
            <a:r>
              <a:rPr lang="en-US" sz="2200" dirty="0" err="1">
                <a:latin typeface="Arial"/>
                <a:cs typeface="Arial"/>
              </a:rPr>
              <a:t>aprovadas</a:t>
            </a:r>
            <a:r>
              <a:rPr lang="en-US" sz="2200" dirty="0">
                <a:latin typeface="Arial"/>
                <a:cs typeface="Arial"/>
              </a:rPr>
              <a:t> de </a:t>
            </a:r>
            <a:r>
              <a:rPr lang="en-US" sz="2200" dirty="0" err="1">
                <a:latin typeface="Arial"/>
                <a:cs typeface="Arial"/>
              </a:rPr>
              <a:t>centro</a:t>
            </a:r>
            <a:r>
              <a:rPr lang="en-US" sz="2200" dirty="0">
                <a:latin typeface="Arial"/>
                <a:cs typeface="Arial"/>
              </a:rPr>
              <a:t> de </a:t>
            </a:r>
            <a:r>
              <a:rPr lang="en-US" sz="2200" dirty="0" err="1">
                <a:latin typeface="Arial"/>
                <a:cs typeface="Arial"/>
              </a:rPr>
              <a:t>gravidade</a:t>
            </a:r>
            <a:r>
              <a:rPr lang="en-US" sz="2200" dirty="0">
                <a:latin typeface="Arial"/>
                <a:cs typeface="Arial"/>
              </a:rPr>
              <a:t>.</a:t>
            </a:r>
            <a:endParaRPr lang="en-US" sz="2200">
              <a:latin typeface="Arial"/>
              <a:cs typeface="Arial"/>
            </a:endParaRPr>
          </a:p>
        </p:txBody>
      </p:sp>
      <p:sp>
        <p:nvSpPr>
          <p:cNvPr id="7" name="CaixaDeTexto 6">
            <a:extLst>
              <a:ext uri="{FF2B5EF4-FFF2-40B4-BE49-F238E27FC236}">
                <a16:creationId xmlns:a16="http://schemas.microsoft.com/office/drawing/2014/main" id="{466FF283-7691-6056-20F6-B685875A590F}"/>
              </a:ext>
            </a:extLst>
          </p:cNvPr>
          <p:cNvSpPr txBox="1"/>
          <p:nvPr/>
        </p:nvSpPr>
        <p:spPr>
          <a:xfrm>
            <a:off x="3346076" y="1138517"/>
            <a:ext cx="660922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Arial"/>
                <a:cs typeface="Arial"/>
              </a:rPr>
              <a:t>Requisitos para Controles de Compensação</a:t>
            </a:r>
            <a:endParaRPr lang="pt-BR" sz="2400">
              <a:latin typeface="Arial"/>
              <a:cs typeface="Arial"/>
            </a:endParaRPr>
          </a:p>
        </p:txBody>
      </p:sp>
    </p:spTree>
    <p:extLst>
      <p:ext uri="{BB962C8B-B14F-4D97-AF65-F5344CB8AC3E}">
        <p14:creationId xmlns:p14="http://schemas.microsoft.com/office/powerpoint/2010/main" val="2334010227"/>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E61EE-D2D7-9FDE-C232-22ACA60176A3}"/>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584CC218-1673-03D2-32C2-B9FB2E8435B0}"/>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82A04E35-C018-942E-F5DC-972E2957A2EF}"/>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3</a:t>
            </a:r>
            <a:endParaRPr lang="en-US" sz="2000" b="1" i="0" u="none" strike="noStrike" kern="1200" cap="none" spc="0" normalizeH="0" baseline="0" noProof="0" dirty="0">
              <a:ln>
                <a:noFill/>
              </a:ln>
              <a:solidFill>
                <a:srgbClr val="0070C0"/>
              </a:solidFill>
              <a:effectLst/>
              <a:uLnTx/>
              <a:uFillTx/>
              <a:latin typeface="Arial" panose="020B0604020202020204" pitchFamily="34" charset="0"/>
              <a:cs typeface="Arial" panose="020B0604020202020204" pitchFamily="34" charset="0"/>
            </a:endParaRPr>
          </a:p>
        </p:txBody>
      </p:sp>
      <p:sp>
        <p:nvSpPr>
          <p:cNvPr id="6" name="CaixaDeTexto 5">
            <a:extLst>
              <a:ext uri="{FF2B5EF4-FFF2-40B4-BE49-F238E27FC236}">
                <a16:creationId xmlns:a16="http://schemas.microsoft.com/office/drawing/2014/main" id="{0DC776C4-B693-BC9E-3527-2C9E054D7D50}"/>
              </a:ext>
            </a:extLst>
          </p:cNvPr>
          <p:cNvSpPr txBox="1"/>
          <p:nvPr/>
        </p:nvSpPr>
        <p:spPr>
          <a:xfrm>
            <a:off x="204278" y="564779"/>
            <a:ext cx="3768660" cy="307777"/>
          </a:xfrm>
          <a:prstGeom prst="rect">
            <a:avLst/>
          </a:prstGeom>
          <a:noFill/>
        </p:spPr>
        <p:txBody>
          <a:bodyPr wrap="none" lIns="91440" tIns="45720" rIns="91440" bIns="45720" rtlCol="0" anchor="t">
            <a:spAutoFit/>
          </a:bodyPr>
          <a:lstStyle/>
          <a:p>
            <a:r>
              <a:rPr lang="pt-BR" sz="1400" u="sng" dirty="0">
                <a:solidFill>
                  <a:srgbClr val="0070C0"/>
                </a:solidFill>
                <a:latin typeface="Arial"/>
                <a:cs typeface="Arial"/>
              </a:rPr>
              <a:t>Slide 3.3- RBAC 25, §25.677 – </a:t>
            </a:r>
            <a:r>
              <a:rPr lang="pt-BR" sz="1400" u="sng" dirty="0" err="1">
                <a:solidFill>
                  <a:srgbClr val="0070C0"/>
                </a:solidFill>
                <a:latin typeface="Arial"/>
                <a:cs typeface="Arial"/>
              </a:rPr>
              <a:t>Trim</a:t>
            </a:r>
            <a:r>
              <a:rPr lang="pt-BR" sz="1400" u="sng" dirty="0">
                <a:solidFill>
                  <a:srgbClr val="0070C0"/>
                </a:solidFill>
                <a:latin typeface="Arial"/>
                <a:cs typeface="Arial"/>
              </a:rPr>
              <a:t> Systems</a:t>
            </a:r>
            <a:endParaRPr lang="pt-BR" sz="1200" i="1" dirty="0">
              <a:solidFill>
                <a:srgbClr val="242424"/>
              </a:solidFill>
              <a:latin typeface="Aptos"/>
              <a:cs typeface="Arial"/>
            </a:endParaRPr>
          </a:p>
        </p:txBody>
      </p:sp>
      <p:sp>
        <p:nvSpPr>
          <p:cNvPr id="8" name="CaixaDeTexto 7">
            <a:extLst>
              <a:ext uri="{FF2B5EF4-FFF2-40B4-BE49-F238E27FC236}">
                <a16:creationId xmlns:a16="http://schemas.microsoft.com/office/drawing/2014/main" id="{7B7AB385-E2E7-162C-6DF1-4844FDEB0A56}"/>
              </a:ext>
            </a:extLst>
          </p:cNvPr>
          <p:cNvSpPr txBox="1"/>
          <p:nvPr/>
        </p:nvSpPr>
        <p:spPr>
          <a:xfrm>
            <a:off x="10143102" y="0"/>
            <a:ext cx="1968792" cy="646331"/>
          </a:xfrm>
          <a:prstGeom prst="rect">
            <a:avLst/>
          </a:prstGeom>
          <a:noFill/>
        </p:spPr>
        <p:txBody>
          <a:bodyPr wrap="square" lIns="91440" tIns="45720" rIns="91440" bIns="45720" rtlCol="0" anchor="t">
            <a:spAutoFit/>
          </a:bodyPr>
          <a:lstStyle/>
          <a:p>
            <a:pPr algn="ctr">
              <a:defRPr/>
            </a:pPr>
            <a:r>
              <a:rPr lang="pt-BR" u="sng" dirty="0" err="1">
                <a:solidFill>
                  <a:srgbClr val="0070C0"/>
                </a:solidFill>
                <a:latin typeface="Aptos" panose="02110004020202020204"/>
              </a:rPr>
              <a:t>Resp.:Guilherme</a:t>
            </a:r>
            <a:r>
              <a:rPr lang="pt-BR" u="sng" dirty="0">
                <a:solidFill>
                  <a:srgbClr val="0070C0"/>
                </a:solidFill>
                <a:latin typeface="Aptos" panose="02110004020202020204"/>
              </a:rPr>
              <a:t> Andrew</a:t>
            </a:r>
            <a:endParaRPr lang="pt-BR"/>
          </a:p>
        </p:txBody>
      </p:sp>
      <p:sp>
        <p:nvSpPr>
          <p:cNvPr id="9" name="CaixaDeTexto 8">
            <a:extLst>
              <a:ext uri="{FF2B5EF4-FFF2-40B4-BE49-F238E27FC236}">
                <a16:creationId xmlns:a16="http://schemas.microsoft.com/office/drawing/2014/main" id="{73E2EBCA-6A36-6582-4594-D2563E1050F4}"/>
              </a:ext>
            </a:extLst>
          </p:cNvPr>
          <p:cNvSpPr txBox="1"/>
          <p:nvPr/>
        </p:nvSpPr>
        <p:spPr>
          <a:xfrm>
            <a:off x="1608667" y="-18398"/>
            <a:ext cx="8669433" cy="523220"/>
          </a:xfrm>
          <a:prstGeom prst="rect">
            <a:avLst/>
          </a:prstGeom>
          <a:noFill/>
        </p:spPr>
        <p:txBody>
          <a:bodyPr wrap="square" lIns="91440" tIns="45720" rIns="91440" bIns="45720" rtlCol="0" anchor="t">
            <a:spAutoFit/>
          </a:bodyPr>
          <a:lstStyle/>
          <a:p>
            <a:pPr>
              <a:defRPr/>
            </a:pPr>
            <a:r>
              <a:rPr lang="pt-BR" sz="1400" dirty="0">
                <a:solidFill>
                  <a:srgbClr val="0B78A2"/>
                </a:solidFill>
                <a:latin typeface="Arial"/>
                <a:cs typeface="Arial"/>
              </a:rPr>
              <a:t>Requisitos de Projeto aplicáveis a Sistemas de Comandos de Voo: Desenvolva</a:t>
            </a:r>
            <a:r>
              <a:rPr lang="pt-BR" sz="1400" dirty="0">
                <a:solidFill>
                  <a:srgbClr val="0B78A2"/>
                </a:solidFill>
                <a:latin typeface="Arial"/>
                <a:ea typeface="Calibri"/>
                <a:cs typeface="Arial"/>
              </a:rPr>
              <a:t> uma árvore de falhas qualitativa e quantitativa[1] do Sistema de Compensação do Estabilizador Horizontal</a:t>
            </a:r>
            <a:endParaRPr lang="pt-BR" sz="1400" dirty="0">
              <a:solidFill>
                <a:srgbClr val="0B78A2"/>
              </a:solidFill>
              <a:latin typeface="Arial"/>
              <a:cs typeface="Arial"/>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EF3A407D-1CC3-8F38-5135-E612192E92DF}"/>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4" name="CaixaDeTexto 3">
            <a:extLst>
              <a:ext uri="{FF2B5EF4-FFF2-40B4-BE49-F238E27FC236}">
                <a16:creationId xmlns:a16="http://schemas.microsoft.com/office/drawing/2014/main" id="{511876E8-5FF6-BF26-205C-B4F504A8FE7E}"/>
              </a:ext>
            </a:extLst>
          </p:cNvPr>
          <p:cNvSpPr txBox="1"/>
          <p:nvPr/>
        </p:nvSpPr>
        <p:spPr>
          <a:xfrm>
            <a:off x="546909" y="1825913"/>
            <a:ext cx="10564904"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2400" dirty="0">
                <a:latin typeface="Arial"/>
                <a:cs typeface="Arial"/>
              </a:rPr>
              <a:t>•  Os sistemas de controle de compensação devem ser projetados para impedir deslizamento (</a:t>
            </a:r>
            <a:r>
              <a:rPr lang="pt-BR" sz="2400" dirty="0" err="1">
                <a:latin typeface="Arial"/>
                <a:cs typeface="Arial"/>
              </a:rPr>
              <a:t>creeping</a:t>
            </a:r>
            <a:r>
              <a:rPr lang="pt-BR" sz="2400" dirty="0">
                <a:latin typeface="Arial"/>
                <a:cs typeface="Arial"/>
              </a:rPr>
              <a:t>) em voo. </a:t>
            </a:r>
            <a:endParaRPr lang="en-US" sz="2400" dirty="0">
              <a:latin typeface="Arial"/>
              <a:cs typeface="Arial"/>
            </a:endParaRPr>
          </a:p>
          <a:p>
            <a:endParaRPr lang="pt-BR" sz="2400" dirty="0">
              <a:latin typeface="Arial"/>
              <a:cs typeface="Arial"/>
            </a:endParaRPr>
          </a:p>
          <a:p>
            <a:r>
              <a:rPr lang="pt-BR" sz="2400" dirty="0">
                <a:latin typeface="Arial"/>
                <a:cs typeface="Arial"/>
              </a:rPr>
              <a:t>• Os controles do compensador de abas (</a:t>
            </a:r>
            <a:r>
              <a:rPr lang="pt-BR" sz="2400" err="1">
                <a:latin typeface="Arial"/>
                <a:cs typeface="Arial"/>
              </a:rPr>
              <a:t>trim</a:t>
            </a:r>
            <a:r>
              <a:rPr lang="pt-BR" sz="2400" dirty="0">
                <a:latin typeface="Arial"/>
                <a:cs typeface="Arial"/>
              </a:rPr>
              <a:t> </a:t>
            </a:r>
            <a:r>
              <a:rPr lang="pt-BR" sz="2400" err="1">
                <a:latin typeface="Arial"/>
                <a:cs typeface="Arial"/>
              </a:rPr>
              <a:t>tab</a:t>
            </a:r>
            <a:r>
              <a:rPr lang="pt-BR" sz="2400" dirty="0">
                <a:latin typeface="Arial"/>
                <a:cs typeface="Arial"/>
              </a:rPr>
              <a:t>) devem ser irreversíveis, exceto quando a aba estiver devidamente equilibrada e comprovadamente livre de </a:t>
            </a:r>
            <a:r>
              <a:rPr lang="pt-BR" sz="2400" err="1">
                <a:latin typeface="Arial"/>
                <a:cs typeface="Arial"/>
              </a:rPr>
              <a:t>flutter</a:t>
            </a:r>
            <a:r>
              <a:rPr lang="pt-BR" sz="2400" dirty="0">
                <a:latin typeface="Arial"/>
                <a:cs typeface="Arial"/>
              </a:rPr>
              <a:t> (vibração). </a:t>
            </a:r>
            <a:endParaRPr lang="en-US" sz="2400" dirty="0">
              <a:latin typeface="Arial"/>
              <a:cs typeface="Arial"/>
            </a:endParaRPr>
          </a:p>
          <a:p>
            <a:endParaRPr lang="pt-BR" sz="2400" dirty="0">
              <a:latin typeface="Arial"/>
              <a:cs typeface="Arial"/>
            </a:endParaRPr>
          </a:p>
          <a:p>
            <a:r>
              <a:rPr lang="pt-BR" sz="2400" dirty="0">
                <a:latin typeface="Arial"/>
                <a:cs typeface="Arial"/>
              </a:rPr>
              <a:t>• Nos casos em que for utilizado um sistema de controle de aba irreversível, a ligação entre a aba e a unidade irreversível, fixada à estrutura da aeronave, deve ser composta por uma conexão rígida.</a:t>
            </a:r>
            <a:endParaRPr lang="en-US" sz="2400">
              <a:latin typeface="Arial"/>
              <a:cs typeface="Arial"/>
            </a:endParaRPr>
          </a:p>
        </p:txBody>
      </p:sp>
    </p:spTree>
    <p:extLst>
      <p:ext uri="{BB962C8B-B14F-4D97-AF65-F5344CB8AC3E}">
        <p14:creationId xmlns:p14="http://schemas.microsoft.com/office/powerpoint/2010/main" val="835679193"/>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47E4C-32DB-05D0-03A9-6F963419F50C}"/>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A80CC366-5479-A831-31B9-52A91A7C4EF9}"/>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82550710-AAA7-A677-4D60-7DD2F99DB111}"/>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3</a:t>
            </a:r>
            <a:endParaRPr kumimoji="0" lang="pt-BR" sz="2000" b="1"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8F86770B-3F4E-CCB7-CD79-727E27E762EB}"/>
              </a:ext>
            </a:extLst>
          </p:cNvPr>
          <p:cNvSpPr txBox="1"/>
          <p:nvPr/>
        </p:nvSpPr>
        <p:spPr>
          <a:xfrm>
            <a:off x="204278" y="564779"/>
            <a:ext cx="5819222" cy="307777"/>
          </a:xfrm>
          <a:prstGeom prst="rect">
            <a:avLst/>
          </a:prstGeom>
          <a:noFill/>
        </p:spPr>
        <p:txBody>
          <a:bodyPr wrap="none" lIns="91440" tIns="45720" rIns="91440" bIns="45720" rtlCol="0" anchor="t">
            <a:spAutoFit/>
          </a:bodyPr>
          <a:lstStyle/>
          <a:p>
            <a:r>
              <a:rPr lang="pt-BR" sz="1400" u="sng" dirty="0">
                <a:solidFill>
                  <a:srgbClr val="0070C0"/>
                </a:solidFill>
                <a:latin typeface="Arial"/>
                <a:cs typeface="Arial"/>
              </a:rPr>
              <a:t>Slide 3.4- RBAC 25, §25.1309 – </a:t>
            </a:r>
            <a:r>
              <a:rPr lang="pt-BR" sz="1400" u="sng" dirty="0" err="1">
                <a:solidFill>
                  <a:srgbClr val="0070C0"/>
                </a:solidFill>
                <a:latin typeface="Arial"/>
                <a:cs typeface="Arial"/>
              </a:rPr>
              <a:t>Equipment</a:t>
            </a:r>
            <a:r>
              <a:rPr lang="pt-BR" sz="1400" u="sng" dirty="0">
                <a:solidFill>
                  <a:srgbClr val="0070C0"/>
                </a:solidFill>
                <a:latin typeface="Arial"/>
                <a:cs typeface="Arial"/>
              </a:rPr>
              <a:t>, Systems, </a:t>
            </a:r>
            <a:r>
              <a:rPr lang="pt-BR" sz="1400" u="sng" dirty="0" err="1">
                <a:solidFill>
                  <a:srgbClr val="0070C0"/>
                </a:solidFill>
                <a:latin typeface="Arial"/>
                <a:cs typeface="Arial"/>
              </a:rPr>
              <a:t>and</a:t>
            </a:r>
            <a:r>
              <a:rPr lang="pt-BR" sz="1400" u="sng" dirty="0">
                <a:solidFill>
                  <a:srgbClr val="0070C0"/>
                </a:solidFill>
                <a:latin typeface="Arial"/>
                <a:cs typeface="Arial"/>
              </a:rPr>
              <a:t> </a:t>
            </a:r>
            <a:r>
              <a:rPr lang="pt-BR" sz="1400" u="sng" dirty="0" err="1">
                <a:solidFill>
                  <a:srgbClr val="0070C0"/>
                </a:solidFill>
                <a:latin typeface="Arial"/>
                <a:cs typeface="Arial"/>
              </a:rPr>
              <a:t>Installations</a:t>
            </a:r>
            <a:endParaRPr lang="pt-BR" sz="1400" u="sng" dirty="0">
              <a:solidFill>
                <a:srgbClr val="0070C0"/>
              </a:solidFill>
              <a:latin typeface="Arial"/>
              <a:cs typeface="Arial"/>
            </a:endParaRPr>
          </a:p>
        </p:txBody>
      </p:sp>
      <p:sp>
        <p:nvSpPr>
          <p:cNvPr id="8" name="CaixaDeTexto 7">
            <a:extLst>
              <a:ext uri="{FF2B5EF4-FFF2-40B4-BE49-F238E27FC236}">
                <a16:creationId xmlns:a16="http://schemas.microsoft.com/office/drawing/2014/main" id="{E5949D4C-A1B3-FD1E-2132-F9C42CB508B2}"/>
              </a:ext>
            </a:extLst>
          </p:cNvPr>
          <p:cNvSpPr txBox="1"/>
          <p:nvPr/>
        </p:nvSpPr>
        <p:spPr>
          <a:xfrm>
            <a:off x="10278139" y="-19291"/>
            <a:ext cx="1910919" cy="665622"/>
          </a:xfrm>
          <a:prstGeom prst="rect">
            <a:avLst/>
          </a:prstGeom>
          <a:noFill/>
        </p:spPr>
        <p:txBody>
          <a:bodyPr wrap="square" lIns="91440" tIns="45720" rIns="91440" bIns="45720" rtlCol="0" anchor="t">
            <a:spAutoFit/>
          </a:bodyPr>
          <a:lstStyle/>
          <a:p>
            <a:pPr algn="ctr">
              <a:defRPr/>
            </a:pPr>
            <a:r>
              <a:rPr lang="pt-BR" u="sng" dirty="0" err="1">
                <a:solidFill>
                  <a:srgbClr val="0070C0"/>
                </a:solidFill>
                <a:latin typeface="Aptos" panose="02110004020202020204"/>
              </a:rPr>
              <a:t>Resp.:Guilherme</a:t>
            </a:r>
            <a:r>
              <a:rPr lang="pt-BR" u="sng" dirty="0">
                <a:solidFill>
                  <a:srgbClr val="0070C0"/>
                </a:solidFill>
                <a:latin typeface="Aptos" panose="02110004020202020204"/>
              </a:rPr>
              <a:t> Andrew</a:t>
            </a:r>
            <a:endParaRPr lang="pt-BR" dirty="0"/>
          </a:p>
        </p:txBody>
      </p:sp>
      <p:sp>
        <p:nvSpPr>
          <p:cNvPr id="9" name="CaixaDeTexto 8">
            <a:extLst>
              <a:ext uri="{FF2B5EF4-FFF2-40B4-BE49-F238E27FC236}">
                <a16:creationId xmlns:a16="http://schemas.microsoft.com/office/drawing/2014/main" id="{2374AF81-ACF4-9FFB-9960-CB868A5F227A}"/>
              </a:ext>
            </a:extLst>
          </p:cNvPr>
          <p:cNvSpPr txBox="1"/>
          <p:nvPr/>
        </p:nvSpPr>
        <p:spPr>
          <a:xfrm>
            <a:off x="1608667" y="-18398"/>
            <a:ext cx="8669433" cy="738664"/>
          </a:xfrm>
          <a:prstGeom prst="rect">
            <a:avLst/>
          </a:prstGeom>
          <a:noFill/>
        </p:spPr>
        <p:txBody>
          <a:bodyPr wrap="square" lIns="91440" tIns="45720" rIns="91440" bIns="45720" rtlCol="0" anchor="t">
            <a:spAutoFit/>
          </a:bodyPr>
          <a:lstStyle/>
          <a:p>
            <a:pPr>
              <a:defRPr/>
            </a:pPr>
            <a:r>
              <a:rPr lang="pt-BR" sz="1400" dirty="0">
                <a:solidFill>
                  <a:srgbClr val="0B78A2"/>
                </a:solidFill>
                <a:latin typeface="Arial"/>
                <a:cs typeface="Arial"/>
              </a:rPr>
              <a:t>Requisitos de Projeto aplicáveis a Sistemas de Comandos de Voo: Desenvolva</a:t>
            </a:r>
            <a:r>
              <a:rPr lang="pt-BR" sz="1400" dirty="0">
                <a:solidFill>
                  <a:srgbClr val="0B78A2"/>
                </a:solidFill>
                <a:latin typeface="Arial"/>
                <a:ea typeface="Calibri"/>
                <a:cs typeface="Arial"/>
              </a:rPr>
              <a:t> uma árvore de falhas qualitativa e quantitativa[1] do Sistema de Compensação do Estabilizador Horizontal</a:t>
            </a:r>
            <a:endParaRPr lang="pt-BR" sz="1400" dirty="0">
              <a:solidFill>
                <a:srgbClr val="0B78A2"/>
              </a:solidFill>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97A22FC1-BAD8-6100-3D20-9415CFFF8244}"/>
              </a:ext>
            </a:extLst>
          </p:cNvPr>
          <p:cNvPicPr>
            <a:picLocks noChangeAspect="1"/>
          </p:cNvPicPr>
          <p:nvPr/>
        </p:nvPicPr>
        <p:blipFill>
          <a:blip r:embed="rId2"/>
          <a:stretch>
            <a:fillRect/>
          </a:stretch>
        </p:blipFill>
        <p:spPr>
          <a:xfrm>
            <a:off x="11376976" y="6370905"/>
            <a:ext cx="753561" cy="492889"/>
          </a:xfrm>
          <a:prstGeom prst="rect">
            <a:avLst/>
          </a:prstGeom>
        </p:spPr>
      </p:pic>
      <p:sp>
        <p:nvSpPr>
          <p:cNvPr id="11" name="CaixaDeTexto 10">
            <a:extLst>
              <a:ext uri="{FF2B5EF4-FFF2-40B4-BE49-F238E27FC236}">
                <a16:creationId xmlns:a16="http://schemas.microsoft.com/office/drawing/2014/main" id="{ED4A68D7-2A69-8DBC-FEB6-D91DDE2EDD8A}"/>
              </a:ext>
            </a:extLst>
          </p:cNvPr>
          <p:cNvSpPr txBox="1"/>
          <p:nvPr/>
        </p:nvSpPr>
        <p:spPr>
          <a:xfrm>
            <a:off x="410136" y="2359959"/>
            <a:ext cx="9881346" cy="44935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latin typeface="Arial"/>
                <a:cs typeface="Arial"/>
              </a:rPr>
              <a:t> • Todos </a:t>
            </a:r>
            <a:r>
              <a:rPr lang="en-US" sz="2200" dirty="0" err="1">
                <a:latin typeface="Arial"/>
                <a:cs typeface="Arial"/>
              </a:rPr>
              <a:t>os</a:t>
            </a:r>
            <a:r>
              <a:rPr lang="en-US" sz="2200" dirty="0">
                <a:latin typeface="Arial"/>
                <a:cs typeface="Arial"/>
              </a:rPr>
              <a:t> </a:t>
            </a:r>
            <a:r>
              <a:rPr lang="en-US" sz="2200" dirty="0" err="1">
                <a:latin typeface="Arial"/>
                <a:cs typeface="Arial"/>
              </a:rPr>
              <a:t>equipamentos</a:t>
            </a:r>
            <a:r>
              <a:rPr lang="en-US" sz="2200" dirty="0">
                <a:latin typeface="Arial"/>
                <a:cs typeface="Arial"/>
              </a:rPr>
              <a:t>, </a:t>
            </a:r>
            <a:r>
              <a:rPr lang="en-US" sz="2200" dirty="0" err="1">
                <a:latin typeface="Arial"/>
                <a:cs typeface="Arial"/>
              </a:rPr>
              <a:t>sistemas</a:t>
            </a:r>
            <a:r>
              <a:rPr lang="en-US" sz="2200" dirty="0">
                <a:latin typeface="Arial"/>
                <a:cs typeface="Arial"/>
              </a:rPr>
              <a:t> e </a:t>
            </a:r>
            <a:r>
              <a:rPr lang="en-US" sz="2200" dirty="0" err="1">
                <a:latin typeface="Arial"/>
                <a:cs typeface="Arial"/>
              </a:rPr>
              <a:t>instalações</a:t>
            </a:r>
            <a:r>
              <a:rPr lang="en-US" sz="2200" dirty="0">
                <a:latin typeface="Arial"/>
                <a:cs typeface="Arial"/>
              </a:rPr>
              <a:t> </a:t>
            </a:r>
            <a:r>
              <a:rPr lang="en-US" sz="2200" dirty="0" err="1">
                <a:latin typeface="Arial"/>
                <a:cs typeface="Arial"/>
              </a:rPr>
              <a:t>cuja</a:t>
            </a:r>
            <a:r>
              <a:rPr lang="en-US" sz="2200" dirty="0">
                <a:latin typeface="Arial"/>
                <a:cs typeface="Arial"/>
              </a:rPr>
              <a:t> </a:t>
            </a:r>
            <a:r>
              <a:rPr lang="en-US" sz="2200" dirty="0" err="1">
                <a:latin typeface="Arial"/>
                <a:cs typeface="Arial"/>
              </a:rPr>
              <a:t>operação</a:t>
            </a:r>
            <a:r>
              <a:rPr lang="en-US" sz="2200" dirty="0">
                <a:latin typeface="Arial"/>
                <a:cs typeface="Arial"/>
              </a:rPr>
              <a:t> é </a:t>
            </a:r>
            <a:r>
              <a:rPr lang="en-US" sz="2200" dirty="0" err="1">
                <a:latin typeface="Arial"/>
                <a:cs typeface="Arial"/>
              </a:rPr>
              <a:t>exigida</a:t>
            </a:r>
            <a:r>
              <a:rPr lang="en-US" sz="2200" dirty="0">
                <a:latin typeface="Arial"/>
                <a:cs typeface="Arial"/>
              </a:rPr>
              <a:t> </a:t>
            </a:r>
            <a:r>
              <a:rPr lang="en-US" sz="2200" dirty="0" err="1">
                <a:latin typeface="Arial"/>
                <a:cs typeface="Arial"/>
              </a:rPr>
              <a:t>por</a:t>
            </a:r>
            <a:r>
              <a:rPr lang="en-US" sz="2200" dirty="0">
                <a:latin typeface="Arial"/>
                <a:cs typeface="Arial"/>
              </a:rPr>
              <a:t> </a:t>
            </a:r>
            <a:r>
              <a:rPr lang="en-US" sz="2200" dirty="0" err="1">
                <a:latin typeface="Arial"/>
                <a:cs typeface="Arial"/>
              </a:rPr>
              <a:t>este</a:t>
            </a:r>
            <a:r>
              <a:rPr lang="en-US" sz="2200" dirty="0">
                <a:latin typeface="Arial"/>
                <a:cs typeface="Arial"/>
              </a:rPr>
              <a:t> </a:t>
            </a:r>
            <a:r>
              <a:rPr lang="en-US" sz="2200" dirty="0" err="1">
                <a:latin typeface="Arial"/>
                <a:cs typeface="Arial"/>
              </a:rPr>
              <a:t>subcapítulo</a:t>
            </a:r>
            <a:r>
              <a:rPr lang="en-US" sz="2200" dirty="0">
                <a:latin typeface="Arial"/>
                <a:cs typeface="Arial"/>
              </a:rPr>
              <a:t> </a:t>
            </a:r>
            <a:r>
              <a:rPr lang="en-US" sz="2200" dirty="0" err="1">
                <a:latin typeface="Arial"/>
                <a:cs typeface="Arial"/>
              </a:rPr>
              <a:t>devem</a:t>
            </a:r>
            <a:r>
              <a:rPr lang="en-US" sz="2200" dirty="0">
                <a:latin typeface="Arial"/>
                <a:cs typeface="Arial"/>
              </a:rPr>
              <a:t> ser </a:t>
            </a:r>
            <a:r>
              <a:rPr lang="en-US" sz="2200" dirty="0" err="1">
                <a:latin typeface="Arial"/>
                <a:cs typeface="Arial"/>
              </a:rPr>
              <a:t>projetados</a:t>
            </a:r>
            <a:r>
              <a:rPr lang="en-US" sz="2200" dirty="0">
                <a:latin typeface="Arial"/>
                <a:cs typeface="Arial"/>
              </a:rPr>
              <a:t> para </a:t>
            </a:r>
            <a:r>
              <a:rPr lang="en-US" sz="2200" dirty="0" err="1">
                <a:latin typeface="Arial"/>
                <a:cs typeface="Arial"/>
              </a:rPr>
              <a:t>assegurar</a:t>
            </a:r>
            <a:r>
              <a:rPr lang="en-US" sz="2200" dirty="0">
                <a:latin typeface="Arial"/>
                <a:cs typeface="Arial"/>
              </a:rPr>
              <a:t> o </a:t>
            </a:r>
            <a:r>
              <a:rPr lang="en-US" sz="2200" dirty="0" err="1">
                <a:latin typeface="Arial"/>
                <a:cs typeface="Arial"/>
              </a:rPr>
              <a:t>desempenho</a:t>
            </a:r>
            <a:r>
              <a:rPr lang="en-US" sz="2200" dirty="0">
                <a:latin typeface="Arial"/>
                <a:cs typeface="Arial"/>
              </a:rPr>
              <a:t> de </a:t>
            </a:r>
            <a:r>
              <a:rPr lang="en-US" sz="2200" dirty="0" err="1">
                <a:latin typeface="Arial"/>
                <a:cs typeface="Arial"/>
              </a:rPr>
              <a:t>suas</a:t>
            </a:r>
            <a:r>
              <a:rPr lang="en-US" sz="2200" dirty="0">
                <a:latin typeface="Arial"/>
                <a:cs typeface="Arial"/>
              </a:rPr>
              <a:t> </a:t>
            </a:r>
            <a:r>
              <a:rPr lang="en-US" sz="2200" dirty="0" err="1">
                <a:latin typeface="Arial"/>
                <a:cs typeface="Arial"/>
              </a:rPr>
              <a:t>funções</a:t>
            </a:r>
            <a:r>
              <a:rPr lang="en-US" sz="2200" dirty="0">
                <a:latin typeface="Arial"/>
                <a:cs typeface="Arial"/>
              </a:rPr>
              <a:t> </a:t>
            </a:r>
            <a:r>
              <a:rPr lang="en-US" sz="2200" dirty="0" err="1">
                <a:latin typeface="Arial"/>
                <a:cs typeface="Arial"/>
              </a:rPr>
              <a:t>pretendidas</a:t>
            </a:r>
            <a:r>
              <a:rPr lang="en-US" sz="2200" dirty="0">
                <a:latin typeface="Arial"/>
                <a:cs typeface="Arial"/>
              </a:rPr>
              <a:t> </a:t>
            </a:r>
            <a:r>
              <a:rPr lang="en-US" sz="2200" dirty="0" err="1">
                <a:latin typeface="Arial"/>
                <a:cs typeface="Arial"/>
              </a:rPr>
              <a:t>em</a:t>
            </a:r>
            <a:r>
              <a:rPr lang="en-US" sz="2200" dirty="0">
                <a:latin typeface="Arial"/>
                <a:cs typeface="Arial"/>
              </a:rPr>
              <a:t> </a:t>
            </a:r>
            <a:r>
              <a:rPr lang="en-US" sz="2200" dirty="0" err="1">
                <a:latin typeface="Arial"/>
                <a:cs typeface="Arial"/>
              </a:rPr>
              <a:t>qualquer</a:t>
            </a:r>
            <a:r>
              <a:rPr lang="en-US" sz="2200" dirty="0">
                <a:latin typeface="Arial"/>
                <a:cs typeface="Arial"/>
              </a:rPr>
              <a:t> </a:t>
            </a:r>
            <a:r>
              <a:rPr lang="en-US" sz="2200" dirty="0" err="1">
                <a:latin typeface="Arial"/>
                <a:cs typeface="Arial"/>
              </a:rPr>
              <a:t>condição</a:t>
            </a:r>
            <a:r>
              <a:rPr lang="en-US" sz="2200" dirty="0">
                <a:latin typeface="Arial"/>
                <a:cs typeface="Arial"/>
              </a:rPr>
              <a:t> </a:t>
            </a:r>
            <a:r>
              <a:rPr lang="en-US" sz="2200" dirty="0" err="1">
                <a:latin typeface="Arial"/>
                <a:cs typeface="Arial"/>
              </a:rPr>
              <a:t>operacional</a:t>
            </a:r>
            <a:r>
              <a:rPr lang="en-US" sz="2200" dirty="0">
                <a:latin typeface="Arial"/>
                <a:cs typeface="Arial"/>
              </a:rPr>
              <a:t> </a:t>
            </a:r>
            <a:r>
              <a:rPr lang="en-US" sz="2200" dirty="0" err="1">
                <a:latin typeface="Arial"/>
                <a:cs typeface="Arial"/>
              </a:rPr>
              <a:t>previsível</a:t>
            </a:r>
            <a:r>
              <a:rPr lang="en-US" sz="2200" dirty="0">
                <a:latin typeface="Arial"/>
                <a:cs typeface="Arial"/>
              </a:rPr>
              <a:t>. </a:t>
            </a:r>
            <a:endParaRPr lang="pt-BR" sz="2200" dirty="0">
              <a:latin typeface="Arial"/>
              <a:cs typeface="Arial"/>
            </a:endParaRPr>
          </a:p>
          <a:p>
            <a:endParaRPr lang="en-US" sz="2200" dirty="0">
              <a:latin typeface="Arial"/>
              <a:cs typeface="Arial"/>
            </a:endParaRPr>
          </a:p>
          <a:p>
            <a:r>
              <a:rPr lang="en-US" sz="2200" dirty="0">
                <a:latin typeface="Arial"/>
                <a:cs typeface="Arial"/>
              </a:rPr>
              <a:t>• </a:t>
            </a:r>
            <a:r>
              <a:rPr lang="en-US" sz="2200" dirty="0" err="1">
                <a:latin typeface="Arial"/>
                <a:cs typeface="Arial"/>
              </a:rPr>
              <a:t>Os</a:t>
            </a:r>
            <a:r>
              <a:rPr lang="en-US" sz="2200" dirty="0">
                <a:latin typeface="Arial"/>
                <a:cs typeface="Arial"/>
              </a:rPr>
              <a:t> </a:t>
            </a:r>
            <a:r>
              <a:rPr lang="en-US" sz="2200" dirty="0" err="1">
                <a:latin typeface="Arial"/>
                <a:cs typeface="Arial"/>
              </a:rPr>
              <a:t>sistemas</a:t>
            </a:r>
            <a:r>
              <a:rPr lang="en-US" sz="2200" dirty="0">
                <a:latin typeface="Arial"/>
                <a:cs typeface="Arial"/>
              </a:rPr>
              <a:t> e </a:t>
            </a:r>
            <a:r>
              <a:rPr lang="en-US" sz="2200" dirty="0" err="1">
                <a:latin typeface="Arial"/>
                <a:cs typeface="Arial"/>
              </a:rPr>
              <a:t>componentes</a:t>
            </a:r>
            <a:r>
              <a:rPr lang="en-US" sz="2200" dirty="0">
                <a:latin typeface="Arial"/>
                <a:cs typeface="Arial"/>
              </a:rPr>
              <a:t> da </a:t>
            </a:r>
            <a:r>
              <a:rPr lang="en-US" sz="2200" dirty="0" err="1">
                <a:latin typeface="Arial"/>
                <a:cs typeface="Arial"/>
              </a:rPr>
              <a:t>aeronave</a:t>
            </a:r>
            <a:r>
              <a:rPr lang="en-US" sz="2200" dirty="0">
                <a:latin typeface="Arial"/>
                <a:cs typeface="Arial"/>
              </a:rPr>
              <a:t>, </a:t>
            </a:r>
            <a:r>
              <a:rPr lang="en-US" sz="2200" dirty="0" err="1">
                <a:latin typeface="Arial"/>
                <a:cs typeface="Arial"/>
              </a:rPr>
              <a:t>avaliados</a:t>
            </a:r>
            <a:r>
              <a:rPr lang="en-US" sz="2200" dirty="0">
                <a:latin typeface="Arial"/>
                <a:cs typeface="Arial"/>
              </a:rPr>
              <a:t> </a:t>
            </a:r>
            <a:r>
              <a:rPr lang="en-US" sz="2200" dirty="0" err="1">
                <a:latin typeface="Arial"/>
                <a:cs typeface="Arial"/>
              </a:rPr>
              <a:t>isoladamente</a:t>
            </a:r>
            <a:r>
              <a:rPr lang="en-US" sz="2200" dirty="0">
                <a:latin typeface="Arial"/>
                <a:cs typeface="Arial"/>
              </a:rPr>
              <a:t> e </a:t>
            </a:r>
            <a:r>
              <a:rPr lang="en-US" sz="2200" dirty="0" err="1">
                <a:latin typeface="Arial"/>
                <a:cs typeface="Arial"/>
              </a:rPr>
              <a:t>em</a:t>
            </a:r>
            <a:r>
              <a:rPr lang="en-US" sz="2200" dirty="0">
                <a:latin typeface="Arial"/>
                <a:cs typeface="Arial"/>
              </a:rPr>
              <a:t> conjunto com outros </a:t>
            </a:r>
            <a:r>
              <a:rPr lang="en-US" sz="2200" dirty="0" err="1">
                <a:latin typeface="Arial"/>
                <a:cs typeface="Arial"/>
              </a:rPr>
              <a:t>sistemas</a:t>
            </a:r>
            <a:r>
              <a:rPr lang="en-US" sz="2200" dirty="0">
                <a:latin typeface="Arial"/>
                <a:cs typeface="Arial"/>
              </a:rPr>
              <a:t>, </a:t>
            </a:r>
            <a:r>
              <a:rPr lang="en-US" sz="2200" dirty="0" err="1">
                <a:latin typeface="Arial"/>
                <a:cs typeface="Arial"/>
              </a:rPr>
              <a:t>devem</a:t>
            </a:r>
            <a:r>
              <a:rPr lang="en-US" sz="2200" dirty="0">
                <a:latin typeface="Arial"/>
                <a:cs typeface="Arial"/>
              </a:rPr>
              <a:t> ser </a:t>
            </a:r>
            <a:r>
              <a:rPr lang="en-US" sz="2200" dirty="0" err="1">
                <a:latin typeface="Arial"/>
                <a:cs typeface="Arial"/>
              </a:rPr>
              <a:t>projetados</a:t>
            </a:r>
            <a:r>
              <a:rPr lang="en-US" sz="2200" dirty="0">
                <a:latin typeface="Arial"/>
                <a:cs typeface="Arial"/>
              </a:rPr>
              <a:t> de forma que: </a:t>
            </a:r>
            <a:endParaRPr lang="pt-BR" sz="2200">
              <a:latin typeface="Arial"/>
              <a:cs typeface="Arial"/>
            </a:endParaRPr>
          </a:p>
          <a:p>
            <a:endParaRPr lang="en-US" sz="2200" dirty="0">
              <a:latin typeface="Arial"/>
              <a:cs typeface="Arial"/>
            </a:endParaRPr>
          </a:p>
          <a:p>
            <a:r>
              <a:rPr lang="en-US" sz="2200" dirty="0">
                <a:latin typeface="Arial"/>
                <a:cs typeface="Arial"/>
              </a:rPr>
              <a:t>• A </a:t>
            </a:r>
            <a:r>
              <a:rPr lang="en-US" sz="2200" dirty="0" err="1">
                <a:latin typeface="Arial"/>
                <a:cs typeface="Arial"/>
              </a:rPr>
              <a:t>ocorrência</a:t>
            </a:r>
            <a:r>
              <a:rPr lang="en-US" sz="2200" dirty="0">
                <a:latin typeface="Arial"/>
                <a:cs typeface="Arial"/>
              </a:rPr>
              <a:t> de </a:t>
            </a:r>
            <a:r>
              <a:rPr lang="en-US" sz="2200" dirty="0" err="1">
                <a:latin typeface="Arial"/>
                <a:cs typeface="Arial"/>
              </a:rPr>
              <a:t>qualquer</a:t>
            </a:r>
            <a:r>
              <a:rPr lang="en-US" sz="2200" dirty="0">
                <a:latin typeface="Arial"/>
                <a:cs typeface="Arial"/>
              </a:rPr>
              <a:t> </a:t>
            </a:r>
            <a:r>
              <a:rPr lang="en-US" sz="2200" dirty="0" err="1">
                <a:latin typeface="Arial"/>
                <a:cs typeface="Arial"/>
              </a:rPr>
              <a:t>condição</a:t>
            </a:r>
            <a:r>
              <a:rPr lang="en-US" sz="2200" dirty="0">
                <a:latin typeface="Arial"/>
                <a:cs typeface="Arial"/>
              </a:rPr>
              <a:t> de </a:t>
            </a:r>
            <a:r>
              <a:rPr lang="en-US" sz="2200" dirty="0" err="1">
                <a:latin typeface="Arial"/>
                <a:cs typeface="Arial"/>
              </a:rPr>
              <a:t>falha</a:t>
            </a:r>
            <a:r>
              <a:rPr lang="en-US" sz="2200" dirty="0">
                <a:latin typeface="Arial"/>
                <a:cs typeface="Arial"/>
              </a:rPr>
              <a:t> que </a:t>
            </a:r>
            <a:r>
              <a:rPr lang="en-US" sz="2200" dirty="0" err="1">
                <a:latin typeface="Arial"/>
                <a:cs typeface="Arial"/>
              </a:rPr>
              <a:t>impeça</a:t>
            </a:r>
            <a:r>
              <a:rPr lang="en-US" sz="2200" dirty="0">
                <a:latin typeface="Arial"/>
                <a:cs typeface="Arial"/>
              </a:rPr>
              <a:t> o </a:t>
            </a:r>
            <a:r>
              <a:rPr lang="en-US" sz="2200" dirty="0" err="1">
                <a:latin typeface="Arial"/>
                <a:cs typeface="Arial"/>
              </a:rPr>
              <a:t>voo</a:t>
            </a:r>
            <a:r>
              <a:rPr lang="en-US" sz="2200" dirty="0">
                <a:latin typeface="Arial"/>
                <a:cs typeface="Arial"/>
              </a:rPr>
              <a:t> </a:t>
            </a:r>
            <a:r>
              <a:rPr lang="en-US" sz="2200" dirty="0" err="1">
                <a:latin typeface="Arial"/>
                <a:cs typeface="Arial"/>
              </a:rPr>
              <a:t>seguro</a:t>
            </a:r>
            <a:r>
              <a:rPr lang="en-US" sz="2200" dirty="0">
                <a:latin typeface="Arial"/>
                <a:cs typeface="Arial"/>
              </a:rPr>
              <a:t> </a:t>
            </a:r>
            <a:r>
              <a:rPr lang="en-US" sz="2200" dirty="0" err="1">
                <a:latin typeface="Arial"/>
                <a:cs typeface="Arial"/>
              </a:rPr>
              <a:t>contínuo</a:t>
            </a:r>
            <a:r>
              <a:rPr lang="en-US" sz="2200" dirty="0">
                <a:latin typeface="Arial"/>
                <a:cs typeface="Arial"/>
              </a:rPr>
              <a:t> e o </a:t>
            </a:r>
            <a:r>
              <a:rPr lang="en-US" sz="2200" dirty="0" err="1">
                <a:latin typeface="Arial"/>
                <a:cs typeface="Arial"/>
              </a:rPr>
              <a:t>pouso</a:t>
            </a:r>
            <a:r>
              <a:rPr lang="en-US" sz="2200" dirty="0">
                <a:latin typeface="Arial"/>
                <a:cs typeface="Arial"/>
              </a:rPr>
              <a:t> </a:t>
            </a:r>
            <a:r>
              <a:rPr lang="en-US" sz="2200" dirty="0" err="1">
                <a:latin typeface="Arial"/>
                <a:cs typeface="Arial"/>
              </a:rPr>
              <a:t>seja</a:t>
            </a:r>
            <a:r>
              <a:rPr lang="en-US" sz="2200" dirty="0">
                <a:latin typeface="Arial"/>
                <a:cs typeface="Arial"/>
              </a:rPr>
              <a:t> </a:t>
            </a:r>
            <a:r>
              <a:rPr lang="en-US" sz="2200" dirty="0" err="1">
                <a:latin typeface="Arial"/>
                <a:cs typeface="Arial"/>
              </a:rPr>
              <a:t>extremamente</a:t>
            </a:r>
            <a:r>
              <a:rPr lang="en-US" sz="2200" dirty="0">
                <a:latin typeface="Arial"/>
                <a:cs typeface="Arial"/>
              </a:rPr>
              <a:t> </a:t>
            </a:r>
            <a:r>
              <a:rPr lang="en-US" sz="2200" dirty="0" err="1">
                <a:latin typeface="Arial"/>
                <a:cs typeface="Arial"/>
              </a:rPr>
              <a:t>improvável</a:t>
            </a:r>
            <a:r>
              <a:rPr lang="en-US" sz="2200" dirty="0">
                <a:latin typeface="Arial"/>
                <a:cs typeface="Arial"/>
              </a:rPr>
              <a:t>. </a:t>
            </a:r>
            <a:endParaRPr lang="pt-BR" sz="2200">
              <a:latin typeface="Arial"/>
              <a:cs typeface="Arial"/>
            </a:endParaRPr>
          </a:p>
          <a:p>
            <a:endParaRPr lang="en-US" sz="2200" dirty="0">
              <a:latin typeface="Arial"/>
              <a:cs typeface="Arial"/>
            </a:endParaRPr>
          </a:p>
          <a:p>
            <a:r>
              <a:rPr lang="en-US" sz="2200" dirty="0">
                <a:latin typeface="Arial"/>
                <a:cs typeface="Arial"/>
              </a:rPr>
              <a:t>• A </a:t>
            </a:r>
            <a:r>
              <a:rPr lang="en-US" sz="2200" dirty="0" err="1">
                <a:latin typeface="Arial"/>
                <a:cs typeface="Arial"/>
              </a:rPr>
              <a:t>ocorrência</a:t>
            </a:r>
            <a:r>
              <a:rPr lang="en-US" sz="2200" dirty="0">
                <a:latin typeface="Arial"/>
                <a:cs typeface="Arial"/>
              </a:rPr>
              <a:t> de </a:t>
            </a:r>
            <a:r>
              <a:rPr lang="en-US" sz="2200" dirty="0" err="1">
                <a:latin typeface="Arial"/>
                <a:cs typeface="Arial"/>
              </a:rPr>
              <a:t>quaisquer</a:t>
            </a:r>
            <a:r>
              <a:rPr lang="en-US" sz="2200" dirty="0">
                <a:latin typeface="Arial"/>
                <a:cs typeface="Arial"/>
              </a:rPr>
              <a:t> </a:t>
            </a:r>
            <a:r>
              <a:rPr lang="en-US" sz="2200" dirty="0" err="1">
                <a:latin typeface="Arial"/>
                <a:cs typeface="Arial"/>
              </a:rPr>
              <a:t>outras</a:t>
            </a:r>
            <a:r>
              <a:rPr lang="en-US" sz="2200" dirty="0">
                <a:latin typeface="Arial"/>
                <a:cs typeface="Arial"/>
              </a:rPr>
              <a:t> </a:t>
            </a:r>
            <a:r>
              <a:rPr lang="en-US" sz="2200" dirty="0" err="1">
                <a:latin typeface="Arial"/>
                <a:cs typeface="Arial"/>
              </a:rPr>
              <a:t>falhas</a:t>
            </a:r>
            <a:r>
              <a:rPr lang="en-US" sz="2200" dirty="0">
                <a:latin typeface="Arial"/>
                <a:cs typeface="Arial"/>
              </a:rPr>
              <a:t> que </a:t>
            </a:r>
            <a:r>
              <a:rPr lang="en-US" sz="2200" dirty="0" err="1">
                <a:latin typeface="Arial"/>
                <a:cs typeface="Arial"/>
              </a:rPr>
              <a:t>reduzam</a:t>
            </a:r>
            <a:r>
              <a:rPr lang="en-US" sz="2200" dirty="0">
                <a:latin typeface="Arial"/>
                <a:cs typeface="Arial"/>
              </a:rPr>
              <a:t> a </a:t>
            </a:r>
            <a:r>
              <a:rPr lang="en-US" sz="2200" dirty="0" err="1">
                <a:latin typeface="Arial"/>
                <a:cs typeface="Arial"/>
              </a:rPr>
              <a:t>capacidade</a:t>
            </a:r>
            <a:r>
              <a:rPr lang="en-US" sz="2200" dirty="0">
                <a:latin typeface="Arial"/>
                <a:cs typeface="Arial"/>
              </a:rPr>
              <a:t> da </a:t>
            </a:r>
            <a:r>
              <a:rPr lang="en-US" sz="2200" dirty="0" err="1">
                <a:latin typeface="Arial"/>
                <a:cs typeface="Arial"/>
              </a:rPr>
              <a:t>aeronave</a:t>
            </a:r>
            <a:r>
              <a:rPr lang="en-US" sz="2200" dirty="0">
                <a:latin typeface="Arial"/>
                <a:cs typeface="Arial"/>
              </a:rPr>
              <a:t> </a:t>
            </a:r>
            <a:r>
              <a:rPr lang="en-US" sz="2200" dirty="0" err="1">
                <a:latin typeface="Arial"/>
                <a:cs typeface="Arial"/>
              </a:rPr>
              <a:t>ou</a:t>
            </a:r>
            <a:r>
              <a:rPr lang="en-US" sz="2200" dirty="0">
                <a:latin typeface="Arial"/>
                <a:cs typeface="Arial"/>
              </a:rPr>
              <a:t> a </a:t>
            </a:r>
            <a:r>
              <a:rPr lang="en-US" sz="2200" dirty="0" err="1">
                <a:latin typeface="Arial"/>
                <a:cs typeface="Arial"/>
              </a:rPr>
              <a:t>habilidade</a:t>
            </a:r>
            <a:r>
              <a:rPr lang="en-US" sz="2200" dirty="0">
                <a:latin typeface="Arial"/>
                <a:cs typeface="Arial"/>
              </a:rPr>
              <a:t> da </a:t>
            </a:r>
            <a:r>
              <a:rPr lang="en-US" sz="2200" dirty="0" err="1">
                <a:latin typeface="Arial"/>
                <a:cs typeface="Arial"/>
              </a:rPr>
              <a:t>tripulação</a:t>
            </a:r>
            <a:r>
              <a:rPr lang="en-US" sz="2200" dirty="0">
                <a:latin typeface="Arial"/>
                <a:cs typeface="Arial"/>
              </a:rPr>
              <a:t> de lidar com </a:t>
            </a:r>
            <a:r>
              <a:rPr lang="en-US" sz="2200" dirty="0" err="1">
                <a:latin typeface="Arial"/>
                <a:cs typeface="Arial"/>
              </a:rPr>
              <a:t>situações</a:t>
            </a:r>
            <a:r>
              <a:rPr lang="en-US" sz="2200" dirty="0">
                <a:latin typeface="Arial"/>
                <a:cs typeface="Arial"/>
              </a:rPr>
              <a:t> </a:t>
            </a:r>
            <a:r>
              <a:rPr lang="en-US" sz="2200" dirty="0" err="1">
                <a:latin typeface="Arial"/>
                <a:cs typeface="Arial"/>
              </a:rPr>
              <a:t>adversas</a:t>
            </a:r>
            <a:r>
              <a:rPr lang="en-US" sz="2200" dirty="0">
                <a:latin typeface="Arial"/>
                <a:cs typeface="Arial"/>
              </a:rPr>
              <a:t> </a:t>
            </a:r>
            <a:r>
              <a:rPr lang="en-US" sz="2200" dirty="0" err="1">
                <a:latin typeface="Arial"/>
                <a:cs typeface="Arial"/>
              </a:rPr>
              <a:t>seja</a:t>
            </a:r>
            <a:r>
              <a:rPr lang="en-US" sz="2200" dirty="0">
                <a:latin typeface="Arial"/>
                <a:cs typeface="Arial"/>
              </a:rPr>
              <a:t> </a:t>
            </a:r>
            <a:r>
              <a:rPr lang="en-US" sz="2200" dirty="0" err="1">
                <a:latin typeface="Arial"/>
                <a:cs typeface="Arial"/>
              </a:rPr>
              <a:t>improvável</a:t>
            </a:r>
            <a:r>
              <a:rPr lang="en-US" sz="2200" dirty="0">
                <a:latin typeface="Arial"/>
                <a:cs typeface="Arial"/>
              </a:rPr>
              <a:t>.</a:t>
            </a:r>
            <a:endParaRPr lang="pt-BR" sz="2200">
              <a:latin typeface="Arial"/>
              <a:cs typeface="Arial"/>
            </a:endParaRPr>
          </a:p>
        </p:txBody>
      </p:sp>
      <p:sp>
        <p:nvSpPr>
          <p:cNvPr id="17" name="CaixaDeTexto 16">
            <a:extLst>
              <a:ext uri="{FF2B5EF4-FFF2-40B4-BE49-F238E27FC236}">
                <a16:creationId xmlns:a16="http://schemas.microsoft.com/office/drawing/2014/main" id="{94AA4AFC-1BD3-7BD4-98CB-C9FC4CBBB252}"/>
              </a:ext>
            </a:extLst>
          </p:cNvPr>
          <p:cNvSpPr txBox="1"/>
          <p:nvPr/>
        </p:nvSpPr>
        <p:spPr>
          <a:xfrm>
            <a:off x="1508312" y="1485900"/>
            <a:ext cx="952275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err="1">
                <a:latin typeface="Arial"/>
                <a:cs typeface="Arial"/>
              </a:rPr>
              <a:t>Requisitos</a:t>
            </a:r>
            <a:r>
              <a:rPr lang="en-US" sz="2400" dirty="0">
                <a:latin typeface="Arial"/>
                <a:cs typeface="Arial"/>
              </a:rPr>
              <a:t> de </a:t>
            </a:r>
            <a:r>
              <a:rPr lang="en-US" sz="2400" dirty="0" err="1">
                <a:latin typeface="Arial"/>
                <a:cs typeface="Arial"/>
              </a:rPr>
              <a:t>Projeto</a:t>
            </a:r>
            <a:r>
              <a:rPr lang="en-US" sz="2400" dirty="0">
                <a:latin typeface="Arial"/>
                <a:cs typeface="Arial"/>
              </a:rPr>
              <a:t> e Segurança de Sistemas e Equipamentos </a:t>
            </a:r>
            <a:endParaRPr lang="pt-BR" sz="2400" dirty="0">
              <a:latin typeface="Arial"/>
              <a:cs typeface="Arial"/>
            </a:endParaRPr>
          </a:p>
        </p:txBody>
      </p:sp>
    </p:spTree>
    <p:extLst>
      <p:ext uri="{BB962C8B-B14F-4D97-AF65-F5344CB8AC3E}">
        <p14:creationId xmlns:p14="http://schemas.microsoft.com/office/powerpoint/2010/main" val="2771719630"/>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424A0-F368-983B-3F21-A2526C6009C6}"/>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3325469A-D08F-1DFF-AF07-6A619E6C6776}"/>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942F5345-B557-08D1-1001-6A37069BD7AF}"/>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3</a:t>
            </a:r>
            <a:endParaRPr kumimoji="0" lang="pt-BR" sz="2000" b="1"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5080E093-1385-EF6F-FFBF-81BB7B7F1703}"/>
              </a:ext>
            </a:extLst>
          </p:cNvPr>
          <p:cNvSpPr txBox="1"/>
          <p:nvPr/>
        </p:nvSpPr>
        <p:spPr>
          <a:xfrm>
            <a:off x="204278" y="564779"/>
            <a:ext cx="5819222" cy="307777"/>
          </a:xfrm>
          <a:prstGeom prst="rect">
            <a:avLst/>
          </a:prstGeom>
          <a:noFill/>
        </p:spPr>
        <p:txBody>
          <a:bodyPr wrap="none" lIns="91440" tIns="45720" rIns="91440" bIns="45720" rtlCol="0" anchor="t">
            <a:spAutoFit/>
          </a:bodyPr>
          <a:lstStyle/>
          <a:p>
            <a:r>
              <a:rPr lang="pt-BR" sz="1400" u="sng" dirty="0">
                <a:solidFill>
                  <a:srgbClr val="0070C0"/>
                </a:solidFill>
                <a:latin typeface="Arial"/>
                <a:cs typeface="Arial"/>
              </a:rPr>
              <a:t>Slide 3.4- RBAC 25, §25.1309 – </a:t>
            </a:r>
            <a:r>
              <a:rPr lang="pt-BR" sz="1400" u="sng" dirty="0" err="1">
                <a:solidFill>
                  <a:srgbClr val="0070C0"/>
                </a:solidFill>
                <a:latin typeface="Arial"/>
                <a:cs typeface="Arial"/>
              </a:rPr>
              <a:t>Equipment</a:t>
            </a:r>
            <a:r>
              <a:rPr lang="pt-BR" sz="1400" u="sng" dirty="0">
                <a:solidFill>
                  <a:srgbClr val="0070C0"/>
                </a:solidFill>
                <a:latin typeface="Arial"/>
                <a:cs typeface="Arial"/>
              </a:rPr>
              <a:t>, Systems, </a:t>
            </a:r>
            <a:r>
              <a:rPr lang="pt-BR" sz="1400" u="sng" dirty="0" err="1">
                <a:solidFill>
                  <a:srgbClr val="0070C0"/>
                </a:solidFill>
                <a:latin typeface="Arial"/>
                <a:cs typeface="Arial"/>
              </a:rPr>
              <a:t>and</a:t>
            </a:r>
            <a:r>
              <a:rPr lang="pt-BR" sz="1400" u="sng" dirty="0">
                <a:solidFill>
                  <a:srgbClr val="0070C0"/>
                </a:solidFill>
                <a:latin typeface="Arial"/>
                <a:cs typeface="Arial"/>
              </a:rPr>
              <a:t> </a:t>
            </a:r>
            <a:r>
              <a:rPr lang="pt-BR" sz="1400" u="sng" dirty="0" err="1">
                <a:solidFill>
                  <a:srgbClr val="0070C0"/>
                </a:solidFill>
                <a:latin typeface="Arial"/>
                <a:cs typeface="Arial"/>
              </a:rPr>
              <a:t>Installations</a:t>
            </a:r>
            <a:endParaRPr lang="pt-BR" sz="1400" u="sng" dirty="0">
              <a:solidFill>
                <a:srgbClr val="0070C0"/>
              </a:solidFill>
              <a:latin typeface="Arial"/>
              <a:cs typeface="Arial"/>
            </a:endParaRPr>
          </a:p>
        </p:txBody>
      </p:sp>
      <p:sp>
        <p:nvSpPr>
          <p:cNvPr id="8" name="CaixaDeTexto 7">
            <a:extLst>
              <a:ext uri="{FF2B5EF4-FFF2-40B4-BE49-F238E27FC236}">
                <a16:creationId xmlns:a16="http://schemas.microsoft.com/office/drawing/2014/main" id="{77444A73-4CA4-8732-0E4C-B7AA48FC9FCF}"/>
              </a:ext>
            </a:extLst>
          </p:cNvPr>
          <p:cNvSpPr txBox="1"/>
          <p:nvPr/>
        </p:nvSpPr>
        <p:spPr>
          <a:xfrm>
            <a:off x="10278139" y="-19291"/>
            <a:ext cx="1910919" cy="665622"/>
          </a:xfrm>
          <a:prstGeom prst="rect">
            <a:avLst/>
          </a:prstGeom>
          <a:noFill/>
        </p:spPr>
        <p:txBody>
          <a:bodyPr wrap="square" lIns="91440" tIns="45720" rIns="91440" bIns="45720" rtlCol="0" anchor="t">
            <a:spAutoFit/>
          </a:bodyPr>
          <a:lstStyle/>
          <a:p>
            <a:pPr algn="ctr">
              <a:defRPr/>
            </a:pPr>
            <a:r>
              <a:rPr lang="pt-BR" u="sng" dirty="0" err="1">
                <a:solidFill>
                  <a:srgbClr val="0070C0"/>
                </a:solidFill>
                <a:latin typeface="Aptos" panose="02110004020202020204"/>
              </a:rPr>
              <a:t>Resp.:Guilherme</a:t>
            </a:r>
            <a:r>
              <a:rPr lang="pt-BR" u="sng" dirty="0">
                <a:solidFill>
                  <a:srgbClr val="0070C0"/>
                </a:solidFill>
                <a:latin typeface="Aptos" panose="02110004020202020204"/>
              </a:rPr>
              <a:t> Andrew</a:t>
            </a:r>
            <a:endParaRPr lang="pt-BR" dirty="0"/>
          </a:p>
        </p:txBody>
      </p:sp>
      <p:sp>
        <p:nvSpPr>
          <p:cNvPr id="9" name="CaixaDeTexto 8">
            <a:extLst>
              <a:ext uri="{FF2B5EF4-FFF2-40B4-BE49-F238E27FC236}">
                <a16:creationId xmlns:a16="http://schemas.microsoft.com/office/drawing/2014/main" id="{7AF35D85-A677-0DE0-2200-F649B5E4E683}"/>
              </a:ext>
            </a:extLst>
          </p:cNvPr>
          <p:cNvSpPr txBox="1"/>
          <p:nvPr/>
        </p:nvSpPr>
        <p:spPr>
          <a:xfrm>
            <a:off x="1608667" y="-18398"/>
            <a:ext cx="8669433" cy="738664"/>
          </a:xfrm>
          <a:prstGeom prst="rect">
            <a:avLst/>
          </a:prstGeom>
          <a:noFill/>
        </p:spPr>
        <p:txBody>
          <a:bodyPr wrap="square" lIns="91440" tIns="45720" rIns="91440" bIns="45720" rtlCol="0" anchor="t">
            <a:spAutoFit/>
          </a:bodyPr>
          <a:lstStyle/>
          <a:p>
            <a:pPr>
              <a:defRPr/>
            </a:pPr>
            <a:r>
              <a:rPr lang="pt-BR" sz="1400" dirty="0">
                <a:solidFill>
                  <a:srgbClr val="0B78A2"/>
                </a:solidFill>
                <a:latin typeface="Arial"/>
                <a:cs typeface="Arial"/>
              </a:rPr>
              <a:t>Requisitos de Projeto aplicáveis a Sistemas de Comandos de Voo: Desenvolva</a:t>
            </a:r>
            <a:r>
              <a:rPr lang="pt-BR" sz="1400" dirty="0">
                <a:solidFill>
                  <a:srgbClr val="0B78A2"/>
                </a:solidFill>
                <a:latin typeface="Arial"/>
                <a:ea typeface="Calibri"/>
                <a:cs typeface="Arial"/>
              </a:rPr>
              <a:t> uma árvore de falhas qualitativa e quantitativa[1] do Sistema de Compensação do Estabilizador Horizontal</a:t>
            </a:r>
            <a:endParaRPr lang="pt-BR" sz="1400" dirty="0">
              <a:solidFill>
                <a:srgbClr val="0B78A2"/>
              </a:solidFill>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B2A3D122-174F-9813-3AF9-48D60CDB5E75}"/>
              </a:ext>
            </a:extLst>
          </p:cNvPr>
          <p:cNvPicPr>
            <a:picLocks noChangeAspect="1"/>
          </p:cNvPicPr>
          <p:nvPr/>
        </p:nvPicPr>
        <p:blipFill>
          <a:blip r:embed="rId2"/>
          <a:stretch>
            <a:fillRect/>
          </a:stretch>
        </p:blipFill>
        <p:spPr>
          <a:xfrm>
            <a:off x="11376976" y="6370905"/>
            <a:ext cx="753561" cy="492889"/>
          </a:xfrm>
          <a:prstGeom prst="rect">
            <a:avLst/>
          </a:prstGeom>
        </p:spPr>
      </p:pic>
      <p:sp>
        <p:nvSpPr>
          <p:cNvPr id="17" name="CaixaDeTexto 16">
            <a:extLst>
              <a:ext uri="{FF2B5EF4-FFF2-40B4-BE49-F238E27FC236}">
                <a16:creationId xmlns:a16="http://schemas.microsoft.com/office/drawing/2014/main" id="{5D0E0623-95C3-A693-6842-9B01A6109F67}"/>
              </a:ext>
            </a:extLst>
          </p:cNvPr>
          <p:cNvSpPr txBox="1"/>
          <p:nvPr/>
        </p:nvSpPr>
        <p:spPr>
          <a:xfrm>
            <a:off x="1508312" y="1485900"/>
            <a:ext cx="952275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err="1">
                <a:latin typeface="Arial"/>
                <a:cs typeface="Arial"/>
              </a:rPr>
              <a:t>Requisitos</a:t>
            </a:r>
            <a:r>
              <a:rPr lang="en-US" sz="2400" dirty="0">
                <a:latin typeface="Arial"/>
                <a:cs typeface="Arial"/>
              </a:rPr>
              <a:t> de </a:t>
            </a:r>
            <a:r>
              <a:rPr lang="en-US" sz="2400" dirty="0" err="1">
                <a:latin typeface="Arial"/>
                <a:cs typeface="Arial"/>
              </a:rPr>
              <a:t>Projeto</a:t>
            </a:r>
            <a:r>
              <a:rPr lang="en-US" sz="2400" dirty="0">
                <a:latin typeface="Arial"/>
                <a:cs typeface="Arial"/>
              </a:rPr>
              <a:t> e Segurança de Sistemas e Equipamentos </a:t>
            </a:r>
            <a:endParaRPr lang="pt-BR" sz="2400" dirty="0">
              <a:latin typeface="Arial"/>
              <a:cs typeface="Arial"/>
            </a:endParaRPr>
          </a:p>
        </p:txBody>
      </p:sp>
      <p:sp>
        <p:nvSpPr>
          <p:cNvPr id="2" name="CaixaDeTexto 1">
            <a:extLst>
              <a:ext uri="{FF2B5EF4-FFF2-40B4-BE49-F238E27FC236}">
                <a16:creationId xmlns:a16="http://schemas.microsoft.com/office/drawing/2014/main" id="{6783FA77-52A1-CC69-4E9E-0D921A05FDE0}"/>
              </a:ext>
            </a:extLst>
          </p:cNvPr>
          <p:cNvSpPr txBox="1"/>
          <p:nvPr/>
        </p:nvSpPr>
        <p:spPr>
          <a:xfrm>
            <a:off x="538620" y="2542783"/>
            <a:ext cx="10707664"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latin typeface="Arial"/>
                <a:cs typeface="Arial"/>
              </a:rPr>
              <a:t>• </a:t>
            </a:r>
            <a:r>
              <a:rPr lang="en-US" sz="2200" dirty="0" err="1">
                <a:latin typeface="Arial"/>
                <a:cs typeface="Arial"/>
              </a:rPr>
              <a:t>Devem</a:t>
            </a:r>
            <a:r>
              <a:rPr lang="en-US" sz="2200" dirty="0">
                <a:latin typeface="Arial"/>
                <a:cs typeface="Arial"/>
              </a:rPr>
              <a:t> ser </a:t>
            </a:r>
            <a:r>
              <a:rPr lang="en-US" sz="2200" dirty="0" err="1">
                <a:latin typeface="Arial"/>
                <a:cs typeface="Arial"/>
              </a:rPr>
              <a:t>fornecidas</a:t>
            </a:r>
            <a:r>
              <a:rPr lang="en-US" sz="2200" dirty="0">
                <a:latin typeface="Arial"/>
                <a:cs typeface="Arial"/>
              </a:rPr>
              <a:t> </a:t>
            </a:r>
            <a:r>
              <a:rPr lang="en-US" sz="2200" dirty="0" err="1">
                <a:latin typeface="Arial"/>
                <a:cs typeface="Arial"/>
              </a:rPr>
              <a:t>informações</a:t>
            </a:r>
            <a:r>
              <a:rPr lang="en-US" sz="2200" dirty="0">
                <a:latin typeface="Arial"/>
                <a:cs typeface="Arial"/>
              </a:rPr>
              <a:t> de </a:t>
            </a:r>
            <a:r>
              <a:rPr lang="en-US" sz="2200" dirty="0" err="1">
                <a:latin typeface="Arial"/>
                <a:cs typeface="Arial"/>
              </a:rPr>
              <a:t>alerta</a:t>
            </a:r>
            <a:r>
              <a:rPr lang="en-US" sz="2200" dirty="0">
                <a:latin typeface="Arial"/>
                <a:cs typeface="Arial"/>
              </a:rPr>
              <a:t> para </a:t>
            </a:r>
            <a:r>
              <a:rPr lang="en-US" sz="2200" dirty="0" err="1">
                <a:latin typeface="Arial"/>
                <a:cs typeface="Arial"/>
              </a:rPr>
              <a:t>avisar</a:t>
            </a:r>
            <a:r>
              <a:rPr lang="en-US" sz="2200" dirty="0">
                <a:latin typeface="Arial"/>
                <a:cs typeface="Arial"/>
              </a:rPr>
              <a:t> a </a:t>
            </a:r>
            <a:r>
              <a:rPr lang="en-US" sz="2200" dirty="0" err="1">
                <a:latin typeface="Arial"/>
                <a:cs typeface="Arial"/>
              </a:rPr>
              <a:t>tripulação</a:t>
            </a:r>
            <a:r>
              <a:rPr lang="en-US" sz="2200" dirty="0">
                <a:latin typeface="Arial"/>
                <a:cs typeface="Arial"/>
              </a:rPr>
              <a:t> </a:t>
            </a:r>
            <a:r>
              <a:rPr lang="en-US" sz="2200" dirty="0" err="1">
                <a:latin typeface="Arial"/>
                <a:cs typeface="Arial"/>
              </a:rPr>
              <a:t>sobre</a:t>
            </a:r>
            <a:r>
              <a:rPr lang="en-US" sz="2200" dirty="0">
                <a:latin typeface="Arial"/>
                <a:cs typeface="Arial"/>
              </a:rPr>
              <a:t> </a:t>
            </a:r>
            <a:r>
              <a:rPr lang="en-US" sz="2200" dirty="0" err="1">
                <a:latin typeface="Arial"/>
                <a:cs typeface="Arial"/>
              </a:rPr>
              <a:t>condições</a:t>
            </a:r>
            <a:r>
              <a:rPr lang="en-US" sz="2200" dirty="0">
                <a:latin typeface="Arial"/>
                <a:cs typeface="Arial"/>
              </a:rPr>
              <a:t> </a:t>
            </a:r>
            <a:r>
              <a:rPr lang="en-US" sz="2200" dirty="0" err="1">
                <a:latin typeface="Arial"/>
                <a:cs typeface="Arial"/>
              </a:rPr>
              <a:t>inseguras</a:t>
            </a:r>
            <a:r>
              <a:rPr lang="en-US" sz="2200" dirty="0">
                <a:latin typeface="Arial"/>
                <a:cs typeface="Arial"/>
              </a:rPr>
              <a:t>, </a:t>
            </a:r>
            <a:r>
              <a:rPr lang="en-US" sz="2200" dirty="0" err="1">
                <a:latin typeface="Arial"/>
                <a:cs typeface="Arial"/>
              </a:rPr>
              <a:t>permitindo</a:t>
            </a:r>
            <a:r>
              <a:rPr lang="en-US" sz="2200" dirty="0">
                <a:latin typeface="Arial"/>
                <a:cs typeface="Arial"/>
              </a:rPr>
              <a:t> que </a:t>
            </a:r>
            <a:r>
              <a:rPr lang="en-US" sz="2200" dirty="0" err="1">
                <a:latin typeface="Arial"/>
                <a:cs typeface="Arial"/>
              </a:rPr>
              <a:t>adotem</a:t>
            </a:r>
            <a:r>
              <a:rPr lang="en-US" sz="2200" dirty="0">
                <a:latin typeface="Arial"/>
                <a:cs typeface="Arial"/>
              </a:rPr>
              <a:t> </a:t>
            </a:r>
            <a:r>
              <a:rPr lang="en-US" sz="2200" dirty="0" err="1">
                <a:latin typeface="Arial"/>
                <a:cs typeface="Arial"/>
              </a:rPr>
              <a:t>ações</a:t>
            </a:r>
            <a:r>
              <a:rPr lang="en-US" sz="2200" dirty="0">
                <a:latin typeface="Arial"/>
                <a:cs typeface="Arial"/>
              </a:rPr>
              <a:t> </a:t>
            </a:r>
            <a:r>
              <a:rPr lang="en-US" sz="2200" dirty="0" err="1">
                <a:latin typeface="Arial"/>
                <a:cs typeface="Arial"/>
              </a:rPr>
              <a:t>corretivas</a:t>
            </a:r>
            <a:r>
              <a:rPr lang="en-US" sz="2200" dirty="0">
                <a:latin typeface="Arial"/>
                <a:cs typeface="Arial"/>
              </a:rPr>
              <a:t> </a:t>
            </a:r>
            <a:r>
              <a:rPr lang="en-US" sz="2200" dirty="0" err="1">
                <a:latin typeface="Arial"/>
                <a:cs typeface="Arial"/>
              </a:rPr>
              <a:t>apropriadas</a:t>
            </a:r>
            <a:r>
              <a:rPr lang="en-US" sz="2200" dirty="0">
                <a:latin typeface="Arial"/>
                <a:cs typeface="Arial"/>
              </a:rPr>
              <a:t>. </a:t>
            </a:r>
            <a:endParaRPr lang="pt-BR" sz="2200" dirty="0">
              <a:latin typeface="Arial"/>
              <a:cs typeface="Arial"/>
            </a:endParaRPr>
          </a:p>
          <a:p>
            <a:endParaRPr lang="en-US" sz="2200" dirty="0">
              <a:latin typeface="Arial"/>
              <a:cs typeface="Arial"/>
            </a:endParaRPr>
          </a:p>
          <a:p>
            <a:r>
              <a:rPr lang="en-US" sz="2200" dirty="0">
                <a:latin typeface="Arial"/>
                <a:cs typeface="Arial"/>
              </a:rPr>
              <a:t>• Sistemas, </a:t>
            </a:r>
            <a:r>
              <a:rPr lang="en-US" sz="2200" dirty="0" err="1">
                <a:latin typeface="Arial"/>
                <a:cs typeface="Arial"/>
              </a:rPr>
              <a:t>controles</a:t>
            </a:r>
            <a:r>
              <a:rPr lang="en-US" sz="2200" dirty="0">
                <a:latin typeface="Arial"/>
                <a:cs typeface="Arial"/>
              </a:rPr>
              <a:t> e </a:t>
            </a:r>
            <a:r>
              <a:rPr lang="en-US" sz="2200" dirty="0" err="1">
                <a:latin typeface="Arial"/>
                <a:cs typeface="Arial"/>
              </a:rPr>
              <a:t>meios</a:t>
            </a:r>
            <a:r>
              <a:rPr lang="en-US" sz="2200" dirty="0">
                <a:latin typeface="Arial"/>
                <a:cs typeface="Arial"/>
              </a:rPr>
              <a:t> </a:t>
            </a:r>
            <a:r>
              <a:rPr lang="en-US" sz="2200" dirty="0" err="1">
                <a:latin typeface="Arial"/>
                <a:cs typeface="Arial"/>
              </a:rPr>
              <a:t>associados</a:t>
            </a:r>
            <a:r>
              <a:rPr lang="en-US" sz="2200" dirty="0">
                <a:latin typeface="Arial"/>
                <a:cs typeface="Arial"/>
              </a:rPr>
              <a:t> de </a:t>
            </a:r>
            <a:r>
              <a:rPr lang="en-US" sz="2200" dirty="0" err="1">
                <a:latin typeface="Arial"/>
                <a:cs typeface="Arial"/>
              </a:rPr>
              <a:t>monitoramento</a:t>
            </a:r>
            <a:r>
              <a:rPr lang="en-US" sz="2200" dirty="0">
                <a:latin typeface="Arial"/>
                <a:cs typeface="Arial"/>
              </a:rPr>
              <a:t> e </a:t>
            </a:r>
            <a:r>
              <a:rPr lang="en-US" sz="2200" dirty="0" err="1">
                <a:latin typeface="Arial"/>
                <a:cs typeface="Arial"/>
              </a:rPr>
              <a:t>alerta</a:t>
            </a:r>
            <a:r>
              <a:rPr lang="en-US" sz="2200" dirty="0">
                <a:latin typeface="Arial"/>
                <a:cs typeface="Arial"/>
              </a:rPr>
              <a:t> </a:t>
            </a:r>
            <a:r>
              <a:rPr lang="en-US" sz="2200" dirty="0" err="1">
                <a:latin typeface="Arial"/>
                <a:cs typeface="Arial"/>
              </a:rPr>
              <a:t>devem</a:t>
            </a:r>
            <a:r>
              <a:rPr lang="en-US" sz="2200" dirty="0">
                <a:latin typeface="Arial"/>
                <a:cs typeface="Arial"/>
              </a:rPr>
              <a:t> ser </a:t>
            </a:r>
            <a:r>
              <a:rPr lang="en-US" sz="2200" dirty="0" err="1">
                <a:latin typeface="Arial"/>
                <a:cs typeface="Arial"/>
              </a:rPr>
              <a:t>projetados</a:t>
            </a:r>
            <a:r>
              <a:rPr lang="en-US" sz="2200" dirty="0">
                <a:latin typeface="Arial"/>
                <a:cs typeface="Arial"/>
              </a:rPr>
              <a:t> para </a:t>
            </a:r>
            <a:r>
              <a:rPr lang="en-US" sz="2200" dirty="0" err="1">
                <a:latin typeface="Arial"/>
                <a:cs typeface="Arial"/>
              </a:rPr>
              <a:t>minimizar</a:t>
            </a:r>
            <a:r>
              <a:rPr lang="en-US" sz="2200" dirty="0">
                <a:latin typeface="Arial"/>
                <a:cs typeface="Arial"/>
              </a:rPr>
              <a:t> </a:t>
            </a:r>
            <a:r>
              <a:rPr lang="en-US" sz="2200" dirty="0" err="1">
                <a:latin typeface="Arial"/>
                <a:cs typeface="Arial"/>
              </a:rPr>
              <a:t>erros</a:t>
            </a:r>
            <a:r>
              <a:rPr lang="en-US" sz="2200" dirty="0">
                <a:latin typeface="Arial"/>
                <a:cs typeface="Arial"/>
              </a:rPr>
              <a:t> da </a:t>
            </a:r>
            <a:r>
              <a:rPr lang="en-US" sz="2200" dirty="0" err="1">
                <a:latin typeface="Arial"/>
                <a:cs typeface="Arial"/>
              </a:rPr>
              <a:t>tripulação</a:t>
            </a:r>
            <a:r>
              <a:rPr lang="en-US" sz="2200" dirty="0">
                <a:latin typeface="Arial"/>
                <a:cs typeface="Arial"/>
              </a:rPr>
              <a:t> que </a:t>
            </a:r>
            <a:r>
              <a:rPr lang="en-US" sz="2200" dirty="0" err="1">
                <a:latin typeface="Arial"/>
                <a:cs typeface="Arial"/>
              </a:rPr>
              <a:t>poderiam</a:t>
            </a:r>
            <a:r>
              <a:rPr lang="en-US" sz="2200" dirty="0">
                <a:latin typeface="Arial"/>
                <a:cs typeface="Arial"/>
              </a:rPr>
              <a:t> </a:t>
            </a:r>
            <a:r>
              <a:rPr lang="en-US" sz="2200" dirty="0" err="1">
                <a:latin typeface="Arial"/>
                <a:cs typeface="Arial"/>
              </a:rPr>
              <a:t>gerar</a:t>
            </a:r>
            <a:r>
              <a:rPr lang="en-US" sz="2200" dirty="0">
                <a:latin typeface="Arial"/>
                <a:cs typeface="Arial"/>
              </a:rPr>
              <a:t> </a:t>
            </a:r>
            <a:r>
              <a:rPr lang="en-US" sz="2200" dirty="0" err="1">
                <a:latin typeface="Arial"/>
                <a:cs typeface="Arial"/>
              </a:rPr>
              <a:t>riscos</a:t>
            </a:r>
            <a:r>
              <a:rPr lang="en-US" sz="2200" dirty="0">
                <a:latin typeface="Arial"/>
                <a:cs typeface="Arial"/>
              </a:rPr>
              <a:t> </a:t>
            </a:r>
            <a:r>
              <a:rPr lang="en-US" sz="2200" dirty="0" err="1">
                <a:latin typeface="Arial"/>
                <a:cs typeface="Arial"/>
              </a:rPr>
              <a:t>adicionais</a:t>
            </a:r>
            <a:r>
              <a:rPr lang="en-US" sz="2200" dirty="0">
                <a:latin typeface="Arial"/>
                <a:cs typeface="Arial"/>
              </a:rPr>
              <a:t>. </a:t>
            </a:r>
          </a:p>
          <a:p>
            <a:endParaRPr lang="en-US" sz="2200" dirty="0">
              <a:latin typeface="Arial"/>
              <a:cs typeface="Arial"/>
            </a:endParaRPr>
          </a:p>
          <a:p>
            <a:r>
              <a:rPr lang="en-US" sz="2200" dirty="0">
                <a:latin typeface="Arial"/>
                <a:cs typeface="Arial"/>
              </a:rPr>
              <a:t>• A </a:t>
            </a:r>
            <a:r>
              <a:rPr lang="en-US" sz="2200" dirty="0" err="1">
                <a:latin typeface="Arial"/>
                <a:cs typeface="Arial"/>
              </a:rPr>
              <a:t>conformidade</a:t>
            </a:r>
            <a:r>
              <a:rPr lang="en-US" sz="2200" dirty="0">
                <a:latin typeface="Arial"/>
                <a:cs typeface="Arial"/>
              </a:rPr>
              <a:t> com </a:t>
            </a:r>
            <a:r>
              <a:rPr lang="en-US" sz="2200" dirty="0" err="1">
                <a:latin typeface="Arial"/>
                <a:cs typeface="Arial"/>
              </a:rPr>
              <a:t>os</a:t>
            </a:r>
            <a:r>
              <a:rPr lang="en-US" sz="2200" dirty="0">
                <a:latin typeface="Arial"/>
                <a:cs typeface="Arial"/>
              </a:rPr>
              <a:t> </a:t>
            </a:r>
            <a:r>
              <a:rPr lang="en-US" sz="2200" dirty="0" err="1">
                <a:latin typeface="Arial"/>
                <a:cs typeface="Arial"/>
              </a:rPr>
              <a:t>requisitos</a:t>
            </a:r>
            <a:r>
              <a:rPr lang="en-US" sz="2200" dirty="0">
                <a:latin typeface="Arial"/>
                <a:cs typeface="Arial"/>
              </a:rPr>
              <a:t> do item (2) </a:t>
            </a:r>
            <a:r>
              <a:rPr lang="en-US" sz="2200" dirty="0" err="1">
                <a:latin typeface="Arial"/>
                <a:cs typeface="Arial"/>
              </a:rPr>
              <a:t>deve</a:t>
            </a:r>
            <a:r>
              <a:rPr lang="en-US" sz="2200" dirty="0">
                <a:latin typeface="Arial"/>
                <a:cs typeface="Arial"/>
              </a:rPr>
              <a:t> ser </a:t>
            </a:r>
            <a:r>
              <a:rPr lang="en-US" sz="2200" dirty="0" err="1">
                <a:latin typeface="Arial"/>
                <a:cs typeface="Arial"/>
              </a:rPr>
              <a:t>demonstrada</a:t>
            </a:r>
            <a:r>
              <a:rPr lang="en-US" sz="2200" dirty="0">
                <a:latin typeface="Arial"/>
                <a:cs typeface="Arial"/>
              </a:rPr>
              <a:t> </a:t>
            </a:r>
            <a:r>
              <a:rPr lang="en-US" sz="2200" dirty="0" err="1">
                <a:latin typeface="Arial"/>
                <a:cs typeface="Arial"/>
              </a:rPr>
              <a:t>por</a:t>
            </a:r>
            <a:r>
              <a:rPr lang="en-US" sz="2200" dirty="0">
                <a:latin typeface="Arial"/>
                <a:cs typeface="Arial"/>
              </a:rPr>
              <a:t> </a:t>
            </a:r>
            <a:r>
              <a:rPr lang="en-US" sz="2200" dirty="0" err="1">
                <a:latin typeface="Arial"/>
                <a:cs typeface="Arial"/>
              </a:rPr>
              <a:t>análise</a:t>
            </a:r>
            <a:r>
              <a:rPr lang="en-US" sz="2200" dirty="0">
                <a:latin typeface="Arial"/>
                <a:cs typeface="Arial"/>
              </a:rPr>
              <a:t> e, </a:t>
            </a:r>
            <a:r>
              <a:rPr lang="en-US" sz="2200" dirty="0" err="1">
                <a:latin typeface="Arial"/>
                <a:cs typeface="Arial"/>
              </a:rPr>
              <a:t>quando</a:t>
            </a:r>
            <a:r>
              <a:rPr lang="en-US" sz="2200" dirty="0">
                <a:latin typeface="Arial"/>
                <a:cs typeface="Arial"/>
              </a:rPr>
              <a:t> </a:t>
            </a:r>
            <a:r>
              <a:rPr lang="en-US" sz="2200" dirty="0" err="1">
                <a:latin typeface="Arial"/>
                <a:cs typeface="Arial"/>
              </a:rPr>
              <a:t>necessário</a:t>
            </a:r>
            <a:r>
              <a:rPr lang="en-US" sz="2200" dirty="0">
                <a:latin typeface="Arial"/>
                <a:cs typeface="Arial"/>
              </a:rPr>
              <a:t>, </a:t>
            </a:r>
            <a:r>
              <a:rPr lang="en-US" sz="2200" dirty="0" err="1">
                <a:latin typeface="Arial"/>
                <a:cs typeface="Arial"/>
              </a:rPr>
              <a:t>por</a:t>
            </a:r>
            <a:r>
              <a:rPr lang="en-US" sz="2200" dirty="0">
                <a:latin typeface="Arial"/>
                <a:cs typeface="Arial"/>
              </a:rPr>
              <a:t> testes </a:t>
            </a:r>
            <a:r>
              <a:rPr lang="en-US" sz="2200" dirty="0" err="1">
                <a:latin typeface="Arial"/>
                <a:cs typeface="Arial"/>
              </a:rPr>
              <a:t>em</a:t>
            </a:r>
            <a:r>
              <a:rPr lang="en-US" sz="2200" dirty="0">
                <a:latin typeface="Arial"/>
                <a:cs typeface="Arial"/>
              </a:rPr>
              <a:t> solo, </a:t>
            </a:r>
            <a:r>
              <a:rPr lang="en-US" sz="2200" dirty="0" err="1">
                <a:latin typeface="Arial"/>
                <a:cs typeface="Arial"/>
              </a:rPr>
              <a:t>voo</a:t>
            </a:r>
            <a:r>
              <a:rPr lang="en-US" sz="2200" dirty="0">
                <a:latin typeface="Arial"/>
                <a:cs typeface="Arial"/>
              </a:rPr>
              <a:t> </a:t>
            </a:r>
            <a:r>
              <a:rPr lang="en-US" sz="2200" dirty="0" err="1">
                <a:latin typeface="Arial"/>
                <a:cs typeface="Arial"/>
              </a:rPr>
              <a:t>ou</a:t>
            </a:r>
            <a:r>
              <a:rPr lang="en-US" sz="2200" dirty="0">
                <a:latin typeface="Arial"/>
                <a:cs typeface="Arial"/>
              </a:rPr>
              <a:t> </a:t>
            </a:r>
            <a:r>
              <a:rPr lang="en-US" sz="2200" dirty="0" err="1">
                <a:latin typeface="Arial"/>
                <a:cs typeface="Arial"/>
              </a:rPr>
              <a:t>simuladores</a:t>
            </a:r>
            <a:r>
              <a:rPr lang="en-US" sz="2200" dirty="0">
                <a:latin typeface="Arial"/>
                <a:cs typeface="Arial"/>
              </a:rPr>
              <a:t>, </a:t>
            </a:r>
            <a:r>
              <a:rPr lang="en-US" sz="2200" dirty="0" err="1">
                <a:latin typeface="Arial"/>
                <a:cs typeface="Arial"/>
              </a:rPr>
              <a:t>considerando</a:t>
            </a:r>
            <a:r>
              <a:rPr lang="en-US" sz="2200" dirty="0">
                <a:latin typeface="Arial"/>
                <a:cs typeface="Arial"/>
              </a:rPr>
              <a:t>: </a:t>
            </a:r>
          </a:p>
          <a:p>
            <a:endParaRPr lang="en-US" sz="2200" dirty="0">
              <a:latin typeface="Arial"/>
              <a:cs typeface="Arial"/>
            </a:endParaRPr>
          </a:p>
          <a:p>
            <a:r>
              <a:rPr lang="en-US" sz="2200" dirty="0">
                <a:latin typeface="Arial"/>
                <a:cs typeface="Arial"/>
              </a:rPr>
              <a:t>• </a:t>
            </a:r>
            <a:r>
              <a:rPr lang="en-US" sz="2200" dirty="0" err="1">
                <a:latin typeface="Arial"/>
                <a:cs typeface="Arial"/>
              </a:rPr>
              <a:t>Modos</a:t>
            </a:r>
            <a:r>
              <a:rPr lang="en-US" sz="2200" dirty="0">
                <a:latin typeface="Arial"/>
                <a:cs typeface="Arial"/>
              </a:rPr>
              <a:t> </a:t>
            </a:r>
            <a:r>
              <a:rPr lang="en-US" sz="2200" dirty="0" err="1">
                <a:latin typeface="Arial"/>
                <a:cs typeface="Arial"/>
              </a:rPr>
              <a:t>possíveis</a:t>
            </a:r>
            <a:r>
              <a:rPr lang="en-US" sz="2200" dirty="0">
                <a:latin typeface="Arial"/>
                <a:cs typeface="Arial"/>
              </a:rPr>
              <a:t> de </a:t>
            </a:r>
            <a:r>
              <a:rPr lang="en-US" sz="2200" dirty="0" err="1">
                <a:latin typeface="Arial"/>
                <a:cs typeface="Arial"/>
              </a:rPr>
              <a:t>falha</a:t>
            </a:r>
            <a:r>
              <a:rPr lang="en-US" sz="2200" dirty="0">
                <a:latin typeface="Arial"/>
                <a:cs typeface="Arial"/>
              </a:rPr>
              <a:t>, </a:t>
            </a:r>
            <a:r>
              <a:rPr lang="en-US" sz="2200" dirty="0" err="1">
                <a:latin typeface="Arial"/>
                <a:cs typeface="Arial"/>
              </a:rPr>
              <a:t>incluindo</a:t>
            </a:r>
            <a:r>
              <a:rPr lang="en-US" sz="2200" dirty="0">
                <a:latin typeface="Arial"/>
                <a:cs typeface="Arial"/>
              </a:rPr>
              <a:t> </a:t>
            </a:r>
            <a:r>
              <a:rPr lang="en-US" sz="2200" dirty="0" err="1">
                <a:latin typeface="Arial"/>
                <a:cs typeface="Arial"/>
              </a:rPr>
              <a:t>mau</a:t>
            </a:r>
            <a:r>
              <a:rPr lang="en-US" sz="2200" dirty="0">
                <a:latin typeface="Arial"/>
                <a:cs typeface="Arial"/>
              </a:rPr>
              <a:t> </a:t>
            </a:r>
            <a:r>
              <a:rPr lang="en-US" sz="2200" dirty="0" err="1">
                <a:latin typeface="Arial"/>
                <a:cs typeface="Arial"/>
              </a:rPr>
              <a:t>funcionamento</a:t>
            </a:r>
            <a:r>
              <a:rPr lang="en-US" sz="2200" dirty="0">
                <a:latin typeface="Arial"/>
                <a:cs typeface="Arial"/>
              </a:rPr>
              <a:t> e </a:t>
            </a:r>
            <a:r>
              <a:rPr lang="en-US" sz="2200" dirty="0" err="1">
                <a:latin typeface="Arial"/>
                <a:cs typeface="Arial"/>
              </a:rPr>
              <a:t>danos</a:t>
            </a:r>
            <a:r>
              <a:rPr lang="en-US" sz="2200" dirty="0">
                <a:latin typeface="Arial"/>
                <a:cs typeface="Arial"/>
              </a:rPr>
              <a:t> </a:t>
            </a:r>
            <a:r>
              <a:rPr lang="en-US" sz="2200" dirty="0" err="1">
                <a:latin typeface="Arial"/>
                <a:cs typeface="Arial"/>
              </a:rPr>
              <a:t>externos</a:t>
            </a:r>
            <a:r>
              <a:rPr lang="en-US" sz="2200" dirty="0">
                <a:latin typeface="Arial"/>
                <a:cs typeface="Arial"/>
              </a:rPr>
              <a:t>;</a:t>
            </a:r>
            <a:endParaRPr lang="en-US" sz="2200">
              <a:latin typeface="Arial"/>
              <a:cs typeface="Arial"/>
            </a:endParaRPr>
          </a:p>
        </p:txBody>
      </p:sp>
    </p:spTree>
    <p:extLst>
      <p:ext uri="{BB962C8B-B14F-4D97-AF65-F5344CB8AC3E}">
        <p14:creationId xmlns:p14="http://schemas.microsoft.com/office/powerpoint/2010/main" val="1333412"/>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498A4-3A1F-29AF-14FF-FCF0D95359C8}"/>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33AD7DC6-CB07-0372-EE27-34FA00202C36}"/>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15BA33E3-A63C-7FE9-4670-F99DD0FE1D32}"/>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3</a:t>
            </a:r>
            <a:endParaRPr kumimoji="0" lang="pt-BR" sz="2000" b="1"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81ACD92C-9BDB-D08D-0DB5-0E8DF1C5F823}"/>
              </a:ext>
            </a:extLst>
          </p:cNvPr>
          <p:cNvSpPr txBox="1"/>
          <p:nvPr/>
        </p:nvSpPr>
        <p:spPr>
          <a:xfrm>
            <a:off x="204278" y="564779"/>
            <a:ext cx="5819222" cy="307777"/>
          </a:xfrm>
          <a:prstGeom prst="rect">
            <a:avLst/>
          </a:prstGeom>
          <a:noFill/>
        </p:spPr>
        <p:txBody>
          <a:bodyPr wrap="none" lIns="91440" tIns="45720" rIns="91440" bIns="45720" rtlCol="0" anchor="t">
            <a:spAutoFit/>
          </a:bodyPr>
          <a:lstStyle/>
          <a:p>
            <a:r>
              <a:rPr lang="pt-BR" sz="1400" u="sng" dirty="0">
                <a:solidFill>
                  <a:srgbClr val="0070C0"/>
                </a:solidFill>
                <a:latin typeface="Arial"/>
                <a:cs typeface="Arial"/>
              </a:rPr>
              <a:t>Slide 3.4- RBAC 25, §25.1309 – </a:t>
            </a:r>
            <a:r>
              <a:rPr lang="pt-BR" sz="1400" u="sng" dirty="0" err="1">
                <a:solidFill>
                  <a:srgbClr val="0070C0"/>
                </a:solidFill>
                <a:latin typeface="Arial"/>
                <a:cs typeface="Arial"/>
              </a:rPr>
              <a:t>Equipment</a:t>
            </a:r>
            <a:r>
              <a:rPr lang="pt-BR" sz="1400" u="sng" dirty="0">
                <a:solidFill>
                  <a:srgbClr val="0070C0"/>
                </a:solidFill>
                <a:latin typeface="Arial"/>
                <a:cs typeface="Arial"/>
              </a:rPr>
              <a:t>, Systems, </a:t>
            </a:r>
            <a:r>
              <a:rPr lang="pt-BR" sz="1400" u="sng" dirty="0" err="1">
                <a:solidFill>
                  <a:srgbClr val="0070C0"/>
                </a:solidFill>
                <a:latin typeface="Arial"/>
                <a:cs typeface="Arial"/>
              </a:rPr>
              <a:t>and</a:t>
            </a:r>
            <a:r>
              <a:rPr lang="pt-BR" sz="1400" u="sng" dirty="0">
                <a:solidFill>
                  <a:srgbClr val="0070C0"/>
                </a:solidFill>
                <a:latin typeface="Arial"/>
                <a:cs typeface="Arial"/>
              </a:rPr>
              <a:t> </a:t>
            </a:r>
            <a:r>
              <a:rPr lang="pt-BR" sz="1400" u="sng" dirty="0" err="1">
                <a:solidFill>
                  <a:srgbClr val="0070C0"/>
                </a:solidFill>
                <a:latin typeface="Arial"/>
                <a:cs typeface="Arial"/>
              </a:rPr>
              <a:t>Installations</a:t>
            </a:r>
            <a:endParaRPr lang="pt-BR" sz="1400" u="sng" dirty="0">
              <a:solidFill>
                <a:srgbClr val="0070C0"/>
              </a:solidFill>
              <a:latin typeface="Arial"/>
              <a:cs typeface="Arial"/>
            </a:endParaRPr>
          </a:p>
        </p:txBody>
      </p:sp>
      <p:sp>
        <p:nvSpPr>
          <p:cNvPr id="8" name="CaixaDeTexto 7">
            <a:extLst>
              <a:ext uri="{FF2B5EF4-FFF2-40B4-BE49-F238E27FC236}">
                <a16:creationId xmlns:a16="http://schemas.microsoft.com/office/drawing/2014/main" id="{64FAA822-55D0-2BFA-C3B2-55F45F790B01}"/>
              </a:ext>
            </a:extLst>
          </p:cNvPr>
          <p:cNvSpPr txBox="1"/>
          <p:nvPr/>
        </p:nvSpPr>
        <p:spPr>
          <a:xfrm>
            <a:off x="10278139" y="-19291"/>
            <a:ext cx="1910919" cy="665622"/>
          </a:xfrm>
          <a:prstGeom prst="rect">
            <a:avLst/>
          </a:prstGeom>
          <a:noFill/>
        </p:spPr>
        <p:txBody>
          <a:bodyPr wrap="square" lIns="91440" tIns="45720" rIns="91440" bIns="45720" rtlCol="0" anchor="t">
            <a:spAutoFit/>
          </a:bodyPr>
          <a:lstStyle/>
          <a:p>
            <a:pPr algn="ctr">
              <a:defRPr/>
            </a:pPr>
            <a:r>
              <a:rPr lang="pt-BR" u="sng" dirty="0" err="1">
                <a:solidFill>
                  <a:srgbClr val="0070C0"/>
                </a:solidFill>
                <a:latin typeface="Aptos" panose="02110004020202020204"/>
              </a:rPr>
              <a:t>Resp.:Guilherme</a:t>
            </a:r>
            <a:r>
              <a:rPr lang="pt-BR" u="sng" dirty="0">
                <a:solidFill>
                  <a:srgbClr val="0070C0"/>
                </a:solidFill>
                <a:latin typeface="Aptos" panose="02110004020202020204"/>
              </a:rPr>
              <a:t> Andrew</a:t>
            </a:r>
            <a:endParaRPr lang="pt-BR" dirty="0"/>
          </a:p>
        </p:txBody>
      </p:sp>
      <p:sp>
        <p:nvSpPr>
          <p:cNvPr id="9" name="CaixaDeTexto 8">
            <a:extLst>
              <a:ext uri="{FF2B5EF4-FFF2-40B4-BE49-F238E27FC236}">
                <a16:creationId xmlns:a16="http://schemas.microsoft.com/office/drawing/2014/main" id="{403C7DB4-52D3-7150-6671-A9B64CEC39B7}"/>
              </a:ext>
            </a:extLst>
          </p:cNvPr>
          <p:cNvSpPr txBox="1"/>
          <p:nvPr/>
        </p:nvSpPr>
        <p:spPr>
          <a:xfrm>
            <a:off x="1608667" y="-18398"/>
            <a:ext cx="8669433" cy="738664"/>
          </a:xfrm>
          <a:prstGeom prst="rect">
            <a:avLst/>
          </a:prstGeom>
          <a:noFill/>
        </p:spPr>
        <p:txBody>
          <a:bodyPr wrap="square" lIns="91440" tIns="45720" rIns="91440" bIns="45720" rtlCol="0" anchor="t">
            <a:spAutoFit/>
          </a:bodyPr>
          <a:lstStyle/>
          <a:p>
            <a:pPr>
              <a:defRPr/>
            </a:pPr>
            <a:r>
              <a:rPr lang="pt-BR" sz="1400" dirty="0">
                <a:solidFill>
                  <a:srgbClr val="0B78A2"/>
                </a:solidFill>
                <a:latin typeface="Arial"/>
                <a:cs typeface="Arial"/>
              </a:rPr>
              <a:t>Requisitos de Projeto aplicáveis a Sistemas de Comandos de Voo: Desenvolva</a:t>
            </a:r>
            <a:r>
              <a:rPr lang="pt-BR" sz="1400" dirty="0">
                <a:solidFill>
                  <a:srgbClr val="0B78A2"/>
                </a:solidFill>
                <a:latin typeface="Arial"/>
                <a:ea typeface="Calibri"/>
                <a:cs typeface="Arial"/>
              </a:rPr>
              <a:t> uma árvore de falhas qualitativa e quantitativa[1] do Sistema de Compensação do Estabilizador Horizontal</a:t>
            </a:r>
            <a:endParaRPr lang="pt-BR" sz="1400" dirty="0">
              <a:solidFill>
                <a:srgbClr val="0B78A2"/>
              </a:solidFill>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E1996804-1D0A-F3B7-E1D0-179EE74C39F9}"/>
              </a:ext>
            </a:extLst>
          </p:cNvPr>
          <p:cNvPicPr>
            <a:picLocks noChangeAspect="1"/>
          </p:cNvPicPr>
          <p:nvPr/>
        </p:nvPicPr>
        <p:blipFill>
          <a:blip r:embed="rId2"/>
          <a:stretch>
            <a:fillRect/>
          </a:stretch>
        </p:blipFill>
        <p:spPr>
          <a:xfrm>
            <a:off x="11376976" y="6370905"/>
            <a:ext cx="753561" cy="492889"/>
          </a:xfrm>
          <a:prstGeom prst="rect">
            <a:avLst/>
          </a:prstGeom>
        </p:spPr>
      </p:pic>
      <p:sp>
        <p:nvSpPr>
          <p:cNvPr id="17" name="CaixaDeTexto 16">
            <a:extLst>
              <a:ext uri="{FF2B5EF4-FFF2-40B4-BE49-F238E27FC236}">
                <a16:creationId xmlns:a16="http://schemas.microsoft.com/office/drawing/2014/main" id="{8A9BBB3B-A2B0-DB1F-BA09-2F4E3D8099DE}"/>
              </a:ext>
            </a:extLst>
          </p:cNvPr>
          <p:cNvSpPr txBox="1"/>
          <p:nvPr/>
        </p:nvSpPr>
        <p:spPr>
          <a:xfrm>
            <a:off x="1508312" y="1485900"/>
            <a:ext cx="952275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err="1">
                <a:latin typeface="Arial"/>
                <a:cs typeface="Arial"/>
              </a:rPr>
              <a:t>Requisitos</a:t>
            </a:r>
            <a:r>
              <a:rPr lang="en-US" sz="2400" dirty="0">
                <a:latin typeface="Arial"/>
                <a:cs typeface="Arial"/>
              </a:rPr>
              <a:t> de </a:t>
            </a:r>
            <a:r>
              <a:rPr lang="en-US" sz="2400" dirty="0" err="1">
                <a:latin typeface="Arial"/>
                <a:cs typeface="Arial"/>
              </a:rPr>
              <a:t>Projeto</a:t>
            </a:r>
            <a:r>
              <a:rPr lang="en-US" sz="2400" dirty="0">
                <a:latin typeface="Arial"/>
                <a:cs typeface="Arial"/>
              </a:rPr>
              <a:t> e Segurança de Sistemas e Equipamentos </a:t>
            </a:r>
            <a:endParaRPr lang="pt-BR" sz="2400" dirty="0">
              <a:latin typeface="Arial"/>
              <a:cs typeface="Arial"/>
            </a:endParaRPr>
          </a:p>
        </p:txBody>
      </p:sp>
      <p:sp>
        <p:nvSpPr>
          <p:cNvPr id="2" name="CaixaDeTexto 1">
            <a:extLst>
              <a:ext uri="{FF2B5EF4-FFF2-40B4-BE49-F238E27FC236}">
                <a16:creationId xmlns:a16="http://schemas.microsoft.com/office/drawing/2014/main" id="{49122D77-DF9F-F776-B781-21E0EDD73903}"/>
              </a:ext>
            </a:extLst>
          </p:cNvPr>
          <p:cNvSpPr txBox="1"/>
          <p:nvPr/>
        </p:nvSpPr>
        <p:spPr>
          <a:xfrm>
            <a:off x="747387" y="2365332"/>
            <a:ext cx="9538568"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Arial"/>
                <a:cs typeface="Arial"/>
              </a:rPr>
              <a:t>•  </a:t>
            </a:r>
            <a:r>
              <a:rPr lang="en-US" sz="2400" dirty="0" err="1">
                <a:latin typeface="Arial"/>
                <a:cs typeface="Arial"/>
              </a:rPr>
              <a:t>Probabilidade</a:t>
            </a:r>
            <a:r>
              <a:rPr lang="en-US" sz="2400" dirty="0">
                <a:latin typeface="Arial"/>
                <a:cs typeface="Arial"/>
              </a:rPr>
              <a:t> de </a:t>
            </a:r>
            <a:r>
              <a:rPr lang="en-US" sz="2400" dirty="0" err="1">
                <a:latin typeface="Arial"/>
                <a:cs typeface="Arial"/>
              </a:rPr>
              <a:t>falhas</a:t>
            </a:r>
            <a:r>
              <a:rPr lang="en-US" sz="2400" dirty="0">
                <a:latin typeface="Arial"/>
                <a:cs typeface="Arial"/>
              </a:rPr>
              <a:t> </a:t>
            </a:r>
            <a:r>
              <a:rPr lang="en-US" sz="2400" dirty="0" err="1">
                <a:latin typeface="Arial"/>
                <a:cs typeface="Arial"/>
              </a:rPr>
              <a:t>múltiplas</a:t>
            </a:r>
            <a:r>
              <a:rPr lang="en-US" sz="2400" dirty="0">
                <a:latin typeface="Arial"/>
                <a:cs typeface="Arial"/>
              </a:rPr>
              <a:t> e </a:t>
            </a:r>
            <a:r>
              <a:rPr lang="en-US" sz="2400" dirty="0" err="1">
                <a:latin typeface="Arial"/>
                <a:cs typeface="Arial"/>
              </a:rPr>
              <a:t>não</a:t>
            </a:r>
            <a:r>
              <a:rPr lang="en-US" sz="2400" dirty="0">
                <a:latin typeface="Arial"/>
                <a:cs typeface="Arial"/>
              </a:rPr>
              <a:t> </a:t>
            </a:r>
            <a:r>
              <a:rPr lang="en-US" sz="2400" dirty="0" err="1">
                <a:latin typeface="Arial"/>
                <a:cs typeface="Arial"/>
              </a:rPr>
              <a:t>detectadas</a:t>
            </a:r>
            <a:r>
              <a:rPr lang="en-US" sz="2400" dirty="0">
                <a:latin typeface="Arial"/>
                <a:cs typeface="Arial"/>
              </a:rPr>
              <a:t>; </a:t>
            </a:r>
            <a:endParaRPr lang="pt-BR" sz="2400" dirty="0">
              <a:latin typeface="Arial"/>
              <a:cs typeface="Arial"/>
            </a:endParaRPr>
          </a:p>
          <a:p>
            <a:endParaRPr lang="en-US" sz="2400" dirty="0">
              <a:latin typeface="Arial"/>
              <a:cs typeface="Arial"/>
            </a:endParaRPr>
          </a:p>
          <a:p>
            <a:r>
              <a:rPr lang="en-US" sz="2400" dirty="0">
                <a:latin typeface="Arial"/>
                <a:cs typeface="Arial"/>
              </a:rPr>
              <a:t>•  </a:t>
            </a:r>
            <a:r>
              <a:rPr lang="en-US" sz="2400" dirty="0" err="1">
                <a:latin typeface="Arial"/>
                <a:cs typeface="Arial"/>
              </a:rPr>
              <a:t>Efeitos</a:t>
            </a:r>
            <a:r>
              <a:rPr lang="en-US" sz="2400" dirty="0">
                <a:latin typeface="Arial"/>
                <a:cs typeface="Arial"/>
              </a:rPr>
              <a:t> </a:t>
            </a:r>
            <a:r>
              <a:rPr lang="en-US" sz="2400" dirty="0" err="1">
                <a:latin typeface="Arial"/>
                <a:cs typeface="Arial"/>
              </a:rPr>
              <a:t>sobre</a:t>
            </a:r>
            <a:r>
              <a:rPr lang="en-US" sz="2400" dirty="0">
                <a:latin typeface="Arial"/>
                <a:cs typeface="Arial"/>
              </a:rPr>
              <a:t> a </a:t>
            </a:r>
            <a:r>
              <a:rPr lang="en-US" sz="2400" dirty="0" err="1">
                <a:latin typeface="Arial"/>
                <a:cs typeface="Arial"/>
              </a:rPr>
              <a:t>aeronave</a:t>
            </a:r>
            <a:r>
              <a:rPr lang="en-US" sz="2400" dirty="0">
                <a:latin typeface="Arial"/>
                <a:cs typeface="Arial"/>
              </a:rPr>
              <a:t> e </a:t>
            </a:r>
            <a:r>
              <a:rPr lang="en-US" sz="2400" dirty="0" err="1">
                <a:latin typeface="Arial"/>
                <a:cs typeface="Arial"/>
              </a:rPr>
              <a:t>ocupantes</a:t>
            </a:r>
            <a:r>
              <a:rPr lang="en-US" sz="2400" dirty="0">
                <a:latin typeface="Arial"/>
                <a:cs typeface="Arial"/>
              </a:rPr>
              <a:t>, </a:t>
            </a:r>
            <a:r>
              <a:rPr lang="en-US" sz="2400" dirty="0" err="1">
                <a:latin typeface="Arial"/>
                <a:cs typeface="Arial"/>
              </a:rPr>
              <a:t>considerando</a:t>
            </a:r>
            <a:r>
              <a:rPr lang="en-US" sz="2400" dirty="0">
                <a:latin typeface="Arial"/>
                <a:cs typeface="Arial"/>
              </a:rPr>
              <a:t> </a:t>
            </a:r>
            <a:r>
              <a:rPr lang="en-US" sz="2400" dirty="0" err="1">
                <a:latin typeface="Arial"/>
                <a:cs typeface="Arial"/>
              </a:rPr>
              <a:t>estágio</a:t>
            </a:r>
            <a:r>
              <a:rPr lang="en-US" sz="2400" dirty="0">
                <a:latin typeface="Arial"/>
                <a:cs typeface="Arial"/>
              </a:rPr>
              <a:t> do </a:t>
            </a:r>
            <a:r>
              <a:rPr lang="en-US" sz="2400" dirty="0" err="1">
                <a:latin typeface="Arial"/>
                <a:cs typeface="Arial"/>
              </a:rPr>
              <a:t>voo</a:t>
            </a:r>
            <a:r>
              <a:rPr lang="en-US" sz="2400" dirty="0">
                <a:latin typeface="Arial"/>
                <a:cs typeface="Arial"/>
              </a:rPr>
              <a:t> e </a:t>
            </a:r>
            <a:r>
              <a:rPr lang="en-US" sz="2400" dirty="0" err="1">
                <a:latin typeface="Arial"/>
                <a:cs typeface="Arial"/>
              </a:rPr>
              <a:t>condições</a:t>
            </a:r>
            <a:r>
              <a:rPr lang="en-US" sz="2400" dirty="0">
                <a:latin typeface="Arial"/>
                <a:cs typeface="Arial"/>
              </a:rPr>
              <a:t> </a:t>
            </a:r>
            <a:r>
              <a:rPr lang="en-US" sz="2400" dirty="0" err="1">
                <a:latin typeface="Arial"/>
                <a:cs typeface="Arial"/>
              </a:rPr>
              <a:t>operacionais</a:t>
            </a:r>
            <a:r>
              <a:rPr lang="en-US" sz="2400" dirty="0">
                <a:latin typeface="Arial"/>
                <a:cs typeface="Arial"/>
              </a:rPr>
              <a:t>; </a:t>
            </a:r>
          </a:p>
          <a:p>
            <a:endParaRPr lang="en-US" sz="2400" dirty="0">
              <a:latin typeface="Arial"/>
              <a:cs typeface="Arial"/>
            </a:endParaRPr>
          </a:p>
          <a:p>
            <a:r>
              <a:rPr lang="en-US" sz="2400" dirty="0">
                <a:latin typeface="Arial"/>
                <a:cs typeface="Arial"/>
              </a:rPr>
              <a:t>• </a:t>
            </a:r>
            <a:r>
              <a:rPr lang="en-US" sz="2400" dirty="0" err="1">
                <a:latin typeface="Arial"/>
                <a:cs typeface="Arial"/>
              </a:rPr>
              <a:t>Sinais</a:t>
            </a:r>
            <a:r>
              <a:rPr lang="en-US" sz="2400" dirty="0">
                <a:latin typeface="Arial"/>
                <a:cs typeface="Arial"/>
              </a:rPr>
              <a:t> de </a:t>
            </a:r>
            <a:r>
              <a:rPr lang="en-US" sz="2400" dirty="0" err="1">
                <a:latin typeface="Arial"/>
                <a:cs typeface="Arial"/>
              </a:rPr>
              <a:t>alerta</a:t>
            </a:r>
            <a:r>
              <a:rPr lang="en-US" sz="2400" dirty="0">
                <a:latin typeface="Arial"/>
                <a:cs typeface="Arial"/>
              </a:rPr>
              <a:t>, </a:t>
            </a:r>
            <a:r>
              <a:rPr lang="en-US" sz="2400" dirty="0" err="1">
                <a:latin typeface="Arial"/>
                <a:cs typeface="Arial"/>
              </a:rPr>
              <a:t>ações</a:t>
            </a:r>
            <a:r>
              <a:rPr lang="en-US" sz="2400" dirty="0">
                <a:latin typeface="Arial"/>
                <a:cs typeface="Arial"/>
              </a:rPr>
              <a:t> </a:t>
            </a:r>
            <a:r>
              <a:rPr lang="en-US" sz="2400" dirty="0" err="1">
                <a:latin typeface="Arial"/>
                <a:cs typeface="Arial"/>
              </a:rPr>
              <a:t>corretivas</a:t>
            </a:r>
            <a:r>
              <a:rPr lang="en-US" sz="2400" dirty="0">
                <a:latin typeface="Arial"/>
                <a:cs typeface="Arial"/>
              </a:rPr>
              <a:t> e </a:t>
            </a:r>
            <a:r>
              <a:rPr lang="en-US" sz="2400" dirty="0" err="1">
                <a:latin typeface="Arial"/>
                <a:cs typeface="Arial"/>
              </a:rPr>
              <a:t>capacidade</a:t>
            </a:r>
            <a:r>
              <a:rPr lang="en-US" sz="2400" dirty="0">
                <a:latin typeface="Arial"/>
                <a:cs typeface="Arial"/>
              </a:rPr>
              <a:t> de </a:t>
            </a:r>
            <a:r>
              <a:rPr lang="en-US" sz="2400" dirty="0" err="1">
                <a:latin typeface="Arial"/>
                <a:cs typeface="Arial"/>
              </a:rPr>
              <a:t>detecção</a:t>
            </a:r>
            <a:r>
              <a:rPr lang="en-US" sz="2400" dirty="0">
                <a:latin typeface="Arial"/>
                <a:cs typeface="Arial"/>
              </a:rPr>
              <a:t> de </a:t>
            </a:r>
            <a:r>
              <a:rPr lang="en-US" sz="2400" dirty="0" err="1">
                <a:latin typeface="Arial"/>
                <a:cs typeface="Arial"/>
              </a:rPr>
              <a:t>falhas</a:t>
            </a:r>
            <a:r>
              <a:rPr lang="en-US" sz="2400" dirty="0">
                <a:latin typeface="Arial"/>
                <a:cs typeface="Arial"/>
              </a:rPr>
              <a:t>. </a:t>
            </a:r>
            <a:endParaRPr lang="en-US" sz="2400">
              <a:latin typeface="Arial"/>
              <a:cs typeface="Arial"/>
            </a:endParaRPr>
          </a:p>
          <a:p>
            <a:endParaRPr lang="en-US" sz="2400" dirty="0">
              <a:latin typeface="Arial"/>
              <a:cs typeface="Arial"/>
            </a:endParaRPr>
          </a:p>
          <a:p>
            <a:r>
              <a:rPr lang="en-US" sz="2400" dirty="0">
                <a:latin typeface="Arial"/>
                <a:cs typeface="Arial"/>
              </a:rPr>
              <a:t>• Ao </a:t>
            </a:r>
            <a:r>
              <a:rPr lang="en-US" sz="2400" dirty="0" err="1">
                <a:latin typeface="Arial"/>
                <a:cs typeface="Arial"/>
              </a:rPr>
              <a:t>demonstrar</a:t>
            </a:r>
            <a:r>
              <a:rPr lang="en-US" sz="2400" dirty="0">
                <a:latin typeface="Arial"/>
                <a:cs typeface="Arial"/>
              </a:rPr>
              <a:t> </a:t>
            </a:r>
            <a:r>
              <a:rPr lang="en-US" sz="2400" dirty="0" err="1">
                <a:latin typeface="Arial"/>
                <a:cs typeface="Arial"/>
              </a:rPr>
              <a:t>conformidade</a:t>
            </a:r>
            <a:r>
              <a:rPr lang="en-US" sz="2400" dirty="0">
                <a:latin typeface="Arial"/>
                <a:cs typeface="Arial"/>
              </a:rPr>
              <a:t> com </a:t>
            </a:r>
            <a:r>
              <a:rPr lang="en-US" sz="2400" dirty="0" err="1">
                <a:latin typeface="Arial"/>
                <a:cs typeface="Arial"/>
              </a:rPr>
              <a:t>os</a:t>
            </a:r>
            <a:r>
              <a:rPr lang="en-US" sz="2400" dirty="0">
                <a:latin typeface="Arial"/>
                <a:cs typeface="Arial"/>
              </a:rPr>
              <a:t> </a:t>
            </a:r>
            <a:r>
              <a:rPr lang="en-US" sz="2400" dirty="0" err="1">
                <a:latin typeface="Arial"/>
                <a:cs typeface="Arial"/>
              </a:rPr>
              <a:t>itens</a:t>
            </a:r>
            <a:r>
              <a:rPr lang="en-US" sz="2400" dirty="0">
                <a:latin typeface="Arial"/>
                <a:cs typeface="Arial"/>
              </a:rPr>
              <a:t> (1) e (2) para </a:t>
            </a:r>
            <a:r>
              <a:rPr lang="en-US" sz="2400" dirty="0" err="1">
                <a:latin typeface="Arial"/>
                <a:cs typeface="Arial"/>
              </a:rPr>
              <a:t>sistemas</a:t>
            </a:r>
            <a:r>
              <a:rPr lang="en-US" sz="2400" dirty="0">
                <a:latin typeface="Arial"/>
                <a:cs typeface="Arial"/>
              </a:rPr>
              <a:t> e </a:t>
            </a:r>
            <a:r>
              <a:rPr lang="en-US" sz="2400" dirty="0" err="1">
                <a:latin typeface="Arial"/>
                <a:cs typeface="Arial"/>
              </a:rPr>
              <a:t>equipamentos</a:t>
            </a:r>
            <a:r>
              <a:rPr lang="en-US" sz="2400" dirty="0">
                <a:latin typeface="Arial"/>
                <a:cs typeface="Arial"/>
              </a:rPr>
              <a:t> </a:t>
            </a:r>
            <a:r>
              <a:rPr lang="en-US" sz="2400" dirty="0" err="1">
                <a:latin typeface="Arial"/>
                <a:cs typeface="Arial"/>
              </a:rPr>
              <a:t>elétricos</a:t>
            </a:r>
            <a:r>
              <a:rPr lang="en-US" sz="2400" dirty="0">
                <a:latin typeface="Arial"/>
                <a:cs typeface="Arial"/>
              </a:rPr>
              <a:t>, </a:t>
            </a:r>
            <a:r>
              <a:rPr lang="en-US" sz="2400" dirty="0" err="1">
                <a:latin typeface="Arial"/>
                <a:cs typeface="Arial"/>
              </a:rPr>
              <a:t>devem</a:t>
            </a:r>
            <a:r>
              <a:rPr lang="en-US" sz="2400" dirty="0">
                <a:latin typeface="Arial"/>
                <a:cs typeface="Arial"/>
              </a:rPr>
              <a:t> ser </a:t>
            </a:r>
            <a:r>
              <a:rPr lang="en-US" sz="2400" dirty="0" err="1">
                <a:latin typeface="Arial"/>
                <a:cs typeface="Arial"/>
              </a:rPr>
              <a:t>consideradas</a:t>
            </a:r>
            <a:r>
              <a:rPr lang="en-US" sz="2400" dirty="0">
                <a:latin typeface="Arial"/>
                <a:cs typeface="Arial"/>
              </a:rPr>
              <a:t> </a:t>
            </a:r>
            <a:r>
              <a:rPr lang="en-US" sz="2400" dirty="0" err="1">
                <a:latin typeface="Arial"/>
                <a:cs typeface="Arial"/>
              </a:rPr>
              <a:t>condições</a:t>
            </a:r>
            <a:r>
              <a:rPr lang="en-US" sz="2400" dirty="0">
                <a:latin typeface="Arial"/>
                <a:cs typeface="Arial"/>
              </a:rPr>
              <a:t> </a:t>
            </a:r>
            <a:r>
              <a:rPr lang="en-US" sz="2400" dirty="0" err="1">
                <a:latin typeface="Arial"/>
                <a:cs typeface="Arial"/>
              </a:rPr>
              <a:t>ambientais</a:t>
            </a:r>
            <a:r>
              <a:rPr lang="en-US" sz="2400" dirty="0">
                <a:latin typeface="Arial"/>
                <a:cs typeface="Arial"/>
              </a:rPr>
              <a:t> </a:t>
            </a:r>
            <a:r>
              <a:rPr lang="en-US" sz="2400" dirty="0" err="1">
                <a:latin typeface="Arial"/>
                <a:cs typeface="Arial"/>
              </a:rPr>
              <a:t>críticas</a:t>
            </a:r>
            <a:r>
              <a:rPr lang="en-US" sz="2400" dirty="0">
                <a:latin typeface="Arial"/>
                <a:cs typeface="Arial"/>
              </a:rPr>
              <a:t>.</a:t>
            </a:r>
          </a:p>
        </p:txBody>
      </p:sp>
    </p:spTree>
    <p:extLst>
      <p:ext uri="{BB962C8B-B14F-4D97-AF65-F5344CB8AC3E}">
        <p14:creationId xmlns:p14="http://schemas.microsoft.com/office/powerpoint/2010/main" val="556194610"/>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95FC9-1B04-9BBA-4578-84363F4EDF35}"/>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7E125E36-9D2B-D39E-F1DE-C2059380959B}"/>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ECADC3C2-C6E3-6168-4BBE-CA452EFCF394}"/>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3</a:t>
            </a:r>
            <a:endParaRPr kumimoji="0" lang="pt-BR" sz="2000" b="1"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26136CD9-14DE-6CBF-1098-EED012B90FD9}"/>
              </a:ext>
            </a:extLst>
          </p:cNvPr>
          <p:cNvSpPr txBox="1"/>
          <p:nvPr/>
        </p:nvSpPr>
        <p:spPr>
          <a:xfrm>
            <a:off x="204278" y="564779"/>
            <a:ext cx="5819222" cy="307777"/>
          </a:xfrm>
          <a:prstGeom prst="rect">
            <a:avLst/>
          </a:prstGeom>
          <a:noFill/>
        </p:spPr>
        <p:txBody>
          <a:bodyPr wrap="none" lIns="91440" tIns="45720" rIns="91440" bIns="45720" rtlCol="0" anchor="t">
            <a:spAutoFit/>
          </a:bodyPr>
          <a:lstStyle/>
          <a:p>
            <a:r>
              <a:rPr lang="pt-BR" sz="1400" u="sng" dirty="0">
                <a:solidFill>
                  <a:srgbClr val="0070C0"/>
                </a:solidFill>
                <a:latin typeface="Arial"/>
                <a:cs typeface="Arial"/>
              </a:rPr>
              <a:t>Slide 3.4- RBAC 25, §25.1309 – </a:t>
            </a:r>
            <a:r>
              <a:rPr lang="pt-BR" sz="1400" u="sng" dirty="0" err="1">
                <a:solidFill>
                  <a:srgbClr val="0070C0"/>
                </a:solidFill>
                <a:latin typeface="Arial"/>
                <a:cs typeface="Arial"/>
              </a:rPr>
              <a:t>Equipment</a:t>
            </a:r>
            <a:r>
              <a:rPr lang="pt-BR" sz="1400" u="sng" dirty="0">
                <a:solidFill>
                  <a:srgbClr val="0070C0"/>
                </a:solidFill>
                <a:latin typeface="Arial"/>
                <a:cs typeface="Arial"/>
              </a:rPr>
              <a:t>, Systems, </a:t>
            </a:r>
            <a:r>
              <a:rPr lang="pt-BR" sz="1400" u="sng" dirty="0" err="1">
                <a:solidFill>
                  <a:srgbClr val="0070C0"/>
                </a:solidFill>
                <a:latin typeface="Arial"/>
                <a:cs typeface="Arial"/>
              </a:rPr>
              <a:t>and</a:t>
            </a:r>
            <a:r>
              <a:rPr lang="pt-BR" sz="1400" u="sng" dirty="0">
                <a:solidFill>
                  <a:srgbClr val="0070C0"/>
                </a:solidFill>
                <a:latin typeface="Arial"/>
                <a:cs typeface="Arial"/>
              </a:rPr>
              <a:t> </a:t>
            </a:r>
            <a:r>
              <a:rPr lang="pt-BR" sz="1400" u="sng" dirty="0" err="1">
                <a:solidFill>
                  <a:srgbClr val="0070C0"/>
                </a:solidFill>
                <a:latin typeface="Arial"/>
                <a:cs typeface="Arial"/>
              </a:rPr>
              <a:t>Installations</a:t>
            </a:r>
            <a:endParaRPr lang="pt-BR" sz="1400" u="sng" dirty="0">
              <a:solidFill>
                <a:srgbClr val="0070C0"/>
              </a:solidFill>
              <a:latin typeface="Arial"/>
              <a:cs typeface="Arial"/>
            </a:endParaRPr>
          </a:p>
        </p:txBody>
      </p:sp>
      <p:sp>
        <p:nvSpPr>
          <p:cNvPr id="8" name="CaixaDeTexto 7">
            <a:extLst>
              <a:ext uri="{FF2B5EF4-FFF2-40B4-BE49-F238E27FC236}">
                <a16:creationId xmlns:a16="http://schemas.microsoft.com/office/drawing/2014/main" id="{4E3DBD7F-036A-1905-EBC4-984F2B6DA448}"/>
              </a:ext>
            </a:extLst>
          </p:cNvPr>
          <p:cNvSpPr txBox="1"/>
          <p:nvPr/>
        </p:nvSpPr>
        <p:spPr>
          <a:xfrm>
            <a:off x="10278139" y="-19291"/>
            <a:ext cx="1910919" cy="665622"/>
          </a:xfrm>
          <a:prstGeom prst="rect">
            <a:avLst/>
          </a:prstGeom>
          <a:noFill/>
        </p:spPr>
        <p:txBody>
          <a:bodyPr wrap="square" lIns="91440" tIns="45720" rIns="91440" bIns="45720" rtlCol="0" anchor="t">
            <a:spAutoFit/>
          </a:bodyPr>
          <a:lstStyle/>
          <a:p>
            <a:pPr algn="ctr">
              <a:defRPr/>
            </a:pPr>
            <a:r>
              <a:rPr lang="pt-BR" u="sng" dirty="0" err="1">
                <a:solidFill>
                  <a:srgbClr val="0070C0"/>
                </a:solidFill>
                <a:latin typeface="Aptos" panose="02110004020202020204"/>
              </a:rPr>
              <a:t>Resp.:Guilherme</a:t>
            </a:r>
            <a:r>
              <a:rPr lang="pt-BR" u="sng" dirty="0">
                <a:solidFill>
                  <a:srgbClr val="0070C0"/>
                </a:solidFill>
                <a:latin typeface="Aptos" panose="02110004020202020204"/>
              </a:rPr>
              <a:t> Andrew</a:t>
            </a:r>
            <a:endParaRPr lang="pt-BR" dirty="0"/>
          </a:p>
        </p:txBody>
      </p:sp>
      <p:sp>
        <p:nvSpPr>
          <p:cNvPr id="9" name="CaixaDeTexto 8">
            <a:extLst>
              <a:ext uri="{FF2B5EF4-FFF2-40B4-BE49-F238E27FC236}">
                <a16:creationId xmlns:a16="http://schemas.microsoft.com/office/drawing/2014/main" id="{2041C839-C176-25B8-26F4-3F106D22B67E}"/>
              </a:ext>
            </a:extLst>
          </p:cNvPr>
          <p:cNvSpPr txBox="1"/>
          <p:nvPr/>
        </p:nvSpPr>
        <p:spPr>
          <a:xfrm>
            <a:off x="1608667" y="-18398"/>
            <a:ext cx="8669433" cy="738664"/>
          </a:xfrm>
          <a:prstGeom prst="rect">
            <a:avLst/>
          </a:prstGeom>
          <a:noFill/>
        </p:spPr>
        <p:txBody>
          <a:bodyPr wrap="square" lIns="91440" tIns="45720" rIns="91440" bIns="45720" rtlCol="0" anchor="t">
            <a:spAutoFit/>
          </a:bodyPr>
          <a:lstStyle/>
          <a:p>
            <a:pPr>
              <a:defRPr/>
            </a:pPr>
            <a:r>
              <a:rPr lang="pt-BR" sz="1400" dirty="0">
                <a:solidFill>
                  <a:srgbClr val="0B78A2"/>
                </a:solidFill>
                <a:latin typeface="Arial"/>
                <a:cs typeface="Arial"/>
              </a:rPr>
              <a:t>Requisitos de Projeto aplicáveis a Sistemas de Comandos de Voo: Desenvolva</a:t>
            </a:r>
            <a:r>
              <a:rPr lang="pt-BR" sz="1400" dirty="0">
                <a:solidFill>
                  <a:srgbClr val="0B78A2"/>
                </a:solidFill>
                <a:latin typeface="Arial"/>
                <a:ea typeface="Calibri"/>
                <a:cs typeface="Arial"/>
              </a:rPr>
              <a:t> uma árvore de falhas qualitativa e quantitativa[1] do Sistema de Compensação do Estabilizador Horizontal</a:t>
            </a:r>
            <a:endParaRPr lang="pt-BR" sz="1400" dirty="0">
              <a:solidFill>
                <a:srgbClr val="0B78A2"/>
              </a:solidFill>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50D17C86-6365-DE6A-F1A5-34515BD1AD29}"/>
              </a:ext>
            </a:extLst>
          </p:cNvPr>
          <p:cNvPicPr>
            <a:picLocks noChangeAspect="1"/>
          </p:cNvPicPr>
          <p:nvPr/>
        </p:nvPicPr>
        <p:blipFill>
          <a:blip r:embed="rId2"/>
          <a:stretch>
            <a:fillRect/>
          </a:stretch>
        </p:blipFill>
        <p:spPr>
          <a:xfrm>
            <a:off x="11376976" y="6370905"/>
            <a:ext cx="753561" cy="492889"/>
          </a:xfrm>
          <a:prstGeom prst="rect">
            <a:avLst/>
          </a:prstGeom>
        </p:spPr>
      </p:pic>
      <p:sp>
        <p:nvSpPr>
          <p:cNvPr id="17" name="CaixaDeTexto 16">
            <a:extLst>
              <a:ext uri="{FF2B5EF4-FFF2-40B4-BE49-F238E27FC236}">
                <a16:creationId xmlns:a16="http://schemas.microsoft.com/office/drawing/2014/main" id="{E7B97123-A500-2447-F54C-DE9D0E50125D}"/>
              </a:ext>
            </a:extLst>
          </p:cNvPr>
          <p:cNvSpPr txBox="1"/>
          <p:nvPr/>
        </p:nvSpPr>
        <p:spPr>
          <a:xfrm>
            <a:off x="1508312" y="1485900"/>
            <a:ext cx="952275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err="1">
                <a:latin typeface="Arial"/>
                <a:cs typeface="Arial"/>
              </a:rPr>
              <a:t>Requisitos</a:t>
            </a:r>
            <a:r>
              <a:rPr lang="en-US" sz="2400" dirty="0">
                <a:latin typeface="Arial"/>
                <a:cs typeface="Arial"/>
              </a:rPr>
              <a:t> de </a:t>
            </a:r>
            <a:r>
              <a:rPr lang="en-US" sz="2400" dirty="0" err="1">
                <a:latin typeface="Arial"/>
                <a:cs typeface="Arial"/>
              </a:rPr>
              <a:t>Projeto</a:t>
            </a:r>
            <a:r>
              <a:rPr lang="en-US" sz="2400" dirty="0">
                <a:latin typeface="Arial"/>
                <a:cs typeface="Arial"/>
              </a:rPr>
              <a:t> e Segurança de Sistemas e Equipamentos </a:t>
            </a:r>
            <a:endParaRPr lang="pt-BR" sz="2400" dirty="0">
              <a:latin typeface="Arial"/>
              <a:cs typeface="Arial"/>
            </a:endParaRPr>
          </a:p>
        </p:txBody>
      </p:sp>
      <p:sp>
        <p:nvSpPr>
          <p:cNvPr id="2" name="CaixaDeTexto 1">
            <a:extLst>
              <a:ext uri="{FF2B5EF4-FFF2-40B4-BE49-F238E27FC236}">
                <a16:creationId xmlns:a16="http://schemas.microsoft.com/office/drawing/2014/main" id="{5CC3312D-DD16-5F99-195A-6327A0CA83D4}"/>
              </a:ext>
            </a:extLst>
          </p:cNvPr>
          <p:cNvSpPr txBox="1"/>
          <p:nvPr/>
        </p:nvSpPr>
        <p:spPr>
          <a:xfrm>
            <a:off x="423797" y="2334017"/>
            <a:ext cx="10624157"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latin typeface="Arial"/>
                <a:cs typeface="Arial"/>
              </a:rPr>
              <a:t>• Para </a:t>
            </a:r>
            <a:r>
              <a:rPr lang="en-US" sz="2200" err="1">
                <a:latin typeface="Arial"/>
                <a:cs typeface="Arial"/>
              </a:rPr>
              <a:t>equipamentos</a:t>
            </a:r>
            <a:r>
              <a:rPr lang="en-US" sz="2200" dirty="0">
                <a:latin typeface="Arial"/>
                <a:cs typeface="Arial"/>
              </a:rPr>
              <a:t> de </a:t>
            </a:r>
            <a:r>
              <a:rPr lang="en-US" sz="2200" err="1">
                <a:latin typeface="Arial"/>
                <a:cs typeface="Arial"/>
              </a:rPr>
              <a:t>geração</a:t>
            </a:r>
            <a:r>
              <a:rPr lang="en-US" sz="2200" dirty="0">
                <a:latin typeface="Arial"/>
                <a:cs typeface="Arial"/>
              </a:rPr>
              <a:t>, </a:t>
            </a:r>
            <a:r>
              <a:rPr lang="en-US" sz="2200" err="1">
                <a:latin typeface="Arial"/>
                <a:cs typeface="Arial"/>
              </a:rPr>
              <a:t>distribuição</a:t>
            </a:r>
            <a:r>
              <a:rPr lang="en-US" sz="2200" dirty="0">
                <a:latin typeface="Arial"/>
                <a:cs typeface="Arial"/>
              </a:rPr>
              <a:t> e </a:t>
            </a:r>
            <a:r>
              <a:rPr lang="en-US" sz="2200" err="1">
                <a:latin typeface="Arial"/>
                <a:cs typeface="Arial"/>
              </a:rPr>
              <a:t>uso</a:t>
            </a:r>
            <a:r>
              <a:rPr lang="en-US" sz="2200" dirty="0">
                <a:latin typeface="Arial"/>
                <a:cs typeface="Arial"/>
              </a:rPr>
              <a:t> </a:t>
            </a:r>
            <a:r>
              <a:rPr lang="en-US" sz="2200" err="1">
                <a:latin typeface="Arial"/>
                <a:cs typeface="Arial"/>
              </a:rPr>
              <a:t>elétrico</a:t>
            </a:r>
            <a:r>
              <a:rPr lang="en-US" sz="2200" dirty="0">
                <a:latin typeface="Arial"/>
                <a:cs typeface="Arial"/>
              </a:rPr>
              <a:t>, </a:t>
            </a:r>
            <a:r>
              <a:rPr lang="en-US" sz="2200" err="1">
                <a:latin typeface="Arial"/>
                <a:cs typeface="Arial"/>
              </a:rPr>
              <a:t>exceto</a:t>
            </a:r>
            <a:r>
              <a:rPr lang="en-US" sz="2200" dirty="0">
                <a:latin typeface="Arial"/>
                <a:cs typeface="Arial"/>
              </a:rPr>
              <a:t> </a:t>
            </a:r>
            <a:r>
              <a:rPr lang="en-US" sz="2200" err="1">
                <a:latin typeface="Arial"/>
                <a:cs typeface="Arial"/>
              </a:rPr>
              <a:t>aqueles</a:t>
            </a:r>
            <a:r>
              <a:rPr lang="en-US" sz="2200" dirty="0">
                <a:latin typeface="Arial"/>
                <a:cs typeface="Arial"/>
              </a:rPr>
              <a:t> </a:t>
            </a:r>
            <a:r>
              <a:rPr lang="en-US" sz="2200" err="1">
                <a:latin typeface="Arial"/>
                <a:cs typeface="Arial"/>
              </a:rPr>
              <a:t>cobertos</a:t>
            </a:r>
            <a:r>
              <a:rPr lang="en-US" sz="2200" dirty="0">
                <a:latin typeface="Arial"/>
                <a:cs typeface="Arial"/>
              </a:rPr>
              <a:t> </a:t>
            </a:r>
            <a:r>
              <a:rPr lang="en-US" sz="2200" err="1">
                <a:latin typeface="Arial"/>
                <a:cs typeface="Arial"/>
              </a:rPr>
              <a:t>por</a:t>
            </a:r>
            <a:r>
              <a:rPr lang="en-US" sz="2200" dirty="0">
                <a:latin typeface="Arial"/>
                <a:cs typeface="Arial"/>
              </a:rPr>
              <a:t> </a:t>
            </a:r>
            <a:r>
              <a:rPr lang="en-US" sz="2200" err="1">
                <a:latin typeface="Arial"/>
                <a:cs typeface="Arial"/>
              </a:rPr>
              <a:t>Ordens</a:t>
            </a:r>
            <a:r>
              <a:rPr lang="en-US" sz="2200" dirty="0">
                <a:latin typeface="Arial"/>
                <a:cs typeface="Arial"/>
              </a:rPr>
              <a:t> </a:t>
            </a:r>
            <a:r>
              <a:rPr lang="en-US" sz="2200" err="1">
                <a:latin typeface="Arial"/>
                <a:cs typeface="Arial"/>
              </a:rPr>
              <a:t>Técnicas</a:t>
            </a:r>
            <a:r>
              <a:rPr lang="en-US" sz="2200" dirty="0">
                <a:latin typeface="Arial"/>
                <a:cs typeface="Arial"/>
              </a:rPr>
              <a:t> </a:t>
            </a:r>
            <a:r>
              <a:rPr lang="en-US" sz="2200" err="1">
                <a:latin typeface="Arial"/>
                <a:cs typeface="Arial"/>
              </a:rPr>
              <a:t>Padrão</a:t>
            </a:r>
            <a:r>
              <a:rPr lang="en-US" sz="2200" dirty="0">
                <a:latin typeface="Arial"/>
                <a:cs typeface="Arial"/>
              </a:rPr>
              <a:t> com testes </a:t>
            </a:r>
            <a:r>
              <a:rPr lang="en-US" sz="2200" err="1">
                <a:latin typeface="Arial"/>
                <a:cs typeface="Arial"/>
              </a:rPr>
              <a:t>ambientais</a:t>
            </a:r>
            <a:r>
              <a:rPr lang="en-US" sz="2200" dirty="0">
                <a:latin typeface="Arial"/>
                <a:cs typeface="Arial"/>
              </a:rPr>
              <a:t>, a </a:t>
            </a:r>
            <a:r>
              <a:rPr lang="en-US" sz="2200" err="1">
                <a:latin typeface="Arial"/>
                <a:cs typeface="Arial"/>
              </a:rPr>
              <a:t>segurança</a:t>
            </a:r>
            <a:r>
              <a:rPr lang="en-US" sz="2200" dirty="0">
                <a:latin typeface="Arial"/>
                <a:cs typeface="Arial"/>
              </a:rPr>
              <a:t> </a:t>
            </a:r>
            <a:r>
              <a:rPr lang="en-US" sz="2200" err="1">
                <a:latin typeface="Arial"/>
                <a:cs typeface="Arial"/>
              </a:rPr>
              <a:t>contínua</a:t>
            </a:r>
            <a:r>
              <a:rPr lang="en-US" sz="2200" dirty="0">
                <a:latin typeface="Arial"/>
                <a:cs typeface="Arial"/>
              </a:rPr>
              <a:t> </a:t>
            </a:r>
            <a:r>
              <a:rPr lang="en-US" sz="2200" err="1">
                <a:latin typeface="Arial"/>
                <a:cs typeface="Arial"/>
              </a:rPr>
              <a:t>pode</a:t>
            </a:r>
            <a:r>
              <a:rPr lang="en-US" sz="2200" dirty="0">
                <a:latin typeface="Arial"/>
                <a:cs typeface="Arial"/>
              </a:rPr>
              <a:t> ser </a:t>
            </a:r>
            <a:r>
              <a:rPr lang="en-US" sz="2200" err="1">
                <a:latin typeface="Arial"/>
                <a:cs typeface="Arial"/>
              </a:rPr>
              <a:t>demonstrada</a:t>
            </a:r>
            <a:r>
              <a:rPr lang="en-US" sz="2200" dirty="0">
                <a:latin typeface="Arial"/>
                <a:cs typeface="Arial"/>
              </a:rPr>
              <a:t> </a:t>
            </a:r>
            <a:r>
              <a:rPr lang="en-US" sz="2200" err="1">
                <a:latin typeface="Arial"/>
                <a:cs typeface="Arial"/>
              </a:rPr>
              <a:t>por</a:t>
            </a:r>
            <a:r>
              <a:rPr lang="en-US" sz="2200" dirty="0">
                <a:latin typeface="Arial"/>
                <a:cs typeface="Arial"/>
              </a:rPr>
              <a:t> testes </a:t>
            </a:r>
            <a:r>
              <a:rPr lang="en-US" sz="2200" err="1">
                <a:latin typeface="Arial"/>
                <a:cs typeface="Arial"/>
              </a:rPr>
              <a:t>ambientais</a:t>
            </a:r>
            <a:r>
              <a:rPr lang="en-US" sz="2200" dirty="0">
                <a:latin typeface="Arial"/>
                <a:cs typeface="Arial"/>
              </a:rPr>
              <a:t>, </a:t>
            </a:r>
            <a:r>
              <a:rPr lang="en-US" sz="2200" err="1">
                <a:latin typeface="Arial"/>
                <a:cs typeface="Arial"/>
              </a:rPr>
              <a:t>análise</a:t>
            </a:r>
            <a:r>
              <a:rPr lang="en-US" sz="2200" dirty="0">
                <a:latin typeface="Arial"/>
                <a:cs typeface="Arial"/>
              </a:rPr>
              <a:t> de </a:t>
            </a:r>
            <a:r>
              <a:rPr lang="en-US" sz="2200" err="1">
                <a:latin typeface="Arial"/>
                <a:cs typeface="Arial"/>
              </a:rPr>
              <a:t>projeto</a:t>
            </a:r>
            <a:r>
              <a:rPr lang="en-US" sz="2200" dirty="0">
                <a:latin typeface="Arial"/>
                <a:cs typeface="Arial"/>
              </a:rPr>
              <a:t> </a:t>
            </a:r>
            <a:r>
              <a:rPr lang="en-US" sz="2200" err="1">
                <a:latin typeface="Arial"/>
                <a:cs typeface="Arial"/>
              </a:rPr>
              <a:t>ou</a:t>
            </a:r>
            <a:r>
              <a:rPr lang="en-US" sz="2200" dirty="0">
                <a:latin typeface="Arial"/>
                <a:cs typeface="Arial"/>
              </a:rPr>
              <a:t> </a:t>
            </a:r>
            <a:r>
              <a:rPr lang="en-US" sz="2200" err="1">
                <a:latin typeface="Arial"/>
                <a:cs typeface="Arial"/>
              </a:rPr>
              <a:t>referência</a:t>
            </a:r>
            <a:r>
              <a:rPr lang="en-US" sz="2200" dirty="0">
                <a:latin typeface="Arial"/>
                <a:cs typeface="Arial"/>
              </a:rPr>
              <a:t> a </a:t>
            </a:r>
            <a:r>
              <a:rPr lang="en-US" sz="2200" err="1">
                <a:latin typeface="Arial"/>
                <a:cs typeface="Arial"/>
              </a:rPr>
              <a:t>experiências</a:t>
            </a:r>
            <a:r>
              <a:rPr lang="en-US" sz="2200" dirty="0">
                <a:latin typeface="Arial"/>
                <a:cs typeface="Arial"/>
              </a:rPr>
              <a:t> </a:t>
            </a:r>
            <a:r>
              <a:rPr lang="en-US" sz="2200" err="1">
                <a:latin typeface="Arial"/>
                <a:cs typeface="Arial"/>
              </a:rPr>
              <a:t>anteriores</a:t>
            </a:r>
            <a:r>
              <a:rPr lang="en-US" sz="2200" dirty="0">
                <a:latin typeface="Arial"/>
                <a:cs typeface="Arial"/>
              </a:rPr>
              <a:t> </a:t>
            </a:r>
            <a:r>
              <a:rPr lang="en-US" sz="2200" err="1">
                <a:latin typeface="Arial"/>
                <a:cs typeface="Arial"/>
              </a:rPr>
              <a:t>em</a:t>
            </a:r>
            <a:r>
              <a:rPr lang="en-US" sz="2200" dirty="0">
                <a:latin typeface="Arial"/>
                <a:cs typeface="Arial"/>
              </a:rPr>
              <a:t> </a:t>
            </a:r>
            <a:r>
              <a:rPr lang="en-US" sz="2200" err="1">
                <a:latin typeface="Arial"/>
                <a:cs typeface="Arial"/>
              </a:rPr>
              <a:t>aeronaves</a:t>
            </a:r>
            <a:r>
              <a:rPr lang="en-US" sz="2200" dirty="0">
                <a:latin typeface="Arial"/>
                <a:cs typeface="Arial"/>
              </a:rPr>
              <a:t> </a:t>
            </a:r>
            <a:r>
              <a:rPr lang="en-US" sz="2200" err="1">
                <a:latin typeface="Arial"/>
                <a:cs typeface="Arial"/>
              </a:rPr>
              <a:t>similares</a:t>
            </a:r>
            <a:r>
              <a:rPr lang="en-US" sz="2200" dirty="0">
                <a:latin typeface="Arial"/>
                <a:cs typeface="Arial"/>
              </a:rPr>
              <a:t>. </a:t>
            </a:r>
            <a:endParaRPr lang="pt-BR" sz="2200" dirty="0">
              <a:latin typeface="Arial"/>
              <a:cs typeface="Arial"/>
            </a:endParaRPr>
          </a:p>
          <a:p>
            <a:endParaRPr lang="en-US" sz="2200" dirty="0">
              <a:latin typeface="Arial"/>
              <a:cs typeface="Arial"/>
            </a:endParaRPr>
          </a:p>
          <a:p>
            <a:r>
              <a:rPr lang="en-US" sz="2200" dirty="0">
                <a:latin typeface="Arial"/>
                <a:cs typeface="Arial"/>
              </a:rPr>
              <a:t>• O EWIS (Sistemas </a:t>
            </a:r>
            <a:r>
              <a:rPr lang="en-US" sz="2200" dirty="0" err="1">
                <a:latin typeface="Arial"/>
                <a:cs typeface="Arial"/>
              </a:rPr>
              <a:t>Elétricos</a:t>
            </a:r>
            <a:r>
              <a:rPr lang="en-US" sz="2200" dirty="0">
                <a:latin typeface="Arial"/>
                <a:cs typeface="Arial"/>
              </a:rPr>
              <a:t> de </a:t>
            </a:r>
            <a:r>
              <a:rPr lang="en-US" sz="2200" dirty="0" err="1">
                <a:latin typeface="Arial"/>
                <a:cs typeface="Arial"/>
              </a:rPr>
              <a:t>Fiação</a:t>
            </a:r>
            <a:r>
              <a:rPr lang="en-US" sz="2200" dirty="0">
                <a:latin typeface="Arial"/>
                <a:cs typeface="Arial"/>
              </a:rPr>
              <a:t>) </a:t>
            </a:r>
            <a:r>
              <a:rPr lang="en-US" sz="2200" dirty="0" err="1">
                <a:latin typeface="Arial"/>
                <a:cs typeface="Arial"/>
              </a:rPr>
              <a:t>deve</a:t>
            </a:r>
            <a:r>
              <a:rPr lang="en-US" sz="2200" dirty="0">
                <a:latin typeface="Arial"/>
                <a:cs typeface="Arial"/>
              </a:rPr>
              <a:t> ser </a:t>
            </a:r>
            <a:r>
              <a:rPr lang="en-US" sz="2200" dirty="0" err="1">
                <a:latin typeface="Arial"/>
                <a:cs typeface="Arial"/>
              </a:rPr>
              <a:t>avaliado</a:t>
            </a:r>
            <a:r>
              <a:rPr lang="en-US" sz="2200" dirty="0">
                <a:latin typeface="Arial"/>
                <a:cs typeface="Arial"/>
              </a:rPr>
              <a:t> </a:t>
            </a:r>
            <a:r>
              <a:rPr lang="en-US" sz="2200" dirty="0" err="1">
                <a:latin typeface="Arial"/>
                <a:cs typeface="Arial"/>
              </a:rPr>
              <a:t>conforme</a:t>
            </a:r>
            <a:r>
              <a:rPr lang="en-US" sz="2200" dirty="0">
                <a:latin typeface="Arial"/>
                <a:cs typeface="Arial"/>
              </a:rPr>
              <a:t> a </a:t>
            </a:r>
            <a:r>
              <a:rPr lang="en-US" sz="2200" dirty="0" err="1">
                <a:latin typeface="Arial"/>
                <a:cs typeface="Arial"/>
              </a:rPr>
              <a:t>seção</a:t>
            </a:r>
            <a:r>
              <a:rPr lang="en-US" sz="2200" dirty="0">
                <a:latin typeface="Arial"/>
                <a:cs typeface="Arial"/>
              </a:rPr>
              <a:t> §25.1709. Cada EWIS </a:t>
            </a:r>
            <a:r>
              <a:rPr lang="en-US" sz="2200" dirty="0" err="1">
                <a:latin typeface="Arial"/>
                <a:cs typeface="Arial"/>
              </a:rPr>
              <a:t>deve</a:t>
            </a:r>
            <a:r>
              <a:rPr lang="en-US" sz="2200" dirty="0">
                <a:latin typeface="Arial"/>
                <a:cs typeface="Arial"/>
              </a:rPr>
              <a:t> ser </a:t>
            </a:r>
            <a:r>
              <a:rPr lang="en-US" sz="2200" dirty="0" err="1">
                <a:latin typeface="Arial"/>
                <a:cs typeface="Arial"/>
              </a:rPr>
              <a:t>projetado</a:t>
            </a:r>
            <a:r>
              <a:rPr lang="en-US" sz="2200" dirty="0">
                <a:latin typeface="Arial"/>
                <a:cs typeface="Arial"/>
              </a:rPr>
              <a:t> e </a:t>
            </a:r>
            <a:r>
              <a:rPr lang="en-US" sz="2200" dirty="0" err="1">
                <a:latin typeface="Arial"/>
                <a:cs typeface="Arial"/>
              </a:rPr>
              <a:t>instalado</a:t>
            </a:r>
            <a:r>
              <a:rPr lang="en-US" sz="2200" dirty="0">
                <a:latin typeface="Arial"/>
                <a:cs typeface="Arial"/>
              </a:rPr>
              <a:t> de forma que: </a:t>
            </a:r>
          </a:p>
          <a:p>
            <a:endParaRPr lang="en-US" sz="2200" dirty="0">
              <a:latin typeface="Arial"/>
              <a:cs typeface="Arial"/>
            </a:endParaRPr>
          </a:p>
          <a:p>
            <a:r>
              <a:rPr lang="en-US" sz="2200" dirty="0">
                <a:latin typeface="Arial"/>
                <a:cs typeface="Arial"/>
              </a:rPr>
              <a:t>• Cada </a:t>
            </a:r>
            <a:r>
              <a:rPr lang="en-US" sz="2200" dirty="0" err="1">
                <a:latin typeface="Arial"/>
                <a:cs typeface="Arial"/>
              </a:rPr>
              <a:t>condição</a:t>
            </a:r>
            <a:r>
              <a:rPr lang="en-US" sz="2200" dirty="0">
                <a:latin typeface="Arial"/>
                <a:cs typeface="Arial"/>
              </a:rPr>
              <a:t> de </a:t>
            </a:r>
            <a:r>
              <a:rPr lang="en-US" sz="2200" dirty="0" err="1">
                <a:latin typeface="Arial"/>
                <a:cs typeface="Arial"/>
              </a:rPr>
              <a:t>falha</a:t>
            </a:r>
            <a:r>
              <a:rPr lang="en-US" sz="2200" dirty="0">
                <a:latin typeface="Arial"/>
                <a:cs typeface="Arial"/>
              </a:rPr>
              <a:t> </a:t>
            </a:r>
            <a:r>
              <a:rPr lang="en-US" sz="2200" dirty="0" err="1">
                <a:latin typeface="Arial"/>
                <a:cs typeface="Arial"/>
              </a:rPr>
              <a:t>catastrófica</a:t>
            </a:r>
            <a:r>
              <a:rPr lang="en-US" sz="2200" dirty="0">
                <a:latin typeface="Arial"/>
                <a:cs typeface="Arial"/>
              </a:rPr>
              <a:t> </a:t>
            </a:r>
            <a:r>
              <a:rPr lang="en-US" sz="2200" dirty="0" err="1">
                <a:latin typeface="Arial"/>
                <a:cs typeface="Arial"/>
              </a:rPr>
              <a:t>seja</a:t>
            </a:r>
            <a:r>
              <a:rPr lang="en-US" sz="2200" dirty="0">
                <a:latin typeface="Arial"/>
                <a:cs typeface="Arial"/>
              </a:rPr>
              <a:t> </a:t>
            </a:r>
            <a:r>
              <a:rPr lang="en-US" sz="2200" dirty="0" err="1">
                <a:latin typeface="Arial"/>
                <a:cs typeface="Arial"/>
              </a:rPr>
              <a:t>extremamente</a:t>
            </a:r>
            <a:r>
              <a:rPr lang="en-US" sz="2200" dirty="0">
                <a:latin typeface="Arial"/>
                <a:cs typeface="Arial"/>
              </a:rPr>
              <a:t> </a:t>
            </a:r>
            <a:r>
              <a:rPr lang="en-US" sz="2200" dirty="0" err="1">
                <a:latin typeface="Arial"/>
                <a:cs typeface="Arial"/>
              </a:rPr>
              <a:t>improvável</a:t>
            </a:r>
            <a:r>
              <a:rPr lang="en-US" sz="2200" dirty="0">
                <a:latin typeface="Arial"/>
                <a:cs typeface="Arial"/>
              </a:rPr>
              <a:t> e </a:t>
            </a:r>
            <a:r>
              <a:rPr lang="en-US" sz="2200" dirty="0" err="1">
                <a:latin typeface="Arial"/>
                <a:cs typeface="Arial"/>
              </a:rPr>
              <a:t>não</a:t>
            </a:r>
            <a:r>
              <a:rPr lang="en-US" sz="2200" dirty="0">
                <a:latin typeface="Arial"/>
                <a:cs typeface="Arial"/>
              </a:rPr>
              <a:t> </a:t>
            </a:r>
            <a:r>
              <a:rPr lang="en-US" sz="2200" dirty="0" err="1">
                <a:latin typeface="Arial"/>
                <a:cs typeface="Arial"/>
              </a:rPr>
              <a:t>resulte</a:t>
            </a:r>
            <a:r>
              <a:rPr lang="en-US" sz="2200" dirty="0">
                <a:latin typeface="Arial"/>
                <a:cs typeface="Arial"/>
              </a:rPr>
              <a:t> de </a:t>
            </a:r>
            <a:r>
              <a:rPr lang="en-US" sz="2200" dirty="0" err="1">
                <a:latin typeface="Arial"/>
                <a:cs typeface="Arial"/>
              </a:rPr>
              <a:t>uma</a:t>
            </a:r>
            <a:r>
              <a:rPr lang="en-US" sz="2200" dirty="0">
                <a:latin typeface="Arial"/>
                <a:cs typeface="Arial"/>
              </a:rPr>
              <a:t> </a:t>
            </a:r>
            <a:r>
              <a:rPr lang="en-US" sz="2200" dirty="0" err="1">
                <a:latin typeface="Arial"/>
                <a:cs typeface="Arial"/>
              </a:rPr>
              <a:t>única</a:t>
            </a:r>
            <a:r>
              <a:rPr lang="en-US" sz="2200" dirty="0">
                <a:latin typeface="Arial"/>
                <a:cs typeface="Arial"/>
              </a:rPr>
              <a:t> </a:t>
            </a:r>
            <a:r>
              <a:rPr lang="en-US" sz="2200" dirty="0" err="1">
                <a:latin typeface="Arial"/>
                <a:cs typeface="Arial"/>
              </a:rPr>
              <a:t>falha</a:t>
            </a:r>
            <a:r>
              <a:rPr lang="en-US" sz="2200" dirty="0">
                <a:latin typeface="Arial"/>
                <a:cs typeface="Arial"/>
              </a:rPr>
              <a:t>. </a:t>
            </a:r>
            <a:endParaRPr lang="en-US" sz="2200">
              <a:latin typeface="Arial"/>
              <a:cs typeface="Arial"/>
            </a:endParaRPr>
          </a:p>
          <a:p>
            <a:endParaRPr lang="en-US" sz="2200" dirty="0">
              <a:latin typeface="Arial"/>
              <a:cs typeface="Arial"/>
            </a:endParaRPr>
          </a:p>
          <a:p>
            <a:r>
              <a:rPr lang="en-US" sz="2200" dirty="0">
                <a:latin typeface="Arial"/>
                <a:cs typeface="Arial"/>
              </a:rPr>
              <a:t>• Cada </a:t>
            </a:r>
            <a:r>
              <a:rPr lang="en-US" sz="2200" dirty="0" err="1">
                <a:latin typeface="Arial"/>
                <a:cs typeface="Arial"/>
              </a:rPr>
              <a:t>condição</a:t>
            </a:r>
            <a:r>
              <a:rPr lang="en-US" sz="2200" dirty="0">
                <a:latin typeface="Arial"/>
                <a:cs typeface="Arial"/>
              </a:rPr>
              <a:t> de </a:t>
            </a:r>
            <a:r>
              <a:rPr lang="en-US" sz="2200" dirty="0" err="1">
                <a:latin typeface="Arial"/>
                <a:cs typeface="Arial"/>
              </a:rPr>
              <a:t>falha</a:t>
            </a:r>
            <a:r>
              <a:rPr lang="en-US" sz="2200" dirty="0">
                <a:latin typeface="Arial"/>
                <a:cs typeface="Arial"/>
              </a:rPr>
              <a:t> </a:t>
            </a:r>
            <a:r>
              <a:rPr lang="en-US" sz="2200" dirty="0" err="1">
                <a:latin typeface="Arial"/>
                <a:cs typeface="Arial"/>
              </a:rPr>
              <a:t>perigosa</a:t>
            </a:r>
            <a:r>
              <a:rPr lang="en-US" sz="2200" dirty="0">
                <a:latin typeface="Arial"/>
                <a:cs typeface="Arial"/>
              </a:rPr>
              <a:t> </a:t>
            </a:r>
            <a:r>
              <a:rPr lang="en-US" sz="2200" dirty="0" err="1">
                <a:latin typeface="Arial"/>
                <a:cs typeface="Arial"/>
              </a:rPr>
              <a:t>seja</a:t>
            </a:r>
            <a:r>
              <a:rPr lang="en-US" sz="2200" dirty="0">
                <a:latin typeface="Arial"/>
                <a:cs typeface="Arial"/>
              </a:rPr>
              <a:t> </a:t>
            </a:r>
            <a:r>
              <a:rPr lang="en-US" sz="2200" dirty="0" err="1">
                <a:latin typeface="Arial"/>
                <a:cs typeface="Arial"/>
              </a:rPr>
              <a:t>extremamente</a:t>
            </a:r>
            <a:r>
              <a:rPr lang="en-US" sz="2200" dirty="0">
                <a:latin typeface="Arial"/>
                <a:cs typeface="Arial"/>
              </a:rPr>
              <a:t> remota.</a:t>
            </a:r>
          </a:p>
        </p:txBody>
      </p:sp>
    </p:spTree>
    <p:extLst>
      <p:ext uri="{BB962C8B-B14F-4D97-AF65-F5344CB8AC3E}">
        <p14:creationId xmlns:p14="http://schemas.microsoft.com/office/powerpoint/2010/main" val="3274221410"/>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2E879-6C8A-2CE1-9C97-4237ABE086A6}"/>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0A23163F-CB82-B6D2-4293-1ACB978CCD9F}"/>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BF4424B0-6B5A-D8E9-5303-73DCA714EF83}"/>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4</a:t>
            </a:r>
            <a:endParaRPr kumimoji="0" lang="pt-BR" sz="2000" b="1" i="0" u="none" strike="noStrike" kern="1200" cap="none" spc="0" normalizeH="0" baseline="0" noProof="0" dirty="0">
              <a:ln>
                <a:noFill/>
              </a:ln>
              <a:solidFill>
                <a:srgbClr val="0070C0"/>
              </a:solidFill>
              <a:effectLst/>
              <a:uLnTx/>
              <a:uFillTx/>
              <a:latin typeface="Arial"/>
              <a:cs typeface="Arial"/>
              <a:sym typeface="Helvetica Neue"/>
            </a:endParaRPr>
          </a:p>
        </p:txBody>
      </p:sp>
      <p:sp>
        <p:nvSpPr>
          <p:cNvPr id="6" name="CaixaDeTexto 5">
            <a:extLst>
              <a:ext uri="{FF2B5EF4-FFF2-40B4-BE49-F238E27FC236}">
                <a16:creationId xmlns:a16="http://schemas.microsoft.com/office/drawing/2014/main" id="{776981A6-8A31-2E40-EFC5-0B9D754D4541}"/>
              </a:ext>
            </a:extLst>
          </p:cNvPr>
          <p:cNvSpPr txBox="1"/>
          <p:nvPr/>
        </p:nvSpPr>
        <p:spPr>
          <a:xfrm>
            <a:off x="204278" y="564779"/>
            <a:ext cx="3612464" cy="307777"/>
          </a:xfrm>
          <a:prstGeom prst="rect">
            <a:avLst/>
          </a:prstGeom>
          <a:noFill/>
        </p:spPr>
        <p:txBody>
          <a:bodyPr wrap="none" lIns="91440" tIns="45720" rIns="91440" bIns="45720" rtlCol="0" anchor="t">
            <a:spAutoFit/>
          </a:bodyPr>
          <a:lstStyle/>
          <a:p>
            <a:r>
              <a:rPr lang="pt-BR" sz="1400" u="sng">
                <a:solidFill>
                  <a:srgbClr val="0070C0"/>
                </a:solidFill>
                <a:latin typeface="Arial"/>
                <a:cs typeface="Arial"/>
              </a:rPr>
              <a:t>Slide 4.2 - Tipos de Tarefas de Lubrificação</a:t>
            </a:r>
          </a:p>
        </p:txBody>
      </p:sp>
      <p:sp>
        <p:nvSpPr>
          <p:cNvPr id="8" name="CaixaDeTexto 7">
            <a:extLst>
              <a:ext uri="{FF2B5EF4-FFF2-40B4-BE49-F238E27FC236}">
                <a16:creationId xmlns:a16="http://schemas.microsoft.com/office/drawing/2014/main" id="{61407B4B-0062-D350-7246-BFC18DB8E7A2}"/>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rPr>
              <a:t>Resp.: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0" i="0" u="sng" strike="noStrike" kern="1200" cap="none" spc="0" normalizeH="0" baseline="0" noProof="0" dirty="0" err="1">
                <a:ln>
                  <a:noFill/>
                </a:ln>
                <a:solidFill>
                  <a:srgbClr val="0070C0"/>
                </a:solidFill>
                <a:effectLst/>
                <a:uLnTx/>
                <a:uFillTx/>
                <a:latin typeface="Aptos" panose="02110004020202020204"/>
                <a:ea typeface="+mn-ea"/>
                <a:cs typeface="+mn-cs"/>
              </a:rPr>
              <a:t>Jhonata</a:t>
            </a:r>
            <a:r>
              <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rPr>
              <a:t> </a:t>
            </a:r>
            <a:r>
              <a:rPr kumimoji="0" lang="pt-BR" sz="1800" b="0" i="0" u="sng" strike="noStrike" kern="1200" cap="none" spc="0" normalizeH="0" baseline="0" noProof="0" dirty="0" err="1">
                <a:ln>
                  <a:noFill/>
                </a:ln>
                <a:solidFill>
                  <a:srgbClr val="0070C0"/>
                </a:solidFill>
                <a:effectLst/>
                <a:uLnTx/>
                <a:uFillTx/>
                <a:latin typeface="Aptos" panose="02110004020202020204"/>
                <a:ea typeface="+mn-ea"/>
                <a:cs typeface="+mn-cs"/>
              </a:rPr>
              <a:t>Cawan</a:t>
            </a:r>
            <a:endPar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9" name="CaixaDeTexto 8">
            <a:extLst>
              <a:ext uri="{FF2B5EF4-FFF2-40B4-BE49-F238E27FC236}">
                <a16:creationId xmlns:a16="http://schemas.microsoft.com/office/drawing/2014/main" id="{5A4B3743-0911-43A7-E5AF-A7D6FD63852D}"/>
              </a:ext>
            </a:extLst>
          </p:cNvPr>
          <p:cNvSpPr txBox="1"/>
          <p:nvPr/>
        </p:nvSpPr>
        <p:spPr>
          <a:xfrm>
            <a:off x="1608667" y="-18398"/>
            <a:ext cx="8669433" cy="523220"/>
          </a:xfrm>
          <a:prstGeom prst="rect">
            <a:avLst/>
          </a:prstGeom>
          <a:noFill/>
        </p:spPr>
        <p:txBody>
          <a:bodyPr wrap="square" lIns="91440" tIns="45720" rIns="91440" bIns="45720" rtlCol="0" anchor="t">
            <a:spAutoFit/>
          </a:bodyPr>
          <a:lstStyle/>
          <a:p>
            <a:pPr>
              <a:defRPr/>
            </a:pPr>
            <a:r>
              <a:rPr lang="pt-BR" sz="1400">
                <a:solidFill>
                  <a:schemeClr val="accent4">
                    <a:lumMod val="76000"/>
                  </a:schemeClr>
                </a:solidFill>
                <a:latin typeface="Arial"/>
                <a:cs typeface="Arial"/>
              </a:rPr>
              <a:t>Lubrificação</a:t>
            </a:r>
            <a:r>
              <a:rPr kumimoji="0" lang="pt-BR" sz="1400" b="0" i="0" u="none" strike="noStrike" kern="1200" cap="none" spc="0" normalizeH="0" baseline="0" noProof="0">
                <a:ln>
                  <a:noFill/>
                </a:ln>
                <a:solidFill>
                  <a:schemeClr val="accent4">
                    <a:lumMod val="76000"/>
                  </a:schemeClr>
                </a:solidFill>
                <a:effectLst/>
                <a:uLnTx/>
                <a:uFillTx/>
                <a:latin typeface="Arial"/>
                <a:cs typeface="Arial"/>
              </a:rPr>
              <a:t>: </a:t>
            </a:r>
            <a:r>
              <a:rPr lang="pt-BR" sz="1400">
                <a:solidFill>
                  <a:schemeClr val="accent4">
                    <a:lumMod val="76000"/>
                  </a:schemeClr>
                </a:solidFill>
                <a:latin typeface="Arial"/>
                <a:cs typeface="Arial"/>
              </a:rPr>
              <a:t>Discorra sobre os seguintes tópicos considerados no relatório do NTSB. Em especial comente sobre a mistura de lubrificantes.</a:t>
            </a:r>
            <a:endParaRPr lang="pt-BR" sz="1400" b="0" i="0" u="none" strike="noStrike" kern="1200" cap="none" spc="0" normalizeH="0" baseline="0" noProof="0">
              <a:ln>
                <a:noFill/>
              </a:ln>
              <a:solidFill>
                <a:schemeClr val="accent4">
                  <a:lumMod val="76000"/>
                </a:schemeClr>
              </a:solidFill>
              <a:effectLst/>
              <a:uLnTx/>
              <a:uFillTx/>
              <a:latin typeface="Arial" panose="020B0604020202020204" pitchFamily="34" charset="0"/>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1554883C-095E-3C9B-1D30-4A4777CD60FF}"/>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4" name="CaixaDeTexto 3">
            <a:extLst>
              <a:ext uri="{FF2B5EF4-FFF2-40B4-BE49-F238E27FC236}">
                <a16:creationId xmlns:a16="http://schemas.microsoft.com/office/drawing/2014/main" id="{6ADA5B06-9D2A-3B07-CD7E-687EF98540FD}"/>
              </a:ext>
            </a:extLst>
          </p:cNvPr>
          <p:cNvSpPr txBox="1"/>
          <p:nvPr/>
        </p:nvSpPr>
        <p:spPr>
          <a:xfrm>
            <a:off x="393541" y="1165185"/>
            <a:ext cx="10758667"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gn="just">
              <a:buFont typeface=""/>
              <a:buChar char="•"/>
            </a:pPr>
            <a:r>
              <a:rPr lang="pt-BR" sz="2800" dirty="0">
                <a:cs typeface="Arial"/>
              </a:rPr>
              <a:t>23 de julho de 1997, a Alaska Airlines preencheu um formulário interno pedindo a troca da graxa </a:t>
            </a:r>
            <a:r>
              <a:rPr lang="pt-BR" sz="2800" dirty="0" err="1">
                <a:cs typeface="Arial"/>
              </a:rPr>
              <a:t>Mobilgrease</a:t>
            </a:r>
            <a:r>
              <a:rPr lang="pt-BR" sz="2800" dirty="0">
                <a:cs typeface="Arial"/>
              </a:rPr>
              <a:t> 28 pela </a:t>
            </a:r>
            <a:r>
              <a:rPr lang="pt-BR" sz="2800" dirty="0" err="1">
                <a:cs typeface="Arial"/>
              </a:rPr>
              <a:t>Aeroshell</a:t>
            </a:r>
            <a:r>
              <a:rPr lang="pt-BR" sz="2800" dirty="0">
                <a:cs typeface="Arial"/>
              </a:rPr>
              <a:t> 33 na lubrificação dos aviões MD-80.  O pedido foi assinado pelo responsável que fez a solicitação e pelo gerente de manutenção e publicações </a:t>
            </a:r>
            <a:r>
              <a:rPr lang="pt-BR" sz="2800" dirty="0" err="1">
                <a:cs typeface="Arial"/>
              </a:rPr>
              <a:t>técnicas.Porém</a:t>
            </a:r>
            <a:r>
              <a:rPr lang="pt-BR" sz="2800" dirty="0">
                <a:cs typeface="Arial"/>
              </a:rPr>
              <a:t>, outros campos importantes do formulário, como os de aprovação do diretor de manutenção e do diretor de planejamento, estavam em branco e apenas riscados à </a:t>
            </a:r>
            <a:r>
              <a:rPr lang="pt-BR" sz="2800" dirty="0" err="1">
                <a:cs typeface="Arial"/>
              </a:rPr>
              <a:t>mão.Além</a:t>
            </a:r>
            <a:r>
              <a:rPr lang="pt-BR" sz="2800" dirty="0">
                <a:cs typeface="Arial"/>
              </a:rPr>
              <a:t> disso, a parte do formulário que deveria mostrar se era necessária alguma ação especial também ficou em branco.</a:t>
            </a:r>
            <a:endParaRPr lang="en-US" sz="2800" dirty="0">
              <a:cs typeface="Arial"/>
            </a:endParaRPr>
          </a:p>
        </p:txBody>
      </p:sp>
    </p:spTree>
    <p:extLst>
      <p:ext uri="{BB962C8B-B14F-4D97-AF65-F5344CB8AC3E}">
        <p14:creationId xmlns:p14="http://schemas.microsoft.com/office/powerpoint/2010/main" val="178971967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9089F-9DA2-D274-C6BC-C06395D6FB0B}"/>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A2A44D1C-0B35-E9C1-F3F0-0AEA861BAE9C}"/>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5971A550-D848-B182-497D-DD467A9CF471}"/>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4</a:t>
            </a:r>
            <a:endParaRPr kumimoji="0" lang="pt-BR" sz="2000" b="1"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D4FC786C-D6E9-A06A-1F33-C34C3CC23F44}"/>
              </a:ext>
            </a:extLst>
          </p:cNvPr>
          <p:cNvSpPr txBox="1"/>
          <p:nvPr/>
        </p:nvSpPr>
        <p:spPr>
          <a:xfrm>
            <a:off x="204278" y="564779"/>
            <a:ext cx="6349752" cy="307777"/>
          </a:xfrm>
          <a:prstGeom prst="rect">
            <a:avLst/>
          </a:prstGeom>
          <a:noFill/>
        </p:spPr>
        <p:txBody>
          <a:bodyPr wrap="none" lIns="91440" tIns="45720" rIns="91440" bIns="45720" rtlCol="0" anchor="t">
            <a:spAutoFit/>
          </a:bodyPr>
          <a:lstStyle/>
          <a:p>
            <a:r>
              <a:rPr lang="pt-BR" sz="1400" u="sng">
                <a:solidFill>
                  <a:srgbClr val="0070C0"/>
                </a:solidFill>
                <a:latin typeface="Arial"/>
                <a:cs typeface="Arial"/>
              </a:rPr>
              <a:t>Slide 4.3 - Especificação de lubrificantes (Graxa), Normas MIL-G e MIL-PRF</a:t>
            </a:r>
            <a:endParaRPr lang="pt-BR">
              <a:solidFill>
                <a:srgbClr val="000000"/>
              </a:solidFill>
              <a:latin typeface="Aptos" panose="02110004020202020204"/>
            </a:endParaRPr>
          </a:p>
        </p:txBody>
      </p:sp>
      <p:sp>
        <p:nvSpPr>
          <p:cNvPr id="8" name="CaixaDeTexto 7">
            <a:extLst>
              <a:ext uri="{FF2B5EF4-FFF2-40B4-BE49-F238E27FC236}">
                <a16:creationId xmlns:a16="http://schemas.microsoft.com/office/drawing/2014/main" id="{F75ECEC7-8645-8999-17B8-C640741EAB7A}"/>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rPr>
              <a:t>Resp.: </a:t>
            </a:r>
          </a:p>
          <a:p>
            <a:pPr algn="ctr">
              <a:defRPr/>
            </a:pPr>
            <a:r>
              <a:rPr lang="pt-BR" u="sng" dirty="0" err="1">
                <a:solidFill>
                  <a:srgbClr val="0070C0"/>
                </a:solidFill>
                <a:latin typeface="Aptos" panose="02110004020202020204"/>
              </a:rPr>
              <a:t>Jhonata</a:t>
            </a:r>
            <a:r>
              <a:rPr lang="pt-BR" u="sng" dirty="0">
                <a:solidFill>
                  <a:srgbClr val="0070C0"/>
                </a:solidFill>
                <a:latin typeface="Aptos" panose="02110004020202020204"/>
              </a:rPr>
              <a:t> </a:t>
            </a:r>
            <a:r>
              <a:rPr lang="pt-BR" u="sng" dirty="0" err="1">
                <a:solidFill>
                  <a:srgbClr val="0070C0"/>
                </a:solidFill>
                <a:latin typeface="Aptos" panose="02110004020202020204"/>
              </a:rPr>
              <a:t>Cawan</a:t>
            </a:r>
            <a:endPar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9" name="CaixaDeTexto 8">
            <a:extLst>
              <a:ext uri="{FF2B5EF4-FFF2-40B4-BE49-F238E27FC236}">
                <a16:creationId xmlns:a16="http://schemas.microsoft.com/office/drawing/2014/main" id="{032FE018-C46F-84A6-E4DE-393FF59949F8}"/>
              </a:ext>
            </a:extLst>
          </p:cNvPr>
          <p:cNvSpPr txBox="1"/>
          <p:nvPr/>
        </p:nvSpPr>
        <p:spPr>
          <a:xfrm>
            <a:off x="1608667" y="-18398"/>
            <a:ext cx="8669433" cy="523220"/>
          </a:xfrm>
          <a:prstGeom prst="rect">
            <a:avLst/>
          </a:prstGeom>
          <a:noFill/>
        </p:spPr>
        <p:txBody>
          <a:bodyPr wrap="square" lIns="91440" tIns="45720" rIns="91440" bIns="45720" rtlCol="0" anchor="t">
            <a:spAutoFit/>
          </a:bodyPr>
          <a:lstStyle/>
          <a:p>
            <a:pPr>
              <a:defRPr/>
            </a:pPr>
            <a:r>
              <a:rPr lang="pt-BR" sz="1400">
                <a:solidFill>
                  <a:schemeClr val="accent4">
                    <a:lumMod val="76000"/>
                  </a:schemeClr>
                </a:solidFill>
                <a:latin typeface="Arial"/>
                <a:cs typeface="Arial"/>
              </a:rPr>
              <a:t>Lubrificação</a:t>
            </a:r>
            <a:r>
              <a:rPr kumimoji="0" lang="pt-BR" sz="1400" b="0" i="0" u="none" strike="noStrike" kern="1200" cap="none" spc="0" normalizeH="0" baseline="0" noProof="0">
                <a:ln>
                  <a:noFill/>
                </a:ln>
                <a:solidFill>
                  <a:schemeClr val="accent4">
                    <a:lumMod val="76000"/>
                  </a:schemeClr>
                </a:solidFill>
                <a:effectLst/>
                <a:uLnTx/>
                <a:uFillTx/>
                <a:latin typeface="Arial"/>
                <a:cs typeface="Arial"/>
              </a:rPr>
              <a:t>: </a:t>
            </a:r>
            <a:r>
              <a:rPr lang="pt-BR" sz="1400">
                <a:solidFill>
                  <a:schemeClr val="accent4">
                    <a:lumMod val="76000"/>
                  </a:schemeClr>
                </a:solidFill>
                <a:latin typeface="Arial"/>
                <a:cs typeface="Arial"/>
              </a:rPr>
              <a:t>Discorra sobre os seguintes tópicos considerados no relatório do NTSB. Em especial comente sobre a mistura de lubrificantes.</a:t>
            </a:r>
            <a:endParaRPr lang="pt-BR" sz="1400" b="0" i="0" u="none" strike="noStrike" kern="1200" cap="none" spc="0" normalizeH="0" baseline="0" noProof="0">
              <a:ln>
                <a:noFill/>
              </a:ln>
              <a:solidFill>
                <a:schemeClr val="accent4">
                  <a:lumMod val="76000"/>
                </a:schemeClr>
              </a:solidFill>
              <a:effectLst/>
              <a:uLnTx/>
              <a:uFillTx/>
              <a:latin typeface="Arial" panose="020B0604020202020204" pitchFamily="34" charset="0"/>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52B228EF-C91B-A11F-67F5-1266CADCA4E1}"/>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4" name="CaixaDeTexto 3">
            <a:extLst>
              <a:ext uri="{FF2B5EF4-FFF2-40B4-BE49-F238E27FC236}">
                <a16:creationId xmlns:a16="http://schemas.microsoft.com/office/drawing/2014/main" id="{9FC733C7-B0E4-31B0-2A8B-D418926099A1}"/>
              </a:ext>
            </a:extLst>
          </p:cNvPr>
          <p:cNvSpPr txBox="1"/>
          <p:nvPr/>
        </p:nvSpPr>
        <p:spPr>
          <a:xfrm>
            <a:off x="393541" y="1165185"/>
            <a:ext cx="10758667" cy="31013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lnSpc>
                <a:spcPct val="90000"/>
              </a:lnSpc>
              <a:spcBef>
                <a:spcPts val="1000"/>
              </a:spcBef>
              <a:buFont typeface="Arial"/>
              <a:buChar char="•"/>
            </a:pPr>
            <a:r>
              <a:rPr lang="pt-BR" sz="2600" dirty="0">
                <a:cs typeface="Arial"/>
              </a:rPr>
              <a:t>O manual da Boeing para os aviões DC-9, MD-80/90 e B717 recomenda usar graxa MIL-G-81322 para lubrificar o eixo. A Alaska Airlines usava a </a:t>
            </a:r>
            <a:r>
              <a:rPr lang="pt-BR" sz="2600" dirty="0" err="1">
                <a:cs typeface="Arial"/>
              </a:rPr>
              <a:t>Mobilgrease</a:t>
            </a:r>
            <a:r>
              <a:rPr lang="pt-BR" sz="2600" dirty="0">
                <a:cs typeface="Arial"/>
              </a:rPr>
              <a:t>  28, que já seguia essa norma.</a:t>
            </a:r>
          </a:p>
          <a:p>
            <a:pPr marL="285750" indent="-285750" algn="just">
              <a:lnSpc>
                <a:spcPct val="90000"/>
              </a:lnSpc>
              <a:spcBef>
                <a:spcPts val="1000"/>
              </a:spcBef>
              <a:buFont typeface="Arial"/>
              <a:buChar char="•"/>
            </a:pPr>
            <a:r>
              <a:rPr lang="pt-BR" sz="2600" dirty="0">
                <a:cs typeface="Arial"/>
              </a:rPr>
              <a:t>Em 16 de janeiro de 1996, a empresa perguntou à </a:t>
            </a:r>
            <a:r>
              <a:rPr lang="pt-BR" sz="2600" dirty="0" err="1">
                <a:cs typeface="Arial"/>
              </a:rPr>
              <a:t>McDonnell</a:t>
            </a:r>
            <a:r>
              <a:rPr lang="pt-BR" sz="2600" dirty="0">
                <a:cs typeface="Arial"/>
              </a:rPr>
              <a:t> Douglas se poderia trocar a </a:t>
            </a:r>
            <a:r>
              <a:rPr lang="pt-BR" sz="2600" dirty="0" err="1">
                <a:cs typeface="Arial"/>
              </a:rPr>
              <a:t>Mobilgrease</a:t>
            </a:r>
            <a:r>
              <a:rPr lang="pt-BR" sz="2600" dirty="0">
                <a:cs typeface="Arial"/>
              </a:rPr>
              <a:t> 28 pela </a:t>
            </a:r>
            <a:r>
              <a:rPr lang="pt-BR" sz="2600" dirty="0" err="1">
                <a:cs typeface="Arial"/>
              </a:rPr>
              <a:t>Aeroshell</a:t>
            </a:r>
            <a:r>
              <a:rPr lang="pt-BR" sz="2600" dirty="0">
                <a:cs typeface="Arial"/>
              </a:rPr>
              <a:t> 33 em alguns aviões MD-80, inclusive no eixo trapezoidal. A </a:t>
            </a:r>
            <a:r>
              <a:rPr lang="pt-BR" sz="2600" dirty="0" err="1">
                <a:cs typeface="Arial"/>
              </a:rPr>
              <a:t>Aeroshell</a:t>
            </a:r>
            <a:r>
              <a:rPr lang="pt-BR" sz="2600" dirty="0">
                <a:cs typeface="Arial"/>
              </a:rPr>
              <a:t> 33 era uma graxa nova na época, feita para atender ao padrão Boeing 3-33 e depois aprovada também pela norma MIL-G-23827.</a:t>
            </a:r>
            <a:endParaRPr lang="en-US" sz="2400" dirty="0">
              <a:cs typeface="Arial"/>
            </a:endParaRPr>
          </a:p>
        </p:txBody>
      </p:sp>
    </p:spTree>
    <p:extLst>
      <p:ext uri="{BB962C8B-B14F-4D97-AF65-F5344CB8AC3E}">
        <p14:creationId xmlns:p14="http://schemas.microsoft.com/office/powerpoint/2010/main" val="314418449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CF526-2363-7768-8883-F5A0F403590B}"/>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D14B37D8-FBA9-8ADC-C1AA-994F7DB30D98}"/>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84416783-A4B3-84F5-F7A1-CABD274BC201}"/>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4</a:t>
            </a:r>
            <a:endParaRPr kumimoji="0" lang="pt-BR" sz="2000" b="1"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3092E005-75DF-272D-0529-B14DFCAC0807}"/>
              </a:ext>
            </a:extLst>
          </p:cNvPr>
          <p:cNvSpPr txBox="1"/>
          <p:nvPr/>
        </p:nvSpPr>
        <p:spPr>
          <a:xfrm>
            <a:off x="204278" y="564779"/>
            <a:ext cx="4293163" cy="307777"/>
          </a:xfrm>
          <a:prstGeom prst="rect">
            <a:avLst/>
          </a:prstGeom>
          <a:noFill/>
        </p:spPr>
        <p:txBody>
          <a:bodyPr wrap="none" lIns="91440" tIns="45720" rIns="91440" bIns="45720" rtlCol="0" anchor="t">
            <a:spAutoFit/>
          </a:bodyPr>
          <a:lstStyle/>
          <a:p>
            <a:r>
              <a:rPr lang="pt-BR" sz="1400" u="sng">
                <a:solidFill>
                  <a:srgbClr val="0070C0"/>
                </a:solidFill>
                <a:latin typeface="Arial"/>
                <a:cs typeface="Arial"/>
              </a:rPr>
              <a:t>Slide 4.4 - Mistura de Lubrificantes e Contaminação</a:t>
            </a:r>
            <a:endParaRPr lang="pt-BR">
              <a:solidFill>
                <a:srgbClr val="000000"/>
              </a:solidFill>
              <a:latin typeface="Aptos" panose="02110004020202020204"/>
            </a:endParaRPr>
          </a:p>
        </p:txBody>
      </p:sp>
      <p:sp>
        <p:nvSpPr>
          <p:cNvPr id="8" name="CaixaDeTexto 7">
            <a:extLst>
              <a:ext uri="{FF2B5EF4-FFF2-40B4-BE49-F238E27FC236}">
                <a16:creationId xmlns:a16="http://schemas.microsoft.com/office/drawing/2014/main" id="{EEBEA198-EC45-F85B-E170-C1B31826DDBD}"/>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rPr>
              <a:t>Resp.: </a:t>
            </a:r>
          </a:p>
          <a:p>
            <a:pPr algn="ctr">
              <a:defRPr/>
            </a:pPr>
            <a:r>
              <a:rPr kumimoji="0" lang="pt-BR" sz="1800" b="0" i="0" u="sng" strike="noStrike" kern="1200" cap="none" spc="0" normalizeH="0" baseline="0" noProof="0" dirty="0" err="1">
                <a:ln>
                  <a:noFill/>
                </a:ln>
                <a:solidFill>
                  <a:srgbClr val="0070C0"/>
                </a:solidFill>
                <a:effectLst/>
                <a:uLnTx/>
                <a:uFillTx/>
                <a:latin typeface="Aptos" panose="02110004020202020204"/>
                <a:ea typeface="+mn-ea"/>
                <a:cs typeface="+mn-cs"/>
              </a:rPr>
              <a:t>Jhonata</a:t>
            </a:r>
            <a:r>
              <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rPr>
              <a:t> </a:t>
            </a:r>
            <a:r>
              <a:rPr kumimoji="0" lang="pt-BR" sz="1800" b="0" i="0" u="sng" strike="noStrike" kern="1200" cap="none" spc="0" normalizeH="0" baseline="0" noProof="0" dirty="0" err="1">
                <a:ln>
                  <a:noFill/>
                </a:ln>
                <a:solidFill>
                  <a:srgbClr val="0070C0"/>
                </a:solidFill>
                <a:effectLst/>
                <a:uLnTx/>
                <a:uFillTx/>
                <a:latin typeface="Aptos" panose="02110004020202020204"/>
                <a:ea typeface="+mn-ea"/>
                <a:cs typeface="+mn-cs"/>
              </a:rPr>
              <a:t>Cawan</a:t>
            </a:r>
            <a:endPar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9" name="CaixaDeTexto 8">
            <a:extLst>
              <a:ext uri="{FF2B5EF4-FFF2-40B4-BE49-F238E27FC236}">
                <a16:creationId xmlns:a16="http://schemas.microsoft.com/office/drawing/2014/main" id="{5349AB6E-135E-6E6A-5635-1C4F2528E6A3}"/>
              </a:ext>
            </a:extLst>
          </p:cNvPr>
          <p:cNvSpPr txBox="1"/>
          <p:nvPr/>
        </p:nvSpPr>
        <p:spPr>
          <a:xfrm>
            <a:off x="1608667" y="-18398"/>
            <a:ext cx="8669433" cy="523220"/>
          </a:xfrm>
          <a:prstGeom prst="rect">
            <a:avLst/>
          </a:prstGeom>
          <a:noFill/>
        </p:spPr>
        <p:txBody>
          <a:bodyPr wrap="square" lIns="91440" tIns="45720" rIns="91440" bIns="45720" rtlCol="0" anchor="t">
            <a:spAutoFit/>
          </a:bodyPr>
          <a:lstStyle/>
          <a:p>
            <a:pPr>
              <a:defRPr/>
            </a:pPr>
            <a:r>
              <a:rPr lang="pt-BR" sz="1400">
                <a:solidFill>
                  <a:schemeClr val="accent4">
                    <a:lumMod val="76000"/>
                  </a:schemeClr>
                </a:solidFill>
                <a:latin typeface="Arial"/>
                <a:cs typeface="Arial"/>
              </a:rPr>
              <a:t>Lubrificação</a:t>
            </a:r>
            <a:r>
              <a:rPr kumimoji="0" lang="pt-BR" sz="1400" b="0" i="0" u="none" strike="noStrike" kern="1200" cap="none" spc="0" normalizeH="0" baseline="0" noProof="0">
                <a:ln>
                  <a:noFill/>
                </a:ln>
                <a:solidFill>
                  <a:schemeClr val="accent4">
                    <a:lumMod val="76000"/>
                  </a:schemeClr>
                </a:solidFill>
                <a:effectLst/>
                <a:uLnTx/>
                <a:uFillTx/>
                <a:latin typeface="Arial"/>
                <a:cs typeface="Arial"/>
              </a:rPr>
              <a:t>: </a:t>
            </a:r>
            <a:r>
              <a:rPr lang="pt-BR" sz="1400">
                <a:solidFill>
                  <a:schemeClr val="accent4">
                    <a:lumMod val="76000"/>
                  </a:schemeClr>
                </a:solidFill>
                <a:latin typeface="Arial"/>
                <a:cs typeface="Arial"/>
              </a:rPr>
              <a:t>Discorra sobre os seguintes tópicos considerados no relatório do NTSB. Em especial comente sobre a mistura de lubrificantes.</a:t>
            </a:r>
            <a:endParaRPr lang="pt-BR" sz="1400" b="0" i="0" u="none" strike="noStrike" kern="1200" cap="none" spc="0" normalizeH="0" baseline="0" noProof="0">
              <a:ln>
                <a:noFill/>
              </a:ln>
              <a:solidFill>
                <a:schemeClr val="accent4">
                  <a:lumMod val="76000"/>
                </a:schemeClr>
              </a:solidFill>
              <a:effectLst/>
              <a:uLnTx/>
              <a:uFillTx/>
              <a:latin typeface="Arial" panose="020B0604020202020204" pitchFamily="34" charset="0"/>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49E89879-9D67-FD5B-23D4-BE04302D6140}"/>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10" name="CaixaDeTexto 9">
            <a:extLst>
              <a:ext uri="{FF2B5EF4-FFF2-40B4-BE49-F238E27FC236}">
                <a16:creationId xmlns:a16="http://schemas.microsoft.com/office/drawing/2014/main" id="{F7DBFFC5-E4D2-FD40-FD18-EF772485EB4F}"/>
              </a:ext>
            </a:extLst>
          </p:cNvPr>
          <p:cNvSpPr txBox="1"/>
          <p:nvPr/>
        </p:nvSpPr>
        <p:spPr>
          <a:xfrm>
            <a:off x="520331" y="1078719"/>
            <a:ext cx="10599426" cy="34614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lnSpc>
                <a:spcPct val="90000"/>
              </a:lnSpc>
              <a:spcBef>
                <a:spcPts val="1000"/>
              </a:spcBef>
              <a:buFont typeface="Arial"/>
              <a:buChar char="•"/>
            </a:pPr>
            <a:r>
              <a:rPr lang="pt-BR" sz="2600" dirty="0"/>
              <a:t>Foi encontrado que as roscas inferiores do eixo tinham areia misturada com graxa. </a:t>
            </a:r>
          </a:p>
          <a:p>
            <a:pPr marL="285750" indent="-285750" algn="just">
              <a:lnSpc>
                <a:spcPct val="90000"/>
              </a:lnSpc>
              <a:spcBef>
                <a:spcPts val="1000"/>
              </a:spcBef>
              <a:buFont typeface="Arial"/>
              <a:buChar char="•"/>
            </a:pPr>
            <a:r>
              <a:rPr lang="pt-BR" sz="2600" dirty="0"/>
              <a:t>Foram feitos testes com dois tipos de graxa (</a:t>
            </a:r>
            <a:r>
              <a:rPr lang="pt-BR" sz="2600" dirty="0" err="1"/>
              <a:t>Aeroshell</a:t>
            </a:r>
            <a:r>
              <a:rPr lang="pt-BR" sz="2600" dirty="0"/>
              <a:t> 33 e </a:t>
            </a:r>
            <a:r>
              <a:rPr lang="pt-BR" sz="2600" dirty="0" err="1"/>
              <a:t>Mobilgrease</a:t>
            </a:r>
            <a:r>
              <a:rPr lang="pt-BR" sz="2600" dirty="0"/>
              <a:t> 28) e também com misturas entre elas, seguindo padrões da ASTM. Os resultados mostraram que, na maioria das combinações, as propriedades físicas não mudaram muito. Porém, quando a mistura tinha 90/10 ou 10/90, surgiram mudanças maiores do que o permitido para graxas compatíveis. O NTSB destacou a preocupação de que o problema poderia estar ligado ao uso de graxa errada ou à mistura de graxas incompatíveis.</a:t>
            </a:r>
          </a:p>
        </p:txBody>
      </p:sp>
    </p:spTree>
    <p:extLst>
      <p:ext uri="{BB962C8B-B14F-4D97-AF65-F5344CB8AC3E}">
        <p14:creationId xmlns:p14="http://schemas.microsoft.com/office/powerpoint/2010/main" val="201137480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A34B0-B5FD-B395-91C2-1068B848A367}"/>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FFEA765C-4111-A850-EE57-E07E96333650}"/>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46570705-E4B7-0E99-2533-018B42325621}"/>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4</a:t>
            </a:r>
            <a:endParaRPr kumimoji="0" lang="pt-BR" sz="2000" b="1"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53CABA7C-3707-4389-F694-2597F2435D92}"/>
              </a:ext>
            </a:extLst>
          </p:cNvPr>
          <p:cNvSpPr txBox="1"/>
          <p:nvPr/>
        </p:nvSpPr>
        <p:spPr>
          <a:xfrm>
            <a:off x="204278" y="564779"/>
            <a:ext cx="3089307" cy="307777"/>
          </a:xfrm>
          <a:prstGeom prst="rect">
            <a:avLst/>
          </a:prstGeom>
          <a:noFill/>
        </p:spPr>
        <p:txBody>
          <a:bodyPr wrap="none" lIns="91440" tIns="45720" rIns="91440" bIns="45720" rtlCol="0" anchor="t">
            <a:spAutoFit/>
          </a:bodyPr>
          <a:lstStyle/>
          <a:p>
            <a:r>
              <a:rPr lang="pt-BR" sz="1400" u="sng">
                <a:solidFill>
                  <a:srgbClr val="0070C0"/>
                </a:solidFill>
                <a:latin typeface="Arial"/>
                <a:cs typeface="Arial"/>
              </a:rPr>
              <a:t>Slide 4.5 - Limpeza de componentes</a:t>
            </a:r>
            <a:endParaRPr lang="pt-BR">
              <a:solidFill>
                <a:srgbClr val="000000"/>
              </a:solidFill>
              <a:latin typeface="Aptos"/>
              <a:cs typeface="Arial"/>
            </a:endParaRPr>
          </a:p>
        </p:txBody>
      </p:sp>
      <p:sp>
        <p:nvSpPr>
          <p:cNvPr id="8" name="CaixaDeTexto 7">
            <a:extLst>
              <a:ext uri="{FF2B5EF4-FFF2-40B4-BE49-F238E27FC236}">
                <a16:creationId xmlns:a16="http://schemas.microsoft.com/office/drawing/2014/main" id="{73D29447-158C-28A1-0EFC-DF68498FED44}"/>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rPr>
              <a:t>Resp.: </a:t>
            </a:r>
          </a:p>
          <a:p>
            <a:pPr algn="ctr">
              <a:defRPr/>
            </a:pPr>
            <a:r>
              <a:rPr kumimoji="0" lang="pt-BR" sz="1800" b="0" i="0" u="sng" strike="noStrike" kern="1200" cap="none" spc="0" normalizeH="0" baseline="0" noProof="0" dirty="0" err="1">
                <a:ln>
                  <a:noFill/>
                </a:ln>
                <a:solidFill>
                  <a:srgbClr val="0070C0"/>
                </a:solidFill>
                <a:effectLst/>
                <a:uLnTx/>
                <a:uFillTx/>
                <a:latin typeface="Aptos" panose="02110004020202020204"/>
                <a:ea typeface="+mn-ea"/>
                <a:cs typeface="+mn-cs"/>
              </a:rPr>
              <a:t>Jhona</a:t>
            </a:r>
            <a:r>
              <a:rPr lang="pt-BR" u="sng" dirty="0" err="1">
                <a:solidFill>
                  <a:srgbClr val="0070C0"/>
                </a:solidFill>
                <a:latin typeface="Aptos" panose="02110004020202020204"/>
              </a:rPr>
              <a:t>ta</a:t>
            </a:r>
            <a:r>
              <a:rPr lang="pt-BR" u="sng" dirty="0">
                <a:solidFill>
                  <a:srgbClr val="0070C0"/>
                </a:solidFill>
                <a:latin typeface="Aptos" panose="02110004020202020204"/>
              </a:rPr>
              <a:t> </a:t>
            </a:r>
            <a:r>
              <a:rPr lang="pt-BR" u="sng" dirty="0" err="1">
                <a:solidFill>
                  <a:srgbClr val="0070C0"/>
                </a:solidFill>
                <a:latin typeface="Aptos" panose="02110004020202020204"/>
              </a:rPr>
              <a:t>Cawan</a:t>
            </a:r>
            <a:endPar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9" name="CaixaDeTexto 8">
            <a:extLst>
              <a:ext uri="{FF2B5EF4-FFF2-40B4-BE49-F238E27FC236}">
                <a16:creationId xmlns:a16="http://schemas.microsoft.com/office/drawing/2014/main" id="{D21424BE-6E49-31FC-6388-6CD39B4C5EF7}"/>
              </a:ext>
            </a:extLst>
          </p:cNvPr>
          <p:cNvSpPr txBox="1"/>
          <p:nvPr/>
        </p:nvSpPr>
        <p:spPr>
          <a:xfrm>
            <a:off x="1608667" y="-18398"/>
            <a:ext cx="8669433" cy="523220"/>
          </a:xfrm>
          <a:prstGeom prst="rect">
            <a:avLst/>
          </a:prstGeom>
          <a:noFill/>
        </p:spPr>
        <p:txBody>
          <a:bodyPr wrap="square" lIns="91440" tIns="45720" rIns="91440" bIns="45720" rtlCol="0" anchor="t">
            <a:spAutoFit/>
          </a:bodyPr>
          <a:lstStyle/>
          <a:p>
            <a:pPr>
              <a:defRPr/>
            </a:pPr>
            <a:r>
              <a:rPr lang="pt-BR" sz="1400">
                <a:solidFill>
                  <a:schemeClr val="accent4">
                    <a:lumMod val="76000"/>
                  </a:schemeClr>
                </a:solidFill>
                <a:latin typeface="Arial"/>
                <a:cs typeface="Arial"/>
              </a:rPr>
              <a:t>Lubrificação</a:t>
            </a:r>
            <a:r>
              <a:rPr kumimoji="0" lang="pt-BR" sz="1400" b="0" i="0" u="none" strike="noStrike" kern="1200" cap="none" spc="0" normalizeH="0" baseline="0" noProof="0">
                <a:ln>
                  <a:noFill/>
                </a:ln>
                <a:solidFill>
                  <a:schemeClr val="accent4">
                    <a:lumMod val="76000"/>
                  </a:schemeClr>
                </a:solidFill>
                <a:effectLst/>
                <a:uLnTx/>
                <a:uFillTx/>
                <a:latin typeface="Arial"/>
                <a:cs typeface="Arial"/>
              </a:rPr>
              <a:t>: </a:t>
            </a:r>
            <a:r>
              <a:rPr lang="pt-BR" sz="1400">
                <a:solidFill>
                  <a:schemeClr val="accent4">
                    <a:lumMod val="76000"/>
                  </a:schemeClr>
                </a:solidFill>
                <a:latin typeface="Arial"/>
                <a:cs typeface="Arial"/>
              </a:rPr>
              <a:t>Discorra sobre os seguintes tópicos considerados no relatório do NTSB. Em especial comente sobre a mistura de lubrificantes.</a:t>
            </a:r>
            <a:endParaRPr lang="pt-BR" sz="1400" b="0" i="0" u="none" strike="noStrike" kern="1200" cap="none" spc="0" normalizeH="0" baseline="0" noProof="0">
              <a:ln>
                <a:noFill/>
              </a:ln>
              <a:solidFill>
                <a:schemeClr val="accent4">
                  <a:lumMod val="76000"/>
                </a:schemeClr>
              </a:solidFill>
              <a:effectLst/>
              <a:uLnTx/>
              <a:uFillTx/>
              <a:latin typeface="Arial" panose="020B0604020202020204" pitchFamily="34" charset="0"/>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52CB0F26-468A-3F14-E09C-4968805BA607}"/>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4" name="CaixaDeTexto 3">
            <a:extLst>
              <a:ext uri="{FF2B5EF4-FFF2-40B4-BE49-F238E27FC236}">
                <a16:creationId xmlns:a16="http://schemas.microsoft.com/office/drawing/2014/main" id="{5BF89FFB-A30D-3797-EF33-B8241CC197B6}"/>
              </a:ext>
            </a:extLst>
          </p:cNvPr>
          <p:cNvSpPr txBox="1"/>
          <p:nvPr/>
        </p:nvSpPr>
        <p:spPr>
          <a:xfrm>
            <a:off x="248857" y="1348451"/>
            <a:ext cx="10758667" cy="15419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lnSpc>
                <a:spcPct val="90000"/>
              </a:lnSpc>
              <a:spcBef>
                <a:spcPts val="1000"/>
              </a:spcBef>
              <a:buFont typeface="Arial"/>
              <a:buChar char="•"/>
            </a:pPr>
            <a:r>
              <a:rPr lang="pt-BR" sz="2600" dirty="0">
                <a:cs typeface="Arial"/>
              </a:rPr>
              <a:t>Foram feitas limpezas na parte do eixo do estabilizador horizontal, perto do estabilizador vertical, e também nas áreas próximas dos atuadores hidráulicos dos </a:t>
            </a:r>
            <a:r>
              <a:rPr lang="pt-BR" sz="2600" dirty="0" err="1">
                <a:cs typeface="Arial"/>
              </a:rPr>
              <a:t>profundores</a:t>
            </a:r>
            <a:r>
              <a:rPr lang="pt-BR" sz="2600" dirty="0">
                <a:cs typeface="Arial"/>
              </a:rPr>
              <a:t> direito e esquerdo.</a:t>
            </a:r>
          </a:p>
          <a:p>
            <a:pPr marL="228600" indent="-228600" algn="just">
              <a:buFont typeface=""/>
              <a:buChar char="•"/>
            </a:pPr>
            <a:endParaRPr lang="en-US" sz="2400" dirty="0">
              <a:cs typeface="Arial"/>
            </a:endParaRPr>
          </a:p>
        </p:txBody>
      </p:sp>
    </p:spTree>
    <p:extLst>
      <p:ext uri="{BB962C8B-B14F-4D97-AF65-F5344CB8AC3E}">
        <p14:creationId xmlns:p14="http://schemas.microsoft.com/office/powerpoint/2010/main" val="21279397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E402D-D69E-87D5-BC87-045F3F384EF0}"/>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08A6386A-3524-AE9F-BCF1-58626B9FE520}"/>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5A556822-7C04-A585-64B0-E9137DF6B9AE}"/>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a:ln>
                  <a:noFill/>
                </a:ln>
                <a:solidFill>
                  <a:srgbClr val="0070C0"/>
                </a:solidFill>
                <a:effectLst/>
                <a:uLnTx/>
                <a:uFillTx/>
                <a:latin typeface="Arial"/>
                <a:cs typeface="Arial"/>
                <a:sym typeface="Helvetica Neue"/>
              </a:rPr>
              <a:t> </a:t>
            </a:r>
            <a:r>
              <a:rPr lang="en-US" sz="2000" b="1">
                <a:solidFill>
                  <a:srgbClr val="0070C0"/>
                </a:solidFill>
                <a:latin typeface="Arial"/>
                <a:cs typeface="Arial"/>
                <a:sym typeface="Helvetica Neue"/>
              </a:rPr>
              <a:t>5</a:t>
            </a:r>
            <a:endParaRPr kumimoji="0" lang="pt-BR"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D2F6470F-BEDA-E0EE-CF88-06E1C7890A63}"/>
              </a:ext>
            </a:extLst>
          </p:cNvPr>
          <p:cNvSpPr txBox="1"/>
          <p:nvPr/>
        </p:nvSpPr>
        <p:spPr>
          <a:xfrm>
            <a:off x="204278" y="564779"/>
            <a:ext cx="9595897" cy="307777"/>
          </a:xfrm>
          <a:prstGeom prst="rect">
            <a:avLst/>
          </a:prstGeom>
          <a:noFill/>
        </p:spPr>
        <p:txBody>
          <a:bodyPr wrap="none" lIns="91440" tIns="45720" rIns="91440" bIns="45720" rtlCol="0" anchor="t">
            <a:spAutoFit/>
          </a:bodyPr>
          <a:lstStyle/>
          <a:p>
            <a:r>
              <a:rPr lang="pt-BR" sz="1400" u="sng" dirty="0">
                <a:solidFill>
                  <a:srgbClr val="0070C0"/>
                </a:solidFill>
                <a:latin typeface="Arial"/>
                <a:cs typeface="Arial"/>
              </a:rPr>
              <a:t>Slide 5.1 - Procedimento de medição de desgaste de roscas, incluindo métodos não destrutivos ( Raio-X e Ultrassom) </a:t>
            </a:r>
          </a:p>
        </p:txBody>
      </p:sp>
      <p:sp>
        <p:nvSpPr>
          <p:cNvPr id="8" name="CaixaDeTexto 7">
            <a:extLst>
              <a:ext uri="{FF2B5EF4-FFF2-40B4-BE49-F238E27FC236}">
                <a16:creationId xmlns:a16="http://schemas.microsoft.com/office/drawing/2014/main" id="{A91B18AE-52A1-5E99-5230-C140F3A9A6CA}"/>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algn="ctr">
              <a:defRPr/>
            </a:pPr>
            <a:r>
              <a:rPr lang="pt-BR" u="sng" dirty="0">
                <a:solidFill>
                  <a:srgbClr val="0070C0"/>
                </a:solidFill>
                <a:latin typeface="Aptos" panose="02110004020202020204"/>
              </a:rPr>
              <a:t>Resp.:</a:t>
            </a:r>
          </a:p>
          <a:p>
            <a:pPr algn="ctr">
              <a:defRPr/>
            </a:pPr>
            <a:r>
              <a:rPr kumimoji="0" lang="pt-BR" sz="1800" b="0" i="0" u="sng" strike="noStrike" kern="1200" cap="none" spc="0" normalizeH="0" baseline="0" noProof="0" dirty="0" err="1">
                <a:ln>
                  <a:noFill/>
                </a:ln>
                <a:solidFill>
                  <a:srgbClr val="0070C0"/>
                </a:solidFill>
                <a:effectLst/>
                <a:uLnTx/>
                <a:uFillTx/>
                <a:latin typeface="Aptos" panose="02110004020202020204"/>
                <a:ea typeface="+mn-ea"/>
                <a:cs typeface="+mn-cs"/>
              </a:rPr>
              <a:t>Jhona</a:t>
            </a:r>
            <a:r>
              <a:rPr lang="pt-BR" u="sng" dirty="0" err="1">
                <a:solidFill>
                  <a:srgbClr val="0070C0"/>
                </a:solidFill>
                <a:latin typeface="Aptos" panose="02110004020202020204"/>
              </a:rPr>
              <a:t>ta</a:t>
            </a:r>
            <a:r>
              <a:rPr lang="pt-BR" u="sng" dirty="0">
                <a:solidFill>
                  <a:srgbClr val="0070C0"/>
                </a:solidFill>
                <a:latin typeface="Aptos" panose="02110004020202020204"/>
              </a:rPr>
              <a:t> </a:t>
            </a:r>
            <a:r>
              <a:rPr lang="pt-BR" u="sng" dirty="0" err="1">
                <a:solidFill>
                  <a:srgbClr val="0070C0"/>
                </a:solidFill>
                <a:latin typeface="Aptos" panose="02110004020202020204"/>
              </a:rPr>
              <a:t>Cawan</a:t>
            </a:r>
            <a:endPar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9" name="CaixaDeTexto 8">
            <a:extLst>
              <a:ext uri="{FF2B5EF4-FFF2-40B4-BE49-F238E27FC236}">
                <a16:creationId xmlns:a16="http://schemas.microsoft.com/office/drawing/2014/main" id="{0717BD95-3EE1-2C86-FE16-FE70AE1F9802}"/>
              </a:ext>
            </a:extLst>
          </p:cNvPr>
          <p:cNvSpPr txBox="1"/>
          <p:nvPr/>
        </p:nvSpPr>
        <p:spPr>
          <a:xfrm>
            <a:off x="1522403" y="-4021"/>
            <a:ext cx="9018521" cy="707886"/>
          </a:xfrm>
          <a:prstGeom prst="rect">
            <a:avLst/>
          </a:prstGeom>
          <a:noFill/>
        </p:spPr>
        <p:txBody>
          <a:bodyPr wrap="square" lIns="91440" tIns="45720" rIns="91440" bIns="45720" rtlCol="0" anchor="t">
            <a:spAutoFit/>
          </a:bodyPr>
          <a:lstStyle/>
          <a:p>
            <a:pPr>
              <a:defRPr/>
            </a:pPr>
            <a:r>
              <a:rPr lang="pt-BR" sz="1400" dirty="0">
                <a:solidFill>
                  <a:schemeClr val="accent4">
                    <a:lumMod val="76000"/>
                  </a:schemeClr>
                </a:solidFill>
                <a:ea typeface="+mn-lt"/>
                <a:cs typeface="+mn-lt"/>
              </a:rPr>
              <a:t>Metrologia: D</a:t>
            </a:r>
            <a:r>
              <a:rPr lang="pt-BR" sz="1200" dirty="0">
                <a:solidFill>
                  <a:schemeClr val="accent4">
                    <a:lumMod val="76000"/>
                  </a:schemeClr>
                </a:solidFill>
                <a:ea typeface="+mn-lt"/>
                <a:cs typeface="+mn-lt"/>
              </a:rPr>
              <a:t>iscorra sobre os métodos citados no relatório para os procedimentos de medição de desgaste das roscas e da folga axial do conjunto do eixo. Considere as diferenças dos procedimentos na aeronave e em bancada ( ON </a:t>
            </a:r>
            <a:r>
              <a:rPr lang="pt-BR" sz="1200" dirty="0" err="1">
                <a:solidFill>
                  <a:schemeClr val="accent4">
                    <a:lumMod val="76000"/>
                  </a:schemeClr>
                </a:solidFill>
                <a:ea typeface="+mn-lt"/>
                <a:cs typeface="+mn-lt"/>
              </a:rPr>
              <a:t>Aircraft</a:t>
            </a:r>
            <a:r>
              <a:rPr lang="pt-BR" sz="1200" dirty="0">
                <a:solidFill>
                  <a:schemeClr val="accent4">
                    <a:lumMod val="76000"/>
                  </a:schemeClr>
                </a:solidFill>
                <a:ea typeface="+mn-lt"/>
                <a:cs typeface="+mn-lt"/>
              </a:rPr>
              <a:t> &amp; OFF </a:t>
            </a:r>
            <a:r>
              <a:rPr lang="pt-BR" sz="1200" dirty="0" err="1">
                <a:solidFill>
                  <a:schemeClr val="accent4">
                    <a:lumMod val="76000"/>
                  </a:schemeClr>
                </a:solidFill>
                <a:ea typeface="+mn-lt"/>
                <a:cs typeface="+mn-lt"/>
              </a:rPr>
              <a:t>Aircraft</a:t>
            </a:r>
            <a:r>
              <a:rPr lang="pt-BR" sz="1200" dirty="0">
                <a:solidFill>
                  <a:schemeClr val="accent4">
                    <a:lumMod val="76000"/>
                  </a:schemeClr>
                </a:solidFill>
                <a:ea typeface="+mn-lt"/>
                <a:cs typeface="+mn-lt"/>
              </a:rPr>
              <a:t> [</a:t>
            </a:r>
            <a:r>
              <a:rPr lang="pt-BR" sz="1200" dirty="0" err="1">
                <a:solidFill>
                  <a:schemeClr val="accent4">
                    <a:lumMod val="76000"/>
                  </a:schemeClr>
                </a:solidFill>
                <a:ea typeface="+mn-lt"/>
                <a:cs typeface="+mn-lt"/>
              </a:rPr>
              <a:t>Bench</a:t>
            </a:r>
            <a:r>
              <a:rPr lang="pt-BR" sz="1200" dirty="0">
                <a:solidFill>
                  <a:schemeClr val="accent4">
                    <a:lumMod val="76000"/>
                  </a:schemeClr>
                </a:solidFill>
                <a:ea typeface="+mn-lt"/>
                <a:cs typeface="+mn-lt"/>
              </a:rPr>
              <a:t>])</a:t>
            </a:r>
            <a:endParaRPr lang="en-US" sz="1200" dirty="0">
              <a:solidFill>
                <a:schemeClr val="accent4">
                  <a:lumMod val="76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8BBF51A9-FD92-1164-A70C-5BF66C3EB17A}"/>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4" name="TextBox 3">
            <a:extLst>
              <a:ext uri="{FF2B5EF4-FFF2-40B4-BE49-F238E27FC236}">
                <a16:creationId xmlns:a16="http://schemas.microsoft.com/office/drawing/2014/main" id="{1329A7CA-8BC0-54E6-7011-F2F7B8506915}"/>
              </a:ext>
            </a:extLst>
          </p:cNvPr>
          <p:cNvSpPr txBox="1"/>
          <p:nvPr/>
        </p:nvSpPr>
        <p:spPr>
          <a:xfrm>
            <a:off x="946591" y="872675"/>
            <a:ext cx="41889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dirty="0">
              <a:ea typeface="+mn-lt"/>
              <a:cs typeface="+mn-lt"/>
            </a:endParaRPr>
          </a:p>
          <a:p>
            <a:pPr algn="ctr"/>
            <a:r>
              <a:rPr lang="en-US" sz="2000" b="1" dirty="0">
                <a:solidFill>
                  <a:srgbClr val="FF0000"/>
                </a:solidFill>
                <a:ea typeface="+mn-lt"/>
                <a:cs typeface="+mn-lt"/>
              </a:rPr>
              <a:t>Testes </a:t>
            </a:r>
            <a:r>
              <a:rPr lang="en-US" sz="2000" b="1" dirty="0" err="1">
                <a:solidFill>
                  <a:srgbClr val="FF0000"/>
                </a:solidFill>
                <a:ea typeface="+mn-lt"/>
                <a:cs typeface="+mn-lt"/>
              </a:rPr>
              <a:t>não</a:t>
            </a:r>
            <a:r>
              <a:rPr lang="en-US" sz="2000" b="1" dirty="0">
                <a:solidFill>
                  <a:srgbClr val="FF0000"/>
                </a:solidFill>
                <a:ea typeface="+mn-lt"/>
                <a:cs typeface="+mn-lt"/>
              </a:rPr>
              <a:t> </a:t>
            </a:r>
            <a:r>
              <a:rPr lang="en-US" sz="2000" b="1" dirty="0" err="1">
                <a:solidFill>
                  <a:srgbClr val="FF0000"/>
                </a:solidFill>
                <a:ea typeface="+mn-lt"/>
                <a:cs typeface="+mn-lt"/>
              </a:rPr>
              <a:t>destrutivos</a:t>
            </a:r>
            <a:endParaRPr lang="en-US" sz="2000" b="1" dirty="0">
              <a:solidFill>
                <a:srgbClr val="FF0000"/>
              </a:solidFill>
              <a:ea typeface="+mn-lt"/>
              <a:cs typeface="+mn-lt"/>
            </a:endParaRPr>
          </a:p>
          <a:p>
            <a:pPr algn="ctr"/>
            <a:endParaRPr lang="en-US" dirty="0">
              <a:solidFill>
                <a:srgbClr val="FF0000"/>
              </a:solidFill>
              <a:ea typeface="+mn-lt"/>
              <a:cs typeface="+mn-lt"/>
            </a:endParaRPr>
          </a:p>
          <a:p>
            <a:pPr algn="just"/>
            <a:endParaRPr lang="en-US" sz="1600" dirty="0"/>
          </a:p>
          <a:p>
            <a:pPr algn="ctr"/>
            <a:endParaRPr lang="en-US" dirty="0"/>
          </a:p>
        </p:txBody>
      </p:sp>
      <p:sp>
        <p:nvSpPr>
          <p:cNvPr id="11" name="TextBox 10">
            <a:extLst>
              <a:ext uri="{FF2B5EF4-FFF2-40B4-BE49-F238E27FC236}">
                <a16:creationId xmlns:a16="http://schemas.microsoft.com/office/drawing/2014/main" id="{D56FFAA4-9699-4B34-26C0-F5373F35BD28}"/>
              </a:ext>
            </a:extLst>
          </p:cNvPr>
          <p:cNvSpPr txBox="1"/>
          <p:nvPr/>
        </p:nvSpPr>
        <p:spPr>
          <a:xfrm>
            <a:off x="701039" y="1683433"/>
            <a:ext cx="5961018"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pt-BR" sz="2400" dirty="0"/>
              <a:t>Após o acidente, os Laboratórios Nacionais Sandia, com apoio da FAA, começaram a testar duas formas de verificar o desgaste das roscas sem precisar desmontar peças:</a:t>
            </a:r>
          </a:p>
          <a:p>
            <a:pPr marL="342900" indent="-342900" algn="just">
              <a:buFont typeface="Arial" panose="020B0604020202020204" pitchFamily="34" charset="0"/>
              <a:buChar char="•"/>
            </a:pPr>
            <a:r>
              <a:rPr lang="pt-BR" sz="2400" b="1" dirty="0"/>
              <a:t>Raios X portáteis</a:t>
            </a:r>
            <a:r>
              <a:rPr lang="pt-BR" sz="2400" dirty="0"/>
              <a:t>: um aparelho colocado perto do eixo e da porca que mostrava uma imagem de todas as roscas.</a:t>
            </a:r>
          </a:p>
          <a:p>
            <a:pPr marL="342900" indent="-342900" algn="just">
              <a:buFont typeface="Arial" panose="020B0604020202020204" pitchFamily="34" charset="0"/>
              <a:buChar char="•"/>
            </a:pPr>
            <a:r>
              <a:rPr lang="pt-BR" sz="2400" b="1" dirty="0"/>
              <a:t>Sensor ultrassônico</a:t>
            </a:r>
            <a:r>
              <a:rPr lang="pt-BR" sz="2400" dirty="0"/>
              <a:t>: um dispositivo pequeno que passava sobre a porca “acme” e mostrava o formato das roscas em uma tela portátil.</a:t>
            </a:r>
            <a:endParaRPr lang="en-US" sz="2400" dirty="0"/>
          </a:p>
        </p:txBody>
      </p:sp>
      <p:pic>
        <p:nvPicPr>
          <p:cNvPr id="1026" name="Picture 2" descr="Empresa de Ultrassom Industrial - Inspesolda">
            <a:extLst>
              <a:ext uri="{FF2B5EF4-FFF2-40B4-BE49-F238E27FC236}">
                <a16:creationId xmlns:a16="http://schemas.microsoft.com/office/drawing/2014/main" id="{27B14095-C59D-4525-9C61-8DAA71B43F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3423" y="1683433"/>
            <a:ext cx="3561985" cy="4154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9874861"/>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079C9-9FFC-254E-A382-EE7C7253B112}"/>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633292C3-69AC-5853-A12B-6F4E7BBE3810}"/>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E68472D1-43A6-3365-AE57-F20F945E9A59}"/>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a:ln>
                  <a:noFill/>
                </a:ln>
                <a:solidFill>
                  <a:srgbClr val="0070C0"/>
                </a:solidFill>
                <a:effectLst/>
                <a:uLnTx/>
                <a:uFillTx/>
                <a:latin typeface="Arial"/>
                <a:cs typeface="Arial"/>
                <a:sym typeface="Helvetica Neue"/>
              </a:rPr>
              <a:t> </a:t>
            </a:r>
            <a:r>
              <a:rPr lang="en-US" sz="2000" b="1">
                <a:solidFill>
                  <a:srgbClr val="0070C0"/>
                </a:solidFill>
                <a:latin typeface="Arial"/>
                <a:cs typeface="Arial"/>
                <a:sym typeface="Helvetica Neue"/>
              </a:rPr>
              <a:t>5</a:t>
            </a:r>
            <a:endParaRPr kumimoji="0" lang="pt-BR" sz="20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5C8F862E-A353-30FA-B832-9C4A5390C6EB}"/>
              </a:ext>
            </a:extLst>
          </p:cNvPr>
          <p:cNvSpPr txBox="1"/>
          <p:nvPr/>
        </p:nvSpPr>
        <p:spPr>
          <a:xfrm>
            <a:off x="204278" y="564779"/>
            <a:ext cx="4314001" cy="307777"/>
          </a:xfrm>
          <a:prstGeom prst="rect">
            <a:avLst/>
          </a:prstGeom>
          <a:noFill/>
        </p:spPr>
        <p:txBody>
          <a:bodyPr wrap="none" lIns="91440" tIns="45720" rIns="91440" bIns="45720" rtlCol="0" anchor="t">
            <a:spAutoFit/>
          </a:bodyPr>
          <a:lstStyle/>
          <a:p>
            <a:r>
              <a:rPr lang="pt-BR" sz="1400" u="sng">
                <a:solidFill>
                  <a:srgbClr val="0070C0"/>
                </a:solidFill>
                <a:latin typeface="Arial"/>
                <a:cs typeface="Arial"/>
              </a:rPr>
              <a:t>Slide 5.2 - Procedimentos de medição da folga axial</a:t>
            </a:r>
          </a:p>
        </p:txBody>
      </p:sp>
      <p:sp>
        <p:nvSpPr>
          <p:cNvPr id="8" name="CaixaDeTexto 7">
            <a:extLst>
              <a:ext uri="{FF2B5EF4-FFF2-40B4-BE49-F238E27FC236}">
                <a16:creationId xmlns:a16="http://schemas.microsoft.com/office/drawing/2014/main" id="{5C7CF628-0641-F3F7-6DFB-B9F6194831BB}"/>
              </a:ext>
            </a:extLst>
          </p:cNvPr>
          <p:cNvSpPr txBox="1"/>
          <p:nvPr/>
        </p:nvSpPr>
        <p:spPr>
          <a:xfrm>
            <a:off x="10364949" y="0"/>
            <a:ext cx="1766236" cy="646331"/>
          </a:xfrm>
          <a:prstGeom prst="rect">
            <a:avLst/>
          </a:prstGeom>
          <a:noFill/>
        </p:spPr>
        <p:txBody>
          <a:bodyPr wrap="square" lIns="91440" tIns="45720" rIns="91440" bIns="45720" rtlCol="0" anchor="t">
            <a:spAutoFit/>
          </a:bodyPr>
          <a:lstStyle/>
          <a:p>
            <a:pPr algn="ctr">
              <a:defRPr/>
            </a:pPr>
            <a:r>
              <a:rPr lang="pt-BR" u="sng" dirty="0">
                <a:solidFill>
                  <a:srgbClr val="0070C0"/>
                </a:solidFill>
                <a:latin typeface="Aptos" panose="02110004020202020204"/>
              </a:rPr>
              <a:t>Resp.:</a:t>
            </a:r>
          </a:p>
          <a:p>
            <a:pPr algn="ctr">
              <a:defRPr/>
            </a:pPr>
            <a:r>
              <a:rPr kumimoji="0" lang="pt-BR" sz="1800" b="0" i="0" u="sng" strike="noStrike" kern="1200" cap="none" spc="0" normalizeH="0" baseline="0" noProof="0" dirty="0" err="1">
                <a:ln>
                  <a:noFill/>
                </a:ln>
                <a:solidFill>
                  <a:srgbClr val="0070C0"/>
                </a:solidFill>
                <a:effectLst/>
                <a:uLnTx/>
                <a:uFillTx/>
                <a:latin typeface="Aptos" panose="02110004020202020204"/>
                <a:ea typeface="+mn-ea"/>
                <a:cs typeface="+mn-cs"/>
              </a:rPr>
              <a:t>Jhona</a:t>
            </a:r>
            <a:r>
              <a:rPr lang="pt-BR" u="sng" dirty="0" err="1">
                <a:solidFill>
                  <a:srgbClr val="0070C0"/>
                </a:solidFill>
                <a:latin typeface="Aptos" panose="02110004020202020204"/>
              </a:rPr>
              <a:t>ta</a:t>
            </a:r>
            <a:r>
              <a:rPr lang="pt-BR" u="sng" dirty="0">
                <a:solidFill>
                  <a:srgbClr val="0070C0"/>
                </a:solidFill>
                <a:latin typeface="Aptos" panose="02110004020202020204"/>
              </a:rPr>
              <a:t> </a:t>
            </a:r>
            <a:r>
              <a:rPr lang="pt-BR" u="sng" dirty="0" err="1">
                <a:solidFill>
                  <a:srgbClr val="0070C0"/>
                </a:solidFill>
                <a:latin typeface="Aptos" panose="02110004020202020204"/>
              </a:rPr>
              <a:t>Cawan</a:t>
            </a:r>
            <a:endPar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9" name="CaixaDeTexto 8">
            <a:extLst>
              <a:ext uri="{FF2B5EF4-FFF2-40B4-BE49-F238E27FC236}">
                <a16:creationId xmlns:a16="http://schemas.microsoft.com/office/drawing/2014/main" id="{9A976563-3CF8-C9D8-A97E-DBD4A0EAEE1F}"/>
              </a:ext>
            </a:extLst>
          </p:cNvPr>
          <p:cNvSpPr txBox="1"/>
          <p:nvPr/>
        </p:nvSpPr>
        <p:spPr>
          <a:xfrm>
            <a:off x="1522403" y="-4021"/>
            <a:ext cx="9150619" cy="707886"/>
          </a:xfrm>
          <a:prstGeom prst="rect">
            <a:avLst/>
          </a:prstGeom>
          <a:noFill/>
        </p:spPr>
        <p:txBody>
          <a:bodyPr wrap="square" lIns="91440" tIns="45720" rIns="91440" bIns="45720" rtlCol="0" anchor="t">
            <a:spAutoFit/>
          </a:bodyPr>
          <a:lstStyle/>
          <a:p>
            <a:pPr>
              <a:defRPr/>
            </a:pPr>
            <a:r>
              <a:rPr lang="pt-BR" sz="1400" dirty="0">
                <a:solidFill>
                  <a:schemeClr val="accent4">
                    <a:lumMod val="76000"/>
                  </a:schemeClr>
                </a:solidFill>
                <a:ea typeface="+mn-lt"/>
                <a:cs typeface="+mn-lt"/>
              </a:rPr>
              <a:t>Metrologia: D</a:t>
            </a:r>
            <a:r>
              <a:rPr lang="pt-BR" sz="1200" dirty="0">
                <a:solidFill>
                  <a:schemeClr val="accent4">
                    <a:lumMod val="76000"/>
                  </a:schemeClr>
                </a:solidFill>
                <a:ea typeface="+mn-lt"/>
                <a:cs typeface="+mn-lt"/>
              </a:rPr>
              <a:t>iscorra sobre os métodos citados no relatório para os procedimentos de medição de desgaste das roscas e da folga axial do conjunto do eixo. Considere as diferenças dos procedimentos na aeronave e em bancada ( ON </a:t>
            </a:r>
            <a:r>
              <a:rPr lang="pt-BR" sz="1200" dirty="0" err="1">
                <a:solidFill>
                  <a:schemeClr val="accent4">
                    <a:lumMod val="76000"/>
                  </a:schemeClr>
                </a:solidFill>
                <a:ea typeface="+mn-lt"/>
                <a:cs typeface="+mn-lt"/>
              </a:rPr>
              <a:t>Aircraft</a:t>
            </a:r>
            <a:r>
              <a:rPr lang="pt-BR" sz="1200" dirty="0">
                <a:solidFill>
                  <a:schemeClr val="accent4">
                    <a:lumMod val="76000"/>
                  </a:schemeClr>
                </a:solidFill>
                <a:ea typeface="+mn-lt"/>
                <a:cs typeface="+mn-lt"/>
              </a:rPr>
              <a:t> &amp; OFF </a:t>
            </a:r>
            <a:r>
              <a:rPr lang="pt-BR" sz="1200" dirty="0" err="1">
                <a:solidFill>
                  <a:schemeClr val="accent4">
                    <a:lumMod val="76000"/>
                  </a:schemeClr>
                </a:solidFill>
                <a:ea typeface="+mn-lt"/>
                <a:cs typeface="+mn-lt"/>
              </a:rPr>
              <a:t>Aircraft</a:t>
            </a:r>
            <a:r>
              <a:rPr lang="pt-BR" sz="1200" dirty="0">
                <a:solidFill>
                  <a:schemeClr val="accent4">
                    <a:lumMod val="76000"/>
                  </a:schemeClr>
                </a:solidFill>
                <a:ea typeface="+mn-lt"/>
                <a:cs typeface="+mn-lt"/>
              </a:rPr>
              <a:t> [</a:t>
            </a:r>
            <a:r>
              <a:rPr lang="pt-BR" sz="1200" dirty="0" err="1">
                <a:solidFill>
                  <a:schemeClr val="accent4">
                    <a:lumMod val="76000"/>
                  </a:schemeClr>
                </a:solidFill>
                <a:ea typeface="+mn-lt"/>
                <a:cs typeface="+mn-lt"/>
              </a:rPr>
              <a:t>Bench</a:t>
            </a:r>
            <a:r>
              <a:rPr lang="pt-BR" sz="1200" dirty="0">
                <a:solidFill>
                  <a:schemeClr val="accent4">
                    <a:lumMod val="76000"/>
                  </a:schemeClr>
                </a:solidFill>
                <a:ea typeface="+mn-lt"/>
                <a:cs typeface="+mn-lt"/>
              </a:rPr>
              <a:t>])</a:t>
            </a:r>
            <a:endParaRPr lang="en-US" sz="1200" dirty="0">
              <a:solidFill>
                <a:schemeClr val="accent4">
                  <a:lumMod val="76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t-BR" sz="14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6DA068CE-4A1B-8E9C-83B6-95007C97D0B9}"/>
              </a:ext>
            </a:extLst>
          </p:cNvPr>
          <p:cNvPicPr>
            <a:picLocks noChangeAspect="1"/>
          </p:cNvPicPr>
          <p:nvPr/>
        </p:nvPicPr>
        <p:blipFill>
          <a:blip r:embed="rId2"/>
          <a:stretch>
            <a:fillRect/>
          </a:stretch>
        </p:blipFill>
        <p:spPr>
          <a:xfrm>
            <a:off x="10682495" y="6023665"/>
            <a:ext cx="1428750" cy="685800"/>
          </a:xfrm>
          <a:prstGeom prst="rect">
            <a:avLst/>
          </a:prstGeom>
        </p:spPr>
      </p:pic>
      <p:pic>
        <p:nvPicPr>
          <p:cNvPr id="10" name="Picture 9" descr="A close-up of a mechanical device&#10;&#10;AI-generated content may be incorrect.">
            <a:extLst>
              <a:ext uri="{FF2B5EF4-FFF2-40B4-BE49-F238E27FC236}">
                <a16:creationId xmlns:a16="http://schemas.microsoft.com/office/drawing/2014/main" id="{21830993-923E-CF46-1E14-499497FFD5C6}"/>
              </a:ext>
            </a:extLst>
          </p:cNvPr>
          <p:cNvPicPr>
            <a:picLocks noChangeAspect="1"/>
          </p:cNvPicPr>
          <p:nvPr/>
        </p:nvPicPr>
        <p:blipFill>
          <a:blip r:embed="rId3"/>
          <a:stretch>
            <a:fillRect/>
          </a:stretch>
        </p:blipFill>
        <p:spPr>
          <a:xfrm>
            <a:off x="6819900" y="888358"/>
            <a:ext cx="5372100" cy="2698506"/>
          </a:xfrm>
          <a:prstGeom prst="rect">
            <a:avLst/>
          </a:prstGeom>
        </p:spPr>
      </p:pic>
      <p:sp>
        <p:nvSpPr>
          <p:cNvPr id="12" name="TextBox 11">
            <a:extLst>
              <a:ext uri="{FF2B5EF4-FFF2-40B4-BE49-F238E27FC236}">
                <a16:creationId xmlns:a16="http://schemas.microsoft.com/office/drawing/2014/main" id="{D42770C6-395C-A2DB-2FA1-8B8E639DA567}"/>
              </a:ext>
            </a:extLst>
          </p:cNvPr>
          <p:cNvSpPr txBox="1"/>
          <p:nvPr/>
        </p:nvSpPr>
        <p:spPr>
          <a:xfrm>
            <a:off x="82062" y="1160584"/>
            <a:ext cx="7363768" cy="54476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pt-BR" sz="2400" b="1" dirty="0"/>
              <a:t>Desgaste da Porca Trapezoidal</a:t>
            </a:r>
          </a:p>
          <a:p>
            <a:pPr algn="just">
              <a:buFont typeface="Arial" panose="020B0604020202020204" pitchFamily="34" charset="0"/>
              <a:buChar char="•"/>
            </a:pPr>
            <a:r>
              <a:rPr lang="pt-BR" sz="2400" dirty="0"/>
              <a:t>A peça que mais se desgasta no eixo é a porca trapezoidal de alumínio-bronze.</a:t>
            </a:r>
          </a:p>
          <a:p>
            <a:pPr algn="just">
              <a:buFont typeface="Arial" panose="020B0604020202020204" pitchFamily="34" charset="0"/>
              <a:buChar char="•"/>
            </a:pPr>
            <a:r>
              <a:rPr lang="pt-BR" sz="2400" dirty="0"/>
              <a:t>O desgaste é medido pela folga entre a porca e o eixo.</a:t>
            </a:r>
          </a:p>
          <a:p>
            <a:pPr algn="just"/>
            <a:r>
              <a:rPr lang="pt-BR" sz="2400" b="1" dirty="0"/>
              <a:t>Tipos de inspeção</a:t>
            </a:r>
            <a:r>
              <a:rPr lang="pt-BR" sz="2400" dirty="0"/>
              <a:t>:</a:t>
            </a:r>
          </a:p>
          <a:p>
            <a:pPr algn="just">
              <a:buFont typeface="Arial" panose="020B0604020202020204" pitchFamily="34" charset="0"/>
              <a:buChar char="•"/>
            </a:pPr>
            <a:r>
              <a:rPr lang="pt-BR" sz="2400" dirty="0" err="1"/>
              <a:t>On-aircraft</a:t>
            </a:r>
            <a:r>
              <a:rPr lang="pt-BR" sz="2400" dirty="0"/>
              <a:t> (na aeronave): usa um acessório e relógio comparador, mas é menos confiável.</a:t>
            </a:r>
          </a:p>
          <a:p>
            <a:pPr algn="just">
              <a:buFont typeface="Arial" panose="020B0604020202020204" pitchFamily="34" charset="0"/>
              <a:buChar char="•"/>
            </a:pPr>
            <a:r>
              <a:rPr lang="pt-BR" sz="2400" dirty="0"/>
              <a:t>Off-</a:t>
            </a:r>
            <a:r>
              <a:rPr lang="pt-BR" sz="2400" dirty="0" err="1"/>
              <a:t>aircraft</a:t>
            </a:r>
            <a:r>
              <a:rPr lang="pt-BR" sz="2400" dirty="0"/>
              <a:t> (em bancada): feito em ambiente controlado, mais preciso.</a:t>
            </a:r>
          </a:p>
          <a:p>
            <a:pPr algn="just"/>
            <a:r>
              <a:rPr lang="pt-BR" sz="2400" b="1" dirty="0"/>
              <a:t>Histórico:</a:t>
            </a:r>
          </a:p>
          <a:p>
            <a:pPr algn="just">
              <a:buFont typeface="Arial" panose="020B0604020202020204" pitchFamily="34" charset="0"/>
              <a:buChar char="•"/>
            </a:pPr>
            <a:r>
              <a:rPr lang="pt-BR" sz="2400" dirty="0"/>
              <a:t>No DC-9, foi identificado desgaste excessivo.</a:t>
            </a:r>
          </a:p>
          <a:p>
            <a:pPr algn="just">
              <a:buFont typeface="Arial" panose="020B0604020202020204" pitchFamily="34" charset="0"/>
              <a:buChar char="•"/>
            </a:pPr>
            <a:r>
              <a:rPr lang="pt-BR" sz="2400" dirty="0"/>
              <a:t>Isso levou a melhorias nos materiais e à implantação de inspeções periódicas.</a:t>
            </a:r>
          </a:p>
          <a:p>
            <a:pPr algn="just"/>
            <a:endParaRPr lang="en-US" dirty="0"/>
          </a:p>
          <a:p>
            <a:endParaRPr lang="en-US" dirty="0"/>
          </a:p>
        </p:txBody>
      </p:sp>
      <p:pic>
        <p:nvPicPr>
          <p:cNvPr id="13" name="Picture 12">
            <a:extLst>
              <a:ext uri="{FF2B5EF4-FFF2-40B4-BE49-F238E27FC236}">
                <a16:creationId xmlns:a16="http://schemas.microsoft.com/office/drawing/2014/main" id="{836F3CCA-2BD3-3009-05C7-012D16853ABB}"/>
              </a:ext>
            </a:extLst>
          </p:cNvPr>
          <p:cNvPicPr>
            <a:picLocks noChangeAspect="1"/>
          </p:cNvPicPr>
          <p:nvPr/>
        </p:nvPicPr>
        <p:blipFill>
          <a:blip r:embed="rId4"/>
          <a:stretch>
            <a:fillRect/>
          </a:stretch>
        </p:blipFill>
        <p:spPr>
          <a:xfrm>
            <a:off x="8016609" y="3773805"/>
            <a:ext cx="3430465" cy="1731351"/>
          </a:xfrm>
          <a:prstGeom prst="rect">
            <a:avLst/>
          </a:prstGeom>
        </p:spPr>
      </p:pic>
    </p:spTree>
    <p:extLst>
      <p:ext uri="{BB962C8B-B14F-4D97-AF65-F5344CB8AC3E}">
        <p14:creationId xmlns:p14="http://schemas.microsoft.com/office/powerpoint/2010/main" val="1073954735"/>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F944F-0F6A-2A62-A7EC-5A7888F18AA1}"/>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DAB8219E-3257-6874-0904-FDF1CE555B00}"/>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14B95782-AAB2-F3BF-68FF-48AD59B05AE6}"/>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6</a:t>
            </a:r>
            <a:endParaRPr kumimoji="0" lang="pt-BR" sz="2000" b="1"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42C6A726-FECE-101E-F2B7-CE113ABC57D7}"/>
              </a:ext>
            </a:extLst>
          </p:cNvPr>
          <p:cNvSpPr txBox="1"/>
          <p:nvPr/>
        </p:nvSpPr>
        <p:spPr>
          <a:xfrm>
            <a:off x="204278" y="564779"/>
            <a:ext cx="7290522" cy="307777"/>
          </a:xfrm>
          <a:prstGeom prst="rect">
            <a:avLst/>
          </a:prstGeom>
          <a:noFill/>
        </p:spPr>
        <p:txBody>
          <a:bodyPr wrap="none" lIns="91440" tIns="45720" rIns="91440" bIns="45720" rtlCol="0" anchor="t">
            <a:spAutoFit/>
          </a:bodyPr>
          <a:lstStyle/>
          <a:p>
            <a:r>
              <a:rPr lang="pt-BR" sz="1400" u="sng">
                <a:solidFill>
                  <a:srgbClr val="0070C0"/>
                </a:solidFill>
                <a:latin typeface="Arial"/>
                <a:cs typeface="Arial"/>
              </a:rPr>
              <a:t>Slide 6.1 - Dissimilaridade do eixo e porca trapezoidal (Aço inoxidável e Alumínio-Bronze)</a:t>
            </a:r>
            <a:endParaRPr lang="pt-BR">
              <a:solidFill>
                <a:srgbClr val="000000"/>
              </a:solidFill>
              <a:latin typeface="Aptos"/>
              <a:cs typeface="Arial"/>
            </a:endParaRPr>
          </a:p>
        </p:txBody>
      </p:sp>
      <p:sp>
        <p:nvSpPr>
          <p:cNvPr id="8" name="CaixaDeTexto 7">
            <a:extLst>
              <a:ext uri="{FF2B5EF4-FFF2-40B4-BE49-F238E27FC236}">
                <a16:creationId xmlns:a16="http://schemas.microsoft.com/office/drawing/2014/main" id="{017BBAD3-64C9-5E6F-5ACC-58279EAA8B17}"/>
              </a:ext>
            </a:extLst>
          </p:cNvPr>
          <p:cNvSpPr txBox="1"/>
          <p:nvPr/>
        </p:nvSpPr>
        <p:spPr>
          <a:xfrm>
            <a:off x="10422822" y="9646"/>
            <a:ext cx="1766236" cy="646331"/>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rPr>
              <a:t>Resp.: </a:t>
            </a:r>
          </a:p>
          <a:p>
            <a:pPr algn="ctr">
              <a:defRPr/>
            </a:pPr>
            <a:r>
              <a:rPr kumimoji="0" lang="pt-BR" sz="1800" b="0" i="0" u="sng" strike="noStrike" kern="1200" cap="none" spc="0" normalizeH="0" baseline="0" noProof="0" dirty="0" err="1">
                <a:ln>
                  <a:noFill/>
                </a:ln>
                <a:solidFill>
                  <a:srgbClr val="0070C0"/>
                </a:solidFill>
                <a:effectLst/>
                <a:uLnTx/>
                <a:uFillTx/>
                <a:latin typeface="Aptos" panose="02110004020202020204"/>
                <a:ea typeface="+mn-ea"/>
                <a:cs typeface="+mn-cs"/>
              </a:rPr>
              <a:t>Jhona</a:t>
            </a:r>
            <a:r>
              <a:rPr lang="pt-BR" u="sng" dirty="0" err="1">
                <a:solidFill>
                  <a:srgbClr val="0070C0"/>
                </a:solidFill>
                <a:latin typeface="Aptos" panose="02110004020202020204"/>
              </a:rPr>
              <a:t>ta</a:t>
            </a:r>
            <a:r>
              <a:rPr lang="pt-BR" u="sng" dirty="0">
                <a:solidFill>
                  <a:srgbClr val="0070C0"/>
                </a:solidFill>
                <a:latin typeface="Aptos" panose="02110004020202020204"/>
              </a:rPr>
              <a:t> </a:t>
            </a:r>
            <a:r>
              <a:rPr lang="pt-BR" u="sng" dirty="0" err="1">
                <a:solidFill>
                  <a:srgbClr val="0070C0"/>
                </a:solidFill>
                <a:latin typeface="Aptos" panose="02110004020202020204"/>
              </a:rPr>
              <a:t>Cawan</a:t>
            </a:r>
            <a:endPar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9" name="CaixaDeTexto 8">
            <a:extLst>
              <a:ext uri="{FF2B5EF4-FFF2-40B4-BE49-F238E27FC236}">
                <a16:creationId xmlns:a16="http://schemas.microsoft.com/office/drawing/2014/main" id="{4436E933-8BD8-664A-0BE1-1C4848E3C44D}"/>
              </a:ext>
            </a:extLst>
          </p:cNvPr>
          <p:cNvSpPr txBox="1"/>
          <p:nvPr/>
        </p:nvSpPr>
        <p:spPr>
          <a:xfrm>
            <a:off x="1608667" y="-76272"/>
            <a:ext cx="9334976" cy="646331"/>
          </a:xfrm>
          <a:prstGeom prst="rect">
            <a:avLst/>
          </a:prstGeom>
          <a:noFill/>
        </p:spPr>
        <p:txBody>
          <a:bodyPr wrap="square" lIns="91440" tIns="45720" rIns="91440" bIns="45720" rtlCol="0" anchor="t">
            <a:spAutoFit/>
          </a:bodyPr>
          <a:lstStyle/>
          <a:p>
            <a:pPr algn="just">
              <a:defRPr/>
            </a:pPr>
            <a:r>
              <a:rPr lang="pt-BR" sz="1400" dirty="0">
                <a:solidFill>
                  <a:srgbClr val="0B78A2"/>
                </a:solidFill>
                <a:latin typeface="Arial"/>
                <a:cs typeface="Arial"/>
              </a:rPr>
              <a:t>Materiais</a:t>
            </a:r>
            <a:r>
              <a:rPr kumimoji="0" lang="pt-BR" sz="1400" b="0" i="0" u="none" strike="noStrike" kern="1200" cap="none" spc="0" normalizeH="0" baseline="0" noProof="0" dirty="0">
                <a:ln>
                  <a:noFill/>
                </a:ln>
                <a:solidFill>
                  <a:schemeClr val="accent4">
                    <a:lumMod val="76000"/>
                  </a:schemeClr>
                </a:solidFill>
                <a:effectLst/>
                <a:uLnTx/>
                <a:uFillTx/>
                <a:latin typeface="Arial"/>
                <a:cs typeface="Arial"/>
              </a:rPr>
              <a:t>: </a:t>
            </a:r>
            <a:r>
              <a:rPr lang="pt-BR" sz="1100" dirty="0">
                <a:solidFill>
                  <a:schemeClr val="accent4">
                    <a:lumMod val="76000"/>
                  </a:schemeClr>
                </a:solidFill>
                <a:latin typeface="Arial"/>
                <a:cs typeface="Arial"/>
              </a:rPr>
              <a:t>Faça uma análise sobre a exposição do conjunto do eixo, relacione aspectos de controle e prevenção contra corrosão (CPCP,) e proponha um programa de manutenção preventiva para o conjunto e a zona de sua instalação a partir da FAA AD 99-22-08 e FAA AC 43-4B, </a:t>
            </a:r>
            <a:r>
              <a:rPr lang="pt-BR" sz="1100" dirty="0" err="1">
                <a:solidFill>
                  <a:schemeClr val="accent4">
                    <a:lumMod val="76000"/>
                  </a:schemeClr>
                </a:solidFill>
                <a:latin typeface="Arial"/>
                <a:cs typeface="Arial"/>
              </a:rPr>
              <a:t>Corrosion</a:t>
            </a:r>
            <a:r>
              <a:rPr lang="pt-BR" sz="1100" dirty="0">
                <a:solidFill>
                  <a:schemeClr val="accent4">
                    <a:lumMod val="76000"/>
                  </a:schemeClr>
                </a:solidFill>
                <a:latin typeface="Arial"/>
                <a:cs typeface="Arial"/>
              </a:rPr>
              <a:t> </a:t>
            </a:r>
            <a:r>
              <a:rPr lang="pt-BR" sz="1100" dirty="0" err="1">
                <a:solidFill>
                  <a:schemeClr val="accent4">
                    <a:lumMod val="76000"/>
                  </a:schemeClr>
                </a:solidFill>
                <a:latin typeface="Arial"/>
                <a:cs typeface="Arial"/>
              </a:rPr>
              <a:t>Control</a:t>
            </a:r>
            <a:r>
              <a:rPr lang="pt-BR" sz="1100" dirty="0">
                <a:solidFill>
                  <a:schemeClr val="accent4">
                    <a:lumMod val="76000"/>
                  </a:schemeClr>
                </a:solidFill>
                <a:latin typeface="Arial"/>
                <a:cs typeface="Arial"/>
              </a:rPr>
              <a:t> for </a:t>
            </a:r>
            <a:r>
              <a:rPr lang="pt-BR" sz="1100" dirty="0" err="1">
                <a:solidFill>
                  <a:schemeClr val="accent4">
                    <a:lumMod val="76000"/>
                  </a:schemeClr>
                </a:solidFill>
                <a:latin typeface="Arial"/>
                <a:cs typeface="Arial"/>
              </a:rPr>
              <a:t>Aircraft</a:t>
            </a:r>
            <a:r>
              <a:rPr lang="pt-BR" sz="1100" dirty="0">
                <a:solidFill>
                  <a:schemeClr val="accent4">
                    <a:lumMod val="76000"/>
                  </a:schemeClr>
                </a:solidFill>
                <a:latin typeface="Arial"/>
                <a:cs typeface="Arial"/>
              </a:rPr>
              <a:t>.</a:t>
            </a:r>
            <a:endParaRPr lang="pt-BR" sz="1100" b="0" i="0" u="none" strike="noStrike" kern="1200" cap="none" spc="0" normalizeH="0" baseline="0" noProof="0" dirty="0">
              <a:ln>
                <a:noFill/>
              </a:ln>
              <a:solidFill>
                <a:schemeClr val="accent4">
                  <a:lumMod val="76000"/>
                </a:schemeClr>
              </a:solidFill>
              <a:effectLst/>
              <a:uLnTx/>
              <a:uFillTx/>
              <a:latin typeface="Arial" panose="020B0604020202020204" pitchFamily="34" charset="0"/>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1783DBF2-B129-A50C-10B9-DA30F1066C27}"/>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7" name="CaixaDeTexto 6">
            <a:extLst>
              <a:ext uri="{FF2B5EF4-FFF2-40B4-BE49-F238E27FC236}">
                <a16:creationId xmlns:a16="http://schemas.microsoft.com/office/drawing/2014/main" id="{1489D092-EDC2-89BD-95BA-70D92E1358EF}"/>
              </a:ext>
            </a:extLst>
          </p:cNvPr>
          <p:cNvSpPr txBox="1"/>
          <p:nvPr/>
        </p:nvSpPr>
        <p:spPr>
          <a:xfrm>
            <a:off x="509286" y="1184475"/>
            <a:ext cx="10797249"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pt-BR" sz="2400" dirty="0">
                <a:cs typeface="Arial"/>
              </a:rPr>
              <a:t>A porca trapezoidal foi feita com material mais macio que o eixo para que ela se desgastasse primeiro.</a:t>
            </a:r>
          </a:p>
          <a:p>
            <a:pPr marL="342900" indent="-342900" algn="just">
              <a:buFont typeface="Arial" panose="020B0604020202020204" pitchFamily="34" charset="0"/>
              <a:buChar char="•"/>
            </a:pPr>
            <a:r>
              <a:rPr lang="pt-BR" sz="2400" dirty="0">
                <a:cs typeface="Arial"/>
              </a:rPr>
              <a:t>As roscas da porca são de liga alumínio-bronze, com cerca de 0,15 pol. de espessura quando novas.</a:t>
            </a:r>
          </a:p>
          <a:p>
            <a:pPr marL="342900" indent="-342900" algn="just">
              <a:buFont typeface="Arial" panose="020B0604020202020204" pitchFamily="34" charset="0"/>
              <a:buChar char="•"/>
            </a:pPr>
            <a:r>
              <a:rPr lang="pt-BR" sz="2400" dirty="0">
                <a:cs typeface="Arial"/>
              </a:rPr>
              <a:t>O eixo é de aço endurecido, mais resistente.</a:t>
            </a:r>
          </a:p>
          <a:p>
            <a:pPr algn="just"/>
            <a:r>
              <a:rPr lang="pt-BR" sz="2400" dirty="0">
                <a:cs typeface="Arial"/>
              </a:rPr>
              <a:t>Em 1966, pouco tempo após o avião DC-9 começar a voar, descobriram que algumas porcas estavam se desgastando rápido. Por isso, criaram um procedimento para medir a folga (espaço) entre as roscas do eixo e da porca, como forma de acompanhar o desgaste.</a:t>
            </a:r>
          </a:p>
          <a:p>
            <a:pPr algn="just"/>
            <a:r>
              <a:rPr lang="pt-BR" sz="2400" dirty="0">
                <a:cs typeface="Arial"/>
              </a:rPr>
              <a:t>A fabricante (Douglas) determinou então que:</a:t>
            </a:r>
          </a:p>
          <a:p>
            <a:pPr marL="342900" indent="-342900" algn="just">
              <a:buFont typeface="Arial" panose="020B0604020202020204" pitchFamily="34" charset="0"/>
              <a:buChar char="•"/>
            </a:pPr>
            <a:r>
              <a:rPr lang="pt-BR" sz="2400" dirty="0">
                <a:cs typeface="Arial"/>
              </a:rPr>
              <a:t>essa medição deveria ser feita regularmente.</a:t>
            </a:r>
          </a:p>
          <a:p>
            <a:pPr marL="342900" indent="-342900" algn="just">
              <a:buFont typeface="Arial" panose="020B0604020202020204" pitchFamily="34" charset="0"/>
              <a:buChar char="•"/>
            </a:pPr>
            <a:r>
              <a:rPr lang="pt-BR" sz="2400" dirty="0">
                <a:cs typeface="Arial"/>
              </a:rPr>
              <a:t>se a folga ultrapassasse 0,040 pol., a porca deveria ser substituída.</a:t>
            </a:r>
          </a:p>
        </p:txBody>
      </p:sp>
    </p:spTree>
    <p:extLst>
      <p:ext uri="{BB962C8B-B14F-4D97-AF65-F5344CB8AC3E}">
        <p14:creationId xmlns:p14="http://schemas.microsoft.com/office/powerpoint/2010/main" val="31619520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F62B0-2A47-FC30-C53B-A216010CC0B9}"/>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16963A50-5546-00B7-C3B6-ECA3F96E5E0B}"/>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668672D9-1E3A-E8E8-432C-7791D5A2F4B5}"/>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6</a:t>
            </a:r>
            <a:endParaRPr kumimoji="0" lang="pt-BR" sz="2000" b="1"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CB4DF970-601E-046E-0CF6-CFBD0D5DD94E}"/>
              </a:ext>
            </a:extLst>
          </p:cNvPr>
          <p:cNvSpPr txBox="1"/>
          <p:nvPr/>
        </p:nvSpPr>
        <p:spPr>
          <a:xfrm>
            <a:off x="204278" y="564779"/>
            <a:ext cx="3018455" cy="307777"/>
          </a:xfrm>
          <a:prstGeom prst="rect">
            <a:avLst/>
          </a:prstGeom>
          <a:noFill/>
        </p:spPr>
        <p:txBody>
          <a:bodyPr wrap="none" lIns="91440" tIns="45720" rIns="91440" bIns="45720" rtlCol="0" anchor="t">
            <a:spAutoFit/>
          </a:bodyPr>
          <a:lstStyle/>
          <a:p>
            <a:r>
              <a:rPr lang="pt-BR" sz="1400" u="sng">
                <a:solidFill>
                  <a:srgbClr val="0070C0"/>
                </a:solidFill>
                <a:latin typeface="Arial"/>
                <a:cs typeface="Arial"/>
              </a:rPr>
              <a:t>Slide 6.2 - Tubo de torque de titânio</a:t>
            </a:r>
            <a:endParaRPr lang="pt-BR">
              <a:solidFill>
                <a:srgbClr val="000000"/>
              </a:solidFill>
              <a:latin typeface="Aptos"/>
              <a:cs typeface="Arial"/>
            </a:endParaRPr>
          </a:p>
        </p:txBody>
      </p:sp>
      <p:sp>
        <p:nvSpPr>
          <p:cNvPr id="8" name="CaixaDeTexto 7">
            <a:extLst>
              <a:ext uri="{FF2B5EF4-FFF2-40B4-BE49-F238E27FC236}">
                <a16:creationId xmlns:a16="http://schemas.microsoft.com/office/drawing/2014/main" id="{921F3D53-EB01-A88F-189A-DCFD55D8003C}"/>
              </a:ext>
            </a:extLst>
          </p:cNvPr>
          <p:cNvSpPr txBox="1"/>
          <p:nvPr/>
        </p:nvSpPr>
        <p:spPr>
          <a:xfrm>
            <a:off x="10422822" y="9646"/>
            <a:ext cx="1766236" cy="646331"/>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rPr>
              <a:t>Resp.: </a:t>
            </a:r>
          </a:p>
          <a:p>
            <a:pPr algn="ctr">
              <a:defRPr/>
            </a:pPr>
            <a:r>
              <a:rPr kumimoji="0" lang="pt-BR" sz="1800" b="0" i="0" u="sng" strike="noStrike" kern="1200" cap="none" spc="0" normalizeH="0" baseline="0" noProof="0" dirty="0" err="1">
                <a:ln>
                  <a:noFill/>
                </a:ln>
                <a:solidFill>
                  <a:srgbClr val="0070C0"/>
                </a:solidFill>
                <a:effectLst/>
                <a:uLnTx/>
                <a:uFillTx/>
                <a:latin typeface="Aptos" panose="02110004020202020204"/>
                <a:ea typeface="+mn-ea"/>
                <a:cs typeface="+mn-cs"/>
              </a:rPr>
              <a:t>Jhona</a:t>
            </a:r>
            <a:r>
              <a:rPr lang="pt-BR" u="sng" dirty="0" err="1">
                <a:solidFill>
                  <a:srgbClr val="0070C0"/>
                </a:solidFill>
                <a:latin typeface="Aptos" panose="02110004020202020204"/>
              </a:rPr>
              <a:t>ta</a:t>
            </a:r>
            <a:r>
              <a:rPr lang="pt-BR" u="sng" dirty="0">
                <a:solidFill>
                  <a:srgbClr val="0070C0"/>
                </a:solidFill>
                <a:latin typeface="Aptos" panose="02110004020202020204"/>
              </a:rPr>
              <a:t> </a:t>
            </a:r>
            <a:r>
              <a:rPr lang="pt-BR" u="sng" dirty="0" err="1">
                <a:solidFill>
                  <a:srgbClr val="0070C0"/>
                </a:solidFill>
                <a:latin typeface="Aptos" panose="02110004020202020204"/>
              </a:rPr>
              <a:t>Cawan</a:t>
            </a:r>
            <a:endPar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9" name="CaixaDeTexto 8">
            <a:extLst>
              <a:ext uri="{FF2B5EF4-FFF2-40B4-BE49-F238E27FC236}">
                <a16:creationId xmlns:a16="http://schemas.microsoft.com/office/drawing/2014/main" id="{B10BF71F-3A5E-211C-7282-B06EA484CB85}"/>
              </a:ext>
            </a:extLst>
          </p:cNvPr>
          <p:cNvSpPr txBox="1"/>
          <p:nvPr/>
        </p:nvSpPr>
        <p:spPr>
          <a:xfrm>
            <a:off x="1608667" y="-76272"/>
            <a:ext cx="9334976" cy="646331"/>
          </a:xfrm>
          <a:prstGeom prst="rect">
            <a:avLst/>
          </a:prstGeom>
          <a:noFill/>
        </p:spPr>
        <p:txBody>
          <a:bodyPr wrap="square" lIns="91440" tIns="45720" rIns="91440" bIns="45720" rtlCol="0" anchor="t">
            <a:spAutoFit/>
          </a:bodyPr>
          <a:lstStyle/>
          <a:p>
            <a:pPr algn="just">
              <a:defRPr/>
            </a:pPr>
            <a:r>
              <a:rPr lang="pt-BR" sz="1400">
                <a:solidFill>
                  <a:srgbClr val="0B78A2"/>
                </a:solidFill>
                <a:latin typeface="Arial"/>
                <a:cs typeface="Arial"/>
              </a:rPr>
              <a:t>Materiais</a:t>
            </a:r>
            <a:r>
              <a:rPr kumimoji="0" lang="pt-BR" sz="1400" b="0" i="0" u="none" strike="noStrike" kern="1200" cap="none" spc="0" normalizeH="0" baseline="0" noProof="0">
                <a:ln>
                  <a:noFill/>
                </a:ln>
                <a:solidFill>
                  <a:schemeClr val="accent4">
                    <a:lumMod val="76000"/>
                  </a:schemeClr>
                </a:solidFill>
                <a:effectLst/>
                <a:uLnTx/>
                <a:uFillTx/>
                <a:latin typeface="Arial"/>
                <a:cs typeface="Arial"/>
              </a:rPr>
              <a:t>: </a:t>
            </a:r>
            <a:r>
              <a:rPr lang="pt-BR" sz="1100">
                <a:solidFill>
                  <a:schemeClr val="accent4">
                    <a:lumMod val="76000"/>
                  </a:schemeClr>
                </a:solidFill>
                <a:latin typeface="Arial"/>
                <a:cs typeface="Arial"/>
              </a:rPr>
              <a:t>Faça uma análise sobre a exposição do conjunto do eixo, relacione aspectos de controle e prevenção contra corrosão (CPCP,) e proponha um programa de manutenção preventiva para o conjunto e a zona de sua instalação a partir da FAA AD 99-22-08 e FAA AC 43-4B, </a:t>
            </a:r>
            <a:r>
              <a:rPr lang="pt-BR" sz="1100" err="1">
                <a:solidFill>
                  <a:schemeClr val="accent4">
                    <a:lumMod val="76000"/>
                  </a:schemeClr>
                </a:solidFill>
                <a:latin typeface="Arial"/>
                <a:cs typeface="Arial"/>
              </a:rPr>
              <a:t>Corrosion</a:t>
            </a:r>
            <a:r>
              <a:rPr lang="pt-BR" sz="1100">
                <a:solidFill>
                  <a:schemeClr val="accent4">
                    <a:lumMod val="76000"/>
                  </a:schemeClr>
                </a:solidFill>
                <a:latin typeface="Arial"/>
                <a:cs typeface="Arial"/>
              </a:rPr>
              <a:t> </a:t>
            </a:r>
            <a:r>
              <a:rPr lang="pt-BR" sz="1100" err="1">
                <a:solidFill>
                  <a:schemeClr val="accent4">
                    <a:lumMod val="76000"/>
                  </a:schemeClr>
                </a:solidFill>
                <a:latin typeface="Arial"/>
                <a:cs typeface="Arial"/>
              </a:rPr>
              <a:t>Control</a:t>
            </a:r>
            <a:r>
              <a:rPr lang="pt-BR" sz="1100">
                <a:solidFill>
                  <a:schemeClr val="accent4">
                    <a:lumMod val="76000"/>
                  </a:schemeClr>
                </a:solidFill>
                <a:latin typeface="Arial"/>
                <a:cs typeface="Arial"/>
              </a:rPr>
              <a:t> for </a:t>
            </a:r>
            <a:r>
              <a:rPr lang="pt-BR" sz="1100" err="1">
                <a:solidFill>
                  <a:schemeClr val="accent4">
                    <a:lumMod val="76000"/>
                  </a:schemeClr>
                </a:solidFill>
                <a:latin typeface="Arial"/>
                <a:cs typeface="Arial"/>
              </a:rPr>
              <a:t>Aircraft</a:t>
            </a:r>
            <a:r>
              <a:rPr lang="pt-BR" sz="1100">
                <a:solidFill>
                  <a:schemeClr val="accent4">
                    <a:lumMod val="76000"/>
                  </a:schemeClr>
                </a:solidFill>
                <a:latin typeface="Arial"/>
                <a:cs typeface="Arial"/>
              </a:rPr>
              <a:t>.</a:t>
            </a:r>
            <a:endParaRPr lang="pt-BR" sz="1100" b="0" i="0" u="none" strike="noStrike" kern="1200" cap="none" spc="0" normalizeH="0" baseline="0" noProof="0">
              <a:ln>
                <a:noFill/>
              </a:ln>
              <a:solidFill>
                <a:schemeClr val="accent4">
                  <a:lumMod val="76000"/>
                </a:schemeClr>
              </a:solidFill>
              <a:effectLst/>
              <a:uLnTx/>
              <a:uFillTx/>
              <a:latin typeface="Arial" panose="020B0604020202020204" pitchFamily="34" charset="0"/>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A3E9F3C8-F991-22DC-87FA-0764AEE5937E}"/>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7" name="CaixaDeTexto 6">
            <a:extLst>
              <a:ext uri="{FF2B5EF4-FFF2-40B4-BE49-F238E27FC236}">
                <a16:creationId xmlns:a16="http://schemas.microsoft.com/office/drawing/2014/main" id="{401A2169-1762-C9C3-FF0C-1BEE211CEF32}"/>
              </a:ext>
            </a:extLst>
          </p:cNvPr>
          <p:cNvSpPr txBox="1"/>
          <p:nvPr/>
        </p:nvSpPr>
        <p:spPr>
          <a:xfrm>
            <a:off x="509286" y="1097665"/>
            <a:ext cx="11057679" cy="29731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lnSpc>
                <a:spcPct val="90000"/>
              </a:lnSpc>
              <a:spcBef>
                <a:spcPts val="1000"/>
              </a:spcBef>
              <a:buFont typeface="Arial"/>
              <a:buChar char="•"/>
            </a:pPr>
            <a:r>
              <a:rPr lang="pt-BR" sz="2600" dirty="0">
                <a:cs typeface="Arial"/>
              </a:rPr>
              <a:t>O tubo de torção que envolve o eixo quebrou logo abaixo das estrias, na primeira rosca </a:t>
            </a:r>
            <a:r>
              <a:rPr lang="pt-BR" sz="2600" dirty="0" err="1">
                <a:cs typeface="Arial"/>
              </a:rPr>
              <a:t>completa.A</a:t>
            </a:r>
            <a:r>
              <a:rPr lang="pt-BR" sz="2600" dirty="0">
                <a:cs typeface="Arial"/>
              </a:rPr>
              <a:t> parte de cima do tubo ficou levemente dobrada (cerca de 5°), exatamente no ponto onde havia a trinca no eixo. Os sinais na peça mostram que a quebra começou na parte dianteira direita do tubo e depois se espalhou por toda a sua espessura. Na parte superior, onde o tubo tem maior diâmetro, havia uma marca de desgaste em forma de faixa, com cerca de 0,1 polegada de largura e 0,028 de profundidade, que contornava toda a peça nessa região.</a:t>
            </a:r>
            <a:endParaRPr lang="en-US" sz="2200" dirty="0">
              <a:cs typeface="Arial"/>
            </a:endParaRPr>
          </a:p>
        </p:txBody>
      </p:sp>
    </p:spTree>
    <p:extLst>
      <p:ext uri="{BB962C8B-B14F-4D97-AF65-F5344CB8AC3E}">
        <p14:creationId xmlns:p14="http://schemas.microsoft.com/office/powerpoint/2010/main" val="316397121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3142E-6D9A-163E-20FB-E1F08A16A99C}"/>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07075F96-9174-7331-5045-D3283A77895E}"/>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6558B218-88F2-5222-E134-B72A6683287E}"/>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6</a:t>
            </a:r>
            <a:endParaRPr kumimoji="0" lang="pt-BR" sz="2000" b="1"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DAA0366D-353E-83E4-D86F-C185AA8870F2}"/>
              </a:ext>
            </a:extLst>
          </p:cNvPr>
          <p:cNvSpPr txBox="1"/>
          <p:nvPr/>
        </p:nvSpPr>
        <p:spPr>
          <a:xfrm>
            <a:off x="204278" y="564779"/>
            <a:ext cx="2622834" cy="307777"/>
          </a:xfrm>
          <a:prstGeom prst="rect">
            <a:avLst/>
          </a:prstGeom>
          <a:noFill/>
        </p:spPr>
        <p:txBody>
          <a:bodyPr wrap="none" lIns="91440" tIns="45720" rIns="91440" bIns="45720" rtlCol="0" anchor="t">
            <a:spAutoFit/>
          </a:bodyPr>
          <a:lstStyle/>
          <a:p>
            <a:r>
              <a:rPr lang="pt-BR" sz="1400" u="sng" dirty="0">
                <a:solidFill>
                  <a:srgbClr val="0070C0"/>
                </a:solidFill>
                <a:latin typeface="Arial"/>
                <a:cs typeface="Arial"/>
              </a:rPr>
              <a:t>Slide 6.3 - Corrosão Galvânica</a:t>
            </a:r>
            <a:endParaRPr lang="pt-BR" sz="1200" dirty="0">
              <a:solidFill>
                <a:srgbClr val="242424"/>
              </a:solidFill>
              <a:latin typeface="Aptos"/>
              <a:cs typeface="Arial"/>
            </a:endParaRPr>
          </a:p>
        </p:txBody>
      </p:sp>
      <p:sp>
        <p:nvSpPr>
          <p:cNvPr id="8" name="CaixaDeTexto 7">
            <a:extLst>
              <a:ext uri="{FF2B5EF4-FFF2-40B4-BE49-F238E27FC236}">
                <a16:creationId xmlns:a16="http://schemas.microsoft.com/office/drawing/2014/main" id="{B681364B-7314-9A51-4B19-ECE661567183}"/>
              </a:ext>
            </a:extLst>
          </p:cNvPr>
          <p:cNvSpPr txBox="1"/>
          <p:nvPr/>
        </p:nvSpPr>
        <p:spPr>
          <a:xfrm>
            <a:off x="10422822" y="9646"/>
            <a:ext cx="1766236" cy="646331"/>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rPr>
              <a:t>Resp.: </a:t>
            </a:r>
          </a:p>
          <a:p>
            <a:pPr algn="ctr">
              <a:defRPr/>
            </a:pPr>
            <a:r>
              <a:rPr kumimoji="0" lang="pt-BR" sz="1800" b="0" i="0" u="sng" strike="noStrike" kern="1200" cap="none" spc="0" normalizeH="0" baseline="0" noProof="0" dirty="0" err="1">
                <a:ln>
                  <a:noFill/>
                </a:ln>
                <a:solidFill>
                  <a:srgbClr val="0070C0"/>
                </a:solidFill>
                <a:effectLst/>
                <a:uLnTx/>
                <a:uFillTx/>
                <a:latin typeface="Aptos" panose="02110004020202020204"/>
                <a:ea typeface="+mn-ea"/>
                <a:cs typeface="+mn-cs"/>
              </a:rPr>
              <a:t>Jhona</a:t>
            </a:r>
            <a:r>
              <a:rPr lang="pt-BR" u="sng" dirty="0" err="1">
                <a:solidFill>
                  <a:srgbClr val="0070C0"/>
                </a:solidFill>
                <a:latin typeface="Aptos" panose="02110004020202020204"/>
              </a:rPr>
              <a:t>ta</a:t>
            </a:r>
            <a:r>
              <a:rPr lang="pt-BR" u="sng" dirty="0">
                <a:solidFill>
                  <a:srgbClr val="0070C0"/>
                </a:solidFill>
                <a:latin typeface="Aptos" panose="02110004020202020204"/>
              </a:rPr>
              <a:t> </a:t>
            </a:r>
            <a:r>
              <a:rPr lang="pt-BR" u="sng" dirty="0" err="1">
                <a:solidFill>
                  <a:srgbClr val="0070C0"/>
                </a:solidFill>
                <a:latin typeface="Aptos" panose="02110004020202020204"/>
              </a:rPr>
              <a:t>Cawan</a:t>
            </a:r>
            <a:endPar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9" name="CaixaDeTexto 8">
            <a:extLst>
              <a:ext uri="{FF2B5EF4-FFF2-40B4-BE49-F238E27FC236}">
                <a16:creationId xmlns:a16="http://schemas.microsoft.com/office/drawing/2014/main" id="{A2CC59CA-CB03-7AC6-BBD5-8899267EFBF6}"/>
              </a:ext>
            </a:extLst>
          </p:cNvPr>
          <p:cNvSpPr txBox="1"/>
          <p:nvPr/>
        </p:nvSpPr>
        <p:spPr>
          <a:xfrm>
            <a:off x="1608667" y="-76272"/>
            <a:ext cx="9334976" cy="646331"/>
          </a:xfrm>
          <a:prstGeom prst="rect">
            <a:avLst/>
          </a:prstGeom>
          <a:noFill/>
        </p:spPr>
        <p:txBody>
          <a:bodyPr wrap="square" lIns="91440" tIns="45720" rIns="91440" bIns="45720" rtlCol="0" anchor="t">
            <a:spAutoFit/>
          </a:bodyPr>
          <a:lstStyle/>
          <a:p>
            <a:pPr algn="just">
              <a:defRPr/>
            </a:pPr>
            <a:r>
              <a:rPr lang="pt-BR" sz="1400">
                <a:solidFill>
                  <a:srgbClr val="0B78A2"/>
                </a:solidFill>
                <a:latin typeface="Arial"/>
                <a:cs typeface="Arial"/>
              </a:rPr>
              <a:t>Materiais</a:t>
            </a:r>
            <a:r>
              <a:rPr kumimoji="0" lang="pt-BR" sz="1400" b="0" i="0" u="none" strike="noStrike" kern="1200" cap="none" spc="0" normalizeH="0" baseline="0" noProof="0">
                <a:ln>
                  <a:noFill/>
                </a:ln>
                <a:solidFill>
                  <a:schemeClr val="accent4">
                    <a:lumMod val="76000"/>
                  </a:schemeClr>
                </a:solidFill>
                <a:effectLst/>
                <a:uLnTx/>
                <a:uFillTx/>
                <a:latin typeface="Arial"/>
                <a:cs typeface="Arial"/>
              </a:rPr>
              <a:t>: </a:t>
            </a:r>
            <a:r>
              <a:rPr lang="pt-BR" sz="1100">
                <a:solidFill>
                  <a:schemeClr val="accent4">
                    <a:lumMod val="76000"/>
                  </a:schemeClr>
                </a:solidFill>
                <a:latin typeface="Arial"/>
                <a:cs typeface="Arial"/>
              </a:rPr>
              <a:t>Faça uma análise sobre a exposição do conjunto do eixo, relacione aspectos de controle e prevenção contra corrosão (CPCP,) e proponha um programa de manutenção preventiva para o conjunto e a zona de sua instalação a partir da FAA AD 99-22-08 e FAA AC 43-4B, </a:t>
            </a:r>
            <a:r>
              <a:rPr lang="pt-BR" sz="1100" err="1">
                <a:solidFill>
                  <a:schemeClr val="accent4">
                    <a:lumMod val="76000"/>
                  </a:schemeClr>
                </a:solidFill>
                <a:latin typeface="Arial"/>
                <a:cs typeface="Arial"/>
              </a:rPr>
              <a:t>Corrosion</a:t>
            </a:r>
            <a:r>
              <a:rPr lang="pt-BR" sz="1100">
                <a:solidFill>
                  <a:schemeClr val="accent4">
                    <a:lumMod val="76000"/>
                  </a:schemeClr>
                </a:solidFill>
                <a:latin typeface="Arial"/>
                <a:cs typeface="Arial"/>
              </a:rPr>
              <a:t> </a:t>
            </a:r>
            <a:r>
              <a:rPr lang="pt-BR" sz="1100" err="1">
                <a:solidFill>
                  <a:schemeClr val="accent4">
                    <a:lumMod val="76000"/>
                  </a:schemeClr>
                </a:solidFill>
                <a:latin typeface="Arial"/>
                <a:cs typeface="Arial"/>
              </a:rPr>
              <a:t>Control</a:t>
            </a:r>
            <a:r>
              <a:rPr lang="pt-BR" sz="1100">
                <a:solidFill>
                  <a:schemeClr val="accent4">
                    <a:lumMod val="76000"/>
                  </a:schemeClr>
                </a:solidFill>
                <a:latin typeface="Arial"/>
                <a:cs typeface="Arial"/>
              </a:rPr>
              <a:t> for </a:t>
            </a:r>
            <a:r>
              <a:rPr lang="pt-BR" sz="1100" err="1">
                <a:solidFill>
                  <a:schemeClr val="accent4">
                    <a:lumMod val="76000"/>
                  </a:schemeClr>
                </a:solidFill>
                <a:latin typeface="Arial"/>
                <a:cs typeface="Arial"/>
              </a:rPr>
              <a:t>Aircraft</a:t>
            </a:r>
            <a:r>
              <a:rPr lang="pt-BR" sz="1100">
                <a:solidFill>
                  <a:schemeClr val="accent4">
                    <a:lumMod val="76000"/>
                  </a:schemeClr>
                </a:solidFill>
                <a:latin typeface="Arial"/>
                <a:cs typeface="Arial"/>
              </a:rPr>
              <a:t>.</a:t>
            </a:r>
            <a:endParaRPr lang="pt-BR" sz="1100" b="0" i="0" u="none" strike="noStrike" kern="1200" cap="none" spc="0" normalizeH="0" baseline="0" noProof="0">
              <a:ln>
                <a:noFill/>
              </a:ln>
              <a:solidFill>
                <a:schemeClr val="accent4">
                  <a:lumMod val="76000"/>
                </a:schemeClr>
              </a:solidFill>
              <a:effectLst/>
              <a:uLnTx/>
              <a:uFillTx/>
              <a:latin typeface="Arial" panose="020B0604020202020204" pitchFamily="34" charset="0"/>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D87678BA-1C57-14B1-F972-B5C2D1D69F7B}"/>
              </a:ext>
            </a:extLst>
          </p:cNvPr>
          <p:cNvPicPr>
            <a:picLocks noChangeAspect="1"/>
          </p:cNvPicPr>
          <p:nvPr/>
        </p:nvPicPr>
        <p:blipFill>
          <a:blip r:embed="rId2"/>
          <a:stretch>
            <a:fillRect/>
          </a:stretch>
        </p:blipFill>
        <p:spPr>
          <a:xfrm>
            <a:off x="10682495" y="6023665"/>
            <a:ext cx="1428750" cy="685800"/>
          </a:xfrm>
          <a:prstGeom prst="rect">
            <a:avLst/>
          </a:prstGeom>
        </p:spPr>
      </p:pic>
      <p:sp>
        <p:nvSpPr>
          <p:cNvPr id="7" name="CaixaDeTexto 6">
            <a:extLst>
              <a:ext uri="{FF2B5EF4-FFF2-40B4-BE49-F238E27FC236}">
                <a16:creationId xmlns:a16="http://schemas.microsoft.com/office/drawing/2014/main" id="{03CB9C1B-61B6-90EC-A298-3442D5AF03A1}"/>
              </a:ext>
            </a:extLst>
          </p:cNvPr>
          <p:cNvSpPr txBox="1"/>
          <p:nvPr/>
        </p:nvSpPr>
        <p:spPr>
          <a:xfrm>
            <a:off x="480349" y="1194121"/>
            <a:ext cx="11057679" cy="24191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lnSpc>
                <a:spcPct val="90000"/>
              </a:lnSpc>
              <a:spcBef>
                <a:spcPts val="1000"/>
              </a:spcBef>
              <a:buFont typeface="Arial"/>
              <a:buChar char="•"/>
            </a:pPr>
            <a:r>
              <a:rPr lang="pt-BR" sz="2800" dirty="0"/>
              <a:t>Esse tipo de corrosão acontece quando dois metais diferentes se tocam na presença de um líquido condutor, chamado eletrólito. Quanto maior a diferença entre os metais, mais rápido ocorre a corrosão.</a:t>
            </a:r>
            <a:br>
              <a:rPr lang="pt-BR" sz="2800" dirty="0"/>
            </a:br>
            <a:r>
              <a:rPr lang="pt-BR" sz="2800" dirty="0"/>
              <a:t>No caso do eixo, é pouco provável que isso tenha acontecido, porque não havia eletrólito entre o eixo e a porca trapezoidal. Além disso, a graxa usada (</a:t>
            </a:r>
            <a:r>
              <a:rPr lang="pt-BR" sz="2800" dirty="0" err="1"/>
              <a:t>Aeroshell</a:t>
            </a:r>
            <a:r>
              <a:rPr lang="pt-BR" sz="2800" dirty="0"/>
              <a:t> 33) protege os metais e não provoca corrosão.</a:t>
            </a:r>
            <a:endParaRPr lang="en-US" sz="2200" dirty="0">
              <a:cs typeface="Arial"/>
            </a:endParaRPr>
          </a:p>
        </p:txBody>
      </p:sp>
    </p:spTree>
    <p:extLst>
      <p:ext uri="{BB962C8B-B14F-4D97-AF65-F5344CB8AC3E}">
        <p14:creationId xmlns:p14="http://schemas.microsoft.com/office/powerpoint/2010/main" val="256974975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4C8DB-506C-D2BC-D579-A2A1D53B1005}"/>
            </a:ext>
          </a:extLst>
        </p:cNvPr>
        <p:cNvGrpSpPr/>
        <p:nvPr/>
      </p:nvGrpSpPr>
      <p:grpSpPr>
        <a:xfrm>
          <a:off x="0" y="0"/>
          <a:ext cx="0" cy="0"/>
          <a:chOff x="0" y="0"/>
          <a:chExt cx="0" cy="0"/>
        </a:xfrm>
      </p:grpSpPr>
      <p:sp>
        <p:nvSpPr>
          <p:cNvPr id="52" name="Linha">
            <a:extLst>
              <a:ext uri="{FF2B5EF4-FFF2-40B4-BE49-F238E27FC236}">
                <a16:creationId xmlns:a16="http://schemas.microsoft.com/office/drawing/2014/main" id="{47A7C1B6-26A8-D130-6965-A2243D8C9815}"/>
              </a:ext>
            </a:extLst>
          </p:cNvPr>
          <p:cNvSpPr/>
          <p:nvPr/>
        </p:nvSpPr>
        <p:spPr>
          <a:xfrm flipV="1">
            <a:off x="252919" y="486960"/>
            <a:ext cx="8852170" cy="30053"/>
          </a:xfrm>
          <a:prstGeom prst="line">
            <a:avLst/>
          </a:prstGeom>
          <a:ln w="57150">
            <a:gradFill flip="none" rotWithShape="1">
              <a:gsLst>
                <a:gs pos="41964">
                  <a:srgbClr val="B2CBFF">
                    <a:alpha val="85000"/>
                  </a:srgbClr>
                </a:gs>
                <a:gs pos="62953">
                  <a:srgbClr val="93B5FF"/>
                </a:gs>
                <a:gs pos="27972">
                  <a:srgbClr val="C7D9FF"/>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miter lim="400000"/>
          </a:ln>
        </p:spPr>
        <p:txBody>
          <a:bodyPr lIns="25400" tIns="25400" rIns="25400" bIns="254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00" b="0" i="0" u="none" strike="noStrike" kern="1200" cap="none" spc="0" normalizeH="0" baseline="0" noProof="0">
              <a:ln>
                <a:noFill/>
              </a:ln>
              <a:solidFill>
                <a:srgbClr val="001638"/>
              </a:solidFill>
              <a:effectLst/>
              <a:uLnTx/>
              <a:uFillTx/>
              <a:latin typeface="Arial"/>
              <a:ea typeface="+mn-ea"/>
              <a:cs typeface="+mn-cs"/>
            </a:endParaRPr>
          </a:p>
        </p:txBody>
      </p:sp>
      <p:sp>
        <p:nvSpPr>
          <p:cNvPr id="5" name="TextBox 4">
            <a:extLst>
              <a:ext uri="{FF2B5EF4-FFF2-40B4-BE49-F238E27FC236}">
                <a16:creationId xmlns:a16="http://schemas.microsoft.com/office/drawing/2014/main" id="{95966248-8289-9E3C-E2A6-734AB0B24C6F}"/>
              </a:ext>
            </a:extLst>
          </p:cNvPr>
          <p:cNvSpPr txBox="1"/>
          <p:nvPr/>
        </p:nvSpPr>
        <p:spPr>
          <a:xfrm>
            <a:off x="204278" y="125347"/>
            <a:ext cx="1404389"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70C0"/>
                </a:solidFill>
                <a:effectLst/>
                <a:uLnTx/>
                <a:uFillTx/>
                <a:latin typeface="Arial"/>
                <a:cs typeface="Arial"/>
                <a:sym typeface="Helvetica Neue"/>
              </a:rPr>
              <a:t>Capítulo</a:t>
            </a:r>
            <a:r>
              <a:rPr kumimoji="0" lang="en-US" sz="2000" b="1" i="0" u="none" strike="noStrike" kern="1200" cap="none" spc="0" normalizeH="0" baseline="0" noProof="0" dirty="0">
                <a:ln>
                  <a:noFill/>
                </a:ln>
                <a:solidFill>
                  <a:srgbClr val="0070C0"/>
                </a:solidFill>
                <a:effectLst/>
                <a:uLnTx/>
                <a:uFillTx/>
                <a:latin typeface="Arial"/>
                <a:cs typeface="Arial"/>
                <a:sym typeface="Helvetica Neue"/>
              </a:rPr>
              <a:t> </a:t>
            </a:r>
            <a:r>
              <a:rPr lang="en-US" sz="2000" b="1" dirty="0">
                <a:solidFill>
                  <a:srgbClr val="0070C0"/>
                </a:solidFill>
                <a:latin typeface="Arial"/>
                <a:cs typeface="Arial"/>
                <a:sym typeface="Helvetica Neue"/>
              </a:rPr>
              <a:t>6</a:t>
            </a:r>
            <a:endParaRPr kumimoji="0" lang="pt-BR" sz="2000" b="1"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sym typeface="Helvetica Neue"/>
            </a:endParaRPr>
          </a:p>
        </p:txBody>
      </p:sp>
      <p:sp>
        <p:nvSpPr>
          <p:cNvPr id="6" name="CaixaDeTexto 5">
            <a:extLst>
              <a:ext uri="{FF2B5EF4-FFF2-40B4-BE49-F238E27FC236}">
                <a16:creationId xmlns:a16="http://schemas.microsoft.com/office/drawing/2014/main" id="{5D8569F1-5D13-8169-4DD2-576066CEA9ED}"/>
              </a:ext>
            </a:extLst>
          </p:cNvPr>
          <p:cNvSpPr txBox="1"/>
          <p:nvPr/>
        </p:nvSpPr>
        <p:spPr>
          <a:xfrm>
            <a:off x="204278" y="564779"/>
            <a:ext cx="2691763" cy="307777"/>
          </a:xfrm>
          <a:prstGeom prst="rect">
            <a:avLst/>
          </a:prstGeom>
          <a:noFill/>
        </p:spPr>
        <p:txBody>
          <a:bodyPr wrap="none" lIns="91440" tIns="45720" rIns="91440" bIns="45720" rtlCol="0" anchor="t">
            <a:spAutoFit/>
          </a:bodyPr>
          <a:lstStyle/>
          <a:p>
            <a:r>
              <a:rPr lang="pt-BR" sz="1400" u="sng" dirty="0">
                <a:solidFill>
                  <a:srgbClr val="0070C0"/>
                </a:solidFill>
                <a:latin typeface="Arial"/>
                <a:cs typeface="Arial"/>
              </a:rPr>
              <a:t>Slide 6.4 - Corrosão Puntiforme</a:t>
            </a:r>
            <a:endParaRPr lang="pt-BR" sz="1200" dirty="0">
              <a:solidFill>
                <a:srgbClr val="242424"/>
              </a:solidFill>
              <a:latin typeface="Aptos"/>
              <a:cs typeface="Arial"/>
            </a:endParaRPr>
          </a:p>
        </p:txBody>
      </p:sp>
      <p:sp>
        <p:nvSpPr>
          <p:cNvPr id="8" name="CaixaDeTexto 7">
            <a:extLst>
              <a:ext uri="{FF2B5EF4-FFF2-40B4-BE49-F238E27FC236}">
                <a16:creationId xmlns:a16="http://schemas.microsoft.com/office/drawing/2014/main" id="{9BA0337A-6533-0F05-CEF4-B61A5D557BF8}"/>
              </a:ext>
            </a:extLst>
          </p:cNvPr>
          <p:cNvSpPr txBox="1"/>
          <p:nvPr/>
        </p:nvSpPr>
        <p:spPr>
          <a:xfrm>
            <a:off x="10422822" y="9646"/>
            <a:ext cx="1766236" cy="646331"/>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rPr>
              <a:t>Resp.: </a:t>
            </a:r>
          </a:p>
          <a:p>
            <a:pPr algn="ctr">
              <a:defRPr/>
            </a:pPr>
            <a:r>
              <a:rPr kumimoji="0" lang="pt-BR" sz="1800" b="0" i="0" u="sng" strike="noStrike" kern="1200" cap="none" spc="0" normalizeH="0" baseline="0" noProof="0" dirty="0" err="1">
                <a:ln>
                  <a:noFill/>
                </a:ln>
                <a:solidFill>
                  <a:srgbClr val="0070C0"/>
                </a:solidFill>
                <a:effectLst/>
                <a:uLnTx/>
                <a:uFillTx/>
                <a:latin typeface="Aptos" panose="02110004020202020204"/>
                <a:ea typeface="+mn-ea"/>
                <a:cs typeface="+mn-cs"/>
              </a:rPr>
              <a:t>Jhona</a:t>
            </a:r>
            <a:r>
              <a:rPr lang="pt-BR" u="sng" dirty="0" err="1">
                <a:solidFill>
                  <a:srgbClr val="0070C0"/>
                </a:solidFill>
                <a:latin typeface="Aptos" panose="02110004020202020204"/>
              </a:rPr>
              <a:t>ta</a:t>
            </a:r>
            <a:r>
              <a:rPr lang="pt-BR" u="sng" dirty="0">
                <a:solidFill>
                  <a:srgbClr val="0070C0"/>
                </a:solidFill>
                <a:latin typeface="Aptos" panose="02110004020202020204"/>
              </a:rPr>
              <a:t> </a:t>
            </a:r>
            <a:r>
              <a:rPr lang="pt-BR" u="sng" dirty="0" err="1">
                <a:solidFill>
                  <a:srgbClr val="0070C0"/>
                </a:solidFill>
                <a:latin typeface="Aptos" panose="02110004020202020204"/>
              </a:rPr>
              <a:t>Cawan</a:t>
            </a:r>
            <a:endParaRPr kumimoji="0" lang="pt-BR" sz="1800" b="0" i="0" u="sng"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9" name="CaixaDeTexto 8">
            <a:extLst>
              <a:ext uri="{FF2B5EF4-FFF2-40B4-BE49-F238E27FC236}">
                <a16:creationId xmlns:a16="http://schemas.microsoft.com/office/drawing/2014/main" id="{BE0B7BA1-F888-3EAF-DE02-9D91708DF156}"/>
              </a:ext>
            </a:extLst>
          </p:cNvPr>
          <p:cNvSpPr txBox="1"/>
          <p:nvPr/>
        </p:nvSpPr>
        <p:spPr>
          <a:xfrm>
            <a:off x="1608667" y="-76272"/>
            <a:ext cx="9334976" cy="646331"/>
          </a:xfrm>
          <a:prstGeom prst="rect">
            <a:avLst/>
          </a:prstGeom>
          <a:noFill/>
        </p:spPr>
        <p:txBody>
          <a:bodyPr wrap="square" lIns="91440" tIns="45720" rIns="91440" bIns="45720" rtlCol="0" anchor="t">
            <a:spAutoFit/>
          </a:bodyPr>
          <a:lstStyle/>
          <a:p>
            <a:pPr algn="just">
              <a:defRPr/>
            </a:pPr>
            <a:r>
              <a:rPr lang="pt-BR" sz="1400">
                <a:solidFill>
                  <a:srgbClr val="0B78A2"/>
                </a:solidFill>
                <a:latin typeface="Arial"/>
                <a:cs typeface="Arial"/>
              </a:rPr>
              <a:t>Materiais</a:t>
            </a:r>
            <a:r>
              <a:rPr kumimoji="0" lang="pt-BR" sz="1400" b="0" i="0" u="none" strike="noStrike" kern="1200" cap="none" spc="0" normalizeH="0" baseline="0" noProof="0">
                <a:ln>
                  <a:noFill/>
                </a:ln>
                <a:solidFill>
                  <a:schemeClr val="accent4">
                    <a:lumMod val="76000"/>
                  </a:schemeClr>
                </a:solidFill>
                <a:effectLst/>
                <a:uLnTx/>
                <a:uFillTx/>
                <a:latin typeface="Arial"/>
                <a:cs typeface="Arial"/>
              </a:rPr>
              <a:t>: </a:t>
            </a:r>
            <a:r>
              <a:rPr lang="pt-BR" sz="1100">
                <a:solidFill>
                  <a:schemeClr val="accent4">
                    <a:lumMod val="76000"/>
                  </a:schemeClr>
                </a:solidFill>
                <a:latin typeface="Arial"/>
                <a:cs typeface="Arial"/>
              </a:rPr>
              <a:t>Faça uma análise sobre a exposição do conjunto do eixo, relacione aspectos de controle e prevenção contra corrosão (CPCP,) e proponha um programa de manutenção preventiva para o conjunto e a zona de sua instalação a partir da FAA AD 99-22-08 e FAA AC 43-4B, </a:t>
            </a:r>
            <a:r>
              <a:rPr lang="pt-BR" sz="1100" err="1">
                <a:solidFill>
                  <a:schemeClr val="accent4">
                    <a:lumMod val="76000"/>
                  </a:schemeClr>
                </a:solidFill>
                <a:latin typeface="Arial"/>
                <a:cs typeface="Arial"/>
              </a:rPr>
              <a:t>Corrosion</a:t>
            </a:r>
            <a:r>
              <a:rPr lang="pt-BR" sz="1100">
                <a:solidFill>
                  <a:schemeClr val="accent4">
                    <a:lumMod val="76000"/>
                  </a:schemeClr>
                </a:solidFill>
                <a:latin typeface="Arial"/>
                <a:cs typeface="Arial"/>
              </a:rPr>
              <a:t> </a:t>
            </a:r>
            <a:r>
              <a:rPr lang="pt-BR" sz="1100" err="1">
                <a:solidFill>
                  <a:schemeClr val="accent4">
                    <a:lumMod val="76000"/>
                  </a:schemeClr>
                </a:solidFill>
                <a:latin typeface="Arial"/>
                <a:cs typeface="Arial"/>
              </a:rPr>
              <a:t>Control</a:t>
            </a:r>
            <a:r>
              <a:rPr lang="pt-BR" sz="1100">
                <a:solidFill>
                  <a:schemeClr val="accent4">
                    <a:lumMod val="76000"/>
                  </a:schemeClr>
                </a:solidFill>
                <a:latin typeface="Arial"/>
                <a:cs typeface="Arial"/>
              </a:rPr>
              <a:t> for </a:t>
            </a:r>
            <a:r>
              <a:rPr lang="pt-BR" sz="1100" err="1">
                <a:solidFill>
                  <a:schemeClr val="accent4">
                    <a:lumMod val="76000"/>
                  </a:schemeClr>
                </a:solidFill>
                <a:latin typeface="Arial"/>
                <a:cs typeface="Arial"/>
              </a:rPr>
              <a:t>Aircraft</a:t>
            </a:r>
            <a:r>
              <a:rPr lang="pt-BR" sz="1100">
                <a:solidFill>
                  <a:schemeClr val="accent4">
                    <a:lumMod val="76000"/>
                  </a:schemeClr>
                </a:solidFill>
                <a:latin typeface="Arial"/>
                <a:cs typeface="Arial"/>
              </a:rPr>
              <a:t>.</a:t>
            </a:r>
            <a:endParaRPr lang="pt-BR" sz="1100" b="0" i="0" u="none" strike="noStrike" kern="1200" cap="none" spc="0" normalizeH="0" baseline="0" noProof="0">
              <a:ln>
                <a:noFill/>
              </a:ln>
              <a:solidFill>
                <a:schemeClr val="accent4">
                  <a:lumMod val="76000"/>
                </a:schemeClr>
              </a:solidFill>
              <a:effectLst/>
              <a:uLnTx/>
              <a:uFillTx/>
              <a:latin typeface="Arial" panose="020B0604020202020204" pitchFamily="34" charset="0"/>
              <a:cs typeface="Arial" panose="020B0604020202020204" pitchFamily="34" charset="0"/>
            </a:endParaRPr>
          </a:p>
        </p:txBody>
      </p:sp>
      <p:pic>
        <p:nvPicPr>
          <p:cNvPr id="3" name="Imagem 2" descr="Placa vermelha com letras brancas&#10;&#10;Descrição gerada automaticamente com confiança baixa">
            <a:extLst>
              <a:ext uri="{FF2B5EF4-FFF2-40B4-BE49-F238E27FC236}">
                <a16:creationId xmlns:a16="http://schemas.microsoft.com/office/drawing/2014/main" id="{90BD4B18-F091-36FE-93B6-5807120B9AEF}"/>
              </a:ext>
            </a:extLst>
          </p:cNvPr>
          <p:cNvPicPr>
            <a:picLocks noChangeAspect="1"/>
          </p:cNvPicPr>
          <p:nvPr/>
        </p:nvPicPr>
        <p:blipFill>
          <a:blip r:embed="rId3"/>
          <a:stretch>
            <a:fillRect/>
          </a:stretch>
        </p:blipFill>
        <p:spPr>
          <a:xfrm>
            <a:off x="10682495" y="6023665"/>
            <a:ext cx="1428750" cy="685800"/>
          </a:xfrm>
          <a:prstGeom prst="rect">
            <a:avLst/>
          </a:prstGeom>
        </p:spPr>
      </p:pic>
      <p:sp>
        <p:nvSpPr>
          <p:cNvPr id="7" name="CaixaDeTexto 6">
            <a:extLst>
              <a:ext uri="{FF2B5EF4-FFF2-40B4-BE49-F238E27FC236}">
                <a16:creationId xmlns:a16="http://schemas.microsoft.com/office/drawing/2014/main" id="{EBAE9362-4EE6-FC57-C832-F669F5129390}"/>
              </a:ext>
            </a:extLst>
          </p:cNvPr>
          <p:cNvSpPr txBox="1"/>
          <p:nvPr/>
        </p:nvSpPr>
        <p:spPr>
          <a:xfrm>
            <a:off x="516814" y="1192817"/>
            <a:ext cx="10426830"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pt-BR" sz="2000" dirty="0"/>
              <a:t>Este tipo de corrosão é o mais comum em ligas de alumínio e magnésio, mas pode afetar outros metais também. Aparece primeiro como um pó branco ou cinza na superfície. Quando esse pó é limpo, surgem pequenos buracos ou sulcos no metal. Mesmo metais protegidos por tratamentos químicos podem sofrer esse tipo de corrosão.</a:t>
            </a:r>
          </a:p>
          <a:p>
            <a:pPr algn="just"/>
            <a:endParaRPr lang="pt-BR" sz="2000" dirty="0"/>
          </a:p>
          <a:p>
            <a:pPr algn="just"/>
            <a:r>
              <a:rPr lang="pt-BR" sz="2000" dirty="0"/>
              <a:t>No conjunto do eixo, esse foi o tipo de corrosão mais observado, provavelmente por ter ficado exposto à água do mar por cerca de sete dias e meio antes de ser recuperado.</a:t>
            </a:r>
          </a:p>
          <a:p>
            <a:pPr algn="just"/>
            <a:endParaRPr lang="pt-BR" sz="2000" dirty="0"/>
          </a:p>
          <a:p>
            <a:pPr algn="just"/>
            <a:r>
              <a:rPr lang="pt-BR" sz="2000" dirty="0"/>
              <a:t>Para prevenir e controlar a corrosão, é importante:</a:t>
            </a:r>
          </a:p>
          <a:p>
            <a:pPr algn="just"/>
            <a:endParaRPr lang="pt-BR" sz="2000" dirty="0"/>
          </a:p>
          <a:p>
            <a:pPr algn="just">
              <a:buFont typeface="Arial" panose="020B0604020202020204" pitchFamily="34" charset="0"/>
              <a:buChar char="•"/>
            </a:pPr>
            <a:r>
              <a:rPr lang="pt-BR" sz="2000" dirty="0"/>
              <a:t>Treinar bem a equipe;</a:t>
            </a:r>
          </a:p>
          <a:p>
            <a:pPr algn="just">
              <a:buFont typeface="Arial" panose="020B0604020202020204" pitchFamily="34" charset="0"/>
              <a:buChar char="•"/>
            </a:pPr>
            <a:r>
              <a:rPr lang="pt-BR" sz="2000" dirty="0"/>
              <a:t>Fazer inspeções regulares;</a:t>
            </a:r>
          </a:p>
          <a:p>
            <a:pPr algn="just">
              <a:buFont typeface="Arial" panose="020B0604020202020204" pitchFamily="34" charset="0"/>
              <a:buChar char="•"/>
            </a:pPr>
            <a:r>
              <a:rPr lang="pt-BR" sz="2000" dirty="0"/>
              <a:t>Limpar e manter as peças de forma preventiva;</a:t>
            </a:r>
          </a:p>
          <a:p>
            <a:pPr algn="just">
              <a:buFont typeface="Arial" panose="020B0604020202020204" pitchFamily="34" charset="0"/>
              <a:buChar char="•"/>
            </a:pPr>
            <a:r>
              <a:rPr lang="pt-BR" sz="2000" dirty="0"/>
              <a:t>Usar os materiais corretos;</a:t>
            </a:r>
          </a:p>
          <a:p>
            <a:pPr algn="just">
              <a:buFont typeface="Arial" panose="020B0604020202020204" pitchFamily="34" charset="0"/>
              <a:buChar char="•"/>
            </a:pPr>
            <a:r>
              <a:rPr lang="pt-BR" sz="2000" dirty="0"/>
              <a:t>Detectar problemas cedo, reparar imediatamente e registrar todas as condições, garantindo que toda a equipe seja responsável.</a:t>
            </a:r>
          </a:p>
          <a:p>
            <a:pPr marL="228600" indent="-228600" algn="just">
              <a:buFont typeface=""/>
              <a:buChar char="•"/>
            </a:pPr>
            <a:endParaRPr lang="en-US" sz="1600" dirty="0">
              <a:cs typeface="Arial"/>
            </a:endParaRPr>
          </a:p>
        </p:txBody>
      </p:sp>
    </p:spTree>
    <p:extLst>
      <p:ext uri="{BB962C8B-B14F-4D97-AF65-F5344CB8AC3E}">
        <p14:creationId xmlns:p14="http://schemas.microsoft.com/office/powerpoint/2010/main" val="173688400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E0C3D0F-A690-2836-2A40-B742826DB3D5}"/>
              </a:ext>
            </a:extLst>
          </p:cNvPr>
          <p:cNvSpPr txBox="1"/>
          <p:nvPr/>
        </p:nvSpPr>
        <p:spPr>
          <a:xfrm>
            <a:off x="4639902" y="295071"/>
            <a:ext cx="274319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pt-BR" sz="3600" dirty="0"/>
              <a:t>Referências</a:t>
            </a:r>
          </a:p>
        </p:txBody>
      </p:sp>
      <p:sp>
        <p:nvSpPr>
          <p:cNvPr id="4" name="CaixaDeTexto 3">
            <a:extLst>
              <a:ext uri="{FF2B5EF4-FFF2-40B4-BE49-F238E27FC236}">
                <a16:creationId xmlns:a16="http://schemas.microsoft.com/office/drawing/2014/main" id="{B8244DED-E2DA-A4C8-BC77-6A1832E3EB33}"/>
              </a:ext>
            </a:extLst>
          </p:cNvPr>
          <p:cNvSpPr txBox="1"/>
          <p:nvPr/>
        </p:nvSpPr>
        <p:spPr>
          <a:xfrm>
            <a:off x="940747" y="1558983"/>
            <a:ext cx="1075866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pt-BR" sz="2000" dirty="0"/>
          </a:p>
          <a:p>
            <a:r>
              <a:rPr lang="pt-BR" sz="2000" dirty="0"/>
              <a:t>NTSB Alaska Airlines </a:t>
            </a:r>
            <a:r>
              <a:rPr lang="pt-BR" sz="2000" dirty="0" err="1"/>
              <a:t>Flight</a:t>
            </a:r>
            <a:r>
              <a:rPr lang="pt-BR" sz="2000" dirty="0"/>
              <a:t> 261.pdf</a:t>
            </a:r>
          </a:p>
          <a:p>
            <a:endParaRPr lang="pt-BR" sz="2000" dirty="0"/>
          </a:p>
        </p:txBody>
      </p:sp>
    </p:spTree>
    <p:extLst>
      <p:ext uri="{BB962C8B-B14F-4D97-AF65-F5344CB8AC3E}">
        <p14:creationId xmlns:p14="http://schemas.microsoft.com/office/powerpoint/2010/main" val="1707611165"/>
      </p:ext>
    </p:extLst>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8E857CE5D0A37F4A82A7CFE5806C5D14" ma:contentTypeVersion="4" ma:contentTypeDescription="Crie um novo documento." ma:contentTypeScope="" ma:versionID="d3e0e9819ae92d39752840928ff09e9c">
  <xsd:schema xmlns:xsd="http://www.w3.org/2001/XMLSchema" xmlns:xs="http://www.w3.org/2001/XMLSchema" xmlns:p="http://schemas.microsoft.com/office/2006/metadata/properties" xmlns:ns2="b5b4fdda-cf04-458a-9d93-49e24552b6f6" targetNamespace="http://schemas.microsoft.com/office/2006/metadata/properties" ma:root="true" ma:fieldsID="44a0d85ec58df88fa3a1795531bba096" ns2:_="">
    <xsd:import namespace="b5b4fdda-cf04-458a-9d93-49e24552b6f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5b4fdda-cf04-458a-9d93-49e24552b6f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C872017-E752-4F53-8D5B-27287A871FD8}">
  <ds:schemaRefs>
    <ds:schemaRef ds:uri="http://schemas.microsoft.com/sharepoint/v3/contenttype/forms"/>
  </ds:schemaRefs>
</ds:datastoreItem>
</file>

<file path=customXml/itemProps2.xml><?xml version="1.0" encoding="utf-8"?>
<ds:datastoreItem xmlns:ds="http://schemas.openxmlformats.org/officeDocument/2006/customXml" ds:itemID="{3FD85794-CFC2-4EFE-9D1B-80DE5C06269A}">
  <ds:schemaRefs>
    <ds:schemaRef ds:uri="b5b4fdda-cf04-458a-9d93-49e24552b6f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6C7BBB0-65E3-4575-8567-14986480DDE4}">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41</Slides>
  <Notes>2</Notes>
  <HiddenSlides>0</HiddenSlides>
  <ScaleCrop>false</ScaleCrop>
  <HeadingPairs>
    <vt:vector size="4" baseType="variant">
      <vt:variant>
        <vt:lpstr>Tema</vt:lpstr>
      </vt:variant>
      <vt:variant>
        <vt:i4>1</vt:i4>
      </vt:variant>
      <vt:variant>
        <vt:lpstr>Títulos de slides</vt:lpstr>
      </vt:variant>
      <vt:variant>
        <vt:i4>41</vt:i4>
      </vt:variant>
    </vt:vector>
  </HeadingPairs>
  <TitlesOfParts>
    <vt:vector size="42" baseType="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RODRIGO ELIAS PEREIRA</dc:creator>
  <cp:revision>1228</cp:revision>
  <dcterms:created xsi:type="dcterms:W3CDTF">2025-03-11T00:08:10Z</dcterms:created>
  <dcterms:modified xsi:type="dcterms:W3CDTF">2025-09-23T02:09:34Z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0x0101008E857CE5D0A37F4A82A7CFE5806C5D14</vt:lpwstr>
  </property>
</Properties>
</file>