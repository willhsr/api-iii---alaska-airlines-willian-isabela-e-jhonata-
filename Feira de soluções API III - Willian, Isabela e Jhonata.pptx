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61" r:id="rId3"/>
    <p:sldId id="262" r:id="rId4"/>
    <p:sldId id="258" r:id="rId5"/>
    <p:sldId id="260" r:id="rId6"/>
    <p:sldId id="269" r:id="rId7"/>
    <p:sldId id="270" r:id="rId8"/>
    <p:sldId id="27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8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48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88929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65421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60048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683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53104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8195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68286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5457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2691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5407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9246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209080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70303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2057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69481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64866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73338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0969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546670"/>
            <a:ext cx="7739743" cy="1780313"/>
          </a:xfrm>
        </p:spPr>
        <p:txBody>
          <a:bodyPr>
            <a:normAutofit/>
          </a:bodyPr>
          <a:lstStyle/>
          <a:p>
            <a:r>
              <a:rPr lang="pt-BR" sz="5000" dirty="0"/>
              <a:t>XII Feira de Soluções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67214" y="3326983"/>
            <a:ext cx="6367265" cy="995245"/>
          </a:xfrm>
        </p:spPr>
        <p:txBody>
          <a:bodyPr>
            <a:normAutofit fontScale="92500" lnSpcReduction="10000"/>
          </a:bodyPr>
          <a:lstStyle/>
          <a:p>
            <a:r>
              <a:rPr lang="pt-BR" sz="2800" dirty="0"/>
              <a:t>Uma análise do acidente do </a:t>
            </a:r>
          </a:p>
          <a:p>
            <a:r>
              <a:rPr lang="pt-BR" sz="2800" dirty="0"/>
              <a:t>voo 261 da Alaska Airlines</a:t>
            </a:r>
          </a:p>
        </p:txBody>
      </p:sp>
      <p:sp>
        <p:nvSpPr>
          <p:cNvPr id="5" name="Subtítulo 2"/>
          <p:cNvSpPr txBox="1"/>
          <p:nvPr/>
        </p:nvSpPr>
        <p:spPr>
          <a:xfrm>
            <a:off x="486916" y="4640620"/>
            <a:ext cx="4430524" cy="242315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0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chemeClr val="tx1">
                    <a:lumMod val="95000"/>
                    <a:alpha val="58000"/>
                  </a:schemeClr>
                </a:solidFill>
              </a:rPr>
              <a:t>Willian Henrique</a:t>
            </a:r>
          </a:p>
          <a:p>
            <a:pPr algn="l"/>
            <a:r>
              <a:rPr lang="pt-BR" b="1" dirty="0">
                <a:solidFill>
                  <a:schemeClr val="tx1">
                    <a:lumMod val="95000"/>
                    <a:alpha val="58000"/>
                  </a:schemeClr>
                </a:solidFill>
              </a:rPr>
              <a:t>Jhonata Cawan</a:t>
            </a:r>
          </a:p>
          <a:p>
            <a:pPr algn="l"/>
            <a:r>
              <a:rPr lang="pt-BR" b="1" dirty="0">
                <a:solidFill>
                  <a:schemeClr val="tx1">
                    <a:lumMod val="95000"/>
                    <a:alpha val="58000"/>
                  </a:schemeClr>
                </a:solidFill>
              </a:rPr>
              <a:t>Isabela Soares</a:t>
            </a:r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BBCB9E48-970F-20A3-7460-997D0988DF64}"/>
              </a:ext>
            </a:extLst>
          </p:cNvPr>
          <p:cNvSpPr txBox="1"/>
          <p:nvPr/>
        </p:nvSpPr>
        <p:spPr>
          <a:xfrm>
            <a:off x="10067597" y="5769185"/>
            <a:ext cx="1982927" cy="4966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0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dirty="0">
                <a:solidFill>
                  <a:schemeClr val="tx1">
                    <a:lumMod val="95000"/>
                    <a:alpha val="58000"/>
                  </a:schemeClr>
                </a:solidFill>
              </a:rPr>
              <a:t>04/12/2025</a:t>
            </a:r>
          </a:p>
        </p:txBody>
      </p:sp>
      <p:pic>
        <p:nvPicPr>
          <p:cNvPr id="4" name="Imagem 3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E07067F6-D045-E643-FBEF-BFB72EFDB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14">
            <a:extLst>
              <a:ext uri="{FF2B5EF4-FFF2-40B4-BE49-F238E27FC236}">
                <a16:creationId xmlns:a16="http://schemas.microsoft.com/office/drawing/2014/main" id="{330A6C9C-63D1-4992-B760-435EF6A27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16">
            <a:extLst>
              <a:ext uri="{FF2B5EF4-FFF2-40B4-BE49-F238E27FC236}">
                <a16:creationId xmlns:a16="http://schemas.microsoft.com/office/drawing/2014/main" id="{D472CD18-D7D2-4DD8-87FB-A7A564C5C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18">
            <a:extLst>
              <a:ext uri="{FF2B5EF4-FFF2-40B4-BE49-F238E27FC236}">
                <a16:creationId xmlns:a16="http://schemas.microsoft.com/office/drawing/2014/main" id="{8FEA8D90-CEC1-4C99-B9B2-A923F53BD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20">
            <a:extLst>
              <a:ext uri="{FF2B5EF4-FFF2-40B4-BE49-F238E27FC236}">
                <a16:creationId xmlns:a16="http://schemas.microsoft.com/office/drawing/2014/main" id="{CDFE5E72-3155-4571-899B-68E964BE4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22">
            <a:extLst>
              <a:ext uri="{FF2B5EF4-FFF2-40B4-BE49-F238E27FC236}">
                <a16:creationId xmlns:a16="http://schemas.microsoft.com/office/drawing/2014/main" id="{2F73A57D-E499-4073-A0F1-3F9A0086A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24">
            <a:extLst>
              <a:ext uri="{FF2B5EF4-FFF2-40B4-BE49-F238E27FC236}">
                <a16:creationId xmlns:a16="http://schemas.microsoft.com/office/drawing/2014/main" id="{D0E0D055-82B3-47E5-A421-C439E9F24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5333" y="5021224"/>
            <a:ext cx="9552558" cy="1233251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4800" b="1" spc="-100" dirty="0"/>
              <a:t>Integrantes</a:t>
            </a:r>
          </a:p>
        </p:txBody>
      </p:sp>
      <p:sp>
        <p:nvSpPr>
          <p:cNvPr id="44" name="Snip Diagonal Corner Rectangle 12">
            <a:extLst>
              <a:ext uri="{FF2B5EF4-FFF2-40B4-BE49-F238E27FC236}">
                <a16:creationId xmlns:a16="http://schemas.microsoft.com/office/drawing/2014/main" id="{2CAC8A53-A07F-4647-B003-51A924F3F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2251" y="690851"/>
            <a:ext cx="2995535" cy="3584587"/>
          </a:xfrm>
          <a:prstGeom prst="snip2DiagRect">
            <a:avLst>
              <a:gd name="adj1" fmla="val 12305"/>
              <a:gd name="adj2" fmla="val 0"/>
            </a:avLst>
          </a:prstGeom>
          <a:solidFill>
            <a:schemeClr val="tx1"/>
          </a:solidFill>
          <a:ln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Imagem 7" descr="Mulher com lenço na cabeça&#10;&#10;O conteúdo gerado por IA pode estar incorreto.">
            <a:extLst>
              <a:ext uri="{FF2B5EF4-FFF2-40B4-BE49-F238E27FC236}">
                <a16:creationId xmlns:a16="http://schemas.microsoft.com/office/drawing/2014/main" id="{854B8237-67D6-3EC6-D167-B73D17348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310" y="1004553"/>
            <a:ext cx="1663415" cy="2957183"/>
          </a:xfrm>
          <a:prstGeom prst="rect">
            <a:avLst/>
          </a:prstGeom>
        </p:spPr>
      </p:pic>
      <p:sp>
        <p:nvSpPr>
          <p:cNvPr id="29" name="Snip Diagonal Corner Rectangle 27">
            <a:extLst>
              <a:ext uri="{FF2B5EF4-FFF2-40B4-BE49-F238E27FC236}">
                <a16:creationId xmlns:a16="http://schemas.microsoft.com/office/drawing/2014/main" id="{A5297663-788D-4612-AD5B-5BB11E659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95499" y="690851"/>
            <a:ext cx="2995535" cy="3584587"/>
          </a:xfrm>
          <a:prstGeom prst="snip2DiagRect">
            <a:avLst>
              <a:gd name="adj1" fmla="val 12305"/>
              <a:gd name="adj2" fmla="val 0"/>
            </a:avLst>
          </a:prstGeom>
          <a:solidFill>
            <a:schemeClr val="tx1"/>
          </a:solidFill>
          <a:ln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m 4" descr="Homem de óculos e camisa cinza&#10;&#10;O conteúdo gerado por IA pode estar incorreto.">
            <a:extLst>
              <a:ext uri="{FF2B5EF4-FFF2-40B4-BE49-F238E27FC236}">
                <a16:creationId xmlns:a16="http://schemas.microsoft.com/office/drawing/2014/main" id="{9BA0E036-6021-510E-4DED-9FF69ED40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322" y="1004553"/>
            <a:ext cx="2217887" cy="2957183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EF324E1F-DAC3-43B5-944C-6D74CCA0A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E5E1E0D-50D6-46D6-A32E-B3810926B6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42E947C-94B9-403C-B7D6-5EA4D0FA2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33">
              <a:extLst>
                <a:ext uri="{FF2B5EF4-FFF2-40B4-BE49-F238E27FC236}">
                  <a16:creationId xmlns:a16="http://schemas.microsoft.com/office/drawing/2014/main" id="{F8BE7905-047B-4FB0-9831-CD668AABDE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8376464-DAC4-4C40-AF2D-BBF41DCA40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A255588-7F24-4FDC-9D1B-94A054291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Snip Diagonal Corner Rectangle 31">
            <a:extLst>
              <a:ext uri="{FF2B5EF4-FFF2-40B4-BE49-F238E27FC236}">
                <a16:creationId xmlns:a16="http://schemas.microsoft.com/office/drawing/2014/main" id="{2CA64412-2AB6-4391-A38D-E4C8F587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96780" y="690851"/>
            <a:ext cx="2995535" cy="3584587"/>
          </a:xfrm>
          <a:prstGeom prst="snip2DiagRect">
            <a:avLst>
              <a:gd name="adj1" fmla="val 12305"/>
              <a:gd name="adj2" fmla="val 0"/>
            </a:avLst>
          </a:prstGeom>
          <a:solidFill>
            <a:schemeClr val="tx1"/>
          </a:solidFill>
          <a:ln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Imagem 9" descr="Homem de camisa vermelha&#10;&#10;O conteúdo gerado por IA pode estar incorreto.">
            <a:extLst>
              <a:ext uri="{FF2B5EF4-FFF2-40B4-BE49-F238E27FC236}">
                <a16:creationId xmlns:a16="http://schemas.microsoft.com/office/drawing/2014/main" id="{6EEED297-C16F-376C-718B-CAAB48622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603" y="1004553"/>
            <a:ext cx="2217887" cy="2957183"/>
          </a:xfrm>
          <a:prstGeom prst="rect">
            <a:avLst/>
          </a:prstGeom>
        </p:spPr>
      </p:pic>
      <p:pic>
        <p:nvPicPr>
          <p:cNvPr id="7" name="Imagem 6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26F81DF9-746D-E904-C092-3E2DDEF012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8249" y="5705318"/>
            <a:ext cx="2077198" cy="99705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BD5B3191-0D3F-1568-9544-20FF84E6B23E}"/>
              </a:ext>
            </a:extLst>
          </p:cNvPr>
          <p:cNvSpPr txBox="1"/>
          <p:nvPr/>
        </p:nvSpPr>
        <p:spPr>
          <a:xfrm>
            <a:off x="1238431" y="4338190"/>
            <a:ext cx="2329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Isabela Soares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F646F1F-7BAE-E5EE-9F44-21EEEC0CCBDC}"/>
              </a:ext>
            </a:extLst>
          </p:cNvPr>
          <p:cNvSpPr txBox="1"/>
          <p:nvPr/>
        </p:nvSpPr>
        <p:spPr>
          <a:xfrm>
            <a:off x="4384322" y="4389085"/>
            <a:ext cx="2521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Willian Henrique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AD5DB5B-C6E2-E3CE-D270-ACB9B8A2584D}"/>
              </a:ext>
            </a:extLst>
          </p:cNvPr>
          <p:cNvSpPr txBox="1"/>
          <p:nvPr/>
        </p:nvSpPr>
        <p:spPr>
          <a:xfrm>
            <a:off x="7654887" y="4404474"/>
            <a:ext cx="28319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Jhonata Cawan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7586151" y="5731204"/>
            <a:ext cx="4528456" cy="1065937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P2 – Rodrigo Elias Pereira</a:t>
            </a:r>
          </a:p>
          <a:p>
            <a:pPr algn="ctr"/>
            <a:r>
              <a:rPr lang="pt-BR" sz="2400" dirty="0">
                <a:solidFill>
                  <a:schemeClr val="bg1"/>
                </a:solidFill>
              </a:rPr>
              <a:t>M2 – Luiz A. N. Fonseca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E309FA6-8FE3-DB96-35CD-4D2EE081ADEC}"/>
              </a:ext>
            </a:extLst>
          </p:cNvPr>
          <p:cNvSpPr txBox="1">
            <a:spLocks/>
          </p:cNvSpPr>
          <p:nvPr/>
        </p:nvSpPr>
        <p:spPr>
          <a:xfrm>
            <a:off x="2964129" y="0"/>
            <a:ext cx="8953756" cy="794475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5600" b="1" spc="-100" dirty="0"/>
              <a:t>O DESAFIO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12880DE0-CC58-FBFE-113B-5B324A496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6597A54-7E04-EE8B-2EC3-D7EEE3FCFB99}"/>
              </a:ext>
            </a:extLst>
          </p:cNvPr>
          <p:cNvSpPr txBox="1"/>
          <p:nvPr/>
        </p:nvSpPr>
        <p:spPr>
          <a:xfrm>
            <a:off x="951231" y="1565078"/>
            <a:ext cx="1028953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Analisar os fatores de manutenção que contribuíram para a falha do Sistema de Compensação do Estabilizador Horizontal no acidente da Alaska Airlines Voo 261, correlacionando: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1EEDE24-7AC1-EB1F-4ED1-6BA5CFB8CE25}"/>
              </a:ext>
            </a:extLst>
          </p:cNvPr>
          <p:cNvSpPr txBox="1"/>
          <p:nvPr/>
        </p:nvSpPr>
        <p:spPr>
          <a:xfrm>
            <a:off x="490170" y="3333427"/>
            <a:ext cx="494791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Publicações técnicas aplicáveis;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Erros de manutenção; identificados pelo NTSB;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Projeto do sistema (</a:t>
            </a:r>
            <a:r>
              <a:rPr lang="pt-BR" sz="2200" i="1" dirty="0"/>
              <a:t>jackscrew</a:t>
            </a:r>
            <a:r>
              <a:rPr lang="pt-BR" sz="2200" dirty="0"/>
              <a:t> + </a:t>
            </a:r>
            <a:r>
              <a:rPr lang="pt-BR" sz="2200" i="1" dirty="0"/>
              <a:t>nut</a:t>
            </a:r>
            <a:r>
              <a:rPr lang="pt-BR" sz="2200" dirty="0"/>
              <a:t>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Lubrificação, desgaste e inspeções;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Metrologia e NDT;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81597F9-E929-2161-BB45-EBC01D54B7F3}"/>
              </a:ext>
            </a:extLst>
          </p:cNvPr>
          <p:cNvSpPr txBox="1"/>
          <p:nvPr/>
        </p:nvSpPr>
        <p:spPr>
          <a:xfrm>
            <a:off x="5943858" y="3329850"/>
            <a:ext cx="390652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Materiais e corrosão;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MSG-2 e MSG-3;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Estoque e peças de reposição;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Custos de manutenção;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Extensão de intervalos pela Alaska Airlines.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6970499-A68C-BEAC-A9B9-F01BA31742B1}"/>
              </a:ext>
            </a:extLst>
          </p:cNvPr>
          <p:cNvCxnSpPr/>
          <p:nvPr/>
        </p:nvCxnSpPr>
        <p:spPr>
          <a:xfrm>
            <a:off x="5537200" y="3429000"/>
            <a:ext cx="0" cy="2509520"/>
          </a:xfrm>
          <a:prstGeom prst="line">
            <a:avLst/>
          </a:prstGeom>
          <a:ln>
            <a:solidFill>
              <a:schemeClr val="bg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637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D997B5B6-78A5-1ECA-8719-8572B5BEFE50}"/>
              </a:ext>
            </a:extLst>
          </p:cNvPr>
          <p:cNvSpPr/>
          <p:nvPr/>
        </p:nvSpPr>
        <p:spPr>
          <a:xfrm>
            <a:off x="77788" y="4145282"/>
            <a:ext cx="6203713" cy="264969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017AC73-70CC-3982-EDA5-A3CF6B633D21}"/>
              </a:ext>
            </a:extLst>
          </p:cNvPr>
          <p:cNvSpPr txBox="1">
            <a:spLocks/>
          </p:cNvSpPr>
          <p:nvPr/>
        </p:nvSpPr>
        <p:spPr>
          <a:xfrm>
            <a:off x="2964129" y="0"/>
            <a:ext cx="8953756" cy="794475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5600" b="1" spc="-100" dirty="0"/>
              <a:t>TECNOLOGIAS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671390F7-91B8-FA04-E331-D60A1B900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B60888EC-EC18-99BA-2095-33DA6933DA5F}"/>
              </a:ext>
            </a:extLst>
          </p:cNvPr>
          <p:cNvSpPr txBox="1"/>
          <p:nvPr/>
        </p:nvSpPr>
        <p:spPr>
          <a:xfrm>
            <a:off x="159619" y="4381265"/>
            <a:ext cx="6022290" cy="2246769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SB / AD Regulamentos RBAC 25, RBAC 43, </a:t>
            </a:r>
          </a:p>
          <a:p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RBAC 145 Normas MIL-G / MIL-PRF (lubrificantes);</a:t>
            </a:r>
          </a:p>
          <a:p>
            <a:endParaRPr lang="pt-BR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FAA AD 99-22-08, 92-22-08, 2000-03-51, 2000-15-15 Análise de Confiabilidade e Taxa de Falhas</a:t>
            </a:r>
          </a:p>
          <a:p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Planejamento de Manutenção (OAMP)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07982F5-006F-8ACA-8344-3B9653E29F10}"/>
              </a:ext>
            </a:extLst>
          </p:cNvPr>
          <p:cNvSpPr txBox="1"/>
          <p:nvPr/>
        </p:nvSpPr>
        <p:spPr>
          <a:xfrm>
            <a:off x="77788" y="2109478"/>
            <a:ext cx="6752513" cy="155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Análise MSG-2</a:t>
            </a:r>
          </a:p>
          <a:p>
            <a:pPr>
              <a:lnSpc>
                <a:spcPct val="150000"/>
              </a:lnSpc>
            </a:pPr>
            <a:r>
              <a:rPr lang="pt-BR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Análise MSG-3 (Sistemas, Estruturas e Zonal)</a:t>
            </a:r>
          </a:p>
          <a:p>
            <a:pPr>
              <a:lnSpc>
                <a:spcPct val="150000"/>
              </a:lnSpc>
            </a:pPr>
            <a:r>
              <a:rPr lang="pt-BR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Métodos de medição (NDT – Raio-X e Ultrassom)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172D561-E9EE-59BB-D5A9-CF7783A9FB9C}"/>
              </a:ext>
            </a:extLst>
          </p:cNvPr>
          <p:cNvSpPr txBox="1"/>
          <p:nvPr/>
        </p:nvSpPr>
        <p:spPr>
          <a:xfrm>
            <a:off x="7119861" y="4476553"/>
            <a:ext cx="61061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AMM  </a:t>
            </a:r>
          </a:p>
          <a:p>
            <a:r>
              <a:rPr lang="pt-BR" dirty="0"/>
              <a:t>IPC  </a:t>
            </a:r>
          </a:p>
          <a:p>
            <a:r>
              <a:rPr lang="pt-BR" dirty="0"/>
              <a:t>CMM  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1897D72-57C6-1A3F-92FB-36F75720F3C0}"/>
              </a:ext>
            </a:extLst>
          </p:cNvPr>
          <p:cNvSpPr txBox="1"/>
          <p:nvPr/>
        </p:nvSpPr>
        <p:spPr>
          <a:xfrm>
            <a:off x="8979301" y="4468719"/>
            <a:ext cx="61061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MRBR  </a:t>
            </a:r>
          </a:p>
          <a:p>
            <a:r>
              <a:rPr lang="pt-BR" dirty="0"/>
              <a:t>CPM  </a:t>
            </a:r>
          </a:p>
          <a:p>
            <a:r>
              <a:rPr lang="pt-BR" dirty="0"/>
              <a:t>NDI  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0C2A8D3-41C1-C1D9-A52A-8D00DE0B876E}"/>
              </a:ext>
            </a:extLst>
          </p:cNvPr>
          <p:cNvSpPr txBox="1"/>
          <p:nvPr/>
        </p:nvSpPr>
        <p:spPr>
          <a:xfrm>
            <a:off x="6431280" y="3864637"/>
            <a:ext cx="610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Manuais e Publicações Técnicas </a:t>
            </a:r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76EC9767-0E2B-52EA-34E1-C6E0AFEE9F54}"/>
              </a:ext>
            </a:extLst>
          </p:cNvPr>
          <p:cNvCxnSpPr/>
          <p:nvPr/>
        </p:nvCxnSpPr>
        <p:spPr>
          <a:xfrm>
            <a:off x="8430501" y="4381265"/>
            <a:ext cx="0" cy="923330"/>
          </a:xfrm>
          <a:prstGeom prst="line">
            <a:avLst/>
          </a:prstGeom>
          <a:ln>
            <a:solidFill>
              <a:schemeClr val="bg1">
                <a:alpha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10282EDF-D5B5-D2A7-10BC-D809E8B6C662}"/>
              </a:ext>
            </a:extLst>
          </p:cNvPr>
          <p:cNvCxnSpPr/>
          <p:nvPr/>
        </p:nvCxnSpPr>
        <p:spPr>
          <a:xfrm>
            <a:off x="6830301" y="4381265"/>
            <a:ext cx="3342640" cy="0"/>
          </a:xfrm>
          <a:prstGeom prst="line">
            <a:avLst/>
          </a:prstGeom>
          <a:ln>
            <a:solidFill>
              <a:schemeClr val="bg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BF5254A-FF7C-692F-2950-597A37876C76}"/>
              </a:ext>
            </a:extLst>
          </p:cNvPr>
          <p:cNvSpPr txBox="1">
            <a:spLocks/>
          </p:cNvSpPr>
          <p:nvPr/>
        </p:nvSpPr>
        <p:spPr>
          <a:xfrm>
            <a:off x="2964129" y="0"/>
            <a:ext cx="8953756" cy="794475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5600" b="1" spc="-100" dirty="0"/>
              <a:t>SOLUÇÃO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A95E8938-CEE7-AD00-E869-66BA0235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9DBEA8D-EA69-8A79-642A-D0D11A6504B2}"/>
              </a:ext>
            </a:extLst>
          </p:cNvPr>
          <p:cNvSpPr txBox="1"/>
          <p:nvPr/>
        </p:nvSpPr>
        <p:spPr>
          <a:xfrm>
            <a:off x="942711" y="1758653"/>
            <a:ext cx="10306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Identificação das falhas de manutenção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7F0F666-73AF-5165-40D5-1306855EEB2E}"/>
              </a:ext>
            </a:extLst>
          </p:cNvPr>
          <p:cNvSpPr txBox="1"/>
          <p:nvPr/>
        </p:nvSpPr>
        <p:spPr>
          <a:xfrm>
            <a:off x="431800" y="3028526"/>
            <a:ext cx="97383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400" dirty="0"/>
              <a:t>Falta de lubrificação adequada e mistura de graxas incompatíveis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400" dirty="0"/>
              <a:t>Medições incorretas ou não realizadas da folga axial e desgaste de roscas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400" dirty="0"/>
              <a:t>Registros de manutenção inconsistentes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400" dirty="0"/>
              <a:t>Uso inadequado de ferramentas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400" dirty="0"/>
              <a:t>Intervalos estendidos sem justificativa técnica adequada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400" dirty="0"/>
              <a:t>Falhas no treinamento da equipe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BF5254A-FF7C-692F-2950-597A37876C76}"/>
              </a:ext>
            </a:extLst>
          </p:cNvPr>
          <p:cNvSpPr txBox="1">
            <a:spLocks/>
          </p:cNvSpPr>
          <p:nvPr/>
        </p:nvSpPr>
        <p:spPr>
          <a:xfrm>
            <a:off x="2964129" y="0"/>
            <a:ext cx="8953756" cy="794475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5600" b="1" spc="-100" dirty="0"/>
              <a:t>SOLUÇÃO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A95E8938-CEE7-AD00-E869-66BA0235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A46B65D-0802-1FAC-EDC9-43F1C9DA9272}"/>
              </a:ext>
            </a:extLst>
          </p:cNvPr>
          <p:cNvSpPr txBox="1"/>
          <p:nvPr/>
        </p:nvSpPr>
        <p:spPr>
          <a:xfrm>
            <a:off x="980440" y="1933694"/>
            <a:ext cx="10231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Um programa de manutenção revisado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260E3C8-58CC-4E99-3B67-4028BD49B3C8}"/>
              </a:ext>
            </a:extLst>
          </p:cNvPr>
          <p:cNvSpPr txBox="1"/>
          <p:nvPr/>
        </p:nvSpPr>
        <p:spPr>
          <a:xfrm>
            <a:off x="472440" y="3120141"/>
            <a:ext cx="9565640" cy="2792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/>
              <a:t>Novo plano de inspeções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/>
              <a:t>Medição de folga axial a cada C-</a:t>
            </a:r>
            <a:r>
              <a:rPr lang="pt-BR" sz="2400" dirty="0" err="1"/>
              <a:t>Check</a:t>
            </a:r>
            <a:endParaRPr lang="pt-BR" sz="2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/>
              <a:t>Medição de desgaste com NDT (ultrassom/</a:t>
            </a:r>
            <a:r>
              <a:rPr lang="pt-BR" sz="2400" dirty="0" err="1"/>
              <a:t>raio-x</a:t>
            </a:r>
            <a:r>
              <a:rPr lang="pt-BR" sz="2400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/>
              <a:t>CPCP dedicado com inspeções a cada 36 meses Limite rígido de substituição da porca em &gt;0.040 </a:t>
            </a:r>
            <a:r>
              <a:rPr lang="pt-BR" sz="2400" dirty="0" err="1"/>
              <a:t>pol</a:t>
            </a:r>
            <a:r>
              <a:rPr lang="pt-BR" sz="2400" dirty="0"/>
              <a:t> de desgaste</a:t>
            </a:r>
          </a:p>
        </p:txBody>
      </p:sp>
    </p:spTree>
    <p:extLst>
      <p:ext uri="{BB962C8B-B14F-4D97-AF65-F5344CB8AC3E}">
        <p14:creationId xmlns:p14="http://schemas.microsoft.com/office/powerpoint/2010/main" val="1103066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BF5254A-FF7C-692F-2950-597A37876C76}"/>
              </a:ext>
            </a:extLst>
          </p:cNvPr>
          <p:cNvSpPr txBox="1">
            <a:spLocks/>
          </p:cNvSpPr>
          <p:nvPr/>
        </p:nvSpPr>
        <p:spPr>
          <a:xfrm>
            <a:off x="2964129" y="0"/>
            <a:ext cx="8953756" cy="794475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5600" b="1" spc="-100" dirty="0"/>
              <a:t>SOLUÇÃO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A95E8938-CEE7-AD00-E869-66BA0235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A46B65D-0802-1FAC-EDC9-43F1C9DA9272}"/>
              </a:ext>
            </a:extLst>
          </p:cNvPr>
          <p:cNvSpPr txBox="1"/>
          <p:nvPr/>
        </p:nvSpPr>
        <p:spPr>
          <a:xfrm>
            <a:off x="980440" y="1933694"/>
            <a:ext cx="10231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Procedimentos corretos de lubrificação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260E3C8-58CC-4E99-3B67-4028BD49B3C8}"/>
              </a:ext>
            </a:extLst>
          </p:cNvPr>
          <p:cNvSpPr txBox="1"/>
          <p:nvPr/>
        </p:nvSpPr>
        <p:spPr>
          <a:xfrm>
            <a:off x="472440" y="3120141"/>
            <a:ext cx="9565640" cy="2238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/>
              <a:t>Uso correto de graxa conforme o AMM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/>
              <a:t>Restrição de mistura de lubrificantes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/>
              <a:t>Limpeza obrigatória das graxeiras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/>
              <a:t>Verificação visual pós-lubrificação</a:t>
            </a:r>
          </a:p>
        </p:txBody>
      </p:sp>
    </p:spTree>
    <p:extLst>
      <p:ext uri="{BB962C8B-B14F-4D97-AF65-F5344CB8AC3E}">
        <p14:creationId xmlns:p14="http://schemas.microsoft.com/office/powerpoint/2010/main" val="1449154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BF5254A-FF7C-692F-2950-597A37876C76}"/>
              </a:ext>
            </a:extLst>
          </p:cNvPr>
          <p:cNvSpPr txBox="1">
            <a:spLocks/>
          </p:cNvSpPr>
          <p:nvPr/>
        </p:nvSpPr>
        <p:spPr>
          <a:xfrm>
            <a:off x="2964129" y="0"/>
            <a:ext cx="8953756" cy="794475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5600" b="1" spc="-100" dirty="0"/>
              <a:t>SOLUÇÃO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A95E8938-CEE7-AD00-E869-66BA0235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A46B65D-0802-1FAC-EDC9-43F1C9DA9272}"/>
              </a:ext>
            </a:extLst>
          </p:cNvPr>
          <p:cNvSpPr txBox="1"/>
          <p:nvPr/>
        </p:nvSpPr>
        <p:spPr>
          <a:xfrm>
            <a:off x="980440" y="1933694"/>
            <a:ext cx="10231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Indicadores de Confiabilidade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260E3C8-58CC-4E99-3B67-4028BD49B3C8}"/>
              </a:ext>
            </a:extLst>
          </p:cNvPr>
          <p:cNvSpPr txBox="1"/>
          <p:nvPr/>
        </p:nvSpPr>
        <p:spPr>
          <a:xfrm>
            <a:off x="502920" y="3292861"/>
            <a:ext cx="9565640" cy="1130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/>
              <a:t>Monitoramento contínuo da taxa de desgaste e falhas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/>
              <a:t>Definição de limites de alerta com base no histórico NTSB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A20347-A54D-1634-1E4C-9ED0393CD55F}"/>
              </a:ext>
            </a:extLst>
          </p:cNvPr>
          <p:cNvSpPr txBox="1"/>
          <p:nvPr/>
        </p:nvSpPr>
        <p:spPr>
          <a:xfrm>
            <a:off x="980440" y="4843427"/>
            <a:ext cx="610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Adequação regulatória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3A6EBB1-FFB8-055E-5280-6DFFE5910C45}"/>
              </a:ext>
            </a:extLst>
          </p:cNvPr>
          <p:cNvSpPr txBox="1"/>
          <p:nvPr/>
        </p:nvSpPr>
        <p:spPr>
          <a:xfrm>
            <a:off x="502920" y="5603490"/>
            <a:ext cx="61061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pt-BR" sz="2000" dirty="0"/>
              <a:t>RBAC 25.395, 25.675, 25.677, 25.1309.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pt-BR" sz="2000" dirty="0"/>
              <a:t>RBAC 43 e 145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pt-BR" sz="2000" dirty="0"/>
              <a:t>FAA </a:t>
            </a:r>
            <a:r>
              <a:rPr lang="pt-BR" sz="2000" dirty="0" err="1"/>
              <a:t>ADs</a:t>
            </a:r>
            <a:r>
              <a:rPr lang="pt-BR" sz="2000" dirty="0"/>
              <a:t> aplicáveis</a:t>
            </a:r>
          </a:p>
        </p:txBody>
      </p:sp>
    </p:spTree>
    <p:extLst>
      <p:ext uri="{BB962C8B-B14F-4D97-AF65-F5344CB8AC3E}">
        <p14:creationId xmlns:p14="http://schemas.microsoft.com/office/powerpoint/2010/main" val="3025691102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94</TotalTime>
  <Words>355</Words>
  <Application>Microsoft Office PowerPoint</Application>
  <PresentationFormat>Widescreen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Wingdings</vt:lpstr>
      <vt:lpstr>Wingdings 3</vt:lpstr>
      <vt:lpstr>Fatia</vt:lpstr>
      <vt:lpstr>XII Feira de Soluções</vt:lpstr>
      <vt:lpstr>Integrantes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Willian Henrique</dc:creator>
  <cp:lastModifiedBy>JAMILE VICTORIA DE SOUZA LINO</cp:lastModifiedBy>
  <cp:revision>15</cp:revision>
  <dcterms:created xsi:type="dcterms:W3CDTF">2024-06-04T15:06:00Z</dcterms:created>
  <dcterms:modified xsi:type="dcterms:W3CDTF">2025-11-25T00:08:54Z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123EC1BF99294417B08FEDD505CC8C1E_12</vt:lpwstr>
  </property>
  <property fmtid="{D5CDD505-2E9C-101B-9397-08002B2CF9AE}" pid="3" name="KSOProductBuildVer">
    <vt:lpwstr>1046-12.2.0.21179</vt:lpwstr>
  </property>
</Properties>
</file>