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147471217" r:id="rId5"/>
    <p:sldId id="2147471213" r:id="rId6"/>
    <p:sldId id="256" r:id="rId7"/>
    <p:sldId id="257" r:id="rId8"/>
    <p:sldId id="258" r:id="rId9"/>
    <p:sldId id="2147471156" r:id="rId10"/>
    <p:sldId id="2147471211" r:id="rId11"/>
    <p:sldId id="2147471157" r:id="rId12"/>
    <p:sldId id="2147471214" r:id="rId13"/>
    <p:sldId id="2147471159" r:id="rId14"/>
    <p:sldId id="2147471215" r:id="rId15"/>
    <p:sldId id="2147471161" r:id="rId16"/>
    <p:sldId id="2147471162" r:id="rId17"/>
    <p:sldId id="2147471205" r:id="rId18"/>
    <p:sldId id="2147471204" r:id="rId19"/>
    <p:sldId id="2147471206" r:id="rId20"/>
    <p:sldId id="2147471209" r:id="rId21"/>
    <p:sldId id="2147471208" r:id="rId22"/>
    <p:sldId id="2147471160" r:id="rId23"/>
    <p:sldId id="2147471158" r:id="rId24"/>
    <p:sldId id="2147471199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31417-83CC-8108-C587-FE4A2548A007}" v="540" dt="2025-10-18T20:28:12.318"/>
    <p1510:client id="{AF3466DB-75DE-C6D2-F0EA-DC3DD20AB8A3}" v="69" dt="2025-10-20T00:58:21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B178-FCA9-4478-A18F-223F6C5C5FB2}" type="datetimeFigureOut">
              <a:t>19/10/2025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13993-F645-42BB-BDC6-6C27EE590429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130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>
            <a:extLst>
              <a:ext uri="{FF2B5EF4-FFF2-40B4-BE49-F238E27FC236}">
                <a16:creationId xmlns:a16="http://schemas.microsoft.com/office/drawing/2014/main" id="{39F64EB7-3853-BB05-44AE-250FC0217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>
            <a:extLst>
              <a:ext uri="{FF2B5EF4-FFF2-40B4-BE49-F238E27FC236}">
                <a16:creationId xmlns:a16="http://schemas.microsoft.com/office/drawing/2014/main" id="{932F9492-A0BF-CD35-D75C-436674FD3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Espaço Reservado para Número de Slide 3">
            <a:extLst>
              <a:ext uri="{FF2B5EF4-FFF2-40B4-BE49-F238E27FC236}">
                <a16:creationId xmlns:a16="http://schemas.microsoft.com/office/drawing/2014/main" id="{9C00CCA5-8CAD-9486-4978-017A430DE3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74F9C81-55A5-4326-8502-47DA60A7C1BC}" type="slidenum">
              <a:rPr lang="pt-B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pt-B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aixa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Caixa de texto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Droid Sans" charset="0"/>
              </a:rPr>
              <a:t>3</a:t>
            </a:fld>
            <a:endParaRPr lang="zh-CN" altLang="en-US" sz="1200">
              <a:latin typeface="Calibri" charset="0"/>
              <a:ea typeface="等线" charset="0"/>
              <a:cs typeface="Droid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638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aixa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Caixa de texto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Droid Sans" charset="0"/>
              </a:rPr>
              <a:t>4</a:t>
            </a:fld>
            <a:endParaRPr lang="zh-CN" altLang="en-US" sz="1200">
              <a:latin typeface="Calibri" charset="0"/>
              <a:ea typeface="等线" charset="0"/>
              <a:cs typeface="Droid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147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aixa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Caixa de texto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等线" charset="0"/>
                <a:cs typeface="Droid Sans" charset="0"/>
              </a:rPr>
              <a:t>5</a:t>
            </a:fld>
            <a:endParaRPr lang="zh-CN" altLang="en-US" sz="1200">
              <a:latin typeface="Calibri" charset="0"/>
              <a:ea typeface="等线" charset="0"/>
              <a:cs typeface="Droid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4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804C-C841-F63F-EF9C-2D9822D29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F6D4D-675E-A7E7-BDC6-1B9AA0DB3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E944-8A01-E41F-6F75-54A60A0F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00EDC-2BAE-C954-5B49-59470487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4623-4735-822A-8F18-7AB13F24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03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67F0-97B6-4898-1464-EA6D06DA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71A3-FBAA-0C71-30EF-C4C3E1739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8FBE3-8886-056A-CEA2-3B982DFB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3C0C-F52E-BE24-4A52-DECAEFDA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F6E4C-CD78-12A3-4EBE-974AD95E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28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0098-F150-419A-A9BC-1EE2D261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C16AB-E376-897E-2C52-BE550EF00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1FC71-64BC-F172-8AD4-BD987727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CC6BA-5773-1B7F-16CE-FF650886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EE54-D726-42B6-D5E5-2C3CE711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94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F846-2F6A-744F-C918-4917FC4C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DDA83-FA02-B316-386E-56F833394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55A66-8D0B-630E-20D2-1B5AE8E1E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483B9-A8BF-A4A6-AADD-40633E1B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B37AD-9875-6D91-41B1-8D727043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F534F-6DDA-54E0-0E08-DF759D2A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398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E74E-2150-50EE-B6ED-D1299E6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459A8-52A3-B7D3-1198-F2643D6AC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8441E-0D60-0601-83D3-87FE70A61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58987-0357-7CFE-B623-A47635D7D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4B78B-D078-5238-80D0-B789567B1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B6AC4-1B5E-E3A1-C60C-AA5BC952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1C5C5-6977-4577-D5C5-9EE92B18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43670-CA73-9D7B-9113-E81AE033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837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252B-98E1-7087-B344-6A38D86D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864BB-DC36-E4AC-B1FC-D0C8F6A2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66BBF-0928-4374-620E-8BFEFFAB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D3C37-7172-77E1-F696-20197EE6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08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75BA1-AFED-96B0-7CA0-898C67A6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0919E-04B3-10BD-5A4C-A73AD9D1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E1FBF-BFF7-212B-DA76-2B2A2549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6603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1075-D163-3EE4-B161-258DEBFB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D32FB-A51D-DF66-7C51-DDCCFA9E3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9AB59-B641-D3EC-29D5-B7871F5E1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51CC6-5465-6E80-1CE8-862753C8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E4E7-2E7F-1D99-0C56-7CED5E44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5DDF2-15B4-3C53-645F-201F3DAA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56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1610-D8BE-4877-12C9-B496F4C8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19008-EC03-AD15-F71B-5241856BC9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47B67-E286-0A94-D5ED-CBEC3A4E0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A531A-7D3A-CD92-40A8-5162542F8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ED5FE-359C-0EAE-36C6-58177F83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6E3CF-3717-AD65-E174-187608C1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91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5EDF-2119-F798-A03C-50B2AEF2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31E18-E903-75D7-AA58-E5A8D8062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C66C-06C2-E604-27F9-DACD7967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9167B-CC90-563D-1BFC-6F80D99D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FC286-F1DB-308D-CAD9-B6BA8A18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19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33EC9-43AC-C49C-F581-D836E79C7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A66BB-384C-B1FC-2D54-C90FB9878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723A2-21F1-B3BF-EBCA-3CD3D310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3832-EF08-7839-B54F-73B1DDA0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CCF3-348B-A0FB-1897-53BA7299E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998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96086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41593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FFB70-60B5-3946-7116-14D84326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9E5CC-74BF-9813-F0F7-130A0F6B0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61B58-A81C-14C0-BBEE-454AD11CB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92EF-C2C2-4FE7-B0CC-B56D04CC503C}" type="datetimeFigureOut">
              <a:rPr lang="pt-BR" smtClean="0"/>
              <a:t>19/10/2025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01C3-5120-A0B1-3A39-21E843BCB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DCA61-C6CE-4C8F-CC70-60D1DCD5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C5CAC-0D2B-42EC-9BE4-D43DD57308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27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aixaDeTexto 10">
            <a:extLst>
              <a:ext uri="{FF2B5EF4-FFF2-40B4-BE49-F238E27FC236}">
                <a16:creationId xmlns:a16="http://schemas.microsoft.com/office/drawing/2014/main" id="{757D0703-03A4-E2AC-89F6-1896980DD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3752849"/>
            <a:ext cx="3290887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500" b="1">
                <a:latin typeface="+mj-lt"/>
                <a:ea typeface="+mj-ea"/>
                <a:cs typeface="+mj-cs"/>
              </a:rPr>
              <a:t>Aprendizado por projetos integradores – Análise acidente </a:t>
            </a:r>
            <a:r>
              <a:rPr lang="en-US" sz="2500" b="1">
                <a:latin typeface="+mj-lt"/>
                <a:ea typeface="+mj-ea"/>
                <a:cs typeface="+mj-cs"/>
              </a:rPr>
              <a:t>Alaska Airlines Voo 261</a:t>
            </a:r>
            <a:endParaRPr lang="en-US" altLang="en-US" sz="2500" b="1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500" b="1">
                <a:latin typeface="+mj-lt"/>
                <a:ea typeface="+mj-ea"/>
                <a:cs typeface="+mj-cs"/>
              </a:rPr>
              <a:t>(2ª Sprint)</a:t>
            </a:r>
          </a:p>
        </p:txBody>
      </p:sp>
      <p:pic>
        <p:nvPicPr>
          <p:cNvPr id="4" name="Imagem 3" descr="File:McDonnell Douglas MD-83 (DC-9-83), Alaska Airlines AN0485239.jpg -  Wikimedia Commons">
            <a:extLst>
              <a:ext uri="{FF2B5EF4-FFF2-40B4-BE49-F238E27FC236}">
                <a16:creationId xmlns:a16="http://schemas.microsoft.com/office/drawing/2014/main" id="{9BB58BE2-F70B-1DFD-2FD0-E4875372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05" b="25672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5FFF2B1-C76B-27E6-88F6-32E0306A9BEB}"/>
              </a:ext>
            </a:extLst>
          </p:cNvPr>
          <p:cNvSpPr txBox="1"/>
          <p:nvPr/>
        </p:nvSpPr>
        <p:spPr>
          <a:xfrm>
            <a:off x="4223982" y="3752850"/>
            <a:ext cx="7485413" cy="24526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Isabela Soares, William Henrique, Jhonata Cawã</a:t>
            </a:r>
          </a:p>
        </p:txBody>
      </p:sp>
      <p:pic>
        <p:nvPicPr>
          <p:cNvPr id="3077" name="Imagem 33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26139919-3579-45A7-9435-05383A4AD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650" y="6038850"/>
            <a:ext cx="142240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8964890"/>
      </p:ext>
    </p:extLst>
  </p:cSld>
  <p:clrMapOvr>
    <a:masterClrMapping/>
  </p:clrMapOvr>
  <p:transition spd="slow" advTm="484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FEE446D-38D1-4748-09D7-1149630AE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8" y="1937255"/>
            <a:ext cx="11877344" cy="27417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AC9BB0C-0128-9011-2B5B-49A5B1B156C9}"/>
              </a:ext>
            </a:extLst>
          </p:cNvPr>
          <p:cNvSpPr txBox="1"/>
          <p:nvPr/>
        </p:nvSpPr>
        <p:spPr>
          <a:xfrm>
            <a:off x="3065834" y="816804"/>
            <a:ext cx="6060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Matriz de Responsabilidades</a:t>
            </a:r>
          </a:p>
        </p:txBody>
      </p:sp>
    </p:spTree>
    <p:extLst>
      <p:ext uri="{BB962C8B-B14F-4D97-AF65-F5344CB8AC3E}">
        <p14:creationId xmlns:p14="http://schemas.microsoft.com/office/powerpoint/2010/main" val="88377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ha reta"/>
          <p:cNvSpPr>
            <a:spLocks/>
          </p:cNvSpPr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noFill/>
          <a:ln w="57150" cap="flat" cmpd="sng">
            <a:gradFill rotWithShape="1">
              <a:gsLst>
                <a:gs pos="42000">
                  <a:srgbClr val="B2CBFF">
                    <a:alpha val="84705"/>
                  </a:srgbClr>
                </a:gs>
                <a:gs pos="63000">
                  <a:srgbClr val="93B5FF">
                    <a:alpha val="100000"/>
                  </a:srgbClr>
                </a:gs>
                <a:gs pos="28000">
                  <a:srgbClr val="C7D9FF">
                    <a:alpha val="100000"/>
                  </a:srgbClr>
                </a:gs>
                <a:gs pos="0">
                  <a:srgbClr val="F0F8FD">
                    <a:alpha val="100000"/>
                  </a:srgbClr>
                </a:gs>
                <a:gs pos="74000">
                  <a:srgbClr val="74C4E9">
                    <a:alpha val="100000"/>
                  </a:srgbClr>
                </a:gs>
                <a:gs pos="83000">
                  <a:srgbClr val="74C4E9">
                    <a:alpha val="100000"/>
                  </a:srgbClr>
                </a:gs>
                <a:gs pos="100000">
                  <a:srgbClr val="A2D8F0">
                    <a:alpha val="100000"/>
                  </a:srgbClr>
                </a:gs>
              </a:gsLst>
              <a:lin ang="10800000" scaled="1"/>
            </a:gradFill>
            <a:prstDash val="solid"/>
            <a:miter/>
          </a:ln>
        </p:spPr>
      </p:sp>
      <p:sp>
        <p:nvSpPr>
          <p:cNvPr id="14" name="Retângulo"/>
          <p:cNvSpPr>
            <a:spLocks/>
          </p:cNvSpPr>
          <p:nvPr/>
        </p:nvSpPr>
        <p:spPr>
          <a:xfrm>
            <a:off x="204278" y="125347"/>
            <a:ext cx="1404389" cy="3968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  <a:scene3d>
            <a:camera prst="legacyObliqueFront"/>
            <a:lightRig rig="legacyFlat4" dir="r"/>
          </a:scene3d>
          <a:sp3d prstMaterial="legacyMatte">
            <a:bevelT w="13500" h="13500" prst="angle"/>
            <a:bevelB w="13500" h="13500" prst="angle"/>
          </a:sp3d>
        </p:spPr>
        <p:txBody>
          <a:bodyPr vert="horz" wrap="square" lIns="50800" tIns="50800" rIns="50800" bIns="50800" anchor="ctr" anchorCtr="0">
            <a:prstTxWarp prst="textNoShape">
              <a:avLst/>
            </a:prstTxWarp>
            <a:spAutoFit/>
          </a:bodyPr>
          <a:lstStyle/>
          <a:p>
            <a:pPr marL="0" indent="0" algn="l" defTabSz="2438273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  <a:sym typeface="Helvetica Neue" charset="0"/>
              </a:rPr>
              <a:t>Capítulo 7</a:t>
            </a:r>
            <a:endParaRPr lang="zh-CN" altLang="en-US" sz="2000" b="1" i="0" u="none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  <a:sym typeface="Helvetica Neue" charset="0"/>
            </a:endParaRPr>
          </a:p>
        </p:txBody>
      </p:sp>
      <p:sp>
        <p:nvSpPr>
          <p:cNvPr id="15" name="Retângulo"/>
          <p:cNvSpPr>
            <a:spLocks/>
          </p:cNvSpPr>
          <p:nvPr/>
        </p:nvSpPr>
        <p:spPr>
          <a:xfrm>
            <a:off x="204278" y="564779"/>
            <a:ext cx="7820024" cy="3009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sng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</a:rPr>
              <a:t>Slide 7.1 - Classificação do conjunto do eixo (Hard Time, On-Condition, e/ou Condition Monitoring) </a:t>
            </a:r>
            <a:endParaRPr lang="zh-CN" altLang="en-US" sz="1400" b="0" i="0" u="sng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</a:endParaRPr>
          </a:p>
        </p:txBody>
      </p:sp>
      <p:sp>
        <p:nvSpPr>
          <p:cNvPr id="16" name="Retângulo"/>
          <p:cNvSpPr>
            <a:spLocks/>
          </p:cNvSpPr>
          <p:nvPr/>
        </p:nvSpPr>
        <p:spPr>
          <a:xfrm>
            <a:off x="10364949" y="-19792"/>
            <a:ext cx="1904781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sng" strike="noStrike" kern="1200" cap="none" spc="0" baseline="0">
                <a:solidFill>
                  <a:srgbClr val="0070C0"/>
                </a:solidFill>
                <a:latin typeface="Aptos" charset="0"/>
                <a:ea typeface="等线" charset="0"/>
                <a:cs typeface="Droid Sans" charset="0"/>
              </a:rPr>
              <a:t>Resp.:Jhonata </a:t>
            </a:r>
            <a:endParaRPr lang="zh-CN" altLang="en-US" sz="1800" b="0" i="0" u="sng" strike="noStrike" kern="1200" cap="none" spc="0" baseline="0">
              <a:solidFill>
                <a:srgbClr val="0070C0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17" name="Retângulo"/>
          <p:cNvSpPr>
            <a:spLocks/>
          </p:cNvSpPr>
          <p:nvPr/>
        </p:nvSpPr>
        <p:spPr>
          <a:xfrm>
            <a:off x="1608667" y="-18398"/>
            <a:ext cx="8669433" cy="7200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</a:rPr>
              <a:t>Desenvolva uma Análise do Sistema de Compensação do Estabilizador Horizontal considerando os seguintes aspectos:</a:t>
            </a:r>
          </a:p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</a:endParaRPr>
          </a:p>
        </p:txBody>
      </p:sp>
      <p:pic>
        <p:nvPicPr>
          <p:cNvPr id="19" name="Imagem" descr="Placa vermelha com letras brancas&#10;&#10;Descrição gerada automaticamente com confiança baixa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82496" y="6023665"/>
            <a:ext cx="1428750" cy="685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0" name="Retângulo"/>
          <p:cNvSpPr>
            <a:spLocks/>
          </p:cNvSpPr>
          <p:nvPr/>
        </p:nvSpPr>
        <p:spPr>
          <a:xfrm>
            <a:off x="3818155" y="1694709"/>
            <a:ext cx="3922143" cy="3581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rPr>
              <a:t>           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21" name="Retângulo"/>
          <p:cNvSpPr>
            <a:spLocks/>
          </p:cNvSpPr>
          <p:nvPr/>
        </p:nvSpPr>
        <p:spPr>
          <a:xfrm>
            <a:off x="600636" y="1093694"/>
            <a:ext cx="10811433" cy="14249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a) A redução de resistência à falhas é detectável na rotina de monitoramento da tripulação?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Resposta: NÃO.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A tripulação não tinha meios de identificar diretamente a degradação do conjunto do eixo por instrumentos ou sistemas de cabine. A falha ocorreu de forma lenta e discreta, sem gerar qualquer tipo de alerta imediato.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22" name="Retângulo"/>
          <p:cNvSpPr>
            <a:spLocks/>
          </p:cNvSpPr>
          <p:nvPr/>
        </p:nvSpPr>
        <p:spPr>
          <a:xfrm>
            <a:off x="600635" y="2438400"/>
            <a:ext cx="10865220" cy="35585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b) A degradação da resistência a falhas é detectável através de manutenção no local ou por unidade de teste?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Resposta: SIM.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A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degradação da porca trapezoidal e do eixo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poderia ter sido identificada de forma preventiva por meio de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inspeções de manutenção adequadas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, principalmente com a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medição da folga axial do eixo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. No entanto, o procedimento de inspeção não foi realizado corretamente e foram identificadas falhas no programa de manutenção existente.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Plano de Manutenção Proposto: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Tarefa: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Medição da folga axial do conjunto do eixo (On-Condition).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Intervalo: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A cada 2.000 horas de voo.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Método: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Medição manual da folga axial, conforme instruções do manual de manutenção atualizado.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Critério de Aceitação: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Qualquer valor de folga fora dos limites de tolerância estabelecidos exige a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substituição imediata da porca trapezoidal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e uma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inspeção detalhada do eixo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1470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ha reta"/>
          <p:cNvSpPr>
            <a:spLocks/>
          </p:cNvSpPr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noFill/>
          <a:ln w="57150" cap="flat" cmpd="sng">
            <a:gradFill rotWithShape="1">
              <a:gsLst>
                <a:gs pos="42000">
                  <a:srgbClr val="B2CBFF">
                    <a:alpha val="84705"/>
                  </a:srgbClr>
                </a:gs>
                <a:gs pos="63000">
                  <a:srgbClr val="93B5FF">
                    <a:alpha val="100000"/>
                  </a:srgbClr>
                </a:gs>
                <a:gs pos="28000">
                  <a:srgbClr val="C7D9FF">
                    <a:alpha val="100000"/>
                  </a:srgbClr>
                </a:gs>
                <a:gs pos="0">
                  <a:srgbClr val="F0F8FD">
                    <a:alpha val="100000"/>
                  </a:srgbClr>
                </a:gs>
                <a:gs pos="74000">
                  <a:srgbClr val="74C4E9">
                    <a:alpha val="100000"/>
                  </a:srgbClr>
                </a:gs>
                <a:gs pos="83000">
                  <a:srgbClr val="74C4E9">
                    <a:alpha val="100000"/>
                  </a:srgbClr>
                </a:gs>
                <a:gs pos="100000">
                  <a:srgbClr val="A2D8F0">
                    <a:alpha val="100000"/>
                  </a:srgbClr>
                </a:gs>
              </a:gsLst>
              <a:lin ang="10800000" scaled="1"/>
            </a:gradFill>
            <a:prstDash val="solid"/>
            <a:miter/>
          </a:ln>
        </p:spPr>
      </p:sp>
      <p:sp>
        <p:nvSpPr>
          <p:cNvPr id="24" name="Retângulo"/>
          <p:cNvSpPr>
            <a:spLocks/>
          </p:cNvSpPr>
          <p:nvPr/>
        </p:nvSpPr>
        <p:spPr>
          <a:xfrm>
            <a:off x="204278" y="125347"/>
            <a:ext cx="1404389" cy="3968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  <a:scene3d>
            <a:camera prst="legacyObliqueFront"/>
            <a:lightRig rig="legacyFlat4" dir="r"/>
          </a:scene3d>
          <a:sp3d prstMaterial="legacyMatte">
            <a:bevelT w="13500" h="13500" prst="angle"/>
            <a:bevelB w="13500" h="13500" prst="angle"/>
          </a:sp3d>
        </p:spPr>
        <p:txBody>
          <a:bodyPr vert="horz" wrap="square" lIns="50800" tIns="50800" rIns="50800" bIns="50800" anchor="ctr" anchorCtr="0">
            <a:prstTxWarp prst="textNoShape">
              <a:avLst/>
            </a:prstTxWarp>
            <a:spAutoFit/>
          </a:bodyPr>
          <a:lstStyle/>
          <a:p>
            <a:pPr marL="0" indent="0" algn="l" defTabSz="2438273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  <a:sym typeface="Helvetica Neue" charset="0"/>
              </a:rPr>
              <a:t>Capítulo 7</a:t>
            </a:r>
            <a:endParaRPr lang="zh-CN" altLang="en-US" sz="2000" b="1" i="0" u="none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  <a:sym typeface="Helvetica Neue" charset="0"/>
            </a:endParaRPr>
          </a:p>
        </p:txBody>
      </p:sp>
      <p:sp>
        <p:nvSpPr>
          <p:cNvPr id="25" name="Retângulo"/>
          <p:cNvSpPr>
            <a:spLocks/>
          </p:cNvSpPr>
          <p:nvPr/>
        </p:nvSpPr>
        <p:spPr>
          <a:xfrm>
            <a:off x="204278" y="564779"/>
            <a:ext cx="7965820" cy="3009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sng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</a:rPr>
              <a:t>Slide 7.1.1 - Classificação do conjunto do eixo (Hard Time, On-Condition, e/ou Condition Monitoring) </a:t>
            </a:r>
            <a:endParaRPr lang="zh-CN" altLang="en-US" sz="1400" b="0" i="0" u="sng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</a:endParaRPr>
          </a:p>
        </p:txBody>
      </p:sp>
      <p:sp>
        <p:nvSpPr>
          <p:cNvPr id="26" name="Retângulo"/>
          <p:cNvSpPr>
            <a:spLocks/>
          </p:cNvSpPr>
          <p:nvPr/>
        </p:nvSpPr>
        <p:spPr>
          <a:xfrm>
            <a:off x="10364949" y="-19792"/>
            <a:ext cx="1904781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sng" strike="noStrike" kern="1200" cap="none" spc="0" baseline="0">
                <a:solidFill>
                  <a:srgbClr val="0070C0"/>
                </a:solidFill>
                <a:latin typeface="Aptos" charset="0"/>
                <a:ea typeface="等线" charset="0"/>
                <a:cs typeface="Droid Sans" charset="0"/>
              </a:rPr>
              <a:t>Resp.:Jhonata </a:t>
            </a:r>
            <a:endParaRPr lang="zh-CN" altLang="en-US" sz="1800" b="0" i="0" u="sng" strike="noStrike" kern="1200" cap="none" spc="0" baseline="0">
              <a:solidFill>
                <a:srgbClr val="0070C0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27" name="Retângulo"/>
          <p:cNvSpPr>
            <a:spLocks/>
          </p:cNvSpPr>
          <p:nvPr/>
        </p:nvSpPr>
        <p:spPr>
          <a:xfrm>
            <a:off x="1608667" y="-18398"/>
            <a:ext cx="8669433" cy="7200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</a:rPr>
              <a:t>Desenvolva uma Análise do Sistema de Compensação do Estabilizador Horizontal considerando os seguintes aspectos:</a:t>
            </a:r>
          </a:p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</a:endParaRPr>
          </a:p>
        </p:txBody>
      </p:sp>
      <p:pic>
        <p:nvPicPr>
          <p:cNvPr id="29" name="Imagem" descr="Placa vermelha com letras brancas&#10;&#10;Descrição gerada automaticamente com confiança baixa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82496" y="6023665"/>
            <a:ext cx="1428750" cy="685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0" name="Retângulo"/>
          <p:cNvSpPr>
            <a:spLocks/>
          </p:cNvSpPr>
          <p:nvPr/>
        </p:nvSpPr>
        <p:spPr>
          <a:xfrm>
            <a:off x="3818155" y="1694709"/>
            <a:ext cx="3922143" cy="3581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rPr>
              <a:t>           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31" name="Retângulo"/>
          <p:cNvSpPr>
            <a:spLocks/>
          </p:cNvSpPr>
          <p:nvPr/>
        </p:nvSpPr>
        <p:spPr>
          <a:xfrm>
            <a:off x="420130" y="1089454"/>
            <a:ext cx="11207575" cy="24917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c) O modo de falha tem um efeito adverso na operação segura da aeronave?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Resposta: SIM.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A falha do eixo resultou na perda completa do controle longitudinal da aeronave, ocasionando um acidente fatal. Por isso, o efeito adverso é classificado como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crítico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Plano de manutenção adicional: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Tarefa: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Realizar lubrificação periódica do eixo e inspeção visual minuciosa (On-Condition).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Intervalo: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A cada 650 horas de voo.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Método: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Aplicar graxa conforme especificação técnica e verificar cuidadosamente a presença de desgaste anormal ou sinais de deficiência na lubrificação.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32" name="Retângulo"/>
          <p:cNvSpPr>
            <a:spLocks/>
          </p:cNvSpPr>
          <p:nvPr/>
        </p:nvSpPr>
        <p:spPr>
          <a:xfrm>
            <a:off x="420131" y="3715265"/>
            <a:ext cx="10723604" cy="27584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d) Sob o ponto de vista da tripulação, a função é oculta?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Resposta: SIM.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Durante a operação normal,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a tripulação não tem como identificar o desgaste interno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da porca trapezoidal ou do eixo, já que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não há qualquer indicação visível ou alerta até que a falha esteja prestes a ocorrer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Plano de manutenção adicional: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Tarefa: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Inspeção não destrutiva (NDI) do eixo (On-Condition);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Intervalo: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A cada 24 meses;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Método: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Inspeção por partículas magnéticas ou ultrassom, visando detectar fissuras internas e prevenir falhas estruturais.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0929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ha reta"/>
          <p:cNvSpPr>
            <a:spLocks/>
          </p:cNvSpPr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noFill/>
          <a:ln w="57150" cap="flat" cmpd="sng">
            <a:gradFill rotWithShape="1">
              <a:gsLst>
                <a:gs pos="42000">
                  <a:srgbClr val="B2CBFF">
                    <a:alpha val="84705"/>
                  </a:srgbClr>
                </a:gs>
                <a:gs pos="63000">
                  <a:srgbClr val="93B5FF">
                    <a:alpha val="100000"/>
                  </a:srgbClr>
                </a:gs>
                <a:gs pos="28000">
                  <a:srgbClr val="C7D9FF">
                    <a:alpha val="100000"/>
                  </a:srgbClr>
                </a:gs>
                <a:gs pos="0">
                  <a:srgbClr val="F0F8FD">
                    <a:alpha val="100000"/>
                  </a:srgbClr>
                </a:gs>
                <a:gs pos="74000">
                  <a:srgbClr val="74C4E9">
                    <a:alpha val="100000"/>
                  </a:srgbClr>
                </a:gs>
                <a:gs pos="83000">
                  <a:srgbClr val="74C4E9">
                    <a:alpha val="100000"/>
                  </a:srgbClr>
                </a:gs>
                <a:gs pos="100000">
                  <a:srgbClr val="A2D8F0">
                    <a:alpha val="100000"/>
                  </a:srgbClr>
                </a:gs>
              </a:gsLst>
              <a:lin ang="10800000" scaled="1"/>
            </a:gradFill>
            <a:prstDash val="solid"/>
            <a:miter/>
          </a:ln>
        </p:spPr>
      </p:sp>
      <p:sp>
        <p:nvSpPr>
          <p:cNvPr id="34" name="Retângulo"/>
          <p:cNvSpPr>
            <a:spLocks/>
          </p:cNvSpPr>
          <p:nvPr/>
        </p:nvSpPr>
        <p:spPr>
          <a:xfrm>
            <a:off x="204278" y="125347"/>
            <a:ext cx="1404389" cy="3968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  <a:scene3d>
            <a:camera prst="legacyObliqueFront"/>
            <a:lightRig rig="legacyFlat4" dir="r"/>
          </a:scene3d>
          <a:sp3d prstMaterial="legacyMatte">
            <a:bevelT w="13500" h="13500" prst="angle"/>
            <a:bevelB w="13500" h="13500" prst="angle"/>
          </a:sp3d>
        </p:spPr>
        <p:txBody>
          <a:bodyPr vert="horz" wrap="square" lIns="50800" tIns="50800" rIns="50800" bIns="50800" anchor="ctr" anchorCtr="0">
            <a:prstTxWarp prst="textNoShape">
              <a:avLst/>
            </a:prstTxWarp>
            <a:spAutoFit/>
          </a:bodyPr>
          <a:lstStyle/>
          <a:p>
            <a:pPr marL="0" indent="0" algn="l" defTabSz="2438273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  <a:sym typeface="Helvetica Neue" charset="0"/>
              </a:rPr>
              <a:t>Capítulo 7</a:t>
            </a:r>
            <a:endParaRPr lang="zh-CN" altLang="en-US" sz="2000" b="1" i="0" u="none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  <a:sym typeface="Helvetica Neue" charset="0"/>
            </a:endParaRPr>
          </a:p>
        </p:txBody>
      </p:sp>
      <p:sp>
        <p:nvSpPr>
          <p:cNvPr id="35" name="Retângulo"/>
          <p:cNvSpPr>
            <a:spLocks/>
          </p:cNvSpPr>
          <p:nvPr/>
        </p:nvSpPr>
        <p:spPr>
          <a:xfrm>
            <a:off x="204278" y="564779"/>
            <a:ext cx="7965820" cy="3009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sng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</a:rPr>
              <a:t>Slide 7.1.2 - Classificação do conjunto do eixo (Hard Time, On-Condition, e/ou Condition Monitoring) </a:t>
            </a:r>
            <a:endParaRPr lang="zh-CN" altLang="en-US" sz="1400" b="0" i="0" u="sng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</a:endParaRPr>
          </a:p>
        </p:txBody>
      </p:sp>
      <p:sp>
        <p:nvSpPr>
          <p:cNvPr id="36" name="Retângulo"/>
          <p:cNvSpPr>
            <a:spLocks/>
          </p:cNvSpPr>
          <p:nvPr/>
        </p:nvSpPr>
        <p:spPr>
          <a:xfrm>
            <a:off x="10364949" y="-19792"/>
            <a:ext cx="1904781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sng" strike="noStrike" kern="1200" cap="none" spc="0" baseline="0">
                <a:solidFill>
                  <a:srgbClr val="0070C0"/>
                </a:solidFill>
                <a:latin typeface="Aptos" charset="0"/>
                <a:ea typeface="等线" charset="0"/>
                <a:cs typeface="Droid Sans" charset="0"/>
              </a:rPr>
              <a:t>Resp.:Jhonata </a:t>
            </a:r>
            <a:endParaRPr lang="zh-CN" altLang="en-US" sz="1800" b="0" i="0" u="sng" strike="noStrike" kern="1200" cap="none" spc="0" baseline="0">
              <a:solidFill>
                <a:srgbClr val="0070C0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37" name="Retângulo"/>
          <p:cNvSpPr>
            <a:spLocks/>
          </p:cNvSpPr>
          <p:nvPr/>
        </p:nvSpPr>
        <p:spPr>
          <a:xfrm>
            <a:off x="1608667" y="-18398"/>
            <a:ext cx="8669433" cy="7200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70C0"/>
                </a:solidFill>
                <a:latin typeface="Arial" pitchFamily="34" charset="0"/>
                <a:ea typeface="等线" charset="0"/>
                <a:cs typeface="Arial" pitchFamily="34" charset="0"/>
              </a:rPr>
              <a:t>Desenvolva uma Análise do Sistema de Compensação do Estabilizador Horizontal considerando os seguintes aspectos:</a:t>
            </a:r>
          </a:p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1200" cap="none" spc="0" baseline="0">
              <a:solidFill>
                <a:srgbClr val="0070C0"/>
              </a:solidFill>
              <a:latin typeface="Arial" pitchFamily="34" charset="0"/>
              <a:ea typeface="等线" charset="0"/>
              <a:cs typeface="Arial" pitchFamily="34" charset="0"/>
            </a:endParaRPr>
          </a:p>
        </p:txBody>
      </p:sp>
      <p:pic>
        <p:nvPicPr>
          <p:cNvPr id="39" name="Imagem" descr="Placa vermelha com letras brancas&#10;&#10;Descrição gerada automaticamente com confiança baixa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82496" y="6023665"/>
            <a:ext cx="1428750" cy="685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0" name="Retângulo"/>
          <p:cNvSpPr>
            <a:spLocks/>
          </p:cNvSpPr>
          <p:nvPr/>
        </p:nvSpPr>
        <p:spPr>
          <a:xfrm>
            <a:off x="3818155" y="1694709"/>
            <a:ext cx="3922143" cy="3581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rPr>
              <a:t>           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41" name="Retângulo"/>
          <p:cNvSpPr>
            <a:spLocks/>
          </p:cNvSpPr>
          <p:nvPr/>
        </p:nvSpPr>
        <p:spPr>
          <a:xfrm>
            <a:off x="409833" y="1789670"/>
            <a:ext cx="6326658" cy="35585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e) Existe uma relação adversa entre a idade e confiabilidade?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Resposta: SIM.</a:t>
            </a:r>
            <a:b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</a:b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O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desgaste progressivo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, causado pelo aumento das horas de voo e dos ciclos operacionais,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reduz gradualmente a resistência do eixo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, tornando-o mais suscetível a falhas.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A ausência de substituição periódica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eleva significativamente o risco de uma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falha catastrófica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Plano de manutenção complementar: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Tarefa: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Substituição programada da porca trapezoidal, componente crítico sujeito a desgaste. </a:t>
            </a:r>
            <a:r>
              <a:rPr lang="en-US" altLang="zh-CN" sz="1800" b="0" i="1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(Hard Time)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Intervalo: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A cada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5.000 horas de voo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 ou de acordo com a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vida útil definida por análises de confiabilidade atualizadas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Droid Sans" charset="0"/>
              </a:rPr>
              <a:t>.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pic>
        <p:nvPicPr>
          <p:cNvPr id="42" name="Imagem" descr="Gráfico, Gráfico de linhas&#10;&#10;O conteúdo gerado por IA pode estar incorreto.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22615" y="2458737"/>
            <a:ext cx="4844363" cy="2084687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684738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4097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u="sng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8.1 – Teste Operacional X Teste Funcional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BEC99-5C62-4578-B83D-CED6B1C4FCEB}"/>
              </a:ext>
            </a:extLst>
          </p:cNvPr>
          <p:cNvSpPr txBox="1"/>
          <p:nvPr/>
        </p:nvSpPr>
        <p:spPr>
          <a:xfrm>
            <a:off x="10278100" y="0"/>
            <a:ext cx="185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lvl="0" algn="ctr">
              <a:defRPr/>
            </a:pPr>
            <a:r>
              <a:rPr lang="pt-BR" u="sng" dirty="0">
                <a:solidFill>
                  <a:srgbClr val="0070C0"/>
                </a:solidFill>
              </a:rPr>
              <a:t>Willian Henrique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381407-2E89-446F-9A6D-AA9CC3B54AEB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6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6000"/>
                </a:schemeClr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6B026C9F-FF45-B4FE-FCC2-557D63B6E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EB6A615-3DC5-FB84-181C-D7C4B43461D3}"/>
              </a:ext>
            </a:extLst>
          </p:cNvPr>
          <p:cNvSpPr txBox="1"/>
          <p:nvPr/>
        </p:nvSpPr>
        <p:spPr>
          <a:xfrm>
            <a:off x="2179746" y="1421485"/>
            <a:ext cx="874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Sistema de Compensação do Estabilizador Horizontal (MD-80)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0B2B560-FE6A-E577-FF7F-51F004EA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677" y="2175395"/>
            <a:ext cx="102474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 Operacional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movimento do estabilizador horizontal é comandado automaticamente pelo piloto automático ou manualmente pela tripulação de voo ao pressionar os interruptores de compensação localizados em cada manche.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Os motores são desenergizados quando o estabilizador atinge a condição de ajuste desejado ou quando atinge seus limites máximos de curso.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Os batentes elétricos e mecânicos limitam o deslocamento do estabilizador horizontal conforme o projeto: 12,2° para baixo do bordo de ataque e 2,1° para cima, interrompendo a rotação em caso de mau funcionamento.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teste operacional verifica o acionamento do sistema completo e o funcionamento dos limitadores elétricos e mecânicos.</a:t>
            </a:r>
          </a:p>
        </p:txBody>
      </p:sp>
    </p:spTree>
    <p:extLst>
      <p:ext uri="{BB962C8B-B14F-4D97-AF65-F5344CB8AC3E}">
        <p14:creationId xmlns:p14="http://schemas.microsoft.com/office/powerpoint/2010/main" val="1869627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4097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u="sng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8.1 – Teste Operacional X Teste Funcional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BEC99-5C62-4578-B83D-CED6B1C4FCEB}"/>
              </a:ext>
            </a:extLst>
          </p:cNvPr>
          <p:cNvSpPr txBox="1"/>
          <p:nvPr/>
        </p:nvSpPr>
        <p:spPr>
          <a:xfrm>
            <a:off x="10180320" y="0"/>
            <a:ext cx="1950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lvl="0" algn="ctr">
              <a:defRPr/>
            </a:pPr>
            <a:r>
              <a:rPr lang="pt-BR" u="sng" dirty="0">
                <a:solidFill>
                  <a:srgbClr val="0070C0"/>
                </a:solidFill>
              </a:rPr>
              <a:t>Willian Henrique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381407-2E89-446F-9A6D-AA9CC3B54AEB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6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76000"/>
                </a:schemeClr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6B026C9F-FF45-B4FE-FCC2-557D63B6E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EB6A615-3DC5-FB84-181C-D7C4B43461D3}"/>
              </a:ext>
            </a:extLst>
          </p:cNvPr>
          <p:cNvSpPr txBox="1"/>
          <p:nvPr/>
        </p:nvSpPr>
        <p:spPr>
          <a:xfrm>
            <a:off x="1608667" y="1258467"/>
            <a:ext cx="8835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Sistema de Compensação do Estabilizador Horizontal (</a:t>
            </a:r>
            <a:r>
              <a:rPr lang="pt-BR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Jackscrew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– MD-80)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4B7CA31-DA1B-C81F-DD35-104CE64B8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620" y="2196779"/>
            <a:ext cx="99895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 Funcional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verificação da folga axial entre o eixo e a porca trapezoidal foi desenvolvida para medir o desgaste e garantir que a porca seja substituída quando o limite de 0,040 polegadas fosse excedido.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Essa medição é o único meio funcional de detectar desgaste excessivo nas roscas do conjunto do eixo trapezoidal.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acidente, o NTSB constatou que a verificação da folga não foi executada adequadamente, permitindo o desgaste extremo da porca trapezoidal até sua falha em voo.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67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362954-B0DA-468D-A479-4FD0903137B5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P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645535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Slide </a:t>
            </a:r>
            <a:r>
              <a:rPr lang="pt-BR" sz="1400" u="sng">
                <a:solidFill>
                  <a:srgbClr val="0070C0"/>
                </a:solidFill>
                <a:latin typeface="Arial"/>
                <a:cs typeface="Arial"/>
              </a:rPr>
              <a:t>8.2</a:t>
            </a: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 – Análise MSI Sistema de Compensação do estabilizador horizontal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46BC9-F388-4635-B38B-0F3BFEB47F72}"/>
              </a:ext>
            </a:extLst>
          </p:cNvPr>
          <p:cNvSpPr txBox="1"/>
          <p:nvPr/>
        </p:nvSpPr>
        <p:spPr>
          <a:xfrm>
            <a:off x="10278100" y="0"/>
            <a:ext cx="185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lvl="0" algn="ctr">
              <a:defRPr/>
            </a:pPr>
            <a:r>
              <a:rPr lang="pt-BR" u="sng" dirty="0">
                <a:solidFill>
                  <a:srgbClr val="0070C0"/>
                </a:solidFill>
              </a:rPr>
              <a:t>Willian Henrique</a:t>
            </a:r>
          </a:p>
        </p:txBody>
      </p:sp>
      <p:pic>
        <p:nvPicPr>
          <p:cNvPr id="9" name="Imagem 8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C60871FE-1476-9926-2B5C-1131F1D4A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D013D74-4A19-9D0F-8131-ED3CE38C3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156" y="1151689"/>
            <a:ext cx="9384453" cy="48240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9017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362954-B0DA-468D-A479-4FD0903137B5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de </a:t>
            </a: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Compensação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do </a:t>
            </a: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Estabilizador Horizontal considerando os seguintes aspectos:</a:t>
            </a:r>
            <a:endParaRPr lang="pt-P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645535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Slide </a:t>
            </a:r>
            <a:r>
              <a:rPr lang="pt-BR" sz="1400" u="sng">
                <a:solidFill>
                  <a:srgbClr val="0070C0"/>
                </a:solidFill>
                <a:latin typeface="Arial"/>
                <a:cs typeface="Arial"/>
              </a:rPr>
              <a:t>8.2.1</a:t>
            </a: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 – Análise MSI Sistema de Compensação do estabilizador horizontal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46BC9-F388-4635-B38B-0F3BFEB47F72}"/>
              </a:ext>
            </a:extLst>
          </p:cNvPr>
          <p:cNvSpPr txBox="1"/>
          <p:nvPr/>
        </p:nvSpPr>
        <p:spPr>
          <a:xfrm>
            <a:off x="10278100" y="0"/>
            <a:ext cx="185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lvl="0" algn="ctr">
              <a:defRPr/>
            </a:pPr>
            <a:r>
              <a:rPr lang="pt-BR" u="sng" dirty="0">
                <a:solidFill>
                  <a:srgbClr val="0070C0"/>
                </a:solidFill>
              </a:rPr>
              <a:t>Willian Henrique</a:t>
            </a:r>
          </a:p>
        </p:txBody>
      </p:sp>
      <p:pic>
        <p:nvPicPr>
          <p:cNvPr id="9" name="Imagem 8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C60871FE-1476-9926-2B5C-1131F1D4A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80ED06B-0490-B4A0-6F21-71973E5AF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5830"/>
            <a:ext cx="12192000" cy="278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61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362954-B0DA-468D-A479-4FD0903137B5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de </a:t>
            </a: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Compensação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do </a:t>
            </a: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Estabilizador Horizontal considerando os seguintes aspectos:</a:t>
            </a:r>
            <a:endParaRPr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645535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Slide </a:t>
            </a:r>
            <a:r>
              <a:rPr lang="pt-BR" sz="1400" u="sng" dirty="0">
                <a:solidFill>
                  <a:srgbClr val="0070C0"/>
                </a:solidFill>
                <a:latin typeface="Arial"/>
                <a:cs typeface="Arial"/>
              </a:rPr>
              <a:t>8.2.2</a:t>
            </a:r>
            <a:r>
              <a:rPr kumimoji="0" lang="pt-BR" sz="14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 – Análise MSI Sistema de Compensação do estabilizador horizontal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46BC9-F388-4635-B38B-0F3BFEB47F72}"/>
              </a:ext>
            </a:extLst>
          </p:cNvPr>
          <p:cNvSpPr txBox="1"/>
          <p:nvPr/>
        </p:nvSpPr>
        <p:spPr>
          <a:xfrm>
            <a:off x="10278100" y="0"/>
            <a:ext cx="185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lvl="0" algn="ctr">
              <a:defRPr/>
            </a:pPr>
            <a:r>
              <a:rPr lang="pt-BR" u="sng" dirty="0">
                <a:solidFill>
                  <a:srgbClr val="0070C0"/>
                </a:solidFill>
              </a:rPr>
              <a:t>Willian Henrique</a:t>
            </a:r>
          </a:p>
        </p:txBody>
      </p:sp>
      <p:pic>
        <p:nvPicPr>
          <p:cNvPr id="9" name="Imagem 8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C60871FE-1476-9926-2B5C-1131F1D4A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7E5A059-F07C-DC3C-3336-9D15D1DB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1840"/>
            <a:ext cx="12192000" cy="22966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8885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362954-B0DA-468D-A479-4FD0903137B5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P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645535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Slide </a:t>
            </a:r>
            <a:r>
              <a:rPr lang="pt-BR" sz="1400" u="sng">
                <a:solidFill>
                  <a:srgbClr val="0070C0"/>
                </a:solidFill>
                <a:latin typeface="Arial"/>
                <a:cs typeface="Arial"/>
              </a:rPr>
              <a:t>8.2.3</a:t>
            </a: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 – Análise MSI Sistema de Compensação do estabilizador horizontal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46BC9-F388-4635-B38B-0F3BFEB47F72}"/>
              </a:ext>
            </a:extLst>
          </p:cNvPr>
          <p:cNvSpPr txBox="1"/>
          <p:nvPr/>
        </p:nvSpPr>
        <p:spPr>
          <a:xfrm>
            <a:off x="10225303" y="93307"/>
            <a:ext cx="1966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lvl="0" algn="ctr">
              <a:defRPr/>
            </a:pPr>
            <a:r>
              <a:rPr lang="pt-BR" u="sng" dirty="0">
                <a:solidFill>
                  <a:srgbClr val="0070C0"/>
                </a:solidFill>
              </a:rPr>
              <a:t>Willian Henrique</a:t>
            </a:r>
          </a:p>
        </p:txBody>
      </p:sp>
      <p:pic>
        <p:nvPicPr>
          <p:cNvPr id="9" name="Imagem 8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C60871FE-1476-9926-2B5C-1131F1D4A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5F3E4AC-C52A-5454-3C8B-91ABCA146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08" y="897329"/>
            <a:ext cx="11916383" cy="51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37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362954-B0DA-468D-A479-4FD0903137B5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P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645535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Slide </a:t>
            </a:r>
            <a:r>
              <a:rPr lang="pt-BR" sz="1400" u="sng">
                <a:solidFill>
                  <a:srgbClr val="0070C0"/>
                </a:solidFill>
                <a:latin typeface="Arial"/>
                <a:cs typeface="Arial"/>
              </a:rPr>
              <a:t>8.2.4</a:t>
            </a: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 – Análise MSI Sistema de Compensação do estabilizador horizontal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46BC9-F388-4635-B38B-0F3BFEB47F72}"/>
              </a:ext>
            </a:extLst>
          </p:cNvPr>
          <p:cNvSpPr txBox="1"/>
          <p:nvPr/>
        </p:nvSpPr>
        <p:spPr>
          <a:xfrm>
            <a:off x="10278100" y="0"/>
            <a:ext cx="1853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lvl="0" algn="ctr">
              <a:defRPr/>
            </a:pPr>
            <a:r>
              <a:rPr lang="pt-BR" u="sng" dirty="0">
                <a:solidFill>
                  <a:srgbClr val="0070C0"/>
                </a:solidFill>
              </a:rPr>
              <a:t>Willian Henrique</a:t>
            </a:r>
          </a:p>
        </p:txBody>
      </p:sp>
      <p:pic>
        <p:nvPicPr>
          <p:cNvPr id="9" name="Imagem 8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C60871FE-1476-9926-2B5C-1131F1D4A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B2CB498-9158-0B8F-344E-782913D91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" y="1956143"/>
            <a:ext cx="11988057" cy="31949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3867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362954-B0DA-468D-A479-4FD0903137B5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P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660443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Slide </a:t>
            </a:r>
            <a:r>
              <a:rPr lang="pt-BR" sz="1400" u="sng">
                <a:solidFill>
                  <a:srgbClr val="0070C0"/>
                </a:solidFill>
                <a:latin typeface="Arial"/>
                <a:cs typeface="Arial"/>
              </a:rPr>
              <a:t>8.2.5</a:t>
            </a:r>
            <a:r>
              <a:rPr kumimoji="0" lang="pt-BR" sz="14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 – Análise MSI Sistema de Compensação do estabilizador horizontal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46BC9-F388-4635-B38B-0F3BFEB47F72}"/>
              </a:ext>
            </a:extLst>
          </p:cNvPr>
          <p:cNvSpPr txBox="1"/>
          <p:nvPr/>
        </p:nvSpPr>
        <p:spPr>
          <a:xfrm>
            <a:off x="10109200" y="0"/>
            <a:ext cx="2021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Resp.: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Willian Henrique</a:t>
            </a:r>
          </a:p>
        </p:txBody>
      </p:sp>
      <p:pic>
        <p:nvPicPr>
          <p:cNvPr id="9" name="Imagem 8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C60871FE-1476-9926-2B5C-1131F1D4A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4922B00-66F5-2C4A-ADD6-FEB0EC581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3040"/>
            <a:ext cx="12192000" cy="471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93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9C88-4174-0E35-DED7-DCF6851E2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BF13BC8A-54B3-3B05-EC6F-F3A87EE60DAC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6766E-068D-02D2-A189-31A4E9420C4F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D1E1A4-0A26-A77D-9615-BF8A4939A118}"/>
              </a:ext>
            </a:extLst>
          </p:cNvPr>
          <p:cNvSpPr txBox="1"/>
          <p:nvPr/>
        </p:nvSpPr>
        <p:spPr>
          <a:xfrm>
            <a:off x="207427" y="539944"/>
            <a:ext cx="119018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200" u="sng" dirty="0">
                <a:solidFill>
                  <a:srgbClr val="0070C0"/>
                </a:solidFill>
                <a:latin typeface="Arial"/>
                <a:cs typeface="Arial"/>
              </a:rPr>
              <a:t>Slide 8.4 - Análise Zonal da região da Instalação do Sistema de Compensação do Estabilizador Horizontal, em especial considere aspectos de acessibilidade e densidade da área da instalação</a:t>
            </a:r>
            <a:endParaRPr lang="pt-BR" sz="1200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80F449-FDC6-D680-2FD5-C3BD25FFCA36}"/>
              </a:ext>
            </a:extLst>
          </p:cNvPr>
          <p:cNvSpPr txBox="1"/>
          <p:nvPr/>
        </p:nvSpPr>
        <p:spPr>
          <a:xfrm>
            <a:off x="10364949" y="-19792"/>
            <a:ext cx="19047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Resp.: Isabela Soares</a:t>
            </a:r>
            <a:endParaRPr lang="pt-BR" u="sng" dirty="0">
              <a:solidFill>
                <a:srgbClr val="0070C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D2FB901-B51B-9705-9174-C07A83E9B1D5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F57EE3AE-DBCC-5DF8-1744-A8393D07B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3E9BE3-FCF2-33C9-040C-3E3C1FE3755F}"/>
              </a:ext>
            </a:extLst>
          </p:cNvPr>
          <p:cNvSpPr txBox="1"/>
          <p:nvPr/>
        </p:nvSpPr>
        <p:spPr>
          <a:xfrm>
            <a:off x="3818156" y="1694709"/>
            <a:ext cx="39221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         </a:t>
            </a:r>
            <a:r>
              <a:rPr lang="en-US">
                <a:latin typeface="Aptos"/>
                <a:ea typeface="+mn-lt"/>
                <a:cs typeface="+mn-lt"/>
              </a:rPr>
              <a:t>   </a:t>
            </a:r>
            <a:endParaRPr lang="en-US"/>
          </a:p>
        </p:txBody>
      </p:sp>
      <p:pic>
        <p:nvPicPr>
          <p:cNvPr id="10" name="Imagem 9" descr="Tabela, Calendário&#10;&#10;O conteúdo gerado por IA pode estar incorreto.">
            <a:extLst>
              <a:ext uri="{FF2B5EF4-FFF2-40B4-BE49-F238E27FC236}">
                <a16:creationId xmlns:a16="http://schemas.microsoft.com/office/drawing/2014/main" id="{F3A3FB65-7243-0CC4-1911-D8F21F4EF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25" y="1003778"/>
            <a:ext cx="10434833" cy="571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4130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86ABF-CE4D-0EB5-FBA3-852EA5CDC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BC5B5342-98BC-2DE0-BADA-3D34CC36B307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E959C-3A3C-55C5-E9A2-E83E130C20AF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E3B219-A450-1393-929B-E41B77B726CD}"/>
              </a:ext>
            </a:extLst>
          </p:cNvPr>
          <p:cNvSpPr txBox="1"/>
          <p:nvPr/>
        </p:nvSpPr>
        <p:spPr>
          <a:xfrm>
            <a:off x="207427" y="539944"/>
            <a:ext cx="119018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200" u="sng" dirty="0">
                <a:solidFill>
                  <a:srgbClr val="0070C0"/>
                </a:solidFill>
                <a:latin typeface="Arial"/>
                <a:cs typeface="Arial"/>
              </a:rPr>
              <a:t>Slide 8.4 - Análise Zonal da região da Instalação do Sistema de Compensação do Estabilizador Horizontal, em especial considere aspectos de acessibilidade e densidade da área da instalação</a:t>
            </a:r>
            <a:endParaRPr lang="pt-BR" sz="1200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05A474E-9F1B-50AB-7D7B-7A38E015B7E9}"/>
              </a:ext>
            </a:extLst>
          </p:cNvPr>
          <p:cNvSpPr txBox="1"/>
          <p:nvPr/>
        </p:nvSpPr>
        <p:spPr>
          <a:xfrm>
            <a:off x="10364949" y="-19792"/>
            <a:ext cx="19047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Resp.: Isabela Soares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B41710B-0165-E9E9-196B-842210C080FE}"/>
              </a:ext>
            </a:extLst>
          </p:cNvPr>
          <p:cNvSpPr txBox="1"/>
          <p:nvPr/>
        </p:nvSpPr>
        <p:spPr>
          <a:xfrm>
            <a:off x="1608667" y="-7960"/>
            <a:ext cx="873206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B7C7D74E-6546-9D00-CB1F-2BF63AF51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38A7DD-1311-C538-A847-2A03CBD88640}"/>
              </a:ext>
            </a:extLst>
          </p:cNvPr>
          <p:cNvSpPr txBox="1"/>
          <p:nvPr/>
        </p:nvSpPr>
        <p:spPr>
          <a:xfrm>
            <a:off x="3818156" y="1694709"/>
            <a:ext cx="39221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         </a:t>
            </a:r>
            <a:r>
              <a:rPr lang="en-US">
                <a:latin typeface="Aptos"/>
                <a:ea typeface="+mn-lt"/>
                <a:cs typeface="+mn-lt"/>
              </a:rPr>
              <a:t>   </a:t>
            </a:r>
            <a:endParaRPr lang="en-US"/>
          </a:p>
        </p:txBody>
      </p:sp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6C987185-70EC-2E8E-5D80-777B11B93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45" y="787182"/>
            <a:ext cx="10324579" cy="605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31429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DB886-8643-8A5F-F759-FC404797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EE0FA36F-1F54-1565-F032-1E58CBA4E4C0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36612-F274-35F7-BBE2-1A7E008B2999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2CF7FD0-DCCD-CBCC-22ED-5A62A800B405}"/>
              </a:ext>
            </a:extLst>
          </p:cNvPr>
          <p:cNvSpPr txBox="1"/>
          <p:nvPr/>
        </p:nvSpPr>
        <p:spPr>
          <a:xfrm>
            <a:off x="207427" y="539944"/>
            <a:ext cx="119018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200" u="sng" dirty="0">
                <a:solidFill>
                  <a:srgbClr val="0070C0"/>
                </a:solidFill>
                <a:latin typeface="Arial"/>
                <a:cs typeface="Arial"/>
              </a:rPr>
              <a:t>Slide 8.4 - Análise Zonal da região da Instalação do Sistema de Compensação do Estabilizador Horizontal, em especial considere aspectos de acessibilidade e densidade da área da instalação</a:t>
            </a:r>
            <a:endParaRPr lang="pt-BR" sz="1200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02352B6-0C02-7000-6AAA-024DEE4AB46B}"/>
              </a:ext>
            </a:extLst>
          </p:cNvPr>
          <p:cNvSpPr txBox="1"/>
          <p:nvPr/>
        </p:nvSpPr>
        <p:spPr>
          <a:xfrm>
            <a:off x="10364949" y="-19792"/>
            <a:ext cx="19047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Resp.: Isabela Soares</a:t>
            </a:r>
            <a:endParaRPr lang="pt-BR" u="sng" dirty="0">
              <a:solidFill>
                <a:srgbClr val="0070C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B4531AD-38B8-9F9B-CF1F-3BB9828204FD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16E3456-5563-969A-52DD-28CA0B5FEF4B}"/>
              </a:ext>
            </a:extLst>
          </p:cNvPr>
          <p:cNvSpPr txBox="1"/>
          <p:nvPr/>
        </p:nvSpPr>
        <p:spPr>
          <a:xfrm>
            <a:off x="4260574" y="6369878"/>
            <a:ext cx="484145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>
                <a:latin typeface="Arial"/>
              </a:rPr>
              <a:t>Manutenção de Aeronaves – 29° Turma</a:t>
            </a:r>
            <a:r>
              <a:rPr lang="pt-BR" sz="1600">
                <a:latin typeface="Arial"/>
                <a:cs typeface="Arial"/>
              </a:rPr>
              <a:t>​</a:t>
            </a:r>
            <a:endParaRPr lang="pt-BR" sz="1600"/>
          </a:p>
        </p:txBody>
      </p:sp>
      <p:pic>
        <p:nvPicPr>
          <p:cNvPr id="3" name="Imagem 2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6FE923A3-1D99-421B-1CCB-E293E623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0D93D1-4427-9449-F6FC-EDEE69E162B0}"/>
              </a:ext>
            </a:extLst>
          </p:cNvPr>
          <p:cNvSpPr txBox="1"/>
          <p:nvPr/>
        </p:nvSpPr>
        <p:spPr>
          <a:xfrm>
            <a:off x="3818156" y="1694709"/>
            <a:ext cx="39221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         </a:t>
            </a:r>
            <a:r>
              <a:rPr lang="en-US">
                <a:latin typeface="Aptos"/>
                <a:ea typeface="+mn-lt"/>
                <a:cs typeface="+mn-lt"/>
              </a:rPr>
              <a:t>   </a:t>
            </a:r>
            <a:endParaRPr lang="en-US"/>
          </a:p>
        </p:txBody>
      </p:sp>
      <p:pic>
        <p:nvPicPr>
          <p:cNvPr id="4" name="Imagem 3" descr="Uma imagem contendo Linha do tempo&#10;&#10;O conteúdo gerado por IA pode estar incorreto.">
            <a:extLst>
              <a:ext uri="{FF2B5EF4-FFF2-40B4-BE49-F238E27FC236}">
                <a16:creationId xmlns:a16="http://schemas.microsoft.com/office/drawing/2014/main" id="{43C46A3A-85A2-37D5-4CBE-2CCB2BF5E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06" y="782596"/>
            <a:ext cx="10009477" cy="607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4575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0DC5-0121-B65E-7EC2-7C4CE7E63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F803C5BE-F8A8-788C-1F8E-81CD9A00626D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3EFF6-89B3-985C-B050-567D4474E686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1A02A0C-B49B-8F44-CCB1-905B02EF46AA}"/>
              </a:ext>
            </a:extLst>
          </p:cNvPr>
          <p:cNvSpPr txBox="1"/>
          <p:nvPr/>
        </p:nvSpPr>
        <p:spPr>
          <a:xfrm>
            <a:off x="207427" y="539944"/>
            <a:ext cx="119018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200" u="sng" dirty="0">
                <a:solidFill>
                  <a:srgbClr val="0070C0"/>
                </a:solidFill>
                <a:latin typeface="Arial"/>
                <a:cs typeface="Arial"/>
              </a:rPr>
              <a:t>Slide 8.4 - Análise Zonal da região da Instalação do Sistema de Compensação do Estabilizador Horizontal, em especial considere aspectos de acessibilidade e densidade da área da instalação</a:t>
            </a:r>
            <a:endParaRPr lang="pt-BR" sz="1200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0EF683-0641-502B-41F0-121FFE35313A}"/>
              </a:ext>
            </a:extLst>
          </p:cNvPr>
          <p:cNvSpPr txBox="1"/>
          <p:nvPr/>
        </p:nvSpPr>
        <p:spPr>
          <a:xfrm>
            <a:off x="10364949" y="-19792"/>
            <a:ext cx="19047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Resp.: Isabela Soares</a:t>
            </a:r>
            <a:endParaRPr lang="pt-BR" u="sng" dirty="0">
              <a:solidFill>
                <a:srgbClr val="0070C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18AF76-E65C-BAA6-6306-5B4688CC41D5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8B2764CB-875B-19C0-B303-D2E48573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A163C6-861E-BFF0-A40B-BC813139A1DF}"/>
              </a:ext>
            </a:extLst>
          </p:cNvPr>
          <p:cNvSpPr txBox="1"/>
          <p:nvPr/>
        </p:nvSpPr>
        <p:spPr>
          <a:xfrm>
            <a:off x="3818156" y="1694709"/>
            <a:ext cx="39221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         </a:t>
            </a:r>
            <a:r>
              <a:rPr lang="en-US">
                <a:latin typeface="Aptos"/>
                <a:ea typeface="+mn-lt"/>
                <a:cs typeface="+mn-lt"/>
              </a:rPr>
              <a:t>   </a:t>
            </a:r>
            <a:endParaRPr lang="en-US"/>
          </a:p>
        </p:txBody>
      </p:sp>
      <p:pic>
        <p:nvPicPr>
          <p:cNvPr id="2" name="Imagem 1" descr="Uma imagem contendo Tabela&#10;&#10;O conteúdo gerado por IA pode estar incorreto.">
            <a:extLst>
              <a:ext uri="{FF2B5EF4-FFF2-40B4-BE49-F238E27FC236}">
                <a16:creationId xmlns:a16="http://schemas.microsoft.com/office/drawing/2014/main" id="{913E666B-1041-717B-1651-CD64BDDD6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774657"/>
            <a:ext cx="10156781" cy="607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2355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0161E-ED66-3520-7672-F63F45BE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40309DD9-06C5-BE0B-5F86-153F96D7266E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B58FB-512A-E06C-11BB-AC1A53AE1A6D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A40CCF-6548-72E1-460C-508CB3D3075D}"/>
              </a:ext>
            </a:extLst>
          </p:cNvPr>
          <p:cNvSpPr txBox="1"/>
          <p:nvPr/>
        </p:nvSpPr>
        <p:spPr>
          <a:xfrm>
            <a:off x="207427" y="539944"/>
            <a:ext cx="119018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200" u="sng" dirty="0">
                <a:solidFill>
                  <a:srgbClr val="0070C0"/>
                </a:solidFill>
                <a:latin typeface="Arial"/>
                <a:cs typeface="Arial"/>
              </a:rPr>
              <a:t>Slide 8.4 - Análise Zonal da região da Instalação do Sistema de Compensação do Estabilizador Horizontal, em especial considere aspectos de acessibilidade e densidade da área da instalação</a:t>
            </a:r>
            <a:endParaRPr lang="pt-BR" sz="1200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A0BBC2-05E3-D36B-9DA9-68C52904FDC0}"/>
              </a:ext>
            </a:extLst>
          </p:cNvPr>
          <p:cNvSpPr txBox="1"/>
          <p:nvPr/>
        </p:nvSpPr>
        <p:spPr>
          <a:xfrm>
            <a:off x="10364949" y="-19792"/>
            <a:ext cx="19047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Resp.: Isabela Soares</a:t>
            </a:r>
            <a:endParaRPr lang="pt-BR" u="sng" dirty="0">
              <a:solidFill>
                <a:srgbClr val="0070C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54D16D3-2927-9EEA-A5CD-C5B0F7B1AA50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considerando os seguintes aspectos: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6A6075D2-223A-B51A-A434-7846797F2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F0170-98C4-F3E8-9781-D5473A746AE0}"/>
              </a:ext>
            </a:extLst>
          </p:cNvPr>
          <p:cNvSpPr txBox="1"/>
          <p:nvPr/>
        </p:nvSpPr>
        <p:spPr>
          <a:xfrm>
            <a:off x="3818156" y="1694709"/>
            <a:ext cx="39221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         </a:t>
            </a:r>
            <a:r>
              <a:rPr lang="en-US">
                <a:latin typeface="Aptos"/>
                <a:ea typeface="+mn-lt"/>
                <a:cs typeface="+mn-lt"/>
              </a:rPr>
              <a:t>   </a:t>
            </a:r>
            <a:endParaRPr lang="en-US"/>
          </a:p>
        </p:txBody>
      </p:sp>
      <p:pic>
        <p:nvPicPr>
          <p:cNvPr id="2" name="Imagem 1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FD6C84B0-2114-0239-3BDB-80C523E33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03" y="884717"/>
            <a:ext cx="10472544" cy="582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639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DFE02-2A74-03D7-DFAC-FBE8D61C7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F0B08BA7-6DE1-EDDA-49D7-17A6EA641D21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DEDA9-AB16-97AC-1039-1E74DBC0216E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Helvetica Neue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6364F4-AF3D-9F7B-FA55-9470BB64D00D}"/>
              </a:ext>
            </a:extLst>
          </p:cNvPr>
          <p:cNvSpPr txBox="1"/>
          <p:nvPr/>
        </p:nvSpPr>
        <p:spPr>
          <a:xfrm>
            <a:off x="204278" y="564779"/>
            <a:ext cx="4019947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1400" u="sng" dirty="0">
                <a:solidFill>
                  <a:srgbClr val="0070C0"/>
                </a:solidFill>
                <a:latin typeface="Arial"/>
                <a:cs typeface="Arial"/>
              </a:rPr>
              <a:t>Slide 8.5 - Determinação de Intervalo de Tarefas</a:t>
            </a:r>
            <a:endParaRPr lang="pt-BR" sz="1400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70F144-79CB-E353-9C5D-362DB7320F3E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Resp.: Isabela Soares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1AA1A3-CE6E-B848-B99E-74360331CA56}"/>
              </a:ext>
            </a:extLst>
          </p:cNvPr>
          <p:cNvSpPr txBox="1"/>
          <p:nvPr/>
        </p:nvSpPr>
        <p:spPr>
          <a:xfrm>
            <a:off x="1608667" y="-18398"/>
            <a:ext cx="866943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considerado os seguintes aspectos: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B18FB2A0-17E7-2D2B-E9F8-978FF3535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CB3C64-BCDC-26E1-89BB-655B2320DCF9}"/>
              </a:ext>
            </a:extLst>
          </p:cNvPr>
          <p:cNvSpPr txBox="1"/>
          <p:nvPr/>
        </p:nvSpPr>
        <p:spPr>
          <a:xfrm>
            <a:off x="3818156" y="1694709"/>
            <a:ext cx="39221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>
                <a:ea typeface="+mn-lt"/>
                <a:cs typeface="+mn-lt"/>
              </a:rPr>
              <a:t>         </a:t>
            </a:r>
            <a:r>
              <a:rPr lang="en-US">
                <a:latin typeface="Aptos"/>
                <a:ea typeface="+mn-lt"/>
                <a:cs typeface="+mn-lt"/>
              </a:rPr>
              <a:t>   </a:t>
            </a:r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D4AC10-35DF-4279-F9D0-8430AB9C7C2E}"/>
              </a:ext>
            </a:extLst>
          </p:cNvPr>
          <p:cNvSpPr txBox="1"/>
          <p:nvPr/>
        </p:nvSpPr>
        <p:spPr>
          <a:xfrm>
            <a:off x="4411718" y="1230781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FF0000"/>
                </a:solidFill>
              </a:rPr>
              <a:t>MSG-2 X MSG-3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04AD27-3894-F42D-3177-7EB0C13C2C50}"/>
              </a:ext>
            </a:extLst>
          </p:cNvPr>
          <p:cNvSpPr txBox="1"/>
          <p:nvPr/>
        </p:nvSpPr>
        <p:spPr>
          <a:xfrm>
            <a:off x="684363" y="1877683"/>
            <a:ext cx="10556448" cy="3939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A Alaska Airlines </a:t>
            </a:r>
            <a:r>
              <a:rPr lang="en-US" dirty="0" err="1">
                <a:ea typeface="+mn-lt"/>
                <a:cs typeface="+mn-lt"/>
              </a:rPr>
              <a:t>revisou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estratégia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manutenção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relacionada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eixo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estabilizador</a:t>
            </a:r>
            <a:r>
              <a:rPr lang="en-US" dirty="0">
                <a:ea typeface="+mn-lt"/>
                <a:cs typeface="+mn-lt"/>
              </a:rPr>
              <a:t> horizontal, </a:t>
            </a:r>
            <a:r>
              <a:rPr lang="en-US" dirty="0" err="1">
                <a:ea typeface="+mn-lt"/>
                <a:cs typeface="+mn-lt"/>
              </a:rPr>
              <a:t>modificando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prazos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lubrificação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verificação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folgas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Inicialmente</a:t>
            </a:r>
            <a:r>
              <a:rPr lang="en-US" dirty="0">
                <a:ea typeface="+mn-lt"/>
                <a:cs typeface="+mn-lt"/>
              </a:rPr>
              <a:t>, esses </a:t>
            </a:r>
            <a:r>
              <a:rPr lang="en-US" dirty="0" err="1">
                <a:ea typeface="+mn-lt"/>
                <a:cs typeface="+mn-lt"/>
              </a:rPr>
              <a:t>procedimentos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seguiam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diretrizes</a:t>
            </a:r>
            <a:r>
              <a:rPr lang="en-US" dirty="0">
                <a:ea typeface="+mn-lt"/>
                <a:cs typeface="+mn-lt"/>
              </a:rPr>
              <a:t> do MSG-2, mas </a:t>
            </a:r>
            <a:r>
              <a:rPr lang="en-US" dirty="0" err="1">
                <a:ea typeface="+mn-lt"/>
                <a:cs typeface="+mn-lt"/>
              </a:rPr>
              <a:t>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longo</a:t>
            </a:r>
            <a:r>
              <a:rPr lang="en-US" dirty="0">
                <a:ea typeface="+mn-lt"/>
                <a:cs typeface="+mn-lt"/>
              </a:rPr>
              <a:t> do tempo </a:t>
            </a:r>
            <a:r>
              <a:rPr lang="en-US" dirty="0" err="1">
                <a:ea typeface="+mn-lt"/>
                <a:cs typeface="+mn-lt"/>
              </a:rPr>
              <a:t>foram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prorrogados</a:t>
            </a:r>
            <a:r>
              <a:rPr lang="en-US" dirty="0">
                <a:ea typeface="+mn-lt"/>
                <a:cs typeface="+mn-lt"/>
              </a:rPr>
              <a:t> com o </a:t>
            </a:r>
            <a:r>
              <a:rPr lang="en-US" dirty="0" err="1">
                <a:ea typeface="+mn-lt"/>
                <a:cs typeface="+mn-lt"/>
              </a:rPr>
              <a:t>objetivo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reduzir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despesas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chegando</a:t>
            </a:r>
            <a:r>
              <a:rPr lang="en-US" dirty="0">
                <a:ea typeface="+mn-lt"/>
                <a:cs typeface="+mn-lt"/>
              </a:rPr>
              <a:t> a um </a:t>
            </a:r>
            <a:r>
              <a:rPr lang="en-US" dirty="0" err="1">
                <a:ea typeface="+mn-lt"/>
                <a:cs typeface="+mn-lt"/>
              </a:rPr>
              <a:t>limite</a:t>
            </a:r>
            <a:r>
              <a:rPr lang="en-US" dirty="0">
                <a:ea typeface="+mn-lt"/>
                <a:cs typeface="+mn-lt"/>
              </a:rPr>
              <a:t> de 3.600 horas de </a:t>
            </a:r>
            <a:r>
              <a:rPr lang="en-US" dirty="0" err="1">
                <a:ea typeface="+mn-lt"/>
                <a:cs typeface="+mn-lt"/>
              </a:rPr>
              <a:t>voo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Essas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alterações</a:t>
            </a:r>
            <a:r>
              <a:rPr lang="en-US" dirty="0">
                <a:ea typeface="+mn-lt"/>
                <a:cs typeface="+mn-lt"/>
              </a:rPr>
              <a:t>, no </a:t>
            </a:r>
            <a:r>
              <a:rPr lang="en-US" dirty="0" err="1">
                <a:ea typeface="+mn-lt"/>
                <a:cs typeface="+mn-lt"/>
              </a:rPr>
              <a:t>entanto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foram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implementadas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análise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individualizada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efeitos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tarefa</a:t>
            </a:r>
            <a:r>
              <a:rPr lang="en-US" dirty="0">
                <a:ea typeface="+mn-lt"/>
                <a:cs typeface="+mn-lt"/>
              </a:rPr>
              <a:t>. A </a:t>
            </a:r>
            <a:r>
              <a:rPr lang="en-US" dirty="0" err="1">
                <a:ea typeface="+mn-lt"/>
                <a:cs typeface="+mn-lt"/>
              </a:rPr>
              <a:t>aprovação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parte</a:t>
            </a:r>
            <a:r>
              <a:rPr lang="en-US" dirty="0">
                <a:ea typeface="+mn-lt"/>
                <a:cs typeface="+mn-lt"/>
              </a:rPr>
              <a:t> da FAA </a:t>
            </a:r>
            <a:r>
              <a:rPr lang="en-US" dirty="0" err="1">
                <a:ea typeface="+mn-lt"/>
                <a:cs typeface="+mn-lt"/>
              </a:rPr>
              <a:t>ocorreu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avaliação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aprofundada</a:t>
            </a:r>
            <a:r>
              <a:rPr lang="en-US" dirty="0">
                <a:ea typeface="+mn-lt"/>
                <a:cs typeface="+mn-lt"/>
              </a:rPr>
              <a:t>. O </a:t>
            </a:r>
            <a:r>
              <a:rPr lang="en-US" dirty="0" err="1">
                <a:ea typeface="+mn-lt"/>
                <a:cs typeface="+mn-lt"/>
              </a:rPr>
              <a:t>episódio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evidencia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necessidade</a:t>
            </a:r>
            <a:r>
              <a:rPr lang="en-US" dirty="0">
                <a:ea typeface="+mn-lt"/>
                <a:cs typeface="+mn-lt"/>
              </a:rPr>
              <a:t> de cautela </a:t>
            </a:r>
            <a:r>
              <a:rPr lang="en-US" dirty="0" err="1">
                <a:ea typeface="+mn-lt"/>
                <a:cs typeface="+mn-lt"/>
              </a:rPr>
              <a:t>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alterar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diretrizes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manutenção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reforçando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importância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seguir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recomendações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fabricantes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manter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prioridade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máxima</a:t>
            </a:r>
            <a:r>
              <a:rPr lang="en-US" dirty="0">
                <a:ea typeface="+mn-lt"/>
                <a:cs typeface="+mn-lt"/>
              </a:rPr>
              <a:t>.</a:t>
            </a:r>
            <a:endParaRPr lang="pt-BR" dirty="0">
              <a:ea typeface="+mn-lt"/>
              <a:cs typeface="+mn-lt"/>
            </a:endParaRPr>
          </a:p>
          <a:p>
            <a:pPr algn="just"/>
            <a:endParaRPr lang="en-US">
              <a:solidFill>
                <a:srgbClr val="000000"/>
              </a:solidFill>
            </a:endParaRPr>
          </a:p>
          <a:p>
            <a:pPr algn="just"/>
            <a:r>
              <a:rPr lang="en-US" b="1">
                <a:ea typeface="+mn-lt"/>
                <a:cs typeface="+mn-lt"/>
              </a:rPr>
              <a:t>Nota: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Apesar</a:t>
            </a:r>
            <a:r>
              <a:rPr lang="en-US">
                <a:ea typeface="+mn-lt"/>
                <a:cs typeface="+mn-lt"/>
              </a:rPr>
              <a:t> de o </a:t>
            </a:r>
            <a:r>
              <a:rPr lang="en-US" err="1">
                <a:ea typeface="+mn-lt"/>
                <a:cs typeface="+mn-lt"/>
              </a:rPr>
              <a:t>programa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manutenção</a:t>
            </a:r>
            <a:r>
              <a:rPr lang="en-US">
                <a:ea typeface="+mn-lt"/>
                <a:cs typeface="+mn-lt"/>
              </a:rPr>
              <a:t> da Alaska Airlines ter </a:t>
            </a:r>
            <a:r>
              <a:rPr lang="en-US" err="1">
                <a:ea typeface="+mn-lt"/>
                <a:cs typeface="+mn-lt"/>
              </a:rPr>
              <a:t>sido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estruturado</a:t>
            </a:r>
            <a:r>
              <a:rPr lang="en-US">
                <a:ea typeface="+mn-lt"/>
                <a:cs typeface="+mn-lt"/>
              </a:rPr>
              <a:t> com base no </a:t>
            </a:r>
            <a:r>
              <a:rPr lang="en-US" err="1">
                <a:ea typeface="+mn-lt"/>
                <a:cs typeface="+mn-lt"/>
              </a:rPr>
              <a:t>relatório</a:t>
            </a:r>
            <a:r>
              <a:rPr lang="en-US">
                <a:ea typeface="+mn-lt"/>
                <a:cs typeface="+mn-lt"/>
              </a:rPr>
              <a:t> MSG-2 MRB, a </a:t>
            </a:r>
            <a:r>
              <a:rPr lang="en-US" err="1">
                <a:ea typeface="+mn-lt"/>
                <a:cs typeface="+mn-lt"/>
              </a:rPr>
              <a:t>companhia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passou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adotar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intervalos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mais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longos</a:t>
            </a:r>
            <a:r>
              <a:rPr lang="en-US">
                <a:ea typeface="+mn-lt"/>
                <a:cs typeface="+mn-lt"/>
              </a:rPr>
              <a:t> para </a:t>
            </a:r>
            <a:r>
              <a:rPr lang="en-US" err="1">
                <a:ea typeface="+mn-lt"/>
                <a:cs typeface="+mn-lt"/>
              </a:rPr>
              <a:t>certas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tarefas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alegando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referência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ao</a:t>
            </a:r>
            <a:r>
              <a:rPr lang="en-US">
                <a:ea typeface="+mn-lt"/>
                <a:cs typeface="+mn-lt"/>
              </a:rPr>
              <a:t> MSG-3 MRB. No </a:t>
            </a:r>
            <a:r>
              <a:rPr lang="en-US" err="1">
                <a:ea typeface="+mn-lt"/>
                <a:cs typeface="+mn-lt"/>
              </a:rPr>
              <a:t>entanto</a:t>
            </a:r>
            <a:r>
              <a:rPr lang="en-US">
                <a:ea typeface="+mn-lt"/>
                <a:cs typeface="+mn-lt"/>
              </a:rPr>
              <a:t>, esses </a:t>
            </a:r>
            <a:r>
              <a:rPr lang="en-US" err="1">
                <a:ea typeface="+mn-lt"/>
                <a:cs typeface="+mn-lt"/>
              </a:rPr>
              <a:t>novos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prazos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não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constavam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oficialmente</a:t>
            </a:r>
            <a:r>
              <a:rPr lang="en-US">
                <a:ea typeface="+mn-lt"/>
                <a:cs typeface="+mn-lt"/>
              </a:rPr>
              <a:t> no MSG-3, </a:t>
            </a:r>
            <a:r>
              <a:rPr lang="en-US" err="1">
                <a:ea typeface="+mn-lt"/>
                <a:cs typeface="+mn-lt"/>
              </a:rPr>
              <a:t>sendo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utilizados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apenas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argumento</a:t>
            </a:r>
            <a:r>
              <a:rPr lang="en-US">
                <a:ea typeface="+mn-lt"/>
                <a:cs typeface="+mn-lt"/>
              </a:rPr>
              <a:t> para </a:t>
            </a:r>
            <a:r>
              <a:rPr lang="en-US" err="1">
                <a:ea typeface="+mn-lt"/>
                <a:cs typeface="+mn-lt"/>
              </a:rPr>
              <a:t>sustentar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modificações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feitas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iniciativa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própria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algn="just"/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183496407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2FFC-2479-F21B-2D83-2602D95C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16E2F487-4234-6A35-64F2-D9151DDDB144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DABF5-1984-C328-8207-7A632D2B0EA1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362954-B0DA-468D-A479-4FD0903137B5}"/>
              </a:ext>
            </a:extLst>
          </p:cNvPr>
          <p:cNvSpPr txBox="1"/>
          <p:nvPr/>
        </p:nvSpPr>
        <p:spPr>
          <a:xfrm>
            <a:off x="1608667" y="-18398"/>
            <a:ext cx="866943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considerado os seguintes aspectos: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FA2E0E-E594-4751-8CDD-53FB4F85BF06}"/>
              </a:ext>
            </a:extLst>
          </p:cNvPr>
          <p:cNvSpPr txBox="1"/>
          <p:nvPr/>
        </p:nvSpPr>
        <p:spPr>
          <a:xfrm>
            <a:off x="204278" y="564779"/>
            <a:ext cx="9181296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Slide </a:t>
            </a:r>
            <a:r>
              <a:rPr lang="pt-BR" sz="1400" u="sng" dirty="0">
                <a:solidFill>
                  <a:srgbClr val="0070C0"/>
                </a:solidFill>
                <a:latin typeface="Arial"/>
                <a:cs typeface="Arial"/>
              </a:rPr>
              <a:t>8.6 - Análise dos diferentes intervalos de tarefas praticados pela  Alaska </a:t>
            </a:r>
            <a:r>
              <a:rPr lang="pt-BR" sz="1400" u="sng" dirty="0" err="1">
                <a:solidFill>
                  <a:srgbClr val="0070C0"/>
                </a:solidFill>
                <a:latin typeface="Arial"/>
                <a:cs typeface="Arial"/>
              </a:rPr>
              <a:t>Airlanes</a:t>
            </a:r>
            <a:r>
              <a:rPr lang="pt-BR" sz="1400" u="sng" dirty="0">
                <a:solidFill>
                  <a:srgbClr val="0070C0"/>
                </a:solidFill>
                <a:latin typeface="Arial"/>
                <a:cs typeface="Arial"/>
              </a:rPr>
              <a:t> e sua aprovação pela FAA.</a:t>
            </a:r>
            <a:endParaRPr lang="pt-BR" sz="14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F46BC9-F388-4635-B38B-0F3BFEB47F72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Resp.: Isabela Soares</a:t>
            </a:r>
          </a:p>
        </p:txBody>
      </p:sp>
      <p:pic>
        <p:nvPicPr>
          <p:cNvPr id="7" name="Imagem 6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69332BD4-EFC1-5748-28E1-3765A0D41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3B6B0C-2426-1F80-5138-8B9A8FBB4BDB}"/>
              </a:ext>
            </a:extLst>
          </p:cNvPr>
          <p:cNvSpPr txBox="1"/>
          <p:nvPr/>
        </p:nvSpPr>
        <p:spPr>
          <a:xfrm>
            <a:off x="1231640" y="2015412"/>
            <a:ext cx="174171" cy="37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59B0F-7E8B-A250-613F-0DE043F40EB4}"/>
              </a:ext>
            </a:extLst>
          </p:cNvPr>
          <p:cNvSpPr txBox="1"/>
          <p:nvPr/>
        </p:nvSpPr>
        <p:spPr>
          <a:xfrm>
            <a:off x="4112598" y="878443"/>
            <a:ext cx="7881199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</a:rPr>
              <a:t>Ao </a:t>
            </a:r>
            <a:r>
              <a:rPr lang="en-US" dirty="0" err="1">
                <a:ea typeface="+mn-lt"/>
                <a:cs typeface="+mn-lt"/>
              </a:rPr>
              <a:t>longo</a:t>
            </a:r>
            <a:r>
              <a:rPr lang="en-US" dirty="0">
                <a:ea typeface="+mn-lt"/>
                <a:cs typeface="+mn-lt"/>
              </a:rPr>
              <a:t> do tempo, a Alaska Airlines promoveu alterações progressivas nos intervalos de manutenção relacionados à lubrificação do eixo do estabilizador horizontal, aumentando gradualmente esses prazos em relação </a:t>
            </a:r>
            <a:r>
              <a:rPr lang="en-US" dirty="0" err="1">
                <a:ea typeface="+mn-lt"/>
                <a:cs typeface="+mn-lt"/>
              </a:rPr>
              <a:t>às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recomendações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iniciais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fabricante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algn="just"/>
            <a:endParaRPr lang="en-US" dirty="0">
              <a:ea typeface="+mn-lt"/>
              <a:cs typeface="+mn-lt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As </a:t>
            </a:r>
            <a:r>
              <a:rPr lang="en-US" dirty="0" err="1">
                <a:ea typeface="+mn-lt"/>
                <a:cs typeface="+mn-lt"/>
              </a:rPr>
              <a:t>especificações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apontavam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tarefa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deveria</a:t>
            </a:r>
            <a:r>
              <a:rPr lang="en-US" dirty="0">
                <a:ea typeface="+mn-lt"/>
                <a:cs typeface="+mn-lt"/>
              </a:rPr>
              <a:t> ser </a:t>
            </a:r>
            <a:r>
              <a:rPr lang="en-US" dirty="0" err="1">
                <a:ea typeface="+mn-lt"/>
                <a:cs typeface="+mn-lt"/>
              </a:rPr>
              <a:t>executada</a:t>
            </a:r>
            <a:r>
              <a:rPr lang="en-US" dirty="0">
                <a:ea typeface="+mn-lt"/>
                <a:cs typeface="+mn-lt"/>
              </a:rPr>
              <a:t> entre 600 e 900 horas de voo conforme os critérios do MSG-2, ou a cada 3.600 horas ou 15 meses, de acordo com o MSG-3 — prevalecendo o que ocorresse primeiro. Apesar disso, a empresa começou a estender esses períodos de forma escalonada, adotando inicialmente 700 horas em 1985 e alcançando 1.600 horas </a:t>
            </a:r>
            <a:r>
              <a:rPr lang="en-US" dirty="0" err="1">
                <a:ea typeface="+mn-lt"/>
                <a:cs typeface="+mn-lt"/>
              </a:rPr>
              <a:t>até</a:t>
            </a:r>
            <a:r>
              <a:rPr lang="en-US" dirty="0">
                <a:ea typeface="+mn-lt"/>
                <a:cs typeface="+mn-lt"/>
              </a:rPr>
              <a:t> 1994.</a:t>
            </a:r>
          </a:p>
          <a:p>
            <a:pPr algn="just"/>
            <a:endParaRPr lang="en-US" dirty="0">
              <a:ea typeface="+mn-lt"/>
              <a:cs typeface="+mn-lt"/>
            </a:endParaRPr>
          </a:p>
          <a:p>
            <a:pPr algn="just"/>
            <a:r>
              <a:rPr lang="en-US">
                <a:ea typeface="+mn-lt"/>
                <a:cs typeface="+mn-lt"/>
              </a:rPr>
              <a:t>Já </a:t>
            </a:r>
            <a:r>
              <a:rPr lang="en-US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1996, </a:t>
            </a:r>
            <a:r>
              <a:rPr lang="en-US" err="1">
                <a:ea typeface="+mn-lt"/>
                <a:cs typeface="+mn-lt"/>
              </a:rPr>
              <a:t>houve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mudança</a:t>
            </a:r>
            <a:r>
              <a:rPr lang="en-US" dirty="0">
                <a:ea typeface="+mn-lt"/>
                <a:cs typeface="+mn-lt"/>
              </a:rPr>
              <a:t> na forma de controle, com a introdução de um critério baseado em tempo: o procedimento passou a ser realizado a cada 8 meses, o que, considerando o ritmo operacional da empresa, equivalia a aproximadamente 2.550 horas de voo. Essa modificação recebeu aprovação da FAA. Contudo, após o acidente envolvendo o voo 261, os intervalos foram significativamente encurtados para 650 horas, conforme exigido pelas Diretrizes de Aeronavegabilidade (ADs) emitidas na ocasião.</a:t>
            </a:r>
            <a:endParaRPr lang="en-US"/>
          </a:p>
          <a:p>
            <a:pPr lvl="1" algn="just"/>
            <a:endParaRPr lang="en-US" b="1" dirty="0">
              <a:ea typeface="+mn-lt"/>
              <a:cs typeface="+mn-lt"/>
            </a:endParaRPr>
          </a:p>
          <a:p>
            <a:pPr lvl="1" algn="just"/>
            <a:endParaRPr lang="en-US" b="1">
              <a:ea typeface="+mn-lt"/>
              <a:cs typeface="+mn-lt"/>
            </a:endParaRPr>
          </a:p>
          <a:p>
            <a:pPr lvl="1" algn="just"/>
            <a:r>
              <a:rPr lang="en-US" b="1" dirty="0">
                <a:ea typeface="+mn-lt"/>
                <a:cs typeface="+mn-lt"/>
              </a:rPr>
              <a:t> </a:t>
            </a:r>
            <a:endParaRPr lang="en-US" b="1" dirty="0"/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1C6EE0C4-2A7C-F82C-1C69-3225D6638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829091"/>
              </p:ext>
            </p:extLst>
          </p:nvPr>
        </p:nvGraphicFramePr>
        <p:xfrm>
          <a:off x="249144" y="882631"/>
          <a:ext cx="3670300" cy="18878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7100">
                  <a:extLst>
                    <a:ext uri="{9D8B030D-6E8A-4147-A177-3AD203B41FA5}">
                      <a16:colId xmlns:a16="http://schemas.microsoft.com/office/drawing/2014/main" val="251054417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1383448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Documento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Intervalo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28285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MSG-2 MRB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Não incluído no diagrama lógico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92168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MSG-2 OAMP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Entre 600 e 900 horas de voo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25827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MSG-3 MRB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Check C: 3.600 horas de voo ou 15 meses (o que ocorrer primeiro)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73705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MSG-3 OAMP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Check C: 3.600 horas de voo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452442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9B8ABD7A-84E4-4B0F-88B8-10E836FD0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706568"/>
              </p:ext>
            </p:extLst>
          </p:nvPr>
        </p:nvGraphicFramePr>
        <p:xfrm>
          <a:off x="255495" y="3001832"/>
          <a:ext cx="3657600" cy="3185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381904221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0550496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Ano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Prática Implementada pela Alaska Airlines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7026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1985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Lubrificação no Check B a cada 700 horas de voo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53255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1987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Lubrificação no Check B a cada 500 horas de voo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702023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1988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Lubrificação no Check A a cada 1.000 horas de voo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80835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1991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Lubrificação no Check A a cada 1.200 horas de voo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77992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1994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Lubrificação no Check A a cada 1.600 horas de voo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9129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Tarefa passou a ser controlada por tempo: máximo de 8 meses (~2.550 horas de voo)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52329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2000 até hoje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Intervalo fixado em 650 horas de voo conforme diretrizes pós-acidente (AD)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76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328382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8545E-7783-DFBC-4A54-39E9BFDCA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ha">
            <a:extLst>
              <a:ext uri="{FF2B5EF4-FFF2-40B4-BE49-F238E27FC236}">
                <a16:creationId xmlns:a16="http://schemas.microsoft.com/office/drawing/2014/main" id="{CF3693F6-D2D7-18EC-DA73-D363B73B356A}"/>
              </a:ext>
            </a:extLst>
          </p:cNvPr>
          <p:cNvSpPr/>
          <p:nvPr/>
        </p:nvSpPr>
        <p:spPr>
          <a:xfrm flipV="1">
            <a:off x="252919" y="486960"/>
            <a:ext cx="8852170" cy="30053"/>
          </a:xfrm>
          <a:prstGeom prst="line">
            <a:avLst/>
          </a:prstGeom>
          <a:ln w="57150">
            <a:gradFill flip="none" rotWithShape="1">
              <a:gsLst>
                <a:gs pos="41964">
                  <a:srgbClr val="B2CBFF">
                    <a:alpha val="85000"/>
                  </a:srgbClr>
                </a:gs>
                <a:gs pos="62953">
                  <a:srgbClr val="93B5FF"/>
                </a:gs>
                <a:gs pos="27972">
                  <a:srgbClr val="C7D9FF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163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D5D82-68E3-07AE-8E60-91D721871FE9}"/>
              </a:ext>
            </a:extLst>
          </p:cNvPr>
          <p:cNvSpPr txBox="1"/>
          <p:nvPr/>
        </p:nvSpPr>
        <p:spPr>
          <a:xfrm>
            <a:off x="204278" y="125347"/>
            <a:ext cx="140438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Capítulo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Helvetica Neue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Arial"/>
                <a:cs typeface="Arial"/>
                <a:sym typeface="Helvetica Neue"/>
              </a:rPr>
              <a:t>8</a:t>
            </a:r>
            <a:endParaRPr kumimoji="0" lang="pt-BR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CFBA7B-C68F-02FB-FBB1-8256B34963F2}"/>
              </a:ext>
            </a:extLst>
          </p:cNvPr>
          <p:cNvSpPr txBox="1"/>
          <p:nvPr/>
        </p:nvSpPr>
        <p:spPr>
          <a:xfrm>
            <a:off x="1608667" y="-18398"/>
            <a:ext cx="8669433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pt-BR" sz="1400">
                <a:solidFill>
                  <a:srgbClr val="0070C0"/>
                </a:solidFill>
                <a:latin typeface="Arial"/>
                <a:cs typeface="Arial"/>
              </a:rPr>
              <a:t>Desenvolva análises de Sistemas, de Estruturas e Zonal do Sistema de Compensação do Estabilizador horizontal considerado os seguintes aspectos: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9F441A-DCEB-924B-EFB4-6A5AC0FD213D}"/>
              </a:ext>
            </a:extLst>
          </p:cNvPr>
          <p:cNvSpPr txBox="1"/>
          <p:nvPr/>
        </p:nvSpPr>
        <p:spPr>
          <a:xfrm>
            <a:off x="204278" y="564779"/>
            <a:ext cx="93800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pt-BR" sz="14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</a:rPr>
              <a:t>Slide </a:t>
            </a:r>
            <a:r>
              <a:rPr lang="pt-BR" sz="1400" u="sng" dirty="0">
                <a:solidFill>
                  <a:srgbClr val="0070C0"/>
                </a:solidFill>
                <a:latin typeface="Arial"/>
                <a:cs typeface="Arial"/>
              </a:rPr>
              <a:t>8.6 - Análise dos diferentes intervalos de tarefas praticados pela  Alaska </a:t>
            </a:r>
            <a:r>
              <a:rPr lang="pt-BR" sz="1400" u="sng" dirty="0" err="1">
                <a:solidFill>
                  <a:srgbClr val="0070C0"/>
                </a:solidFill>
                <a:latin typeface="Arial"/>
                <a:cs typeface="Arial"/>
              </a:rPr>
              <a:t>Airlanes</a:t>
            </a:r>
            <a:r>
              <a:rPr lang="pt-BR" sz="1400" u="sng" dirty="0">
                <a:solidFill>
                  <a:srgbClr val="0070C0"/>
                </a:solidFill>
                <a:latin typeface="Arial"/>
                <a:cs typeface="Arial"/>
              </a:rPr>
              <a:t> e sua aprovação pela FAA.</a:t>
            </a:r>
            <a:endParaRPr lang="pt-BR" sz="14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46108B-20BF-D949-8D39-05D6B95D44FE}"/>
              </a:ext>
            </a:extLst>
          </p:cNvPr>
          <p:cNvSpPr txBox="1"/>
          <p:nvPr/>
        </p:nvSpPr>
        <p:spPr>
          <a:xfrm>
            <a:off x="10364949" y="0"/>
            <a:ext cx="176623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pt-BR" u="sng" dirty="0">
                <a:solidFill>
                  <a:srgbClr val="0070C0"/>
                </a:solidFill>
                <a:latin typeface="Aptos" panose="02110004020202020204"/>
              </a:rPr>
              <a:t>Resp.: Isabela Soares </a:t>
            </a:r>
            <a:endParaRPr lang="pt-BR" u="sng" dirty="0">
              <a:solidFill>
                <a:srgbClr val="0070C0"/>
              </a:solidFill>
            </a:endParaRPr>
          </a:p>
        </p:txBody>
      </p:sp>
      <p:pic>
        <p:nvPicPr>
          <p:cNvPr id="7" name="Imagem 6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4DA86E31-18FC-323C-4659-3A1808C6D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495" y="6023665"/>
            <a:ext cx="1428750" cy="685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08644A-8057-C39E-D261-04FA10B834CF}"/>
              </a:ext>
            </a:extLst>
          </p:cNvPr>
          <p:cNvSpPr txBox="1"/>
          <p:nvPr/>
        </p:nvSpPr>
        <p:spPr>
          <a:xfrm>
            <a:off x="1231640" y="2015412"/>
            <a:ext cx="174171" cy="37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A3CB6D-D9AD-295B-E09C-16C68D94CBCD}"/>
              </a:ext>
            </a:extLst>
          </p:cNvPr>
          <p:cNvSpPr txBox="1"/>
          <p:nvPr/>
        </p:nvSpPr>
        <p:spPr>
          <a:xfrm>
            <a:off x="256504" y="4229001"/>
            <a:ext cx="1155376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 err="1">
                <a:ea typeface="+mn-lt"/>
                <a:cs typeface="+mn-lt"/>
              </a:rPr>
              <a:t>Aprovação</a:t>
            </a:r>
            <a:r>
              <a:rPr lang="en-US" b="1" dirty="0">
                <a:ea typeface="+mn-lt"/>
                <a:cs typeface="+mn-lt"/>
              </a:rPr>
              <a:t> da FAA:</a:t>
            </a:r>
            <a:r>
              <a:rPr lang="en-US" dirty="0">
                <a:ea typeface="+mn-lt"/>
                <a:cs typeface="+mn-lt"/>
              </a:rPr>
              <a:t> A FAA </a:t>
            </a:r>
            <a:r>
              <a:rPr lang="en-US" dirty="0" err="1">
                <a:ea typeface="+mn-lt"/>
                <a:cs typeface="+mn-lt"/>
              </a:rPr>
              <a:t>autorizou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aumento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intervalo</a:t>
            </a:r>
            <a:r>
              <a:rPr lang="en-US" dirty="0">
                <a:ea typeface="+mn-lt"/>
                <a:cs typeface="+mn-lt"/>
              </a:rPr>
              <a:t> para a </a:t>
            </a:r>
            <a:r>
              <a:rPr lang="en-US" dirty="0" err="1">
                <a:ea typeface="+mn-lt"/>
                <a:cs typeface="+mn-lt"/>
              </a:rPr>
              <a:t>inspeção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folga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após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companhia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realizar</a:t>
            </a:r>
            <a:r>
              <a:rPr lang="en-US" dirty="0">
                <a:ea typeface="+mn-lt"/>
                <a:cs typeface="+mn-lt"/>
              </a:rPr>
              <a:t> testes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cinco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aeronaves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sua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frota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Entretanto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essa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verificação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avaliada</a:t>
            </a:r>
            <a:r>
              <a:rPr lang="en-US" dirty="0">
                <a:ea typeface="+mn-lt"/>
                <a:cs typeface="+mn-lt"/>
              </a:rPr>
              <a:t> de forma </a:t>
            </a:r>
            <a:r>
              <a:rPr lang="en-US" dirty="0" err="1">
                <a:ea typeface="+mn-lt"/>
                <a:cs typeface="+mn-lt"/>
              </a:rPr>
              <a:t>isolada</a:t>
            </a:r>
            <a:r>
              <a:rPr lang="en-US" dirty="0">
                <a:ea typeface="+mn-lt"/>
                <a:cs typeface="+mn-lt"/>
              </a:rPr>
              <a:t>, o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resultou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falhas</a:t>
            </a:r>
            <a:r>
              <a:rPr lang="en-US" dirty="0">
                <a:ea typeface="+mn-lt"/>
                <a:cs typeface="+mn-lt"/>
              </a:rPr>
              <a:t> no </a:t>
            </a:r>
            <a:r>
              <a:rPr lang="en-US" dirty="0" err="1">
                <a:ea typeface="+mn-lt"/>
                <a:cs typeface="+mn-lt"/>
              </a:rPr>
              <a:t>programa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manutenção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preventiva</a:t>
            </a:r>
            <a:r>
              <a:rPr lang="en-US" dirty="0">
                <a:ea typeface="+mn-lt"/>
                <a:cs typeface="+mn-lt"/>
              </a:rPr>
              <a:t>.</a:t>
            </a:r>
            <a:endParaRPr lang="pt-BR" dirty="0">
              <a:ea typeface="+mn-lt"/>
              <a:cs typeface="+mn-lt"/>
            </a:endParaRPr>
          </a:p>
          <a:p>
            <a:pPr algn="just"/>
            <a:endParaRPr lang="en-US" dirty="0">
              <a:ea typeface="+mn-lt"/>
              <a:cs typeface="+mn-lt"/>
            </a:endParaRPr>
          </a:p>
          <a:p>
            <a:pPr algn="just"/>
            <a:r>
              <a:rPr lang="en-US" b="1" dirty="0" err="1">
                <a:ea typeface="+mn-lt"/>
                <a:cs typeface="+mn-lt"/>
              </a:rPr>
              <a:t>Após</a:t>
            </a:r>
            <a:r>
              <a:rPr lang="en-US" b="1" dirty="0">
                <a:ea typeface="+mn-lt"/>
                <a:cs typeface="+mn-lt"/>
              </a:rPr>
              <a:t> o </a:t>
            </a:r>
            <a:r>
              <a:rPr lang="en-US" b="1" dirty="0" err="1">
                <a:ea typeface="+mn-lt"/>
                <a:cs typeface="+mn-lt"/>
              </a:rPr>
              <a:t>acidente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Com o </a:t>
            </a:r>
            <a:r>
              <a:rPr lang="en-US" dirty="0" err="1">
                <a:ea typeface="+mn-lt"/>
                <a:cs typeface="+mn-lt"/>
              </a:rPr>
              <a:t>objetivo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reforçar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segurança</a:t>
            </a:r>
            <a:r>
              <a:rPr lang="en-US" dirty="0">
                <a:ea typeface="+mn-lt"/>
                <a:cs typeface="+mn-lt"/>
              </a:rPr>
              <a:t>, a </a:t>
            </a:r>
            <a:r>
              <a:rPr lang="en-US" dirty="0" err="1">
                <a:ea typeface="+mn-lt"/>
                <a:cs typeface="+mn-lt"/>
              </a:rPr>
              <a:t>inspeção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folga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tornou</a:t>
            </a:r>
            <a:r>
              <a:rPr lang="en-US" dirty="0">
                <a:ea typeface="+mn-lt"/>
                <a:cs typeface="+mn-lt"/>
              </a:rPr>
              <a:t>-se </a:t>
            </a:r>
            <a:r>
              <a:rPr lang="en-US" dirty="0" err="1">
                <a:ea typeface="+mn-lt"/>
                <a:cs typeface="+mn-lt"/>
              </a:rPr>
              <a:t>obrigatória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cada</a:t>
            </a:r>
            <a:r>
              <a:rPr lang="en-US" dirty="0">
                <a:ea typeface="+mn-lt"/>
                <a:cs typeface="+mn-lt"/>
              </a:rPr>
              <a:t> 2.000 horas de </a:t>
            </a:r>
            <a:r>
              <a:rPr lang="en-US" dirty="0" err="1">
                <a:ea typeface="+mn-lt"/>
                <a:cs typeface="+mn-lt"/>
              </a:rPr>
              <a:t>voo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algn="just"/>
            <a:endParaRPr lang="en-US" dirty="0">
              <a:ea typeface="+mn-lt"/>
              <a:cs typeface="+mn-lt"/>
            </a:endParaRPr>
          </a:p>
          <a:p>
            <a:pPr marL="285750" indent="-285750" algn="ctr">
              <a:buFont typeface="Wingdings"/>
              <a:buChar char="Ø"/>
            </a:pPr>
            <a:endParaRPr lang="en-US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BA7FB528-C409-A0BD-9856-8F4DBFC6C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555457"/>
              </p:ext>
            </p:extLst>
          </p:nvPr>
        </p:nvGraphicFramePr>
        <p:xfrm>
          <a:off x="257735" y="1077083"/>
          <a:ext cx="11556595" cy="30091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9623">
                  <a:extLst>
                    <a:ext uri="{9D8B030D-6E8A-4147-A177-3AD203B41FA5}">
                      <a16:colId xmlns:a16="http://schemas.microsoft.com/office/drawing/2014/main" val="1052425365"/>
                    </a:ext>
                  </a:extLst>
                </a:gridCol>
                <a:gridCol w="2137254">
                  <a:extLst>
                    <a:ext uri="{9D8B030D-6E8A-4147-A177-3AD203B41FA5}">
                      <a16:colId xmlns:a16="http://schemas.microsoft.com/office/drawing/2014/main" val="3849041359"/>
                    </a:ext>
                  </a:extLst>
                </a:gridCol>
                <a:gridCol w="2379623">
                  <a:extLst>
                    <a:ext uri="{9D8B030D-6E8A-4147-A177-3AD203B41FA5}">
                      <a16:colId xmlns:a16="http://schemas.microsoft.com/office/drawing/2014/main" val="85934059"/>
                    </a:ext>
                  </a:extLst>
                </a:gridCol>
                <a:gridCol w="2522841">
                  <a:extLst>
                    <a:ext uri="{9D8B030D-6E8A-4147-A177-3AD203B41FA5}">
                      <a16:colId xmlns:a16="http://schemas.microsoft.com/office/drawing/2014/main" val="2612747259"/>
                    </a:ext>
                  </a:extLst>
                </a:gridCol>
                <a:gridCol w="2137254">
                  <a:extLst>
                    <a:ext uri="{9D8B030D-6E8A-4147-A177-3AD203B41FA5}">
                      <a16:colId xmlns:a16="http://schemas.microsoft.com/office/drawing/2014/main" val="1372607301"/>
                    </a:ext>
                  </a:extLst>
                </a:gridCol>
              </a:tblGrid>
              <a:tr h="214172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50" b="1">
                          <a:effectLst/>
                          <a:latin typeface="Calibri" panose="020F0502020204030204" pitchFamily="34" charset="0"/>
                        </a:rPr>
                        <a:t>Intervalos Recomendados pelo Fabricante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0723"/>
                  </a:ext>
                </a:extLst>
              </a:tr>
              <a:tr h="1916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Tarefa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Douglas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MSG-2 MRB / OAMP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MSG-3 MRB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MSG-3 OAMP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50165"/>
                  </a:ext>
                </a:extLst>
              </a:tr>
              <a:tr h="3381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C Check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3.600 horas de voo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3.500 horas ou 15 meses, o que ocorrer primeiro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3.600 horas ou 15 meses, o que ocorrer primeiro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3.600 horas de voo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839184"/>
                  </a:ext>
                </a:extLst>
              </a:tr>
              <a:tr h="3381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Verificação da Folga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Junto com o C Check (3.600 FH)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2 C Checks (7.000 FH ou 30 meses, o que ocorrer primeiro)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2 C Checks (7.000 FH ou 30 meses, o que ocorrer primeiro)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2 C Checks (7.200 FH)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338194"/>
                  </a:ext>
                </a:extLst>
              </a:tr>
              <a:tr h="191628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pt-BR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pt-BR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pt-BR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pt-BR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pt-BR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333678"/>
                  </a:ext>
                </a:extLst>
              </a:tr>
              <a:tr h="214172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50" b="1">
                          <a:effectLst/>
                          <a:latin typeface="Calibri" panose="020F0502020204030204" pitchFamily="34" charset="0"/>
                        </a:rPr>
                        <a:t>Intervalos Adotados pela Alaska Airlines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49784"/>
                  </a:ext>
                </a:extLst>
              </a:tr>
              <a:tr h="326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Tarefa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1985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1988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1996 a Abril de 2000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Atual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0079"/>
                  </a:ext>
                </a:extLst>
              </a:tr>
              <a:tr h="3381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C Check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2.500 horas de voo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13 meses (cerca de 3.200 horas de voo)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15 meses (cerca de 4.775 horas)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15 meses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97744"/>
                  </a:ext>
                </a:extLst>
              </a:tr>
              <a:tr h="326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>
                          <a:effectLst/>
                          <a:latin typeface="Calibri" panose="020F0502020204030204" pitchFamily="34" charset="0"/>
                        </a:rPr>
                        <a:t>Verificação da Folga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2 C Checks (5.000 FH)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2 C Checks (26 meses, ~6.400 FH)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2 C Checks (30 meses, ~9.550 FH)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>
                          <a:effectLst/>
                          <a:latin typeface="Calibri" panose="020F0502020204030204" pitchFamily="34" charset="0"/>
                        </a:rPr>
                        <a:t>A cada 2.000 horas de voo</a:t>
                      </a:r>
                    </a:p>
                  </a:txBody>
                  <a:tcPr marL="171450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57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267510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BC8C8E19CACC74492B9A8CFE4B9C3C5" ma:contentTypeVersion="8" ma:contentTypeDescription="Crie um novo documento." ma:contentTypeScope="" ma:versionID="5f7f90a054b770ccb0fd1d735e66f0e5">
  <xsd:schema xmlns:xsd="http://www.w3.org/2001/XMLSchema" xmlns:xs="http://www.w3.org/2001/XMLSchema" xmlns:p="http://schemas.microsoft.com/office/2006/metadata/properties" xmlns:ns2="c386ad6e-f1c1-472a-b77c-c0a45f147158" targetNamespace="http://schemas.microsoft.com/office/2006/metadata/properties" ma:root="true" ma:fieldsID="7b36690f352fe723f3d5d7bf87e742bb" ns2:_="">
    <xsd:import namespace="c386ad6e-f1c1-472a-b77c-c0a45f14715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86ad6e-f1c1-472a-b77c-c0a45f147158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386ad6e-f1c1-472a-b77c-c0a45f147158" xsi:nil="true"/>
  </documentManagement>
</p:properties>
</file>

<file path=customXml/itemProps1.xml><?xml version="1.0" encoding="utf-8"?>
<ds:datastoreItem xmlns:ds="http://schemas.openxmlformats.org/officeDocument/2006/customXml" ds:itemID="{3C872017-E752-4F53-8D5B-27287A871F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EE661-35D0-4974-9CFA-4318421AF11F}">
  <ds:schemaRefs>
    <ds:schemaRef ds:uri="c386ad6e-f1c1-472a-b77c-c0a45f147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6C7BBB0-65E3-4575-8567-14986480DDE4}">
  <ds:schemaRefs>
    <ds:schemaRef ds:uri="c386ad6e-f1c1-472a-b77c-c0a45f147158"/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ELIAS PEREIRA</dc:creator>
  <cp:revision>156</cp:revision>
  <dcterms:created xsi:type="dcterms:W3CDTF">2025-03-11T00:08:10Z</dcterms:created>
  <dcterms:modified xsi:type="dcterms:W3CDTF">2025-10-20T00:58:45Z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0x0101001BC8C8E19CACC74492B9A8CFE4B9C3C5</vt:lpwstr>
  </property>
</Properties>
</file>